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17"/>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1" d="100"/>
          <a:sy n="101" d="100"/>
        </p:scale>
        <p:origin x="8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  <Relationship Id="rId17" Type="http://schemas.openxmlformats.org/officeDocument/2006/relationships/slide" Target="slides/slide1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Devices</c:v>
                </c:pt>
              </c:strCache>
            </c:strRef>
          </c:tx>
          <c:invertIfNegative val="1"/>
          <c:dPt>
            <c:idx val="0"/>
            <c:invertIfNegative val="1"/>
            <c:bubble3D val="0"/>
            <c:spPr>
              <a:solidFill>
                <a:srgbClr val="9EA8B2"/>
              </a:solidFill>
            </c:spPr>
            <c:extLst>
              <c:ext xmlns:c16="http://schemas.microsoft.com/office/drawing/2014/chart" uri="{C3380CC4-5D6E-409C-BE32-E72D297353CC}">
                <c16:uniqueId val="{00000001-27D1-42E1-AC04-3370A10AAD79}"/>
              </c:ext>
            </c:extLst>
          </c:dPt>
          <c:dPt>
            <c:idx val="1"/>
            <c:invertIfNegative val="1"/>
            <c:bubble3D val="0"/>
            <c:spPr>
              <a:solidFill>
                <a:srgbClr val="C46A24"/>
              </a:solidFill>
            </c:spPr>
            <c:extLst>
              <c:ext xmlns:c16="http://schemas.microsoft.com/office/drawing/2014/chart" uri="{C3380CC4-5D6E-409C-BE32-E72D297353CC}">
                <c16:uniqueId val="{00000003-27D1-42E1-AC04-3370A10AAD79}"/>
              </c:ext>
            </c:extLst>
          </c:dPt>
          <c:dPt>
            <c:idx val="2"/>
            <c:invertIfNegative val="1"/>
            <c:bubble3D val="0"/>
            <c:spPr>
              <a:solidFill>
                <a:srgbClr val="2E7D63"/>
              </a:solidFill>
            </c:spPr>
            <c:extLst>
              <c:ext xmlns:c16="http://schemas.microsoft.com/office/drawing/2014/chart" uri="{C3380CC4-5D6E-409C-BE32-E72D297353CC}">
                <c16:uniqueId val="{00000005-27D1-42E1-AC04-3370A10AAD79}"/>
              </c:ext>
            </c:extLst>
          </c:dPt>
          <c:dLbls>
            <c:numFmt formatCode="0" sourceLinked="0"/>
            <c:spPr>
              <a:noFill/>
              <a:ln>
                <a:noFill/>
              </a:ln>
              <a:effectLst/>
            </c:spPr>
            <c:txPr>
              <a:bodyPr/>
              <a:lstStyle/>
              <a:p>
                <a:pPr>
                  <a:defRPr sz="1400" b="1">
                    <a:solidFill>
                      <a:srgbClr val="FFFFFF"/>
                    </a:solidFill>
                    <a:latin typeface="Consola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Unclassified</c:v>
                </c:pt>
                <c:pt idx="1">
                  <c:v>No quota room</c:v>
                </c:pt>
                <c:pt idx="2">
                  <c:v>Assigned</c:v>
                </c:pt>
              </c:strCache>
            </c:strRef>
          </c:cat>
          <c:val>
            <c:numRef>
              <c:f>Sheet1!$B$2:$B$4</c:f>
              <c:numCache>
                <c:formatCode>General</c:formatCode>
                <c:ptCount val="3"/>
                <c:pt idx="0">
                  <c:v>28</c:v>
                </c:pt>
                <c:pt idx="1">
                  <c:v>240</c:v>
                </c:pt>
                <c:pt idx="2">
                  <c:v>90</c:v>
                </c:pt>
              </c:numCache>
            </c:numRef>
          </c:val>
          <c:extLst>
            <c:ext xmlns:c16="http://schemas.microsoft.com/office/drawing/2014/chart" uri="{C3380CC4-5D6E-409C-BE32-E72D297353CC}">
              <c16:uniqueId val="{00000006-27D1-42E1-AC04-3370A10AAD79}"/>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2A3645"/>
            </a:solidFill>
          </a:ln>
        </c:spPr>
        <c:txPr>
          <a:bodyPr/>
          <a:lstStyle/>
          <a:p>
            <a:pPr>
              <a:defRPr sz="1300">
                <a:solidFill>
                  <a:srgbClr val="FFFFFF"/>
                </a:solidFill>
                <a:latin typeface="Calibri"/>
              </a:defRPr>
            </a:pPr>
            <a:endParaRPr lang="en-US"/>
          </a:p>
        </c:txPr>
        <c:crossAx val="-2113994440"/>
        <c:crosses val="autoZero"/>
        <c:auto val="1"/>
        <c:lblAlgn val="ctr"/>
        <c:lblOffset val="100"/>
        <c:noMultiLvlLbl val="0"/>
      </c:catAx>
      <c:valAx>
        <c:axId val="-2113994440"/>
        <c:scaling>
          <c:orientation val="minMax"/>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241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slide. Set expectation: this is a status briefing, ~14 minutes, and I will be direct about what is not finished.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on the problem, not the technology. If asked how long the manual sort takes today — we have not measured it. Worth getting that number.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pressed on "AI": this is pattern recognition trained on our own historical projects, not a general-purpose AI. It learns our conventions specifically.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point to land: the system never silently guesses. Anything it is unsure about goes back to a person with its reasoning attached.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least visible work in the project and the most important for its lifespan. It is the difference between a prototype and something maintainable.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DELIVERY POINT. Show the chart, then explain it immediately. If the 25% hangs unexplained for even a few seconds it reads as "the model only works a quarter of the time", which is wrong and hard to walk back.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direct here. Credibility comes from naming these plainly rather than being asked.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Item one is the ask. Make sure the room understands it does not depend on the development team.</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ask, not on the technology. Then open the floor.</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present this slide. Hold it for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084831"/>
            <a:ext cx="10789920" cy="292608"/>
          </a:xfrm>
          <a:prstGeom prst="rect">
            <a:avLst/>
          </a:prstGeom>
          <a:noFill/>
        </p:spPr>
        <p:txBody>
          <a:bodyPr wrap="square" lIns="0" tIns="0" rIns="0" bIns="0" anchor="t">
            <a:spAutoFit/>
          </a:bodyPr>
          <a:lstStyle/>
          <a:p>
            <a:pPr algn="l">
              <a:lnSpc>
                <a:spcPct val="100000"/>
              </a:lnSpc>
            </a:pPr>
            <a:r>
              <a:rPr sz="1200" b="1" i="0">
                <a:solidFill>
                  <a:srgbClr val="C46A24"/>
                </a:solidFill>
                <a:latin typeface="Consolas"/>
              </a:rPr>
              <a:t>DEVICECLUSTER  ·  PROJECT BRIEFING</a:t>
            </a:r>
          </a:p>
        </p:txBody>
      </p:sp>
      <p:sp>
        <p:nvSpPr>
          <p:cNvPr id="4" name="TextBox 3"/>
          <p:cNvSpPr txBox="1"/>
          <p:nvPr/>
        </p:nvSpPr>
        <p:spPr>
          <a:xfrm>
            <a:off x="685800" y="2542032"/>
            <a:ext cx="10424160" cy="1371600"/>
          </a:xfrm>
          <a:prstGeom prst="rect">
            <a:avLst/>
          </a:prstGeom>
          <a:noFill/>
        </p:spPr>
        <p:txBody>
          <a:bodyPr wrap="square" lIns="0" tIns="0" rIns="0" bIns="0" anchor="t">
            <a:spAutoFit/>
          </a:bodyPr>
          <a:lstStyle/>
          <a:p>
            <a:pPr algn="l">
              <a:lnSpc>
                <a:spcPct val="92000"/>
              </a:lnSpc>
            </a:pPr>
            <a:r>
              <a:rPr sz="5200" b="1" i="0">
                <a:solidFill>
                  <a:srgbClr val="FFFFFF"/>
                </a:solidFill>
                <a:latin typeface="Cambria"/>
              </a:rPr>
              <a:t>Automating device classification</a:t>
            </a:r>
          </a:p>
        </p:txBody>
      </p:sp>
      <p:sp>
        <p:nvSpPr>
          <p:cNvPr id="5" name="TextBox 4"/>
          <p:cNvSpPr txBox="1"/>
          <p:nvPr/>
        </p:nvSpPr>
        <p:spPr>
          <a:xfrm>
            <a:off x="685800" y="3977639"/>
            <a:ext cx="8595360" cy="822960"/>
          </a:xfrm>
          <a:prstGeom prst="rect">
            <a:avLst/>
          </a:prstGeom>
          <a:noFill/>
        </p:spPr>
        <p:txBody>
          <a:bodyPr wrap="square" lIns="0" tIns="0" rIns="0" bIns="0" anchor="t">
            <a:spAutoFit/>
          </a:bodyPr>
          <a:lstStyle/>
          <a:p>
            <a:pPr algn="l">
              <a:lnSpc>
                <a:spcPct val="125000"/>
              </a:lnSpc>
            </a:pPr>
            <a:r>
              <a:rPr sz="1800" b="0" i="0">
                <a:solidFill>
                  <a:srgbClr val="9EA8B2"/>
                </a:solidFill>
                <a:latin typeface="Calibri"/>
              </a:rPr>
              <a:t>What the system does, where it stands, and what it needs before production use.</a:t>
            </a:r>
          </a:p>
        </p:txBody>
      </p:sp>
      <p:sp>
        <p:nvSpPr>
          <p:cNvPr id="6" name="TextBox 5"/>
          <p:cNvSpPr txBox="1"/>
          <p:nvPr/>
        </p:nvSpPr>
        <p:spPr>
          <a:xfrm>
            <a:off x="685800" y="5230368"/>
            <a:ext cx="2194560" cy="228600"/>
          </a:xfrm>
          <a:prstGeom prst="rect">
            <a:avLst/>
          </a:prstGeom>
          <a:noFill/>
        </p:spPr>
        <p:txBody>
          <a:bodyPr wrap="square" lIns="0" tIns="0" rIns="0" bIns="0" anchor="t">
            <a:spAutoFit/>
          </a:bodyPr>
          <a:lstStyle/>
          <a:p>
            <a:pPr algn="l">
              <a:lnSpc>
                <a:spcPct val="100000"/>
              </a:lnSpc>
            </a:pPr>
            <a:r>
              <a:rPr sz="950" b="1" i="0">
                <a:solidFill>
                  <a:srgbClr val="9EA8B2"/>
                </a:solidFill>
                <a:latin typeface="Consolas"/>
              </a:rPr>
              <a:t>ENGINE</a:t>
            </a:r>
          </a:p>
        </p:txBody>
      </p:sp>
      <p:sp>
        <p:nvSpPr>
          <p:cNvPr id="7" name="TextBox 6"/>
          <p:cNvSpPr txBox="1"/>
          <p:nvPr/>
        </p:nvSpPr>
        <p:spPr>
          <a:xfrm>
            <a:off x="685800" y="5504688"/>
            <a:ext cx="2194560" cy="320040"/>
          </a:xfrm>
          <a:prstGeom prst="rect">
            <a:avLst/>
          </a:prstGeom>
          <a:noFill/>
        </p:spPr>
        <p:txBody>
          <a:bodyPr wrap="square" lIns="0" tIns="0" rIns="0" bIns="0" anchor="t">
            <a:spAutoFit/>
          </a:bodyPr>
          <a:lstStyle/>
          <a:p>
            <a:pPr algn="l">
              <a:lnSpc>
                <a:spcPct val="100000"/>
              </a:lnSpc>
            </a:pPr>
            <a:r>
              <a:rPr sz="1500" b="1" i="0">
                <a:solidFill>
                  <a:srgbClr val="2E7D63"/>
                </a:solidFill>
                <a:latin typeface="Calibri"/>
              </a:rPr>
              <a:t>Complete</a:t>
            </a:r>
          </a:p>
        </p:txBody>
      </p:sp>
      <p:sp>
        <p:nvSpPr>
          <p:cNvPr id="8" name="TextBox 7"/>
          <p:cNvSpPr txBox="1"/>
          <p:nvPr/>
        </p:nvSpPr>
        <p:spPr>
          <a:xfrm>
            <a:off x="3081528" y="5230368"/>
            <a:ext cx="2194560" cy="228600"/>
          </a:xfrm>
          <a:prstGeom prst="rect">
            <a:avLst/>
          </a:prstGeom>
          <a:noFill/>
        </p:spPr>
        <p:txBody>
          <a:bodyPr wrap="square" lIns="0" tIns="0" rIns="0" bIns="0" anchor="t">
            <a:spAutoFit/>
          </a:bodyPr>
          <a:lstStyle/>
          <a:p>
            <a:pPr algn="l">
              <a:lnSpc>
                <a:spcPct val="100000"/>
              </a:lnSpc>
            </a:pPr>
            <a:r>
              <a:rPr sz="950" b="1" i="0">
                <a:solidFill>
                  <a:srgbClr val="9EA8B2"/>
                </a:solidFill>
                <a:latin typeface="Consolas"/>
              </a:rPr>
              <a:t>DATABASE</a:t>
            </a:r>
          </a:p>
        </p:txBody>
      </p:sp>
      <p:sp>
        <p:nvSpPr>
          <p:cNvPr id="9" name="TextBox 8"/>
          <p:cNvSpPr txBox="1"/>
          <p:nvPr/>
        </p:nvSpPr>
        <p:spPr>
          <a:xfrm>
            <a:off x="3081528" y="5504688"/>
            <a:ext cx="2194560" cy="320040"/>
          </a:xfrm>
          <a:prstGeom prst="rect">
            <a:avLst/>
          </a:prstGeom>
          <a:noFill/>
        </p:spPr>
        <p:txBody>
          <a:bodyPr wrap="square" lIns="0" tIns="0" rIns="0" bIns="0" anchor="t">
            <a:spAutoFit/>
          </a:bodyPr>
          <a:lstStyle/>
          <a:p>
            <a:pPr algn="l">
              <a:lnSpc>
                <a:spcPct val="100000"/>
              </a:lnSpc>
            </a:pPr>
            <a:r>
              <a:rPr sz="1500" b="1" i="0">
                <a:solidFill>
                  <a:srgbClr val="2E7D63"/>
                </a:solidFill>
                <a:latin typeface="Calibri"/>
              </a:rPr>
              <a:t>Complete</a:t>
            </a:r>
          </a:p>
        </p:txBody>
      </p:sp>
      <p:sp>
        <p:nvSpPr>
          <p:cNvPr id="10" name="TextBox 9"/>
          <p:cNvSpPr txBox="1"/>
          <p:nvPr/>
        </p:nvSpPr>
        <p:spPr>
          <a:xfrm>
            <a:off x="5477256" y="5230368"/>
            <a:ext cx="2194560" cy="228600"/>
          </a:xfrm>
          <a:prstGeom prst="rect">
            <a:avLst/>
          </a:prstGeom>
          <a:noFill/>
        </p:spPr>
        <p:txBody>
          <a:bodyPr wrap="square" lIns="0" tIns="0" rIns="0" bIns="0" anchor="t">
            <a:spAutoFit/>
          </a:bodyPr>
          <a:lstStyle/>
          <a:p>
            <a:pPr algn="l">
              <a:lnSpc>
                <a:spcPct val="100000"/>
              </a:lnSpc>
            </a:pPr>
            <a:r>
              <a:rPr sz="950" b="1" i="0">
                <a:solidFill>
                  <a:srgbClr val="9EA8B2"/>
                </a:solidFill>
                <a:latin typeface="Consolas"/>
              </a:rPr>
              <a:t>QUOTA DATA</a:t>
            </a:r>
          </a:p>
        </p:txBody>
      </p:sp>
      <p:sp>
        <p:nvSpPr>
          <p:cNvPr id="11" name="TextBox 10"/>
          <p:cNvSpPr txBox="1"/>
          <p:nvPr/>
        </p:nvSpPr>
        <p:spPr>
          <a:xfrm>
            <a:off x="5477256" y="5504688"/>
            <a:ext cx="2194560" cy="320040"/>
          </a:xfrm>
          <a:prstGeom prst="rect">
            <a:avLst/>
          </a:prstGeom>
          <a:noFill/>
        </p:spPr>
        <p:txBody>
          <a:bodyPr wrap="square" lIns="0" tIns="0" rIns="0" bIns="0" anchor="t">
            <a:spAutoFit/>
          </a:bodyPr>
          <a:lstStyle/>
          <a:p>
            <a:pPr algn="l">
              <a:lnSpc>
                <a:spcPct val="100000"/>
              </a:lnSpc>
            </a:pPr>
            <a:r>
              <a:rPr sz="1500" b="1" i="0">
                <a:solidFill>
                  <a:srgbClr val="C46A24"/>
                </a:solidFill>
                <a:latin typeface="Calibri"/>
              </a:rPr>
              <a:t>1 of 8 sections</a:t>
            </a:r>
          </a:p>
        </p:txBody>
      </p:sp>
      <p:sp>
        <p:nvSpPr>
          <p:cNvPr id="12" name="TextBox 11"/>
          <p:cNvSpPr txBox="1"/>
          <p:nvPr/>
        </p:nvSpPr>
        <p:spPr>
          <a:xfrm>
            <a:off x="7872983" y="5230368"/>
            <a:ext cx="2194560" cy="228600"/>
          </a:xfrm>
          <a:prstGeom prst="rect">
            <a:avLst/>
          </a:prstGeom>
          <a:noFill/>
        </p:spPr>
        <p:txBody>
          <a:bodyPr wrap="square" lIns="0" tIns="0" rIns="0" bIns="0" anchor="t">
            <a:spAutoFit/>
          </a:bodyPr>
          <a:lstStyle/>
          <a:p>
            <a:pPr algn="l">
              <a:lnSpc>
                <a:spcPct val="100000"/>
              </a:lnSpc>
            </a:pPr>
            <a:r>
              <a:rPr sz="950" b="1" i="0">
                <a:solidFill>
                  <a:srgbClr val="9EA8B2"/>
                </a:solidFill>
                <a:latin typeface="Consolas"/>
              </a:rPr>
              <a:t>INTERFACE</a:t>
            </a:r>
          </a:p>
        </p:txBody>
      </p:sp>
      <p:sp>
        <p:nvSpPr>
          <p:cNvPr id="13" name="TextBox 12"/>
          <p:cNvSpPr txBox="1"/>
          <p:nvPr/>
        </p:nvSpPr>
        <p:spPr>
          <a:xfrm>
            <a:off x="7872983" y="5504688"/>
            <a:ext cx="2194560" cy="320040"/>
          </a:xfrm>
          <a:prstGeom prst="rect">
            <a:avLst/>
          </a:prstGeom>
          <a:noFill/>
        </p:spPr>
        <p:txBody>
          <a:bodyPr wrap="square" lIns="0" tIns="0" rIns="0" bIns="0" anchor="t">
            <a:spAutoFit/>
          </a:bodyPr>
          <a:lstStyle/>
          <a:p>
            <a:pPr algn="l">
              <a:lnSpc>
                <a:spcPct val="100000"/>
              </a:lnSpc>
            </a:pPr>
            <a:r>
              <a:rPr sz="1500" b="1" i="0">
                <a:solidFill>
                  <a:srgbClr val="C46A24"/>
                </a:solidFill>
                <a:latin typeface="Calibri"/>
              </a:rPr>
              <a:t>Not started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01 · WHY THIS PROJECT EXISTS</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171A1D"/>
                </a:solidFill>
                <a:latin typeface="Cambria"/>
              </a:rPr>
              <a:t>Sorting hundreds of devices, by hand</a:t>
            </a:r>
          </a:p>
        </p:txBody>
      </p:sp>
      <p:sp>
        <p:nvSpPr>
          <p:cNvPr id="5" name="TextBox 4"/>
          <p:cNvSpPr txBox="1"/>
          <p:nvPr/>
        </p:nvSpPr>
        <p:spPr>
          <a:xfrm>
            <a:off x="685800" y="2148840"/>
            <a:ext cx="5486400" cy="3108960"/>
          </a:xfrm>
          <a:prstGeom prst="rect">
            <a:avLst/>
          </a:prstGeom>
          <a:noFill/>
        </p:spPr>
        <p:txBody>
          <a:bodyPr wrap="square" lIns="0" tIns="0" rIns="0" bIns="0">
            <a:spAutoFit/>
          </a:bodyPr>
          <a:lstStyle/>
          <a:p>
            <a:pPr>
              <a:lnSpc>
                <a:spcPct val="130000"/>
              </a:lnSpc>
              <a:spcAft>
                <a:spcPts val="1400"/>
              </a:spcAft>
            </a:pPr>
            <a:r>
              <a:rPr sz="1600" b="0" i="0">
                <a:solidFill>
                  <a:srgbClr val="171A1D"/>
                </a:solidFill>
                <a:latin typeface="Calibri"/>
              </a:rPr>
              <a:t>Each device must be identified by type, assigned to a process section, and grouped into a cluster before any downstream work can begin.</a:t>
            </a:r>
          </a:p>
          <a:p>
            <a:pPr>
              <a:lnSpc>
                <a:spcPct val="130000"/>
              </a:lnSpc>
              <a:spcAft>
                <a:spcPts val="1400"/>
              </a:spcAft>
            </a:pPr>
            <a:r>
              <a:rPr sz="1600" b="1" i="0">
                <a:solidFill>
                  <a:srgbClr val="171A1D"/>
                </a:solidFill>
                <a:latin typeface="Calibri"/>
              </a:rPr>
              <a:t>Today an engineer does this by hand.</a:t>
            </a:r>
          </a:p>
          <a:p>
            <a:pPr>
              <a:lnSpc>
                <a:spcPct val="130000"/>
              </a:lnSpc>
              <a:spcAft>
                <a:spcPts val="0"/>
              </a:spcAft>
            </a:pPr>
            <a:r>
              <a:rPr sz="1600" b="0" i="0">
                <a:solidFill>
                  <a:srgbClr val="67717C"/>
                </a:solidFill>
                <a:latin typeface="Calibri"/>
              </a:rPr>
              <a:t>It is slow, repetitive, and two engineers working the same list will not always produce the same answer.</a:t>
            </a:r>
          </a:p>
        </p:txBody>
      </p:sp>
      <p:sp>
        <p:nvSpPr>
          <p:cNvPr id="6" name="Rounded Rectangle 5"/>
          <p:cNvSpPr/>
          <p:nvPr/>
        </p:nvSpPr>
        <p:spPr>
          <a:xfrm>
            <a:off x="6766560" y="2103120"/>
            <a:ext cx="4709160" cy="3246120"/>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178040" y="2468880"/>
            <a:ext cx="3931920" cy="274320"/>
          </a:xfrm>
          <a:prstGeom prst="rect">
            <a:avLst/>
          </a:prstGeom>
          <a:noFill/>
        </p:spPr>
        <p:txBody>
          <a:bodyPr wrap="square" lIns="0" tIns="0" rIns="0" bIns="0" anchor="t">
            <a:spAutoFit/>
          </a:bodyPr>
          <a:lstStyle/>
          <a:p>
            <a:pPr algn="l">
              <a:lnSpc>
                <a:spcPct val="100000"/>
              </a:lnSpc>
            </a:pPr>
            <a:r>
              <a:rPr sz="1000" b="1" i="0">
                <a:solidFill>
                  <a:srgbClr val="67717C"/>
                </a:solidFill>
                <a:latin typeface="Consolas"/>
              </a:rPr>
              <a:t>WHAT A DEVICE LIST LOOKS LIKE</a:t>
            </a:r>
          </a:p>
        </p:txBody>
      </p:sp>
      <p:sp>
        <p:nvSpPr>
          <p:cNvPr id="8" name="Rounded Rectangle 7"/>
          <p:cNvSpPr/>
          <p:nvPr/>
        </p:nvSpPr>
        <p:spPr>
          <a:xfrm>
            <a:off x="7178040" y="2971800"/>
            <a:ext cx="1298448" cy="292608"/>
          </a:xfrm>
          <a:prstGeom prst="roundRect">
            <a:avLst>
              <a:gd name="adj" fmla="val 50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Consolas"/>
              </a:rPr>
              <a:t>HT27PF1B</a:t>
            </a:r>
          </a:p>
        </p:txBody>
      </p:sp>
      <p:sp>
        <p:nvSpPr>
          <p:cNvPr id="9" name="TextBox 8"/>
          <p:cNvSpPr txBox="1"/>
          <p:nvPr/>
        </p:nvSpPr>
        <p:spPr>
          <a:xfrm>
            <a:off x="8686800" y="2999232"/>
            <a:ext cx="2468880" cy="274320"/>
          </a:xfrm>
          <a:prstGeom prst="rect">
            <a:avLst/>
          </a:prstGeom>
          <a:noFill/>
        </p:spPr>
        <p:txBody>
          <a:bodyPr wrap="square" lIns="0" tIns="0" rIns="0" bIns="0" anchor="t">
            <a:spAutoFit/>
          </a:bodyPr>
          <a:lstStyle/>
          <a:p>
            <a:pPr algn="l">
              <a:lnSpc>
                <a:spcPct val="100000"/>
              </a:lnSpc>
            </a:pPr>
            <a:r>
              <a:rPr sz="1300" b="0" i="0">
                <a:solidFill>
                  <a:srgbClr val="171A1D"/>
                </a:solidFill>
                <a:latin typeface="Calibri"/>
              </a:rPr>
              <a:t>Heater</a:t>
            </a:r>
          </a:p>
        </p:txBody>
      </p:sp>
      <p:sp>
        <p:nvSpPr>
          <p:cNvPr id="10" name="Rounded Rectangle 9"/>
          <p:cNvSpPr/>
          <p:nvPr/>
        </p:nvSpPr>
        <p:spPr>
          <a:xfrm>
            <a:off x="7178040" y="3520440"/>
            <a:ext cx="1298448" cy="292608"/>
          </a:xfrm>
          <a:prstGeom prst="roundRect">
            <a:avLst>
              <a:gd name="adj" fmla="val 50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Consolas"/>
              </a:rPr>
              <a:t>LL37PL1</a:t>
            </a:r>
          </a:p>
        </p:txBody>
      </p:sp>
      <p:sp>
        <p:nvSpPr>
          <p:cNvPr id="11" name="TextBox 10"/>
          <p:cNvSpPr txBox="1"/>
          <p:nvPr/>
        </p:nvSpPr>
        <p:spPr>
          <a:xfrm>
            <a:off x="8686800" y="3547872"/>
            <a:ext cx="2468880" cy="274320"/>
          </a:xfrm>
          <a:prstGeom prst="rect">
            <a:avLst/>
          </a:prstGeom>
          <a:noFill/>
        </p:spPr>
        <p:txBody>
          <a:bodyPr wrap="square" lIns="0" tIns="0" rIns="0" bIns="0" anchor="t">
            <a:spAutoFit/>
          </a:bodyPr>
          <a:lstStyle/>
          <a:p>
            <a:pPr algn="l">
              <a:lnSpc>
                <a:spcPct val="100000"/>
              </a:lnSpc>
            </a:pPr>
            <a:r>
              <a:rPr sz="1300" b="0" i="0">
                <a:solidFill>
                  <a:srgbClr val="171A1D"/>
                </a:solidFill>
                <a:latin typeface="Calibri"/>
              </a:rPr>
              <a:t>Low level switch</a:t>
            </a:r>
          </a:p>
        </p:txBody>
      </p:sp>
      <p:sp>
        <p:nvSpPr>
          <p:cNvPr id="12" name="Rounded Rectangle 11"/>
          <p:cNvSpPr/>
          <p:nvPr/>
        </p:nvSpPr>
        <p:spPr>
          <a:xfrm>
            <a:off x="7178040" y="4069080"/>
            <a:ext cx="1298448" cy="292608"/>
          </a:xfrm>
          <a:prstGeom prst="roundRect">
            <a:avLst>
              <a:gd name="adj" fmla="val 50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Consolas"/>
              </a:rPr>
              <a:t>TC37PR1</a:t>
            </a:r>
          </a:p>
        </p:txBody>
      </p:sp>
      <p:sp>
        <p:nvSpPr>
          <p:cNvPr id="13" name="TextBox 12"/>
          <p:cNvSpPr txBox="1"/>
          <p:nvPr/>
        </p:nvSpPr>
        <p:spPr>
          <a:xfrm>
            <a:off x="8686800" y="4096512"/>
            <a:ext cx="2468880" cy="274320"/>
          </a:xfrm>
          <a:prstGeom prst="rect">
            <a:avLst/>
          </a:prstGeom>
          <a:noFill/>
        </p:spPr>
        <p:txBody>
          <a:bodyPr wrap="square" lIns="0" tIns="0" rIns="0" bIns="0" anchor="t">
            <a:spAutoFit/>
          </a:bodyPr>
          <a:lstStyle/>
          <a:p>
            <a:pPr algn="l">
              <a:lnSpc>
                <a:spcPct val="100000"/>
              </a:lnSpc>
            </a:pPr>
            <a:r>
              <a:rPr sz="1300" b="0" i="0">
                <a:solidFill>
                  <a:srgbClr val="171A1D"/>
                </a:solidFill>
                <a:latin typeface="Calibri"/>
              </a:rPr>
              <a:t>Temperature transmitter</a:t>
            </a:r>
          </a:p>
        </p:txBody>
      </p:sp>
      <p:sp>
        <p:nvSpPr>
          <p:cNvPr id="14" name="Rounded Rectangle 13"/>
          <p:cNvSpPr/>
          <p:nvPr/>
        </p:nvSpPr>
        <p:spPr>
          <a:xfrm>
            <a:off x="7178040" y="4617720"/>
            <a:ext cx="1298448" cy="292608"/>
          </a:xfrm>
          <a:prstGeom prst="roundRect">
            <a:avLst>
              <a:gd name="adj" fmla="val 50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50" b="1">
                <a:solidFill>
                  <a:srgbClr val="FFFFFF"/>
                </a:solidFill>
                <a:latin typeface="Consolas"/>
              </a:rPr>
              <a:t>V09CF2DA</a:t>
            </a:r>
          </a:p>
        </p:txBody>
      </p:sp>
      <p:sp>
        <p:nvSpPr>
          <p:cNvPr id="15" name="TextBox 14"/>
          <p:cNvSpPr txBox="1"/>
          <p:nvPr/>
        </p:nvSpPr>
        <p:spPr>
          <a:xfrm>
            <a:off x="8686800" y="4645152"/>
            <a:ext cx="2468880" cy="274320"/>
          </a:xfrm>
          <a:prstGeom prst="rect">
            <a:avLst/>
          </a:prstGeom>
          <a:noFill/>
        </p:spPr>
        <p:txBody>
          <a:bodyPr wrap="square" lIns="0" tIns="0" rIns="0" bIns="0" anchor="t">
            <a:spAutoFit/>
          </a:bodyPr>
          <a:lstStyle/>
          <a:p>
            <a:pPr algn="l">
              <a:lnSpc>
                <a:spcPct val="100000"/>
              </a:lnSpc>
            </a:pPr>
            <a:r>
              <a:rPr sz="1300" b="0" i="0">
                <a:solidFill>
                  <a:srgbClr val="171A1D"/>
                </a:solidFill>
                <a:latin typeface="Calibri"/>
              </a:rPr>
              <a:t>On/off valve</a:t>
            </a:r>
          </a:p>
        </p:txBody>
      </p:sp>
      <p:sp>
        <p:nvSpPr>
          <p:cNvPr id="16" name="TextBox 15"/>
          <p:cNvSpPr txBox="1"/>
          <p:nvPr/>
        </p:nvSpPr>
        <p:spPr>
          <a:xfrm>
            <a:off x="7178040" y="4983480"/>
            <a:ext cx="3931920" cy="274320"/>
          </a:xfrm>
          <a:prstGeom prst="rect">
            <a:avLst/>
          </a:prstGeom>
          <a:noFill/>
        </p:spPr>
        <p:txBody>
          <a:bodyPr wrap="square" lIns="0" tIns="0" rIns="0" bIns="0" anchor="t">
            <a:spAutoFit/>
          </a:bodyPr>
          <a:lstStyle/>
          <a:p>
            <a:pPr algn="l">
              <a:lnSpc>
                <a:spcPct val="100000"/>
              </a:lnSpc>
            </a:pPr>
            <a:r>
              <a:rPr sz="1150" b="0" i="1">
                <a:solidFill>
                  <a:srgbClr val="67717C"/>
                </a:solidFill>
                <a:latin typeface="Calibri"/>
              </a:rPr>
              <a:t>Hundreds per project  ·  sorted by hand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02 · WHAT WE BUILT</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171A1D"/>
                </a:solidFill>
                <a:latin typeface="Cambria"/>
              </a:rPr>
              <a:t>The tags already carry meaning</a:t>
            </a:r>
          </a:p>
        </p:txBody>
      </p:sp>
      <p:sp>
        <p:nvSpPr>
          <p:cNvPr id="5" name="Oval 4"/>
          <p:cNvSpPr/>
          <p:nvPr/>
        </p:nvSpPr>
        <p:spPr>
          <a:xfrm>
            <a:off x="685800" y="2203704"/>
            <a:ext cx="512064" cy="512064"/>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onsolas"/>
              </a:rPr>
              <a:t>1</a:t>
            </a:r>
          </a:p>
        </p:txBody>
      </p:sp>
      <p:sp>
        <p:nvSpPr>
          <p:cNvPr id="6" name="TextBox 5"/>
          <p:cNvSpPr txBox="1"/>
          <p:nvPr/>
        </p:nvSpPr>
        <p:spPr>
          <a:xfrm>
            <a:off x="1472184" y="2167128"/>
            <a:ext cx="3657600" cy="320040"/>
          </a:xfrm>
          <a:prstGeom prst="rect">
            <a:avLst/>
          </a:prstGeom>
          <a:noFill/>
        </p:spPr>
        <p:txBody>
          <a:bodyPr wrap="square" lIns="0" tIns="0" rIns="0" bIns="0" anchor="t">
            <a:spAutoFit/>
          </a:bodyPr>
          <a:lstStyle/>
          <a:p>
            <a:pPr algn="l">
              <a:lnSpc>
                <a:spcPct val="100000"/>
              </a:lnSpc>
            </a:pPr>
            <a:r>
              <a:rPr sz="1700" b="1" i="0">
                <a:solidFill>
                  <a:srgbClr val="171A1D"/>
                </a:solidFill>
                <a:latin typeface="Cambria"/>
              </a:rPr>
              <a:t>Identify the device — by rule</a:t>
            </a:r>
          </a:p>
        </p:txBody>
      </p:sp>
      <p:sp>
        <p:nvSpPr>
          <p:cNvPr id="7" name="TextBox 6"/>
          <p:cNvSpPr txBox="1"/>
          <p:nvPr/>
        </p:nvSpPr>
        <p:spPr>
          <a:xfrm>
            <a:off x="1472184" y="2532888"/>
            <a:ext cx="9966960" cy="658368"/>
          </a:xfrm>
          <a:prstGeom prst="rect">
            <a:avLst/>
          </a:prstGeom>
          <a:noFill/>
        </p:spPr>
        <p:txBody>
          <a:bodyPr wrap="square" lIns="0" tIns="0" rIns="0" bIns="0" anchor="t">
            <a:spAutoFit/>
          </a:bodyPr>
          <a:lstStyle/>
          <a:p>
            <a:pPr algn="l">
              <a:lnSpc>
                <a:spcPct val="122000"/>
              </a:lnSpc>
            </a:pPr>
            <a:r>
              <a:rPr sz="1400" b="0" i="0">
                <a:solidFill>
                  <a:srgbClr val="67717C"/>
                </a:solidFill>
                <a:latin typeface="Calibri"/>
              </a:rPr>
              <a:t>The leading letters of a tag are looked up in a reference table an engineer owns — 92 prefixes covering 23 device types. A match is certain; anything unrecognised is sent for review rather than guessed.</a:t>
            </a:r>
          </a:p>
        </p:txBody>
      </p:sp>
      <p:sp>
        <p:nvSpPr>
          <p:cNvPr id="8" name="Oval 7"/>
          <p:cNvSpPr/>
          <p:nvPr/>
        </p:nvSpPr>
        <p:spPr>
          <a:xfrm>
            <a:off x="685800" y="3374135"/>
            <a:ext cx="512064" cy="512064"/>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onsolas"/>
              </a:rPr>
              <a:t>2</a:t>
            </a:r>
          </a:p>
        </p:txBody>
      </p:sp>
      <p:sp>
        <p:nvSpPr>
          <p:cNvPr id="9" name="TextBox 8"/>
          <p:cNvSpPr txBox="1"/>
          <p:nvPr/>
        </p:nvSpPr>
        <p:spPr>
          <a:xfrm>
            <a:off x="1472184" y="3337560"/>
            <a:ext cx="3657600" cy="320040"/>
          </a:xfrm>
          <a:prstGeom prst="rect">
            <a:avLst/>
          </a:prstGeom>
          <a:noFill/>
        </p:spPr>
        <p:txBody>
          <a:bodyPr wrap="square" lIns="0" tIns="0" rIns="0" bIns="0" anchor="t">
            <a:spAutoFit/>
          </a:bodyPr>
          <a:lstStyle/>
          <a:p>
            <a:pPr algn="l">
              <a:lnSpc>
                <a:spcPct val="100000"/>
              </a:lnSpc>
            </a:pPr>
            <a:r>
              <a:rPr sz="1700" b="1" i="0">
                <a:solidFill>
                  <a:srgbClr val="171A1D"/>
                </a:solidFill>
                <a:latin typeface="Cambria"/>
              </a:rPr>
              <a:t>Predict section and cluster</a:t>
            </a:r>
          </a:p>
        </p:txBody>
      </p:sp>
      <p:sp>
        <p:nvSpPr>
          <p:cNvPr id="10" name="TextBox 9"/>
          <p:cNvSpPr txBox="1"/>
          <p:nvPr/>
        </p:nvSpPr>
        <p:spPr>
          <a:xfrm>
            <a:off x="1472184" y="3703320"/>
            <a:ext cx="9966960" cy="658368"/>
          </a:xfrm>
          <a:prstGeom prst="rect">
            <a:avLst/>
          </a:prstGeom>
          <a:noFill/>
        </p:spPr>
        <p:txBody>
          <a:bodyPr wrap="square" lIns="0" tIns="0" rIns="0" bIns="0" anchor="t">
            <a:spAutoFit/>
          </a:bodyPr>
          <a:lstStyle/>
          <a:p>
            <a:pPr algn="l">
              <a:lnSpc>
                <a:spcPct val="122000"/>
              </a:lnSpc>
            </a:pPr>
            <a:r>
              <a:rPr sz="1400" b="0" i="0">
                <a:solidFill>
                  <a:srgbClr val="67717C"/>
                </a:solidFill>
                <a:latin typeface="Calibri"/>
              </a:rPr>
              <a:t>Here we do use machine learning. Two chained models return a ranked list of candidate sections and clusters with a confidence score against each — not a single answer.</a:t>
            </a:r>
          </a:p>
        </p:txBody>
      </p:sp>
      <p:sp>
        <p:nvSpPr>
          <p:cNvPr id="11" name="Oval 10"/>
          <p:cNvSpPr/>
          <p:nvPr/>
        </p:nvSpPr>
        <p:spPr>
          <a:xfrm>
            <a:off x="685800" y="4544568"/>
            <a:ext cx="512064" cy="51206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onsolas"/>
              </a:rPr>
              <a:t>3</a:t>
            </a:r>
          </a:p>
        </p:txBody>
      </p:sp>
      <p:sp>
        <p:nvSpPr>
          <p:cNvPr id="12" name="TextBox 11"/>
          <p:cNvSpPr txBox="1"/>
          <p:nvPr/>
        </p:nvSpPr>
        <p:spPr>
          <a:xfrm>
            <a:off x="1472184" y="4507992"/>
            <a:ext cx="3657600" cy="320040"/>
          </a:xfrm>
          <a:prstGeom prst="rect">
            <a:avLst/>
          </a:prstGeom>
          <a:noFill/>
        </p:spPr>
        <p:txBody>
          <a:bodyPr wrap="square" lIns="0" tIns="0" rIns="0" bIns="0" anchor="t">
            <a:spAutoFit/>
          </a:bodyPr>
          <a:lstStyle/>
          <a:p>
            <a:pPr algn="l">
              <a:lnSpc>
                <a:spcPct val="100000"/>
              </a:lnSpc>
            </a:pPr>
            <a:r>
              <a:rPr sz="1700" b="1" i="0">
                <a:solidFill>
                  <a:srgbClr val="171A1D"/>
                </a:solidFill>
                <a:latin typeface="Cambria"/>
              </a:rPr>
              <a:t>Fit against quota rules</a:t>
            </a:r>
          </a:p>
        </p:txBody>
      </p:sp>
      <p:sp>
        <p:nvSpPr>
          <p:cNvPr id="13" name="TextBox 12"/>
          <p:cNvSpPr txBox="1"/>
          <p:nvPr/>
        </p:nvSpPr>
        <p:spPr>
          <a:xfrm>
            <a:off x="1472184" y="4873752"/>
            <a:ext cx="9966960" cy="658368"/>
          </a:xfrm>
          <a:prstGeom prst="rect">
            <a:avLst/>
          </a:prstGeom>
          <a:noFill/>
        </p:spPr>
        <p:txBody>
          <a:bodyPr wrap="square" lIns="0" tIns="0" rIns="0" bIns="0" anchor="t">
            <a:spAutoFit/>
          </a:bodyPr>
          <a:lstStyle/>
          <a:p>
            <a:pPr algn="l">
              <a:lnSpc>
                <a:spcPct val="122000"/>
              </a:lnSpc>
            </a:pPr>
            <a:r>
              <a:rPr sz="1400" b="0" i="0">
                <a:solidFill>
                  <a:srgbClr val="67717C"/>
                </a:solidFill>
                <a:latin typeface="Calibri"/>
              </a:rPr>
              <a:t>A cluster can only hold so many devices of each type. That is a design constraint, so predictions are fitted to the intended composition.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03 · HOW IT WORKS</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171A1D"/>
                </a:solidFill>
                <a:latin typeface="Cambria"/>
              </a:rPr>
              <a:t>Allocation runs in three passes</a:t>
            </a:r>
          </a:p>
        </p:txBody>
      </p:sp>
      <p:sp>
        <p:nvSpPr>
          <p:cNvPr id="5" name="Rounded Rectangle 4"/>
          <p:cNvSpPr/>
          <p:nvPr/>
        </p:nvSpPr>
        <p:spPr>
          <a:xfrm>
            <a:off x="685800" y="2148840"/>
            <a:ext cx="3401568" cy="1965960"/>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96696" y="2450592"/>
            <a:ext cx="2743200" cy="228600"/>
          </a:xfrm>
          <a:prstGeom prst="rect">
            <a:avLst/>
          </a:prstGeom>
          <a:noFill/>
        </p:spPr>
        <p:txBody>
          <a:bodyPr wrap="square" lIns="0" tIns="0" rIns="0" bIns="0" anchor="t">
            <a:spAutoFit/>
          </a:bodyPr>
          <a:lstStyle/>
          <a:p>
            <a:pPr algn="l">
              <a:lnSpc>
                <a:spcPct val="100000"/>
              </a:lnSpc>
            </a:pPr>
            <a:r>
              <a:rPr sz="950" b="1" i="0">
                <a:solidFill>
                  <a:srgbClr val="C46A24"/>
                </a:solidFill>
                <a:latin typeface="Consolas"/>
              </a:rPr>
              <a:t>FIRST PASS</a:t>
            </a:r>
          </a:p>
        </p:txBody>
      </p:sp>
      <p:sp>
        <p:nvSpPr>
          <p:cNvPr id="7" name="TextBox 6"/>
          <p:cNvSpPr txBox="1"/>
          <p:nvPr/>
        </p:nvSpPr>
        <p:spPr>
          <a:xfrm>
            <a:off x="996696" y="2761488"/>
            <a:ext cx="2834640" cy="320040"/>
          </a:xfrm>
          <a:prstGeom prst="rect">
            <a:avLst/>
          </a:prstGeom>
          <a:noFill/>
        </p:spPr>
        <p:txBody>
          <a:bodyPr wrap="square" lIns="0" tIns="0" rIns="0" bIns="0" anchor="t">
            <a:spAutoFit/>
          </a:bodyPr>
          <a:lstStyle/>
          <a:p>
            <a:pPr algn="l">
              <a:lnSpc>
                <a:spcPct val="100000"/>
              </a:lnSpc>
            </a:pPr>
            <a:r>
              <a:rPr sz="1800" b="1" i="0">
                <a:solidFill>
                  <a:srgbClr val="171A1D"/>
                </a:solidFill>
                <a:latin typeface="Cambria"/>
              </a:rPr>
              <a:t>Fill to quota</a:t>
            </a:r>
          </a:p>
        </p:txBody>
      </p:sp>
      <p:sp>
        <p:nvSpPr>
          <p:cNvPr id="8" name="TextBox 7"/>
          <p:cNvSpPr txBox="1"/>
          <p:nvPr/>
        </p:nvSpPr>
        <p:spPr>
          <a:xfrm>
            <a:off x="996696" y="3182112"/>
            <a:ext cx="2834640" cy="77724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Each cluster takes its best-matching devices, up to its target count.</a:t>
            </a:r>
          </a:p>
        </p:txBody>
      </p:sp>
      <p:sp>
        <p:nvSpPr>
          <p:cNvPr id="9" name="Rounded Rectangle 8"/>
          <p:cNvSpPr/>
          <p:nvPr/>
        </p:nvSpPr>
        <p:spPr>
          <a:xfrm>
            <a:off x="4370832" y="2148840"/>
            <a:ext cx="3401568" cy="1965960"/>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81728" y="2450592"/>
            <a:ext cx="2743200" cy="228600"/>
          </a:xfrm>
          <a:prstGeom prst="rect">
            <a:avLst/>
          </a:prstGeom>
          <a:noFill/>
        </p:spPr>
        <p:txBody>
          <a:bodyPr wrap="square" lIns="0" tIns="0" rIns="0" bIns="0" anchor="t">
            <a:spAutoFit/>
          </a:bodyPr>
          <a:lstStyle/>
          <a:p>
            <a:pPr algn="l">
              <a:lnSpc>
                <a:spcPct val="100000"/>
              </a:lnSpc>
            </a:pPr>
            <a:r>
              <a:rPr sz="950" b="1" i="0">
                <a:solidFill>
                  <a:srgbClr val="C46A24"/>
                </a:solidFill>
                <a:latin typeface="Consolas"/>
              </a:rPr>
              <a:t>SECOND PASS</a:t>
            </a:r>
          </a:p>
        </p:txBody>
      </p:sp>
      <p:sp>
        <p:nvSpPr>
          <p:cNvPr id="11" name="TextBox 10"/>
          <p:cNvSpPr txBox="1"/>
          <p:nvPr/>
        </p:nvSpPr>
        <p:spPr>
          <a:xfrm>
            <a:off x="4681728" y="2761488"/>
            <a:ext cx="2834640" cy="320040"/>
          </a:xfrm>
          <a:prstGeom prst="rect">
            <a:avLst/>
          </a:prstGeom>
          <a:noFill/>
        </p:spPr>
        <p:txBody>
          <a:bodyPr wrap="square" lIns="0" tIns="0" rIns="0" bIns="0" anchor="t">
            <a:spAutoFit/>
          </a:bodyPr>
          <a:lstStyle/>
          <a:p>
            <a:pPr algn="l">
              <a:lnSpc>
                <a:spcPct val="100000"/>
              </a:lnSpc>
            </a:pPr>
            <a:r>
              <a:rPr sz="1800" b="1" i="0">
                <a:solidFill>
                  <a:srgbClr val="171A1D"/>
                </a:solidFill>
                <a:latin typeface="Cambria"/>
              </a:rPr>
              <a:t>Measure the gap</a:t>
            </a:r>
          </a:p>
        </p:txBody>
      </p:sp>
      <p:sp>
        <p:nvSpPr>
          <p:cNvPr id="12" name="TextBox 11"/>
          <p:cNvSpPr txBox="1"/>
          <p:nvPr/>
        </p:nvSpPr>
        <p:spPr>
          <a:xfrm>
            <a:off x="4681728" y="3182112"/>
            <a:ext cx="2834640" cy="77724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Identify which clusters are still short, and by how much.</a:t>
            </a:r>
          </a:p>
        </p:txBody>
      </p:sp>
      <p:sp>
        <p:nvSpPr>
          <p:cNvPr id="13" name="Rounded Rectangle 12"/>
          <p:cNvSpPr/>
          <p:nvPr/>
        </p:nvSpPr>
        <p:spPr>
          <a:xfrm>
            <a:off x="8055864" y="2148840"/>
            <a:ext cx="3401568" cy="1965960"/>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66760" y="2450592"/>
            <a:ext cx="2743200" cy="228600"/>
          </a:xfrm>
          <a:prstGeom prst="rect">
            <a:avLst/>
          </a:prstGeom>
          <a:noFill/>
        </p:spPr>
        <p:txBody>
          <a:bodyPr wrap="square" lIns="0" tIns="0" rIns="0" bIns="0" anchor="t">
            <a:spAutoFit/>
          </a:bodyPr>
          <a:lstStyle/>
          <a:p>
            <a:pPr algn="l">
              <a:lnSpc>
                <a:spcPct val="100000"/>
              </a:lnSpc>
            </a:pPr>
            <a:r>
              <a:rPr sz="950" b="1" i="0">
                <a:solidFill>
                  <a:srgbClr val="C46A24"/>
                </a:solidFill>
                <a:latin typeface="Consolas"/>
              </a:rPr>
              <a:t>THIRD PASS</a:t>
            </a:r>
          </a:p>
        </p:txBody>
      </p:sp>
      <p:sp>
        <p:nvSpPr>
          <p:cNvPr id="15" name="TextBox 14"/>
          <p:cNvSpPr txBox="1"/>
          <p:nvPr/>
        </p:nvSpPr>
        <p:spPr>
          <a:xfrm>
            <a:off x="8366760" y="2761488"/>
            <a:ext cx="2834640" cy="320040"/>
          </a:xfrm>
          <a:prstGeom prst="rect">
            <a:avLst/>
          </a:prstGeom>
          <a:noFill/>
        </p:spPr>
        <p:txBody>
          <a:bodyPr wrap="square" lIns="0" tIns="0" rIns="0" bIns="0" anchor="t">
            <a:spAutoFit/>
          </a:bodyPr>
          <a:lstStyle/>
          <a:p>
            <a:pPr algn="l">
              <a:lnSpc>
                <a:spcPct val="100000"/>
              </a:lnSpc>
            </a:pPr>
            <a:r>
              <a:rPr sz="1800" b="1" i="0">
                <a:solidFill>
                  <a:srgbClr val="171A1D"/>
                </a:solidFill>
                <a:latin typeface="Cambria"/>
              </a:rPr>
              <a:t>Try second choices</a:t>
            </a:r>
          </a:p>
        </p:txBody>
      </p:sp>
      <p:sp>
        <p:nvSpPr>
          <p:cNvPr id="16" name="TextBox 15"/>
          <p:cNvSpPr txBox="1"/>
          <p:nvPr/>
        </p:nvSpPr>
        <p:spPr>
          <a:xfrm>
            <a:off x="8366760" y="3182112"/>
            <a:ext cx="2834640" cy="77724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Unplaced devices try their next-ranked clusters, strongest device first.</a:t>
            </a:r>
          </a:p>
        </p:txBody>
      </p:sp>
      <p:sp>
        <p:nvSpPr>
          <p:cNvPr id="17" name="Rounded Rectangle 16"/>
          <p:cNvSpPr/>
          <p:nvPr/>
        </p:nvSpPr>
        <p:spPr>
          <a:xfrm>
            <a:off x="685800" y="4498848"/>
            <a:ext cx="10817352" cy="1371600"/>
          </a:xfrm>
          <a:prstGeom prst="roundRect">
            <a:avLst>
              <a:gd name="adj" fmla="val 6000"/>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97280" y="4773168"/>
            <a:ext cx="822960" cy="365760"/>
          </a:xfrm>
          <a:prstGeom prst="rect">
            <a:avLst/>
          </a:prstGeom>
          <a:noFill/>
        </p:spPr>
        <p:txBody>
          <a:bodyPr wrap="square" lIns="0" tIns="0" rIns="0" bIns="0" anchor="t">
            <a:spAutoFit/>
          </a:bodyPr>
          <a:lstStyle/>
          <a:p>
            <a:pPr algn="l">
              <a:lnSpc>
                <a:spcPct val="100000"/>
              </a:lnSpc>
            </a:pPr>
            <a:r>
              <a:rPr sz="1100" b="1" i="0">
                <a:solidFill>
                  <a:srgbClr val="C46A24"/>
                </a:solidFill>
                <a:latin typeface="Consolas"/>
              </a:rPr>
              <a:t>THEN</a:t>
            </a:r>
          </a:p>
        </p:txBody>
      </p:sp>
      <p:sp>
        <p:nvSpPr>
          <p:cNvPr id="19" name="TextBox 18"/>
          <p:cNvSpPr txBox="1"/>
          <p:nvPr/>
        </p:nvSpPr>
        <p:spPr>
          <a:xfrm>
            <a:off x="2103120" y="4700016"/>
            <a:ext cx="8778240" cy="868680"/>
          </a:xfrm>
          <a:prstGeom prst="rect">
            <a:avLst/>
          </a:prstGeom>
          <a:noFill/>
        </p:spPr>
        <p:txBody>
          <a:bodyPr wrap="square" lIns="0" tIns="0" rIns="0" bIns="0" anchor="t">
            <a:spAutoFit/>
          </a:bodyPr>
          <a:lstStyle/>
          <a:p>
            <a:pPr algn="l">
              <a:lnSpc>
                <a:spcPct val="125000"/>
              </a:lnSpc>
            </a:pPr>
            <a:r>
              <a:rPr sz="1600" b="0" i="0">
                <a:solidFill>
                  <a:srgbClr val="FFFFFF"/>
                </a:solidFill>
                <a:latin typeface="Calibri"/>
              </a:rPr>
              <a:t>Whatever is left over is not forced anywhere. It goes to a review queue for an engineer, with the model’s own suggestions attached.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04 · WHERE WE ARE NOW</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171A1D"/>
                </a:solidFill>
                <a:latin typeface="Cambria"/>
              </a:rPr>
              <a:t>The engine is complete and verified</a:t>
            </a:r>
          </a:p>
        </p:txBody>
      </p:sp>
      <p:sp>
        <p:nvSpPr>
          <p:cNvPr id="5" name="TextBox 4"/>
          <p:cNvSpPr txBox="1"/>
          <p:nvPr/>
        </p:nvSpPr>
        <p:spPr>
          <a:xfrm>
            <a:off x="685800" y="2057400"/>
            <a:ext cx="10515600" cy="365760"/>
          </a:xfrm>
          <a:prstGeom prst="rect">
            <a:avLst/>
          </a:prstGeom>
          <a:noFill/>
        </p:spPr>
        <p:txBody>
          <a:bodyPr wrap="square" lIns="0" tIns="0" rIns="0" bIns="0" anchor="t">
            <a:spAutoFit/>
          </a:bodyPr>
          <a:lstStyle/>
          <a:p>
            <a:pPr algn="l">
              <a:lnSpc>
                <a:spcPct val="100000"/>
              </a:lnSpc>
            </a:pPr>
            <a:r>
              <a:rPr sz="1600" b="0" i="0">
                <a:solidFill>
                  <a:srgbClr val="67717C"/>
                </a:solidFill>
                <a:latin typeface="Calibri"/>
              </a:rPr>
              <a:t>Tested against a live database and the real trained models — server and local runs agree exactly.</a:t>
            </a:r>
          </a:p>
        </p:txBody>
      </p:sp>
      <p:sp>
        <p:nvSpPr>
          <p:cNvPr id="6" name="Rounded Rectangle 5"/>
          <p:cNvSpPr/>
          <p:nvPr/>
        </p:nvSpPr>
        <p:spPr>
          <a:xfrm>
            <a:off x="685800" y="2697480"/>
            <a:ext cx="5285232" cy="1874519"/>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3044951"/>
            <a:ext cx="402336" cy="402336"/>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onsolas"/>
              </a:rPr>
              <a:t>✓</a:t>
            </a:r>
          </a:p>
        </p:txBody>
      </p:sp>
      <p:sp>
        <p:nvSpPr>
          <p:cNvPr id="8" name="TextBox 7"/>
          <p:cNvSpPr txBox="1"/>
          <p:nvPr/>
        </p:nvSpPr>
        <p:spPr>
          <a:xfrm>
            <a:off x="1618488" y="3035808"/>
            <a:ext cx="4114800" cy="457200"/>
          </a:xfrm>
          <a:prstGeom prst="rect">
            <a:avLst/>
          </a:prstGeom>
          <a:noFill/>
        </p:spPr>
        <p:txBody>
          <a:bodyPr wrap="square" lIns="0" tIns="0" rIns="0" bIns="0" anchor="t">
            <a:spAutoFit/>
          </a:bodyPr>
          <a:lstStyle/>
          <a:p>
            <a:pPr algn="l">
              <a:lnSpc>
                <a:spcPct val="105000"/>
              </a:lnSpc>
            </a:pPr>
            <a:r>
              <a:rPr sz="1700" b="1" i="0">
                <a:solidFill>
                  <a:srgbClr val="171A1D"/>
                </a:solidFill>
                <a:latin typeface="Cambria"/>
              </a:rPr>
              <a:t>The whole pipeline is one function call</a:t>
            </a:r>
          </a:p>
        </p:txBody>
      </p:sp>
      <p:sp>
        <p:nvSpPr>
          <p:cNvPr id="9" name="TextBox 8"/>
          <p:cNvSpPr txBox="1"/>
          <p:nvPr/>
        </p:nvSpPr>
        <p:spPr>
          <a:xfrm>
            <a:off x="1051560" y="3675887"/>
            <a:ext cx="4572000" cy="777240"/>
          </a:xfrm>
          <a:prstGeom prst="rect">
            <a:avLst/>
          </a:prstGeom>
          <a:noFill/>
        </p:spPr>
        <p:txBody>
          <a:bodyPr wrap="square" lIns="0" tIns="0" rIns="0" bIns="0" anchor="t">
            <a:spAutoFit/>
          </a:bodyPr>
          <a:lstStyle/>
          <a:p>
            <a:pPr algn="l">
              <a:lnSpc>
                <a:spcPct val="122000"/>
              </a:lnSpc>
            </a:pPr>
            <a:r>
              <a:rPr sz="1350" b="0" i="0">
                <a:solidFill>
                  <a:srgbClr val="67717C"/>
                </a:solidFill>
                <a:latin typeface="Calibri"/>
              </a:rPr>
              <a:t>The developer building the interface does not need to understand the internals. They call one method and receive the results — from the server or locally.</a:t>
            </a:r>
          </a:p>
        </p:txBody>
      </p:sp>
      <p:sp>
        <p:nvSpPr>
          <p:cNvPr id="10" name="Rounded Rectangle 9"/>
          <p:cNvSpPr/>
          <p:nvPr/>
        </p:nvSpPr>
        <p:spPr>
          <a:xfrm>
            <a:off x="6217920" y="2697480"/>
            <a:ext cx="5285232" cy="1874519"/>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583680" y="3044951"/>
            <a:ext cx="402336" cy="402336"/>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onsolas"/>
              </a:rPr>
              <a:t>✓</a:t>
            </a:r>
          </a:p>
        </p:txBody>
      </p:sp>
      <p:sp>
        <p:nvSpPr>
          <p:cNvPr id="12" name="TextBox 11"/>
          <p:cNvSpPr txBox="1"/>
          <p:nvPr/>
        </p:nvSpPr>
        <p:spPr>
          <a:xfrm>
            <a:off x="7150608" y="3035808"/>
            <a:ext cx="4114800" cy="457200"/>
          </a:xfrm>
          <a:prstGeom prst="rect">
            <a:avLst/>
          </a:prstGeom>
          <a:noFill/>
        </p:spPr>
        <p:txBody>
          <a:bodyPr wrap="square" lIns="0" tIns="0" rIns="0" bIns="0" anchor="t">
            <a:spAutoFit/>
          </a:bodyPr>
          <a:lstStyle/>
          <a:p>
            <a:pPr algn="l">
              <a:lnSpc>
                <a:spcPct val="105000"/>
              </a:lnSpc>
            </a:pPr>
            <a:r>
              <a:rPr sz="1700" b="1" i="0">
                <a:solidFill>
                  <a:srgbClr val="171A1D"/>
                </a:solidFill>
                <a:latin typeface="Cambria"/>
              </a:rPr>
              <a:t>Nothing is hardcoded any more</a:t>
            </a:r>
          </a:p>
        </p:txBody>
      </p:sp>
      <p:sp>
        <p:nvSpPr>
          <p:cNvPr id="13" name="TextBox 12"/>
          <p:cNvSpPr txBox="1"/>
          <p:nvPr/>
        </p:nvSpPr>
        <p:spPr>
          <a:xfrm>
            <a:off x="6583680" y="3675887"/>
            <a:ext cx="4572000" cy="777240"/>
          </a:xfrm>
          <a:prstGeom prst="rect">
            <a:avLst/>
          </a:prstGeom>
          <a:noFill/>
        </p:spPr>
        <p:txBody>
          <a:bodyPr wrap="square" lIns="0" tIns="0" rIns="0" bIns="0" anchor="t">
            <a:spAutoFit/>
          </a:bodyPr>
          <a:lstStyle/>
          <a:p>
            <a:pPr algn="l">
              <a:lnSpc>
                <a:spcPct val="122000"/>
              </a:lnSpc>
            </a:pPr>
            <a:r>
              <a:rPr sz="1350" b="0" i="0">
                <a:solidFill>
                  <a:srgbClr val="67717C"/>
                </a:solidFill>
                <a:latin typeface="Calibri"/>
              </a:rPr>
              <a:t>Quota patterns now live in a database table an engineer can edit directly. Previously a rule change needed a developer.</a:t>
            </a:r>
          </a:p>
        </p:txBody>
      </p:sp>
      <p:sp>
        <p:nvSpPr>
          <p:cNvPr id="14" name="TextBox 13"/>
          <p:cNvSpPr txBox="1"/>
          <p:nvPr/>
        </p:nvSpPr>
        <p:spPr>
          <a:xfrm>
            <a:off x="685800" y="4892040"/>
            <a:ext cx="10515600" cy="365760"/>
          </a:xfrm>
          <a:prstGeom prst="rect">
            <a:avLst/>
          </a:prstGeom>
          <a:noFill/>
        </p:spPr>
        <p:txBody>
          <a:bodyPr wrap="square" lIns="0" tIns="0" rIns="0" bIns="0" anchor="t">
            <a:spAutoFit/>
          </a:bodyPr>
          <a:lstStyle/>
          <a:p>
            <a:pPr algn="l">
              <a:lnSpc>
                <a:spcPct val="100000"/>
              </a:lnSpc>
            </a:pPr>
            <a:r>
              <a:rPr sz="1450" b="0" i="1">
                <a:solidFill>
                  <a:srgbClr val="67717C"/>
                </a:solidFill>
                <a:latin typeface="Calibri"/>
              </a:rPr>
              <a:t>Everything the system produces is written back to SQL Server — the interface reads from the database, not from files.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05 · CONSTRAINTS</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FFFFFF"/>
                </a:solidFill>
                <a:latin typeface="Cambria"/>
              </a:rPr>
              <a:t>One number needs explaining</a:t>
            </a:r>
          </a:p>
        </p:txBody>
      </p:sp>
      <p:graphicFrame>
        <p:nvGraphicFramePr>
          <p:cNvPr id="5" name="Chart 4"/>
          <p:cNvGraphicFramePr>
            <a:graphicFrameLocks noGrp="1"/>
          </p:cNvGraphicFramePr>
          <p:nvPr/>
        </p:nvGraphicFramePr>
        <p:xfrm>
          <a:off x="685800" y="2240280"/>
          <a:ext cx="603504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685800" y="5623560"/>
            <a:ext cx="6035040" cy="320040"/>
          </a:xfrm>
          <a:prstGeom prst="rect">
            <a:avLst/>
          </a:prstGeom>
          <a:noFill/>
        </p:spPr>
        <p:txBody>
          <a:bodyPr wrap="square" lIns="0" tIns="0" rIns="0" bIns="0" anchor="t">
            <a:spAutoFit/>
          </a:bodyPr>
          <a:lstStyle/>
          <a:p>
            <a:pPr algn="l">
              <a:lnSpc>
                <a:spcPct val="100000"/>
              </a:lnSpc>
            </a:pPr>
            <a:r>
              <a:rPr sz="1050" b="1" i="0">
                <a:solidFill>
                  <a:srgbClr val="9EA8B2"/>
                </a:solidFill>
                <a:latin typeface="Consolas"/>
              </a:rPr>
              <a:t>PROJECT A9998  ·  358 DEVICES PROCESSED</a:t>
            </a:r>
          </a:p>
        </p:txBody>
      </p:sp>
      <p:sp>
        <p:nvSpPr>
          <p:cNvPr id="7" name="Rounded Rectangle 6"/>
          <p:cNvSpPr/>
          <p:nvPr/>
        </p:nvSpPr>
        <p:spPr>
          <a:xfrm>
            <a:off x="7086600" y="2240280"/>
            <a:ext cx="4389120" cy="3200400"/>
          </a:xfrm>
          <a:prstGeom prst="roundRect">
            <a:avLst>
              <a:gd name="adj" fmla="val 6000"/>
            </a:avLst>
          </a:prstGeom>
          <a:solidFill>
            <a:srgbClr val="2A36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52360" y="2606040"/>
            <a:ext cx="3657600" cy="822960"/>
          </a:xfrm>
          <a:prstGeom prst="rect">
            <a:avLst/>
          </a:prstGeom>
          <a:noFill/>
        </p:spPr>
        <p:txBody>
          <a:bodyPr wrap="square" lIns="0" tIns="0" rIns="0" bIns="0" anchor="t">
            <a:spAutoFit/>
          </a:bodyPr>
          <a:lstStyle/>
          <a:p>
            <a:pPr algn="l">
              <a:lnSpc>
                <a:spcPct val="100000"/>
              </a:lnSpc>
            </a:pPr>
            <a:r>
              <a:rPr sz="2600" b="1" i="0">
                <a:solidFill>
                  <a:srgbClr val="C46A24"/>
                </a:solidFill>
                <a:latin typeface="Cambria"/>
              </a:rPr>
              <a:t>Only 25% assigned</a:t>
            </a:r>
          </a:p>
        </p:txBody>
      </p:sp>
      <p:sp>
        <p:nvSpPr>
          <p:cNvPr id="9" name="TextBox 8"/>
          <p:cNvSpPr txBox="1"/>
          <p:nvPr/>
        </p:nvSpPr>
        <p:spPr>
          <a:xfrm>
            <a:off x="7452360" y="3520440"/>
            <a:ext cx="3657600" cy="1737360"/>
          </a:xfrm>
          <a:prstGeom prst="rect">
            <a:avLst/>
          </a:prstGeom>
          <a:noFill/>
        </p:spPr>
        <p:txBody>
          <a:bodyPr wrap="square" lIns="0" tIns="0" rIns="0" bIns="0">
            <a:spAutoFit/>
          </a:bodyPr>
          <a:lstStyle/>
          <a:p>
            <a:pPr>
              <a:lnSpc>
                <a:spcPct val="122000"/>
              </a:lnSpc>
              <a:spcAft>
                <a:spcPts val="1000"/>
              </a:spcAft>
            </a:pPr>
            <a:r>
              <a:rPr sz="1500" b="1" i="0">
                <a:solidFill>
                  <a:srgbClr val="FFFFFF"/>
                </a:solidFill>
                <a:latin typeface="Calibri"/>
              </a:rPr>
              <a:t>This is not a measure of model accuracy.</a:t>
            </a:r>
          </a:p>
          <a:p>
            <a:pPr>
              <a:lnSpc>
                <a:spcPct val="125000"/>
              </a:lnSpc>
              <a:spcAft>
                <a:spcPts val="0"/>
              </a:spcAft>
            </a:pPr>
            <a:r>
              <a:rPr sz="1400" b="0" i="0">
                <a:solidFill>
                  <a:srgbClr val="9EA8B2"/>
                </a:solidFill>
                <a:latin typeface="Calibri"/>
              </a:rPr>
              <a:t>It is a measure of missing reference data. The system cannot place a device into a cluster whose target composition has never been defined — and we have defined one section out of eight.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05 · CONSTRAINTS, CONTINUED</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171A1D"/>
                </a:solidFill>
                <a:latin typeface="Cambria"/>
              </a:rPr>
              <a:t>What is not ready</a:t>
            </a:r>
          </a:p>
        </p:txBody>
      </p:sp>
      <p:sp>
        <p:nvSpPr>
          <p:cNvPr id="5" name="Rounded Rectangle 4"/>
          <p:cNvSpPr/>
          <p:nvPr/>
        </p:nvSpPr>
        <p:spPr>
          <a:xfrm>
            <a:off x="685800" y="2148840"/>
            <a:ext cx="5285232" cy="1810512"/>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51560" y="2423160"/>
            <a:ext cx="868680" cy="274320"/>
          </a:xfrm>
          <a:prstGeom prst="roundRect">
            <a:avLst>
              <a:gd name="adj" fmla="val 50000"/>
            </a:avLst>
          </a:prstGeom>
          <a:solidFill>
            <a:srgbClr val="A63A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FFFFF"/>
                </a:solidFill>
                <a:latin typeface="Consolas"/>
              </a:rPr>
              <a:t>BLOCKER</a:t>
            </a:r>
          </a:p>
        </p:txBody>
      </p:sp>
      <p:sp>
        <p:nvSpPr>
          <p:cNvPr id="7" name="TextBox 6"/>
          <p:cNvSpPr txBox="1"/>
          <p:nvPr/>
        </p:nvSpPr>
        <p:spPr>
          <a:xfrm>
            <a:off x="1051560" y="2834640"/>
            <a:ext cx="4572000" cy="365760"/>
          </a:xfrm>
          <a:prstGeom prst="rect">
            <a:avLst/>
          </a:prstGeom>
          <a:noFill/>
        </p:spPr>
        <p:txBody>
          <a:bodyPr wrap="square" lIns="0" tIns="0" rIns="0" bIns="0" anchor="t">
            <a:spAutoFit/>
          </a:bodyPr>
          <a:lstStyle/>
          <a:p>
            <a:pPr algn="l">
              <a:lnSpc>
                <a:spcPct val="100000"/>
              </a:lnSpc>
            </a:pPr>
            <a:r>
              <a:rPr sz="1600" b="1" i="0">
                <a:solidFill>
                  <a:srgbClr val="171A1D"/>
                </a:solidFill>
                <a:latin typeface="Cambria"/>
              </a:rPr>
              <a:t>Quota patterns are mostly placeholder</a:t>
            </a:r>
          </a:p>
        </p:txBody>
      </p:sp>
      <p:sp>
        <p:nvSpPr>
          <p:cNvPr id="8" name="TextBox 7"/>
          <p:cNvSpPr txBox="1"/>
          <p:nvPr/>
        </p:nvSpPr>
        <p:spPr>
          <a:xfrm>
            <a:off x="1051560" y="3227832"/>
            <a:ext cx="4572000" cy="566928"/>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Real target numbers exist for Section 2 only. Sections 1 and 3–8 hold invented figures, added so the pipeline could be tested.</a:t>
            </a:r>
          </a:p>
        </p:txBody>
      </p:sp>
      <p:sp>
        <p:nvSpPr>
          <p:cNvPr id="9" name="Rounded Rectangle 8"/>
          <p:cNvSpPr/>
          <p:nvPr/>
        </p:nvSpPr>
        <p:spPr>
          <a:xfrm>
            <a:off x="6217920" y="2148840"/>
            <a:ext cx="5285232" cy="1810512"/>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583680" y="2423160"/>
            <a:ext cx="868680" cy="274320"/>
          </a:xfrm>
          <a:prstGeom prst="roundRect">
            <a:avLst>
              <a:gd name="adj" fmla="val 50000"/>
            </a:avLst>
          </a:prstGeom>
          <a:solidFill>
            <a:srgbClr val="A63A2E"/>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FFFFF"/>
                </a:solidFill>
                <a:latin typeface="Consolas"/>
              </a:rPr>
              <a:t>BLOCKER</a:t>
            </a:r>
          </a:p>
        </p:txBody>
      </p:sp>
      <p:sp>
        <p:nvSpPr>
          <p:cNvPr id="11" name="TextBox 10"/>
          <p:cNvSpPr txBox="1"/>
          <p:nvPr/>
        </p:nvSpPr>
        <p:spPr>
          <a:xfrm>
            <a:off x="6583680" y="2834640"/>
            <a:ext cx="4572000" cy="365760"/>
          </a:xfrm>
          <a:prstGeom prst="rect">
            <a:avLst/>
          </a:prstGeom>
          <a:noFill/>
        </p:spPr>
        <p:txBody>
          <a:bodyPr wrap="square" lIns="0" tIns="0" rIns="0" bIns="0" anchor="t">
            <a:spAutoFit/>
          </a:bodyPr>
          <a:lstStyle/>
          <a:p>
            <a:pPr algn="l">
              <a:lnSpc>
                <a:spcPct val="100000"/>
              </a:lnSpc>
            </a:pPr>
            <a:r>
              <a:rPr sz="1600" b="1" i="0">
                <a:solidFill>
                  <a:srgbClr val="171A1D"/>
                </a:solidFill>
                <a:latin typeface="Cambria"/>
              </a:rPr>
              <a:t>No user interface yet</a:t>
            </a:r>
          </a:p>
        </p:txBody>
      </p:sp>
      <p:sp>
        <p:nvSpPr>
          <p:cNvPr id="12" name="TextBox 11"/>
          <p:cNvSpPr txBox="1"/>
          <p:nvPr/>
        </p:nvSpPr>
        <p:spPr>
          <a:xfrm>
            <a:off x="6583680" y="3227832"/>
            <a:ext cx="4572000" cy="566928"/>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What we are handing over is the engine, not the finished product. The screens still have to be built.</a:t>
            </a:r>
          </a:p>
        </p:txBody>
      </p:sp>
      <p:sp>
        <p:nvSpPr>
          <p:cNvPr id="13" name="Rounded Rectangle 12"/>
          <p:cNvSpPr/>
          <p:nvPr/>
        </p:nvSpPr>
        <p:spPr>
          <a:xfrm>
            <a:off x="685800" y="4142232"/>
            <a:ext cx="5285232" cy="1810512"/>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51560" y="4416552"/>
            <a:ext cx="868680" cy="274320"/>
          </a:xfrm>
          <a:prstGeom prst="roundRect">
            <a:avLst>
              <a:gd name="adj" fmla="val 50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FFFFF"/>
                </a:solidFill>
                <a:latin typeface="Consolas"/>
              </a:rPr>
              <a:t>GAP</a:t>
            </a:r>
          </a:p>
        </p:txBody>
      </p:sp>
      <p:sp>
        <p:nvSpPr>
          <p:cNvPr id="15" name="TextBox 14"/>
          <p:cNvSpPr txBox="1"/>
          <p:nvPr/>
        </p:nvSpPr>
        <p:spPr>
          <a:xfrm>
            <a:off x="1051560" y="4828032"/>
            <a:ext cx="4572000" cy="365760"/>
          </a:xfrm>
          <a:prstGeom prst="rect">
            <a:avLst/>
          </a:prstGeom>
          <a:noFill/>
        </p:spPr>
        <p:txBody>
          <a:bodyPr wrap="square" lIns="0" tIns="0" rIns="0" bIns="0" anchor="t">
            <a:spAutoFit/>
          </a:bodyPr>
          <a:lstStyle/>
          <a:p>
            <a:pPr algn="l">
              <a:lnSpc>
                <a:spcPct val="100000"/>
              </a:lnSpc>
            </a:pPr>
            <a:r>
              <a:rPr sz="1600" b="1" i="0">
                <a:solidFill>
                  <a:srgbClr val="171A1D"/>
                </a:solidFill>
                <a:latin typeface="Cambria"/>
              </a:rPr>
              <a:t>Validated on representative, not live, data</a:t>
            </a:r>
          </a:p>
        </p:txBody>
      </p:sp>
      <p:sp>
        <p:nvSpPr>
          <p:cNvPr id="16" name="TextBox 15"/>
          <p:cNvSpPr txBox="1"/>
          <p:nvPr/>
        </p:nvSpPr>
        <p:spPr>
          <a:xfrm>
            <a:off x="1051560" y="5221224"/>
            <a:ext cx="4572000" cy="566928"/>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We need a run against a completed project where the answer is already known, so accuracy is measured rather than estimated.</a:t>
            </a:r>
          </a:p>
        </p:txBody>
      </p:sp>
      <p:sp>
        <p:nvSpPr>
          <p:cNvPr id="17" name="Rounded Rectangle 16"/>
          <p:cNvSpPr/>
          <p:nvPr/>
        </p:nvSpPr>
        <p:spPr>
          <a:xfrm>
            <a:off x="6217920" y="4142232"/>
            <a:ext cx="5285232" cy="1810512"/>
          </a:xfrm>
          <a:prstGeom prst="roundRect">
            <a:avLst>
              <a:gd name="adj" fmla="val 6000"/>
            </a:avLst>
          </a:prstGeom>
          <a:solidFill>
            <a:srgbClr val="FFFFFF"/>
          </a:solidFill>
          <a:ln w="9525">
            <a:solidFill>
              <a:srgbClr val="D5D9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83680" y="4416552"/>
            <a:ext cx="868680" cy="274320"/>
          </a:xfrm>
          <a:prstGeom prst="roundRect">
            <a:avLst>
              <a:gd name="adj" fmla="val 50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FFFFF"/>
                </a:solidFill>
                <a:latin typeface="Consolas"/>
              </a:rPr>
              <a:t>GAP</a:t>
            </a:r>
          </a:p>
        </p:txBody>
      </p:sp>
      <p:sp>
        <p:nvSpPr>
          <p:cNvPr id="19" name="TextBox 18"/>
          <p:cNvSpPr txBox="1"/>
          <p:nvPr/>
        </p:nvSpPr>
        <p:spPr>
          <a:xfrm>
            <a:off x="6583680" y="4828032"/>
            <a:ext cx="4572000" cy="365760"/>
          </a:xfrm>
          <a:prstGeom prst="rect">
            <a:avLst/>
          </a:prstGeom>
          <a:noFill/>
        </p:spPr>
        <p:txBody>
          <a:bodyPr wrap="square" lIns="0" tIns="0" rIns="0" bIns="0" anchor="t">
            <a:spAutoFit/>
          </a:bodyPr>
          <a:lstStyle/>
          <a:p>
            <a:pPr algn="l">
              <a:lnSpc>
                <a:spcPct val="100000"/>
              </a:lnSpc>
            </a:pPr>
            <a:r>
              <a:rPr sz="1600" b="1" i="0">
                <a:solidFill>
                  <a:srgbClr val="171A1D"/>
                </a:solidFill>
                <a:latin typeface="Cambria"/>
              </a:rPr>
              <a:t>No automated test suite</a:t>
            </a:r>
          </a:p>
        </p:txBody>
      </p:sp>
      <p:sp>
        <p:nvSpPr>
          <p:cNvPr id="20" name="TextBox 19"/>
          <p:cNvSpPr txBox="1"/>
          <p:nvPr/>
        </p:nvSpPr>
        <p:spPr>
          <a:xfrm>
            <a:off x="6583680" y="5221224"/>
            <a:ext cx="4572000" cy="566928"/>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All verification so far has been by hand. Interface work will need automated checks so nothing breaks silently.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06 · WHAT HAPPENS NEXT</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171A1D"/>
                </a:solidFill>
                <a:latin typeface="Cambria"/>
              </a:rPr>
              <a:t>Three things, in order of what unblocks most</a:t>
            </a:r>
          </a:p>
        </p:txBody>
      </p:sp>
      <p:sp>
        <p:nvSpPr>
          <p:cNvPr id="5" name="Oval 4"/>
          <p:cNvSpPr/>
          <p:nvPr/>
        </p:nvSpPr>
        <p:spPr>
          <a:xfrm>
            <a:off x="685800" y="2240280"/>
            <a:ext cx="585216" cy="585216"/>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onsolas"/>
              </a:rPr>
              <a:t>01</a:t>
            </a:r>
          </a:p>
        </p:txBody>
      </p:sp>
      <p:sp>
        <p:nvSpPr>
          <p:cNvPr id="6" name="TextBox 5"/>
          <p:cNvSpPr txBox="1"/>
          <p:nvPr/>
        </p:nvSpPr>
        <p:spPr>
          <a:xfrm>
            <a:off x="1554480" y="2203704"/>
            <a:ext cx="7315200" cy="365760"/>
          </a:xfrm>
          <a:prstGeom prst="rect">
            <a:avLst/>
          </a:prstGeom>
          <a:noFill/>
        </p:spPr>
        <p:txBody>
          <a:bodyPr wrap="square" lIns="0" tIns="0" rIns="0" bIns="0" anchor="t">
            <a:spAutoFit/>
          </a:bodyPr>
          <a:lstStyle/>
          <a:p>
            <a:pPr algn="l">
              <a:lnSpc>
                <a:spcPct val="100000"/>
              </a:lnSpc>
            </a:pPr>
            <a:r>
              <a:rPr sz="1900" b="1" i="0">
                <a:solidFill>
                  <a:srgbClr val="171A1D"/>
                </a:solidFill>
                <a:latin typeface="Cambria"/>
              </a:rPr>
              <a:t>Real quota patterns from engineering</a:t>
            </a:r>
          </a:p>
        </p:txBody>
      </p:sp>
      <p:sp>
        <p:nvSpPr>
          <p:cNvPr id="7" name="TextBox 6"/>
          <p:cNvSpPr txBox="1"/>
          <p:nvPr/>
        </p:nvSpPr>
        <p:spPr>
          <a:xfrm>
            <a:off x="1554480" y="2651760"/>
            <a:ext cx="9692640" cy="621792"/>
          </a:xfrm>
          <a:prstGeom prst="rect">
            <a:avLst/>
          </a:prstGeom>
          <a:noFill/>
        </p:spPr>
        <p:txBody>
          <a:bodyPr wrap="square" lIns="0" tIns="0" rIns="0" bIns="0" anchor="t">
            <a:spAutoFit/>
          </a:bodyPr>
          <a:lstStyle/>
          <a:p>
            <a:pPr algn="l">
              <a:lnSpc>
                <a:spcPct val="120000"/>
              </a:lnSpc>
            </a:pPr>
            <a:r>
              <a:rPr sz="1400" b="0" i="0">
                <a:solidFill>
                  <a:srgbClr val="67717C"/>
                </a:solidFill>
                <a:latin typeface="Calibri"/>
              </a:rPr>
              <a:t>For sections 1 and 3 through 8. The single biggest constraint on how much the system can place automatically. Needs domain knowledge, not development time.</a:t>
            </a:r>
          </a:p>
        </p:txBody>
      </p:sp>
      <p:sp>
        <p:nvSpPr>
          <p:cNvPr id="8" name="Oval 7"/>
          <p:cNvSpPr/>
          <p:nvPr/>
        </p:nvSpPr>
        <p:spPr>
          <a:xfrm>
            <a:off x="685800" y="3447288"/>
            <a:ext cx="585216" cy="58521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onsolas"/>
              </a:rPr>
              <a:t>02</a:t>
            </a:r>
          </a:p>
        </p:txBody>
      </p:sp>
      <p:sp>
        <p:nvSpPr>
          <p:cNvPr id="9" name="TextBox 8"/>
          <p:cNvSpPr txBox="1"/>
          <p:nvPr/>
        </p:nvSpPr>
        <p:spPr>
          <a:xfrm>
            <a:off x="1554480" y="3410712"/>
            <a:ext cx="7315200" cy="365760"/>
          </a:xfrm>
          <a:prstGeom prst="rect">
            <a:avLst/>
          </a:prstGeom>
          <a:noFill/>
        </p:spPr>
        <p:txBody>
          <a:bodyPr wrap="square" lIns="0" tIns="0" rIns="0" bIns="0" anchor="t">
            <a:spAutoFit/>
          </a:bodyPr>
          <a:lstStyle/>
          <a:p>
            <a:pPr algn="l">
              <a:lnSpc>
                <a:spcPct val="100000"/>
              </a:lnSpc>
            </a:pPr>
            <a:r>
              <a:rPr sz="1900" b="1" i="0">
                <a:solidFill>
                  <a:srgbClr val="171A1D"/>
                </a:solidFill>
                <a:latin typeface="Cambria"/>
              </a:rPr>
              <a:t>Interface development</a:t>
            </a:r>
          </a:p>
        </p:txBody>
      </p:sp>
      <p:sp>
        <p:nvSpPr>
          <p:cNvPr id="10" name="TextBox 9"/>
          <p:cNvSpPr txBox="1"/>
          <p:nvPr/>
        </p:nvSpPr>
        <p:spPr>
          <a:xfrm>
            <a:off x="1554480" y="3858768"/>
            <a:ext cx="9692640" cy="621792"/>
          </a:xfrm>
          <a:prstGeom prst="rect">
            <a:avLst/>
          </a:prstGeom>
          <a:noFill/>
        </p:spPr>
        <p:txBody>
          <a:bodyPr wrap="square" lIns="0" tIns="0" rIns="0" bIns="0" anchor="t">
            <a:spAutoFit/>
          </a:bodyPr>
          <a:lstStyle/>
          <a:p>
            <a:pPr algn="l">
              <a:lnSpc>
                <a:spcPct val="120000"/>
              </a:lnSpc>
            </a:pPr>
            <a:r>
              <a:rPr sz="1400" b="0" i="0">
                <a:solidFill>
                  <a:srgbClr val="67717C"/>
                </a:solidFill>
                <a:latin typeface="Calibri"/>
              </a:rPr>
              <a:t>The libraries, the documentation and the deployment steps are all in source control, and a fresh clone builds cleanly. The software developer can begin immediately.</a:t>
            </a:r>
          </a:p>
        </p:txBody>
      </p:sp>
      <p:sp>
        <p:nvSpPr>
          <p:cNvPr id="11" name="Oval 10"/>
          <p:cNvSpPr/>
          <p:nvPr/>
        </p:nvSpPr>
        <p:spPr>
          <a:xfrm>
            <a:off x="685800" y="4654296"/>
            <a:ext cx="585216" cy="585216"/>
          </a:xfrm>
          <a:prstGeom prst="ellipse">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Consolas"/>
              </a:rPr>
              <a:t>03</a:t>
            </a:r>
          </a:p>
        </p:txBody>
      </p:sp>
      <p:sp>
        <p:nvSpPr>
          <p:cNvPr id="12" name="TextBox 11"/>
          <p:cNvSpPr txBox="1"/>
          <p:nvPr/>
        </p:nvSpPr>
        <p:spPr>
          <a:xfrm>
            <a:off x="1554480" y="4617720"/>
            <a:ext cx="7315200" cy="365760"/>
          </a:xfrm>
          <a:prstGeom prst="rect">
            <a:avLst/>
          </a:prstGeom>
          <a:noFill/>
        </p:spPr>
        <p:txBody>
          <a:bodyPr wrap="square" lIns="0" tIns="0" rIns="0" bIns="0" anchor="t">
            <a:spAutoFit/>
          </a:bodyPr>
          <a:lstStyle/>
          <a:p>
            <a:pPr algn="l">
              <a:lnSpc>
                <a:spcPct val="100000"/>
              </a:lnSpc>
            </a:pPr>
            <a:r>
              <a:rPr sz="1900" b="1" i="0">
                <a:solidFill>
                  <a:srgbClr val="171A1D"/>
                </a:solidFill>
                <a:latin typeface="Cambria"/>
              </a:rPr>
              <a:t>Validation run on a real project</a:t>
            </a:r>
          </a:p>
        </p:txBody>
      </p:sp>
      <p:sp>
        <p:nvSpPr>
          <p:cNvPr id="13" name="TextBox 12"/>
          <p:cNvSpPr txBox="1"/>
          <p:nvPr/>
        </p:nvSpPr>
        <p:spPr>
          <a:xfrm>
            <a:off x="1554480" y="5065776"/>
            <a:ext cx="9692640" cy="621792"/>
          </a:xfrm>
          <a:prstGeom prst="rect">
            <a:avLst/>
          </a:prstGeom>
          <a:noFill/>
        </p:spPr>
        <p:txBody>
          <a:bodyPr wrap="square" lIns="0" tIns="0" rIns="0" bIns="0" anchor="t">
            <a:spAutoFit/>
          </a:bodyPr>
          <a:lstStyle/>
          <a:p>
            <a:pPr algn="l">
              <a:lnSpc>
                <a:spcPct val="120000"/>
              </a:lnSpc>
            </a:pPr>
            <a:r>
              <a:rPr sz="1400" b="0" i="0">
                <a:solidFill>
                  <a:srgbClr val="67717C"/>
                </a:solidFill>
                <a:latin typeface="Calibri"/>
              </a:rPr>
              <a:t>This is what gives us a defensible accuracy figure — which we do not have today and should not estimate.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4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86000"/>
            <a:ext cx="10424160" cy="1463040"/>
          </a:xfrm>
          <a:prstGeom prst="rect">
            <a:avLst/>
          </a:prstGeom>
          <a:noFill/>
        </p:spPr>
        <p:txBody>
          <a:bodyPr wrap="square" lIns="0" tIns="0" rIns="0" bIns="0" anchor="t">
            <a:spAutoFit/>
          </a:bodyPr>
          <a:lstStyle/>
          <a:p>
            <a:pPr algn="l">
              <a:lnSpc>
                <a:spcPct val="100000"/>
              </a:lnSpc>
            </a:pPr>
            <a:r>
              <a:rPr sz="3800" b="1" i="0">
                <a:solidFill>
                  <a:srgbClr val="FFFFFF"/>
                </a:solidFill>
                <a:latin typeface="Cambria"/>
              </a:rPr>
              <a:t>The engineering work is done, and it is solid.</a:t>
            </a:r>
          </a:p>
        </p:txBody>
      </p:sp>
      <p:sp>
        <p:nvSpPr>
          <p:cNvPr id="4" name="TextBox 3"/>
          <p:cNvSpPr txBox="1"/>
          <p:nvPr/>
        </p:nvSpPr>
        <p:spPr>
          <a:xfrm>
            <a:off x="685800" y="3429000"/>
            <a:ext cx="9692640" cy="822960"/>
          </a:xfrm>
          <a:prstGeom prst="rect">
            <a:avLst/>
          </a:prstGeom>
          <a:noFill/>
        </p:spPr>
        <p:txBody>
          <a:bodyPr wrap="square" lIns="0" tIns="0" rIns="0" bIns="0" anchor="t">
            <a:spAutoFit/>
          </a:bodyPr>
          <a:lstStyle/>
          <a:p>
            <a:pPr algn="l">
              <a:lnSpc>
                <a:spcPct val="130000"/>
              </a:lnSpc>
            </a:pPr>
            <a:r>
              <a:rPr sz="2000" b="0" i="0">
                <a:solidFill>
                  <a:srgbClr val="9EA8B2"/>
                </a:solidFill>
                <a:latin typeface="Calibri"/>
              </a:rPr>
              <a:t>What stands between us and production use is reference data and an interface — not unsolved technical problems.</a:t>
            </a:r>
          </a:p>
        </p:txBody>
      </p:sp>
      <p:sp>
        <p:nvSpPr>
          <p:cNvPr id="5" name="Rounded Rectangle 4"/>
          <p:cNvSpPr/>
          <p:nvPr/>
        </p:nvSpPr>
        <p:spPr>
          <a:xfrm>
            <a:off x="685800" y="4617720"/>
            <a:ext cx="10817352" cy="1170432"/>
          </a:xfrm>
          <a:prstGeom prst="roundRect">
            <a:avLst>
              <a:gd name="adj" fmla="val 6000"/>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43000" y="4892040"/>
            <a:ext cx="9966960" cy="685800"/>
          </a:xfrm>
          <a:prstGeom prst="rect">
            <a:avLst/>
          </a:prstGeom>
          <a:noFill/>
        </p:spPr>
        <p:txBody>
          <a:bodyPr wrap="square" lIns="0" tIns="0" rIns="0" bIns="0" anchor="t">
            <a:spAutoFit/>
          </a:bodyPr>
          <a:lstStyle/>
          <a:p>
            <a:pPr algn="l">
              <a:lnSpc>
                <a:spcPct val="120000"/>
              </a:lnSpc>
            </a:pPr>
            <a:r>
              <a:rPr sz="1900" b="1" i="0">
                <a:solidFill>
                  <a:srgbClr val="FFFFFF"/>
                </a:solidFill>
                <a:latin typeface="Calibri"/>
              </a:rPr>
              <a:t>The most useful thing this room can do is help us get the quota patterns for the remaining seven sections.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APPENDIX · ANTICIPATED QUESTIONS</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200" b="1" i="0">
                <a:solidFill>
                  <a:srgbClr val="171A1D"/>
                </a:solidFill>
                <a:latin typeface="Cambria"/>
              </a:rPr>
              <a:t>Backup</a:t>
            </a:r>
          </a:p>
        </p:txBody>
      </p:sp>
      <p:sp>
        <p:nvSpPr>
          <p:cNvPr id="5" name="TextBox 4"/>
          <p:cNvSpPr txBox="1"/>
          <p:nvPr/>
        </p:nvSpPr>
        <p:spPr>
          <a:xfrm>
            <a:off x="685800" y="2011680"/>
            <a:ext cx="5120640" cy="320040"/>
          </a:xfrm>
          <a:prstGeom prst="rect">
            <a:avLst/>
          </a:prstGeom>
          <a:noFill/>
        </p:spPr>
        <p:txBody>
          <a:bodyPr wrap="square" lIns="0" tIns="0" rIns="0" bIns="0" anchor="t">
            <a:spAutoFit/>
          </a:bodyPr>
          <a:lstStyle/>
          <a:p>
            <a:pPr algn="l">
              <a:lnSpc>
                <a:spcPct val="100000"/>
              </a:lnSpc>
            </a:pPr>
            <a:r>
              <a:rPr sz="1550" b="1" i="0">
                <a:solidFill>
                  <a:srgbClr val="171A1D"/>
                </a:solidFill>
                <a:latin typeface="Cambria"/>
              </a:rPr>
              <a:t>How accurate is it?</a:t>
            </a:r>
          </a:p>
        </p:txBody>
      </p:sp>
      <p:sp>
        <p:nvSpPr>
          <p:cNvPr id="6" name="TextBox 5"/>
          <p:cNvSpPr txBox="1"/>
          <p:nvPr/>
        </p:nvSpPr>
        <p:spPr>
          <a:xfrm>
            <a:off x="685800" y="2395728"/>
            <a:ext cx="5120640" cy="82296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No validated figure yet — and I will not quote one from test data. A real project run is needed.</a:t>
            </a:r>
          </a:p>
        </p:txBody>
      </p:sp>
      <p:sp>
        <p:nvSpPr>
          <p:cNvPr id="7" name="TextBox 6"/>
          <p:cNvSpPr txBox="1"/>
          <p:nvPr/>
        </p:nvSpPr>
        <p:spPr>
          <a:xfrm>
            <a:off x="6217920" y="2011680"/>
            <a:ext cx="5120640" cy="320040"/>
          </a:xfrm>
          <a:prstGeom prst="rect">
            <a:avLst/>
          </a:prstGeom>
          <a:noFill/>
        </p:spPr>
        <p:txBody>
          <a:bodyPr wrap="square" lIns="0" tIns="0" rIns="0" bIns="0" anchor="t">
            <a:spAutoFit/>
          </a:bodyPr>
          <a:lstStyle/>
          <a:p>
            <a:pPr algn="l">
              <a:lnSpc>
                <a:spcPct val="100000"/>
              </a:lnSpc>
            </a:pPr>
            <a:r>
              <a:rPr sz="1550" b="1" i="0">
                <a:solidFill>
                  <a:srgbClr val="171A1D"/>
                </a:solidFill>
                <a:latin typeface="Cambria"/>
              </a:rPr>
              <a:t>Is any of it actually deployed?</a:t>
            </a:r>
          </a:p>
        </p:txBody>
      </p:sp>
      <p:sp>
        <p:nvSpPr>
          <p:cNvPr id="8" name="TextBox 7"/>
          <p:cNvSpPr txBox="1"/>
          <p:nvPr/>
        </p:nvSpPr>
        <p:spPr>
          <a:xfrm>
            <a:off x="6217920" y="2395728"/>
            <a:ext cx="5120640" cy="82296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Yes — the prediction service runs on our server as a Windows service. What is missing is the interface, not the engine.</a:t>
            </a:r>
          </a:p>
        </p:txBody>
      </p:sp>
      <p:sp>
        <p:nvSpPr>
          <p:cNvPr id="9" name="TextBox 8"/>
          <p:cNvSpPr txBox="1"/>
          <p:nvPr/>
        </p:nvSpPr>
        <p:spPr>
          <a:xfrm>
            <a:off x="685800" y="3493008"/>
            <a:ext cx="5120640" cy="320040"/>
          </a:xfrm>
          <a:prstGeom prst="rect">
            <a:avLst/>
          </a:prstGeom>
          <a:noFill/>
        </p:spPr>
        <p:txBody>
          <a:bodyPr wrap="square" lIns="0" tIns="0" rIns="0" bIns="0" anchor="t">
            <a:spAutoFit/>
          </a:bodyPr>
          <a:lstStyle/>
          <a:p>
            <a:pPr algn="l">
              <a:lnSpc>
                <a:spcPct val="100000"/>
              </a:lnSpc>
            </a:pPr>
            <a:r>
              <a:rPr sz="1550" b="1" i="0">
                <a:solidFill>
                  <a:srgbClr val="171A1D"/>
                </a:solidFill>
                <a:latin typeface="Cambria"/>
              </a:rPr>
              <a:t>What if it gets something wrong?</a:t>
            </a:r>
          </a:p>
        </p:txBody>
      </p:sp>
      <p:sp>
        <p:nvSpPr>
          <p:cNvPr id="10" name="TextBox 9"/>
          <p:cNvSpPr txBox="1"/>
          <p:nvPr/>
        </p:nvSpPr>
        <p:spPr>
          <a:xfrm>
            <a:off x="685800" y="3877056"/>
            <a:ext cx="5120640" cy="82296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It does not silently guess. Low-confidence devices go to a review queue with ranked suggestions.</a:t>
            </a:r>
          </a:p>
        </p:txBody>
      </p:sp>
      <p:sp>
        <p:nvSpPr>
          <p:cNvPr id="11" name="TextBox 10"/>
          <p:cNvSpPr txBox="1"/>
          <p:nvPr/>
        </p:nvSpPr>
        <p:spPr>
          <a:xfrm>
            <a:off x="6217920" y="3493008"/>
            <a:ext cx="5120640" cy="320040"/>
          </a:xfrm>
          <a:prstGeom prst="rect">
            <a:avLst/>
          </a:prstGeom>
          <a:noFill/>
        </p:spPr>
        <p:txBody>
          <a:bodyPr wrap="square" lIns="0" tIns="0" rIns="0" bIns="0" anchor="t">
            <a:spAutoFit/>
          </a:bodyPr>
          <a:lstStyle/>
          <a:p>
            <a:pPr algn="l">
              <a:lnSpc>
                <a:spcPct val="100000"/>
              </a:lnSpc>
            </a:pPr>
            <a:r>
              <a:rPr sz="1550" b="1" i="0">
                <a:solidFill>
                  <a:srgbClr val="171A1D"/>
                </a:solidFill>
                <a:latin typeface="Cambria"/>
              </a:rPr>
              <a:t>Does it replace the engineer?</a:t>
            </a:r>
          </a:p>
        </p:txBody>
      </p:sp>
      <p:sp>
        <p:nvSpPr>
          <p:cNvPr id="12" name="TextBox 11"/>
          <p:cNvSpPr txBox="1"/>
          <p:nvPr/>
        </p:nvSpPr>
        <p:spPr>
          <a:xfrm>
            <a:off x="6217920" y="3877056"/>
            <a:ext cx="5120640" cy="82296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No. It does the mechanical first pass and flags what it is unsure about.</a:t>
            </a:r>
          </a:p>
        </p:txBody>
      </p:sp>
      <p:sp>
        <p:nvSpPr>
          <p:cNvPr id="13" name="TextBox 12"/>
          <p:cNvSpPr txBox="1"/>
          <p:nvPr/>
        </p:nvSpPr>
        <p:spPr>
          <a:xfrm>
            <a:off x="685800" y="4974336"/>
            <a:ext cx="5120640" cy="320040"/>
          </a:xfrm>
          <a:prstGeom prst="rect">
            <a:avLst/>
          </a:prstGeom>
          <a:noFill/>
        </p:spPr>
        <p:txBody>
          <a:bodyPr wrap="square" lIns="0" tIns="0" rIns="0" bIns="0" anchor="t">
            <a:spAutoFit/>
          </a:bodyPr>
          <a:lstStyle/>
          <a:p>
            <a:pPr algn="l">
              <a:lnSpc>
                <a:spcPct val="100000"/>
              </a:lnSpc>
            </a:pPr>
            <a:r>
              <a:rPr sz="1550" b="1" i="0">
                <a:solidFill>
                  <a:srgbClr val="171A1D"/>
                </a:solidFill>
                <a:latin typeface="Cambria"/>
              </a:rPr>
              <a:t>If our naming convention changes?</a:t>
            </a:r>
          </a:p>
        </p:txBody>
      </p:sp>
      <p:sp>
        <p:nvSpPr>
          <p:cNvPr id="14" name="TextBox 13"/>
          <p:cNvSpPr txBox="1"/>
          <p:nvPr/>
        </p:nvSpPr>
        <p:spPr>
          <a:xfrm>
            <a:off x="685800" y="5358384"/>
            <a:ext cx="5120640" cy="82296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Models need retraining. A known ongoing maintenance cost.</a:t>
            </a:r>
          </a:p>
        </p:txBody>
      </p:sp>
      <p:sp>
        <p:nvSpPr>
          <p:cNvPr id="15" name="TextBox 14"/>
          <p:cNvSpPr txBox="1"/>
          <p:nvPr/>
        </p:nvSpPr>
        <p:spPr>
          <a:xfrm>
            <a:off x="6217920" y="4974336"/>
            <a:ext cx="5120640" cy="320040"/>
          </a:xfrm>
          <a:prstGeom prst="rect">
            <a:avLst/>
          </a:prstGeom>
          <a:noFill/>
        </p:spPr>
        <p:txBody>
          <a:bodyPr wrap="square" lIns="0" tIns="0" rIns="0" bIns="0" anchor="t">
            <a:spAutoFit/>
          </a:bodyPr>
          <a:lstStyle/>
          <a:p>
            <a:pPr algn="l">
              <a:lnSpc>
                <a:spcPct val="100000"/>
              </a:lnSpc>
            </a:pPr>
            <a:r>
              <a:rPr sz="1550" b="1" i="0">
                <a:solidFill>
                  <a:srgbClr val="171A1D"/>
                </a:solidFill>
                <a:latin typeface="Cambria"/>
              </a:rPr>
              <a:t>Will it work for another customer?</a:t>
            </a:r>
          </a:p>
        </p:txBody>
      </p:sp>
      <p:sp>
        <p:nvSpPr>
          <p:cNvPr id="16" name="TextBox 15"/>
          <p:cNvSpPr txBox="1"/>
          <p:nvPr/>
        </p:nvSpPr>
        <p:spPr>
          <a:xfrm>
            <a:off x="6217920" y="5358384"/>
            <a:ext cx="5120640" cy="822960"/>
          </a:xfrm>
          <a:prstGeom prst="rect">
            <a:avLst/>
          </a:prstGeom>
          <a:noFill/>
        </p:spPr>
        <p:txBody>
          <a:bodyPr wrap="square" lIns="0" tIns="0" rIns="0" bIns="0" anchor="t">
            <a:spAutoFit/>
          </a:bodyPr>
          <a:lstStyle/>
          <a:p>
            <a:pPr algn="l">
              <a:lnSpc>
                <a:spcPct val="120000"/>
              </a:lnSpc>
            </a:pPr>
            <a:r>
              <a:rPr sz="1300" b="0" i="0">
                <a:solidFill>
                  <a:srgbClr val="67717C"/>
                </a:solidFill>
                <a:latin typeface="Calibri"/>
              </a:rPr>
              <a:t>Yes — quota patterns are stored per customer, so it is configuration, not a rebuild.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85800"/>
            <a:ext cx="7772400" cy="274320"/>
          </a:xfrm>
          <a:prstGeom prst="rect">
            <a:avLst/>
          </a:prstGeom>
          <a:noFill/>
        </p:spPr>
        <p:txBody>
          <a:bodyPr wrap="square" lIns="0" tIns="0" rIns="0" bIns="0" anchor="t">
            <a:spAutoFit/>
          </a:bodyPr>
          <a:lstStyle/>
          <a:p>
            <a:pPr algn="l">
              <a:lnSpc>
                <a:spcPct val="100000"/>
              </a:lnSpc>
            </a:pPr>
            <a:r>
              <a:rPr sz="1050" b="1" i="0">
                <a:solidFill>
                  <a:srgbClr val="C46A24"/>
                </a:solidFill>
                <a:latin typeface="Consolas"/>
              </a:rPr>
              <a:t>04 · WHERE IT RUNS</a:t>
            </a:r>
          </a:p>
        </p:txBody>
      </p:sp>
      <p:sp>
        <p:nvSpPr>
          <p:cNvPr id="4" name="TextBox 3"/>
          <p:cNvSpPr txBox="1"/>
          <p:nvPr/>
        </p:nvSpPr>
        <p:spPr>
          <a:xfrm>
            <a:off x="685800" y="1069848"/>
            <a:ext cx="10241280" cy="914400"/>
          </a:xfrm>
          <a:prstGeom prst="rect">
            <a:avLst/>
          </a:prstGeom>
          <a:noFill/>
        </p:spPr>
        <p:txBody>
          <a:bodyPr wrap="square" lIns="0" tIns="0" rIns="0" bIns="0" anchor="t">
            <a:spAutoFit/>
          </a:bodyPr>
          <a:lstStyle/>
          <a:p>
            <a:pPr algn="l">
              <a:lnSpc>
                <a:spcPct val="95000"/>
              </a:lnSpc>
            </a:pPr>
            <a:r>
              <a:rPr sz="3600" b="1" i="0">
                <a:solidFill>
                  <a:srgbClr val="171A1D"/>
                </a:solidFill>
                <a:latin typeface="Cambria"/>
              </a:rPr>
              <a:t>Deployed across two servers</a:t>
            </a:r>
          </a:p>
        </p:txBody>
      </p:sp>
      <p:sp>
        <p:nvSpPr>
          <p:cNvPr id="5" name="Oval 4"/>
          <p:cNvSpPr/>
          <p:nvPr/>
        </p:nvSpPr>
        <p:spPr>
          <a:xfrm>
            <a:off x="685800" y="2203704"/>
            <a:ext cx="512064" cy="512064"/>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onsolas"/>
              </a:rPr>
              <a:t>1</a:t>
            </a:r>
          </a:p>
        </p:txBody>
      </p:sp>
      <p:sp>
        <p:nvSpPr>
          <p:cNvPr id="6" name="TextBox 5"/>
          <p:cNvSpPr txBox="1"/>
          <p:nvPr/>
        </p:nvSpPr>
        <p:spPr>
          <a:xfrm>
            <a:off x="1472184" y="2167128"/>
            <a:ext cx="3657600" cy="320040"/>
          </a:xfrm>
          <a:prstGeom prst="rect">
            <a:avLst/>
          </a:prstGeom>
          <a:noFill/>
        </p:spPr>
        <p:txBody>
          <a:bodyPr wrap="square" lIns="0" tIns="0" rIns="0" bIns="0" anchor="t">
            <a:spAutoFit/>
          </a:bodyPr>
          <a:lstStyle/>
          <a:p>
            <a:pPr algn="l">
              <a:lnSpc>
                <a:spcPct val="100000"/>
              </a:lnSpc>
            </a:pPr>
            <a:r>
              <a:rPr sz="1700" b="1" i="0">
                <a:solidFill>
                  <a:srgbClr val="171A1D"/>
                </a:solidFill>
                <a:latin typeface="Cambria"/>
              </a:rPr>
              <a:t>The models run on a server</a:t>
            </a:r>
          </a:p>
        </p:txBody>
      </p:sp>
      <p:sp>
        <p:nvSpPr>
          <p:cNvPr id="7" name="TextBox 6"/>
          <p:cNvSpPr txBox="1"/>
          <p:nvPr/>
        </p:nvSpPr>
        <p:spPr>
          <a:xfrm>
            <a:off x="1472184" y="2532888"/>
            <a:ext cx="9966960" cy="658368"/>
          </a:xfrm>
          <a:prstGeom prst="rect">
            <a:avLst/>
          </a:prstGeom>
          <a:noFill/>
        </p:spPr>
        <p:txBody>
          <a:bodyPr wrap="square" lIns="0" tIns="0" rIns="0" bIns="0" anchor="t">
            <a:spAutoFit/>
          </a:bodyPr>
          <a:lstStyle/>
          <a:p>
            <a:pPr algn="l">
              <a:lnSpc>
                <a:spcPct val="122000"/>
              </a:lnSpc>
            </a:pPr>
            <a:r>
              <a:rPr sz="1400" b="0" i="0">
                <a:solidFill>
                  <a:srgbClr val="67717C"/>
                </a:solidFill>
                <a:latin typeface="Calibri"/>
              </a:rPr>
              <a:t>They are loaded into memory once and answer requests over the network. No engineer machine needs Python or the model files installed, and predictions are roughly ten times faster than before.</a:t>
            </a:r>
          </a:p>
        </p:txBody>
      </p:sp>
      <p:sp>
        <p:nvSpPr>
          <p:cNvPr id="8" name="Oval 7"/>
          <p:cNvSpPr/>
          <p:nvPr/>
        </p:nvSpPr>
        <p:spPr>
          <a:xfrm>
            <a:off x="685800" y="3374135"/>
            <a:ext cx="512064" cy="512064"/>
          </a:xfrm>
          <a:prstGeom prst="ellipse">
            <a:avLst/>
          </a:prstGeom>
          <a:solidFill>
            <a:srgbClr val="C46A2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onsolas"/>
              </a:rPr>
              <a:t>2</a:t>
            </a:r>
          </a:p>
        </p:txBody>
      </p:sp>
      <p:sp>
        <p:nvSpPr>
          <p:cNvPr id="9" name="TextBox 8"/>
          <p:cNvSpPr txBox="1"/>
          <p:nvPr/>
        </p:nvSpPr>
        <p:spPr>
          <a:xfrm>
            <a:off x="1472184" y="3337560"/>
            <a:ext cx="3657600" cy="320040"/>
          </a:xfrm>
          <a:prstGeom prst="rect">
            <a:avLst/>
          </a:prstGeom>
          <a:noFill/>
        </p:spPr>
        <p:txBody>
          <a:bodyPr wrap="square" lIns="0" tIns="0" rIns="0" bIns="0" anchor="t">
            <a:spAutoFit/>
          </a:bodyPr>
          <a:lstStyle/>
          <a:p>
            <a:pPr algn="l">
              <a:lnSpc>
                <a:spcPct val="100000"/>
              </a:lnSpc>
            </a:pPr>
            <a:r>
              <a:rPr sz="1700" b="1" i="0">
                <a:solidFill>
                  <a:srgbClr val="171A1D"/>
                </a:solidFill>
                <a:latin typeface="Cambria"/>
              </a:rPr>
              <a:t>The database is company-shared</a:t>
            </a:r>
          </a:p>
        </p:txBody>
      </p:sp>
      <p:sp>
        <p:nvSpPr>
          <p:cNvPr id="10" name="TextBox 9"/>
          <p:cNvSpPr txBox="1"/>
          <p:nvPr/>
        </p:nvSpPr>
        <p:spPr>
          <a:xfrm>
            <a:off x="1472184" y="3703320"/>
            <a:ext cx="9966960" cy="658368"/>
          </a:xfrm>
          <a:prstGeom prst="rect">
            <a:avLst/>
          </a:prstGeom>
          <a:noFill/>
        </p:spPr>
        <p:txBody>
          <a:bodyPr wrap="square" lIns="0" tIns="0" rIns="0" bIns="0" anchor="t">
            <a:spAutoFit/>
          </a:bodyPr>
          <a:lstStyle/>
          <a:p>
            <a:pPr algn="l">
              <a:lnSpc>
                <a:spcPct val="122000"/>
              </a:lnSpc>
            </a:pPr>
            <a:r>
              <a:rPr sz="1400" b="0" i="0">
                <a:solidFill>
                  <a:srgbClr val="67717C"/>
                </a:solidFill>
                <a:latin typeface="Calibri"/>
              </a:rPr>
              <a:t>Everything the system produces is written to SQL Server on the company database server. The interface will read results from there, not from files passed between machines.</a:t>
            </a:r>
          </a:p>
        </p:txBody>
      </p:sp>
      <p:sp>
        <p:nvSpPr>
          <p:cNvPr id="11" name="Oval 10"/>
          <p:cNvSpPr/>
          <p:nvPr/>
        </p:nvSpPr>
        <p:spPr>
          <a:xfrm>
            <a:off x="685800" y="4544568"/>
            <a:ext cx="512064" cy="512064"/>
          </a:xfrm>
          <a:prstGeom prst="ellipse">
            <a:avLst/>
          </a:prstGeom>
          <a:solidFill>
            <a:srgbClr val="2E7D6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Consolas"/>
              </a:rPr>
              <a:t>3</a:t>
            </a:r>
          </a:p>
        </p:txBody>
      </p:sp>
      <p:sp>
        <p:nvSpPr>
          <p:cNvPr id="12" name="TextBox 11"/>
          <p:cNvSpPr txBox="1"/>
          <p:nvPr/>
        </p:nvSpPr>
        <p:spPr>
          <a:xfrm>
            <a:off x="1472184" y="4507992"/>
            <a:ext cx="3657600" cy="320040"/>
          </a:xfrm>
          <a:prstGeom prst="rect">
            <a:avLst/>
          </a:prstGeom>
          <a:noFill/>
        </p:spPr>
        <p:txBody>
          <a:bodyPr wrap="square" lIns="0" tIns="0" rIns="0" bIns="0" anchor="t">
            <a:spAutoFit/>
          </a:bodyPr>
          <a:lstStyle/>
          <a:p>
            <a:pPr algn="l">
              <a:lnSpc>
                <a:spcPct val="100000"/>
              </a:lnSpc>
            </a:pPr>
            <a:r>
              <a:rPr sz="1700" b="1" i="0">
                <a:solidFill>
                  <a:srgbClr val="171A1D"/>
                </a:solidFill>
                <a:latin typeface="Cambria"/>
              </a:rPr>
              <a:t>The developer builds from source</a:t>
            </a:r>
          </a:p>
        </p:txBody>
      </p:sp>
      <p:sp>
        <p:nvSpPr>
          <p:cNvPr id="13" name="TextBox 12"/>
          <p:cNvSpPr txBox="1"/>
          <p:nvPr/>
        </p:nvSpPr>
        <p:spPr>
          <a:xfrm>
            <a:off x="1472184" y="4873752"/>
            <a:ext cx="9966960" cy="658368"/>
          </a:xfrm>
          <a:prstGeom prst="rect">
            <a:avLst/>
          </a:prstGeom>
          <a:noFill/>
        </p:spPr>
        <p:txBody>
          <a:bodyPr wrap="square" lIns="0" tIns="0" rIns="0" bIns="0" anchor="t">
            <a:spAutoFit/>
          </a:bodyPr>
          <a:lstStyle/>
          <a:p>
            <a:pPr algn="l">
              <a:lnSpc>
                <a:spcPct val="122000"/>
              </a:lnSpc>
            </a:pPr>
            <a:r>
              <a:rPr sz="1400" b="0" i="0">
                <a:solidFill>
                  <a:srgbClr val="67717C"/>
                </a:solidFill>
                <a:latin typeface="Calibri"/>
              </a:rPr>
              <a:t>The code is in Azure DevOps. The software developer clones it and builds — nothing is emailed, and there is no package to keep re-sending each time something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541</TotalTime>
  <Words>1151</Words>
  <Application>Microsoft Office PowerPoint</Application>
  <PresentationFormat>Widescreen</PresentationFormat>
  <Paragraphs>118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Siti Syaziyah Binti Samiri</cp:lastModifiedBy>
  <cp:revision>1</cp:revision>
  <dcterms:created xsi:type="dcterms:W3CDTF">2013-01-27T09:14:16Z</dcterms:created>
  <dcterms:modified xsi:type="dcterms:W3CDTF">2026-08-26T10:05:40Z</dcterms:modified>
  <cp:category/>
</cp:coreProperties>
</file>