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Devices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9EA8B2"/>
              </a:solidFill>
            </c:spPr>
            <c:extLst>
              <c:ext xmlns:c16="http://schemas.microsoft.com/office/drawing/2014/chart" uri="{C3380CC4-5D6E-409C-BE32-E72D297353CC}">
                <c16:uniqueId val="{00000001-27D1-42E1-AC04-3370A10AAD79}"/>
              </c:ext>
            </c:extLst>
          </c:dPt>
          <c:dPt>
            <c:idx val="1"/>
            <c:invertIfNegative val="1"/>
            <c:bubble3D val="0"/>
            <c:spPr>
              <a:solidFill>
                <a:srgbClr val="C46A24"/>
              </a:solidFill>
            </c:spPr>
            <c:extLst>
              <c:ext xmlns:c16="http://schemas.microsoft.com/office/drawing/2014/chart" uri="{C3380CC4-5D6E-409C-BE32-E72D297353CC}">
                <c16:uniqueId val="{00000003-27D1-42E1-AC04-3370A10AAD79}"/>
              </c:ext>
            </c:extLst>
          </c:dPt>
          <c:dPt>
            <c:idx val="2"/>
            <c:invertIfNegative val="1"/>
            <c:bubble3D val="0"/>
            <c:spPr>
              <a:solidFill>
                <a:srgbClr val="2E7D63"/>
              </a:solidFill>
            </c:spPr>
            <c:extLst>
              <c:ext xmlns:c16="http://schemas.microsoft.com/office/drawing/2014/chart" uri="{C3380CC4-5D6E-409C-BE32-E72D297353CC}">
                <c16:uniqueId val="{00000005-27D1-42E1-AC04-3370A10AAD79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FFFFFF"/>
                    </a:solidFill>
                    <a:latin typeface="Consola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Unclassified</c:v>
                </c:pt>
                <c:pt idx="1">
                  <c:v>No quota room</c:v>
                </c:pt>
                <c:pt idx="2">
                  <c:v>Assigned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</c:v>
                </c:pt>
                <c:pt idx="1">
                  <c:v>240</c:v>
                </c:pt>
                <c:pt idx="2">
                  <c:v>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7D1-42E1-AC04-3370A10AAD7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2A3645"/>
            </a:solidFill>
          </a:ln>
        </c:spPr>
        <c:txPr>
          <a:bodyPr/>
          <a:lstStyle/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2241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 slide. Set expectation: this is a status briefing, ~14 minutes, and I will be direct about what is not 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on the problem, not the technology. If asked how long the manual sort takes today — we have not measured it. Worth getting that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pressed on "AI": this is pattern recognition trained on our own historical projects, not a general-purpose AI. It learns our conventions specifically.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point to land: the system never silently guesses. Anything it is unsure about goes back to a person with its reasoning attached.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least visible work in the project and the most important for its lifespan. It is the difference between a prototype and something maintainable.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CRITICAL DELIVERY POINT. Show the chart, then explain it immediately. If the 25% hangs unexplained for even a few seconds it reads as "the model only works a quarter of the time", which is wrong and hard to walk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 direct here. Credibility comes from naming these plainly rather than being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Item one is the ask. Make sure the room understands it does not depend on the development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ask, not on the technology. Then open the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present this slide. Hold it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084831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6A24"/>
                </a:solidFill>
                <a:latin typeface="Consolas"/>
              </a:rPr>
              <a:t>DEVICECLUSTER  ·  PROJECT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42032"/>
            <a:ext cx="104241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5200" b="1" i="0">
                <a:solidFill>
                  <a:srgbClr val="FFFFFF"/>
                </a:solidFill>
                <a:latin typeface="Cambria"/>
              </a:rPr>
              <a:t>Automating device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EA8B2"/>
                </a:solidFill>
                <a:latin typeface="Calibri"/>
              </a:rPr>
              <a:t>What the system does, where it stands, and what it needs before production 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230368"/>
            <a:ext cx="2194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9EA8B2"/>
                </a:solidFill>
                <a:latin typeface="Consolas"/>
              </a:rP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63"/>
                </a:solidFill>
                <a:latin typeface="Calibri"/>
              </a:rPr>
              <a:t>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5230368"/>
            <a:ext cx="2194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9EA8B2"/>
                </a:solidFill>
                <a:latin typeface="Consolas"/>
              </a:rPr>
              <a:t>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81528" y="55046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63"/>
                </a:solidFill>
                <a:latin typeface="Calibri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77256" y="5230368"/>
            <a:ext cx="2194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9EA8B2"/>
                </a:solidFill>
                <a:latin typeface="Consolas"/>
              </a:rPr>
              <a:t>QUOTA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7256" y="55046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46A24"/>
                </a:solidFill>
                <a:latin typeface="Calibri"/>
              </a:rPr>
              <a:t>1 of 8 sections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2983" y="5230368"/>
            <a:ext cx="2194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9EA8B2"/>
                </a:solidFill>
                <a:latin typeface="Consolas"/>
              </a:rPr>
              <a:t>INTERFACE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2983" y="55046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46A24"/>
                </a:solidFill>
                <a:latin typeface="Calibri"/>
              </a:rPr>
              <a:t>Not started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C46A24"/>
                </a:solidFill>
                <a:latin typeface="Consolas"/>
              </a:rPr>
              <a:t>01 · WHY THIS PROJECT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69848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171A1D"/>
                </a:solidFill>
                <a:latin typeface="Cambria"/>
              </a:rPr>
              <a:t>Sorting hundreds of devices, by 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54864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 b="0" i="0">
                <a:solidFill>
                  <a:srgbClr val="171A1D"/>
                </a:solidFill>
                <a:latin typeface="Calibri"/>
              </a:rPr>
              <a:t>Each device must be identified by type, assigned to a process section, and grouped into a cluster before any downstream work can begin.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600" b="1" i="0">
                <a:solidFill>
                  <a:srgbClr val="171A1D"/>
                </a:solidFill>
                <a:latin typeface="Calibri"/>
              </a:rPr>
              <a:t>Today an engineer does this by hand.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67717C"/>
                </a:solidFill>
                <a:latin typeface="Calibri"/>
              </a:rPr>
              <a:t>It is slow, repetitive, and two engineers working the same list will not always produce the same answer.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2103120"/>
            <a:ext cx="470916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78040" y="246888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7717C"/>
                </a:solidFill>
                <a:latin typeface="Consolas"/>
              </a:rPr>
              <a:t>WHAT A DEVICE LIST LOOKS LIKE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2971800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onsolas"/>
              </a:rPr>
              <a:t>HT27PF1B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99923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71A1D"/>
                </a:solidFill>
                <a:latin typeface="Calibri"/>
              </a:rPr>
              <a:t>Heater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3520440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onsolas"/>
              </a:rPr>
              <a:t>LL37PL1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54787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71A1D"/>
                </a:solidFill>
                <a:latin typeface="Calibri"/>
              </a:rPr>
              <a:t>Low level switch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8040" y="4069080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onsolas"/>
              </a:rPr>
              <a:t>TC37PR1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09651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71A1D"/>
                </a:solidFill>
                <a:latin typeface="Calibri"/>
              </a:rPr>
              <a:t>Temperature transmitter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4617720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onsolas"/>
              </a:rPr>
              <a:t>V09CF2DA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64515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71A1D"/>
                </a:solidFill>
                <a:latin typeface="Calibri"/>
              </a:rPr>
              <a:t>On/off valve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498348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67717C"/>
                </a:solidFill>
                <a:latin typeface="Calibri"/>
              </a:rPr>
              <a:t>Hundreds per project  ·  sorted by hand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C46A24"/>
                </a:solidFill>
                <a:latin typeface="Consolas"/>
              </a:rPr>
              <a:t>02 · 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69848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171A1D"/>
                </a:solidFill>
                <a:latin typeface="Cambria"/>
              </a:rPr>
              <a:t>The tags already carry meaning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2203704"/>
            <a:ext cx="512064" cy="512064"/>
          </a:xfrm>
          <a:prstGeom prst="ellipse">
            <a:avLst/>
          </a:prstGeom>
          <a:solidFill>
            <a:srgbClr val="C4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216712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71A1D"/>
                </a:solidFill>
                <a:latin typeface="Cambria"/>
              </a:rPr>
              <a:t>Identify the device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2532888"/>
            <a:ext cx="996696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67717C"/>
                </a:solidFill>
                <a:latin typeface="Calibri"/>
              </a:rPr>
              <a:t>The first model reads the tag pattern and determines what the device actually is — heater, valve, transmitter.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374135"/>
            <a:ext cx="512064" cy="512064"/>
          </a:xfrm>
          <a:prstGeom prst="ellipse">
            <a:avLst/>
          </a:prstGeom>
          <a:solidFill>
            <a:srgbClr val="C4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33375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71A1D"/>
                </a:solidFill>
                <a:latin typeface="Cambria"/>
              </a:rPr>
              <a:t>Predict section and cluster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3703320"/>
            <a:ext cx="996696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67717C"/>
                </a:solidFill>
                <a:latin typeface="Calibri"/>
              </a:rPr>
              <a:t>The second model places it. It returns a ranked list of candidates with a confidence score against each — not a single answer.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544568"/>
            <a:ext cx="512064" cy="512064"/>
          </a:xfrm>
          <a:prstGeom prst="ellipse">
            <a:avLst/>
          </a:prstGeom>
          <a:solidFill>
            <a:srgbClr val="2E7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2184" y="450799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71A1D"/>
                </a:solidFill>
                <a:latin typeface="Cambria"/>
              </a:rPr>
              <a:t>Fit against quota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4873752"/>
            <a:ext cx="996696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67717C"/>
                </a:solidFill>
                <a:latin typeface="Calibri"/>
              </a:rPr>
              <a:t>A cluster can only hold so many devices of each type. That is a design constraint, so predictions are fitted to the intended composition.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C46A24"/>
                </a:solidFill>
                <a:latin typeface="Consolas"/>
              </a:rPr>
              <a:t>03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69848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171A1D"/>
                </a:solidFill>
                <a:latin typeface="Cambria"/>
              </a:rPr>
              <a:t>Allocation runs in three passes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340156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6" y="2450592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C46A24"/>
                </a:solidFill>
                <a:latin typeface="Consolas"/>
              </a:rPr>
              <a:t>FIRST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" y="2761488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71A1D"/>
                </a:solidFill>
                <a:latin typeface="Cambria"/>
              </a:rPr>
              <a:t>Fill to quota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3182112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7717C"/>
                </a:solidFill>
                <a:latin typeface="Calibri"/>
              </a:rPr>
              <a:t>Each cluster takes its best-matching devices, up to its target 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2148840"/>
            <a:ext cx="340156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81728" y="2450592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C46A24"/>
                </a:solidFill>
                <a:latin typeface="Consolas"/>
              </a:rPr>
              <a:t>SECOND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2761488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71A1D"/>
                </a:solidFill>
                <a:latin typeface="Cambria"/>
              </a:rPr>
              <a:t>Measure 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182112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7717C"/>
                </a:solidFill>
                <a:latin typeface="Calibri"/>
              </a:rPr>
              <a:t>Identify which clusters are still short, and by how much.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2148840"/>
            <a:ext cx="340156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2450592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C46A24"/>
                </a:solidFill>
                <a:latin typeface="Consolas"/>
              </a:rPr>
              <a:t>THIRD 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61488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71A1D"/>
                </a:solidFill>
                <a:latin typeface="Cambria"/>
              </a:rPr>
              <a:t>Try second choices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182112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7717C"/>
                </a:solidFill>
                <a:latin typeface="Calibri"/>
              </a:rPr>
              <a:t>Unplaced devices try their next-ranked clusters, strongest device first.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498848"/>
            <a:ext cx="10817352" cy="13716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4773168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46A24"/>
                </a:solidFill>
                <a:latin typeface="Consolas"/>
              </a:rPr>
              <a:t>THEN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700016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Whatever is left over is not forced anywhere. It goes to a review queue for an engineer, with the model’s own suggestions attached.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C46A24"/>
                </a:solidFill>
                <a:latin typeface="Consolas"/>
              </a:rPr>
              <a:t>04 · WHERE WE ARE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69848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171A1D"/>
                </a:solidFill>
                <a:latin typeface="Cambria"/>
              </a:rPr>
              <a:t>The engine is complete and verified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574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67717C"/>
                </a:solidFill>
                <a:latin typeface="Calibri"/>
              </a:rPr>
              <a:t>Tested end to end against a live database and the real trained models — not simulated, not stubbed.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7480"/>
            <a:ext cx="528523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" y="3044951"/>
            <a:ext cx="402336" cy="402336"/>
          </a:xfrm>
          <a:prstGeom prst="ellipse">
            <a:avLst/>
          </a:prstGeom>
          <a:solidFill>
            <a:srgbClr val="2E7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onsolas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" y="303580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1A1D"/>
                </a:solidFill>
                <a:latin typeface="Cambria"/>
              </a:rPr>
              <a:t>The whole pipeline is one function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75887"/>
            <a:ext cx="45720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67717C"/>
                </a:solidFill>
                <a:latin typeface="Calibri"/>
              </a:rPr>
              <a:t>The developer building the interface does not need to understand any of the internals. They call one method and receive the results.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97480"/>
            <a:ext cx="528523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583680" y="3044951"/>
            <a:ext cx="402336" cy="402336"/>
          </a:xfrm>
          <a:prstGeom prst="ellipse">
            <a:avLst/>
          </a:prstGeom>
          <a:solidFill>
            <a:srgbClr val="2E7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onsola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0608" y="3035808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1A1D"/>
                </a:solidFill>
                <a:latin typeface="Cambria"/>
              </a:rPr>
              <a:t>Nothing is hardcoded any more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675887"/>
            <a:ext cx="45720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67717C"/>
                </a:solidFill>
                <a:latin typeface="Calibri"/>
              </a:rPr>
              <a:t>Quota patterns now live in a database table an engineer can edit directly. Previously a rule change needed a developer.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920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1">
                <a:solidFill>
                  <a:srgbClr val="67717C"/>
                </a:solidFill>
                <a:latin typeface="Calibri"/>
              </a:rPr>
              <a:t>Everything the system produces is written back to SQL Server — the interface reads from the database, not from files.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C46A24"/>
                </a:solidFill>
                <a:latin typeface="Consolas"/>
              </a:rPr>
              <a:t>05 ·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69848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One number needs explaining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2240280"/>
          <a:ext cx="6035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2356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9EA8B2"/>
                </a:solidFill>
                <a:latin typeface="Consolas"/>
              </a:rPr>
              <a:t>PROJECT A9998  ·  358 DEVICES PROCESSED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2240280"/>
            <a:ext cx="4389120" cy="3200400"/>
          </a:xfrm>
          <a:prstGeom prst="roundRect">
            <a:avLst>
              <a:gd name="adj" fmla="val 6000"/>
            </a:avLst>
          </a:prstGeom>
          <a:solidFill>
            <a:srgbClr val="2A36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52360" y="2606040"/>
            <a:ext cx="3657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C46A24"/>
                </a:solidFill>
                <a:latin typeface="Cambria"/>
              </a:rPr>
              <a:t>Only 25% assigned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3520440"/>
            <a:ext cx="365760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This is not a measure of model accuracy.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9EA8B2"/>
                </a:solidFill>
                <a:latin typeface="Calibri"/>
              </a:rPr>
              <a:t>It is a measure of missing reference data. The system cannot place a device into a cluster whose target composition has never been defined — and we have defined one section out of eight.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C46A24"/>
                </a:solidFill>
                <a:latin typeface="Consolas"/>
              </a:rPr>
              <a:t>05 · CONSTRAINTS,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69848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171A1D"/>
                </a:solidFill>
                <a:latin typeface="Cambria"/>
              </a:rPr>
              <a:t>What is not ready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5285232" cy="18105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51560" y="242316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onsolas"/>
              </a:rPr>
              <a:t>BLOCKER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71A1D"/>
                </a:solidFill>
                <a:latin typeface="Cambria"/>
              </a:rPr>
              <a:t>Quota patterns are mostly placeholder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27832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7717C"/>
                </a:solidFill>
                <a:latin typeface="Calibri"/>
              </a:rPr>
              <a:t>Real target numbers exist for Section 2 only. Sections 1 and 3–8 hold invented figures, added so the pipeline could be tested.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48840"/>
            <a:ext cx="5285232" cy="18105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583680" y="242316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onsolas"/>
              </a:rPr>
              <a:t>BLOCKER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71A1D"/>
                </a:solidFill>
                <a:latin typeface="Cambria"/>
              </a:rPr>
              <a:t>No user interface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27832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7717C"/>
                </a:solidFill>
                <a:latin typeface="Calibri"/>
              </a:rPr>
              <a:t>What we are handing over is the engine, not the finished product. The screens still have to be built.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142232"/>
            <a:ext cx="5285232" cy="18105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51560" y="441655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C4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onsolas"/>
              </a:rPr>
              <a:t>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28032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71A1D"/>
                </a:solidFill>
                <a:latin typeface="Cambria"/>
              </a:rPr>
              <a:t>Validated on representative, not live,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221224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7717C"/>
                </a:solidFill>
                <a:latin typeface="Calibri"/>
              </a:rPr>
              <a:t>We need a run against a completed project where the answer is already known, so accuracy is measured rather than estimated.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42232"/>
            <a:ext cx="5285232" cy="18105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583680" y="441655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C4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Consolas"/>
              </a:rPr>
              <a:t>GAP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828032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71A1D"/>
                </a:solidFill>
                <a:latin typeface="Cambria"/>
              </a:rPr>
              <a:t>No automated test suite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221224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7717C"/>
                </a:solidFill>
                <a:latin typeface="Calibri"/>
              </a:rPr>
              <a:t>All verification so far has been by hand. Interface work will need automated checks so nothing breaks silently.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C46A24"/>
                </a:solidFill>
                <a:latin typeface="Consolas"/>
              </a:rPr>
              <a:t>06 · 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69848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171A1D"/>
                </a:solidFill>
                <a:latin typeface="Cambria"/>
              </a:rPr>
              <a:t>Three things, in order of what unblocks most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2240280"/>
            <a:ext cx="585216" cy="585216"/>
          </a:xfrm>
          <a:prstGeom prst="ellipse">
            <a:avLst/>
          </a:prstGeom>
          <a:solidFill>
            <a:srgbClr val="C4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203704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71A1D"/>
                </a:solidFill>
                <a:latin typeface="Cambria"/>
              </a:rPr>
              <a:t>Real quota patterns from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51760"/>
            <a:ext cx="9692640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7717C"/>
                </a:solidFill>
                <a:latin typeface="Calibri"/>
              </a:rPr>
              <a:t>For sections 1 and 3 through 8. The single biggest constraint on how much the system can place automatically. Needs domain knowledge, not development time.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447288"/>
            <a:ext cx="585216" cy="585216"/>
          </a:xfrm>
          <a:prstGeom prst="ellipse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41071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71A1D"/>
                </a:solidFill>
                <a:latin typeface="Cambria"/>
              </a:rPr>
              <a:t>Interface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858768"/>
            <a:ext cx="9692640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7717C"/>
                </a:solidFill>
                <a:latin typeface="Calibri"/>
              </a:rPr>
              <a:t>The handover package is complete and documented. The software developer can begin immediately.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654296"/>
            <a:ext cx="585216" cy="585216"/>
          </a:xfrm>
          <a:prstGeom prst="ellipse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6177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71A1D"/>
                </a:solidFill>
                <a:latin typeface="Cambria"/>
              </a:rPr>
              <a:t>Validation run on a real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065776"/>
            <a:ext cx="9692640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7717C"/>
                </a:solidFill>
                <a:latin typeface="Calibri"/>
              </a:rPr>
              <a:t>This is what gives us a defensible accuracy figure — which we do not have today and should not estimate.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424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FFFF"/>
                </a:solidFill>
                <a:latin typeface="Cambria"/>
              </a:rPr>
              <a:t>The engineering work is done, and it is solid.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429000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9EA8B2"/>
                </a:solidFill>
                <a:latin typeface="Calibri"/>
              </a:rPr>
              <a:t>What stands between us and production use is reference data and an interface — not unsolved technical problems.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617720"/>
            <a:ext cx="10817352" cy="1170432"/>
          </a:xfrm>
          <a:prstGeom prst="roundRect">
            <a:avLst>
              <a:gd name="adj" fmla="val 6000"/>
            </a:avLst>
          </a:prstGeom>
          <a:solidFill>
            <a:srgbClr val="C4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4892040"/>
            <a:ext cx="9966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The most useful thing this room can do is help us get the quota patterns for the remaining seven sections.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C46A24"/>
                </a:solidFill>
                <a:latin typeface="Consolas"/>
              </a:rPr>
              <a:t>APPENDIX · ANTICIPATED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69848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 i="0">
                <a:solidFill>
                  <a:srgbClr val="171A1D"/>
                </a:solidFill>
                <a:latin typeface="Cambria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71A1D"/>
                </a:solidFill>
                <a:latin typeface="Cambria"/>
              </a:rPr>
              <a:t>How accurate is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95728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7717C"/>
                </a:solidFill>
                <a:latin typeface="Calibri"/>
              </a:rPr>
              <a:t>No validated figure yet — and I will not quote one from test data. A real project run is needed.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71A1D"/>
                </a:solidFill>
                <a:latin typeface="Cambria"/>
              </a:rPr>
              <a:t>When can we use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95728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7717C"/>
                </a:solidFill>
                <a:latin typeface="Calibri"/>
              </a:rPr>
              <a:t>Engine is ready now. Product depends on interface time plus the quota data.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93008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71A1D"/>
                </a:solidFill>
                <a:latin typeface="Cambria"/>
              </a:rPr>
              <a:t>What if it gets something wrong?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77056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7717C"/>
                </a:solidFill>
                <a:latin typeface="Calibri"/>
              </a:rPr>
              <a:t>It does not silently guess. Low-confidence devices go to a review queue with ranked suggestions.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493008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71A1D"/>
                </a:solidFill>
                <a:latin typeface="Cambria"/>
              </a:rPr>
              <a:t>Does it replace the engineer?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877056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7717C"/>
                </a:solidFill>
                <a:latin typeface="Calibri"/>
              </a:rPr>
              <a:t>No. It does the mechanical first pass and flags what it is unsure about.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74336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71A1D"/>
                </a:solidFill>
                <a:latin typeface="Cambria"/>
              </a:rPr>
              <a:t>If our naming convention changes?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358384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7717C"/>
                </a:solidFill>
                <a:latin typeface="Calibri"/>
              </a:rPr>
              <a:t>Models need retraining. A known ongoing maintenance cost.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974336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71A1D"/>
                </a:solidFill>
                <a:latin typeface="Cambria"/>
              </a:rPr>
              <a:t>Will it work for another customer?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358384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7717C"/>
                </a:solidFill>
                <a:latin typeface="Calibri"/>
              </a:rPr>
              <a:t>Yes — quota patterns are stored per customer, so it is configuration, not a rebuild.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541</TotalTime>
  <Words>1151</Words>
  <Application>Microsoft Office PowerPoint</Application>
  <PresentationFormat>Widescreen</PresentationFormat>
  <Paragraphs>118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Siti Syaziyah Binti Samiri</cp:lastModifiedBy>
  <cp:revision>1</cp:revision>
  <dcterms:created xsi:type="dcterms:W3CDTF">2013-01-27T09:14:16Z</dcterms:created>
  <dcterms:modified xsi:type="dcterms:W3CDTF">2026-08-26T10:05:40Z</dcterms:modified>
  <cp:category/>
</cp:coreProperties>
</file>