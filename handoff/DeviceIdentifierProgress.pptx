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430"/>
        </a:solidFill>
        <a:effectLst/>
      </p:bgPr>
    </p:bg>
    <p:spTree>
      <p:nvGrpSpPr>
        <p:cNvPr id="1" name=""/>
        <p:cNvGrpSpPr/>
        <p:nvPr/>
      </p:nvGrpSpPr>
      <p:grpSpPr/>
      <p:sp>
        <p:nvSpPr>
          <p:cNvPr id="2" name="TextBox 1"/>
          <p:cNvSpPr txBox="1"/>
          <p:nvPr/>
        </p:nvSpPr>
        <p:spPr>
          <a:xfrm>
            <a:off x="548640" y="1024128"/>
            <a:ext cx="10058400" cy="256032"/>
          </a:xfrm>
          <a:prstGeom prst="rect">
            <a:avLst/>
          </a:prstGeom>
          <a:noFill/>
        </p:spPr>
        <p:txBody>
          <a:bodyPr wrap="square" lIns="0" rIns="0" tIns="0" bIns="0" anchor="t">
            <a:spAutoFit/>
          </a:bodyPr>
          <a:lstStyle/>
          <a:p>
            <a:pPr algn="l"/>
            <a:r>
              <a:rPr sz="1200" b="1" i="0" spc="260">
                <a:solidFill>
                  <a:srgbClr val="C46A24"/>
                </a:solidFill>
                <a:latin typeface="Calibri"/>
              </a:rPr>
              <a:t>DEVICE IDENTIFIER  ·  PROJECT PROGRESS REPORT</a:t>
            </a:r>
          </a:p>
        </p:txBody>
      </p:sp>
      <p:sp>
        <p:nvSpPr>
          <p:cNvPr id="3" name="TextBox 2"/>
          <p:cNvSpPr txBox="1"/>
          <p:nvPr/>
        </p:nvSpPr>
        <p:spPr>
          <a:xfrm>
            <a:off x="548640" y="1417320"/>
            <a:ext cx="9052560" cy="1417320"/>
          </a:xfrm>
          <a:prstGeom prst="rect">
            <a:avLst/>
          </a:prstGeom>
          <a:noFill/>
        </p:spPr>
        <p:txBody>
          <a:bodyPr wrap="square" lIns="0" rIns="0" tIns="0" bIns="0" anchor="t">
            <a:spAutoFit/>
          </a:bodyPr>
          <a:lstStyle/>
          <a:p>
            <a:pPr algn="l">
              <a:lnSpc>
                <a:spcPts val="4700"/>
              </a:lnSpc>
            </a:pPr>
            <a:r>
              <a:rPr sz="4000" b="1" i="0">
                <a:solidFill>
                  <a:srgbClr val="FFFFFF"/>
                </a:solidFill>
                <a:latin typeface="Cambria"/>
              </a:rPr>
              <a:t>From manual sorting to an</a:t>
            </a:r>
          </a:p>
          <a:p>
            <a:pPr algn="l">
              <a:lnSpc>
                <a:spcPts val="4700"/>
              </a:lnSpc>
            </a:pPr>
            <a:r>
              <a:rPr sz="4000" b="1" i="0">
                <a:solidFill>
                  <a:srgbClr val="FFFFFF"/>
                </a:solidFill>
                <a:latin typeface="Cambria"/>
              </a:rPr>
              <a:t>automated classification engine</a:t>
            </a:r>
          </a:p>
        </p:txBody>
      </p:sp>
      <p:sp>
        <p:nvSpPr>
          <p:cNvPr id="4" name="TextBox 3"/>
          <p:cNvSpPr txBox="1"/>
          <p:nvPr/>
        </p:nvSpPr>
        <p:spPr>
          <a:xfrm>
            <a:off x="548640" y="3127248"/>
            <a:ext cx="8138160" cy="822960"/>
          </a:xfrm>
          <a:prstGeom prst="rect">
            <a:avLst/>
          </a:prstGeom>
          <a:noFill/>
        </p:spPr>
        <p:txBody>
          <a:bodyPr wrap="square" lIns="0" rIns="0" tIns="0" bIns="0" anchor="t">
            <a:spAutoFit/>
          </a:bodyPr>
          <a:lstStyle/>
          <a:p>
            <a:pPr algn="l">
              <a:lnSpc>
                <a:spcPts val="2200"/>
              </a:lnSpc>
            </a:pPr>
            <a:r>
              <a:rPr sz="1500" b="0" i="0">
                <a:solidFill>
                  <a:srgbClr val="9EA8B2"/>
                </a:solidFill>
                <a:latin typeface="Calibri"/>
              </a:rPr>
              <a:t>Three machine learning models, a quota-based allocation engine and a deployed C# service — what each part does, where it stands, and what it needs next.</a:t>
            </a:r>
          </a:p>
        </p:txBody>
      </p:sp>
      <p:sp>
        <p:nvSpPr>
          <p:cNvPr id="5" name="Rounded Rectangle 4"/>
          <p:cNvSpPr/>
          <p:nvPr/>
        </p:nvSpPr>
        <p:spPr>
          <a:xfrm>
            <a:off x="548640" y="4224528"/>
            <a:ext cx="2615184" cy="987552"/>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86384" y="4434840"/>
            <a:ext cx="2194560" cy="219456"/>
          </a:xfrm>
          <a:prstGeom prst="rect">
            <a:avLst/>
          </a:prstGeom>
          <a:noFill/>
        </p:spPr>
        <p:txBody>
          <a:bodyPr wrap="square" lIns="0" rIns="0" tIns="0" bIns="0" anchor="t">
            <a:spAutoFit/>
          </a:bodyPr>
          <a:lstStyle/>
          <a:p>
            <a:pPr algn="l"/>
            <a:r>
              <a:rPr sz="900" b="1" i="0" spc="140">
                <a:solidFill>
                  <a:srgbClr val="9EA8B2"/>
                </a:solidFill>
                <a:latin typeface="Calibri"/>
              </a:rPr>
              <a:t>MACHINE LEARNING MODELS</a:t>
            </a:r>
          </a:p>
        </p:txBody>
      </p:sp>
      <p:sp>
        <p:nvSpPr>
          <p:cNvPr id="7" name="TextBox 6"/>
          <p:cNvSpPr txBox="1"/>
          <p:nvPr/>
        </p:nvSpPr>
        <p:spPr>
          <a:xfrm>
            <a:off x="786384" y="4709160"/>
            <a:ext cx="2194560" cy="292608"/>
          </a:xfrm>
          <a:prstGeom prst="rect">
            <a:avLst/>
          </a:prstGeom>
          <a:noFill/>
        </p:spPr>
        <p:txBody>
          <a:bodyPr wrap="square" lIns="0" rIns="0" tIns="0" bIns="0" anchor="t">
            <a:spAutoFit/>
          </a:bodyPr>
          <a:lstStyle/>
          <a:p>
            <a:pPr algn="l"/>
            <a:r>
              <a:rPr sz="1500" b="1" i="0">
                <a:solidFill>
                  <a:srgbClr val="2E7D63"/>
                </a:solidFill>
                <a:latin typeface="Cambria"/>
              </a:rPr>
              <a:t>Complete</a:t>
            </a:r>
          </a:p>
        </p:txBody>
      </p:sp>
      <p:sp>
        <p:nvSpPr>
          <p:cNvPr id="8" name="Rounded Rectangle 7"/>
          <p:cNvSpPr/>
          <p:nvPr/>
        </p:nvSpPr>
        <p:spPr>
          <a:xfrm>
            <a:off x="3374136" y="4224528"/>
            <a:ext cx="2615184" cy="987552"/>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3611880" y="4434840"/>
            <a:ext cx="2194560" cy="219456"/>
          </a:xfrm>
          <a:prstGeom prst="rect">
            <a:avLst/>
          </a:prstGeom>
          <a:noFill/>
        </p:spPr>
        <p:txBody>
          <a:bodyPr wrap="square" lIns="0" rIns="0" tIns="0" bIns="0" anchor="t">
            <a:spAutoFit/>
          </a:bodyPr>
          <a:lstStyle/>
          <a:p>
            <a:pPr algn="l"/>
            <a:r>
              <a:rPr sz="900" b="1" i="0" spc="140">
                <a:solidFill>
                  <a:srgbClr val="9EA8B2"/>
                </a:solidFill>
                <a:latin typeface="Calibri"/>
              </a:rPr>
              <a:t>SQL INTEGRATION</a:t>
            </a:r>
          </a:p>
        </p:txBody>
      </p:sp>
      <p:sp>
        <p:nvSpPr>
          <p:cNvPr id="10" name="TextBox 9"/>
          <p:cNvSpPr txBox="1"/>
          <p:nvPr/>
        </p:nvSpPr>
        <p:spPr>
          <a:xfrm>
            <a:off x="3611880" y="4709160"/>
            <a:ext cx="2194560" cy="292608"/>
          </a:xfrm>
          <a:prstGeom prst="rect">
            <a:avLst/>
          </a:prstGeom>
          <a:noFill/>
        </p:spPr>
        <p:txBody>
          <a:bodyPr wrap="square" lIns="0" rIns="0" tIns="0" bIns="0" anchor="t">
            <a:spAutoFit/>
          </a:bodyPr>
          <a:lstStyle/>
          <a:p>
            <a:pPr algn="l"/>
            <a:r>
              <a:rPr sz="1500" b="1" i="0">
                <a:solidFill>
                  <a:srgbClr val="2E7D63"/>
                </a:solidFill>
                <a:latin typeface="Cambria"/>
              </a:rPr>
              <a:t>Complete</a:t>
            </a:r>
          </a:p>
        </p:txBody>
      </p:sp>
      <p:sp>
        <p:nvSpPr>
          <p:cNvPr id="11" name="Rounded Rectangle 10"/>
          <p:cNvSpPr/>
          <p:nvPr/>
        </p:nvSpPr>
        <p:spPr>
          <a:xfrm>
            <a:off x="6199631" y="4224528"/>
            <a:ext cx="2615184" cy="987552"/>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37375" y="4434840"/>
            <a:ext cx="2194560" cy="219456"/>
          </a:xfrm>
          <a:prstGeom prst="rect">
            <a:avLst/>
          </a:prstGeom>
          <a:noFill/>
        </p:spPr>
        <p:txBody>
          <a:bodyPr wrap="square" lIns="0" rIns="0" tIns="0" bIns="0" anchor="t">
            <a:spAutoFit/>
          </a:bodyPr>
          <a:lstStyle/>
          <a:p>
            <a:pPr algn="l"/>
            <a:r>
              <a:rPr sz="900" b="1" i="0" spc="140">
                <a:solidFill>
                  <a:srgbClr val="9EA8B2"/>
                </a:solidFill>
                <a:latin typeface="Calibri"/>
              </a:rPr>
              <a:t>DEPLOYMENT PACKAGE</a:t>
            </a:r>
          </a:p>
        </p:txBody>
      </p:sp>
      <p:sp>
        <p:nvSpPr>
          <p:cNvPr id="13" name="TextBox 12"/>
          <p:cNvSpPr txBox="1"/>
          <p:nvPr/>
        </p:nvSpPr>
        <p:spPr>
          <a:xfrm>
            <a:off x="6437375" y="4709160"/>
            <a:ext cx="2194560" cy="292608"/>
          </a:xfrm>
          <a:prstGeom prst="rect">
            <a:avLst/>
          </a:prstGeom>
          <a:noFill/>
        </p:spPr>
        <p:txBody>
          <a:bodyPr wrap="square" lIns="0" rIns="0" tIns="0" bIns="0" anchor="t">
            <a:spAutoFit/>
          </a:bodyPr>
          <a:lstStyle/>
          <a:p>
            <a:pPr algn="l"/>
            <a:r>
              <a:rPr sz="1500" b="1" i="0">
                <a:solidFill>
                  <a:srgbClr val="2E7D63"/>
                </a:solidFill>
                <a:latin typeface="Cambria"/>
              </a:rPr>
              <a:t>Complete</a:t>
            </a:r>
          </a:p>
        </p:txBody>
      </p:sp>
      <p:sp>
        <p:nvSpPr>
          <p:cNvPr id="14" name="Rounded Rectangle 13"/>
          <p:cNvSpPr/>
          <p:nvPr/>
        </p:nvSpPr>
        <p:spPr>
          <a:xfrm>
            <a:off x="9025128" y="4224528"/>
            <a:ext cx="2615184" cy="987552"/>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262872" y="4434840"/>
            <a:ext cx="2194560" cy="219456"/>
          </a:xfrm>
          <a:prstGeom prst="rect">
            <a:avLst/>
          </a:prstGeom>
          <a:noFill/>
        </p:spPr>
        <p:txBody>
          <a:bodyPr wrap="square" lIns="0" rIns="0" tIns="0" bIns="0" anchor="t">
            <a:spAutoFit/>
          </a:bodyPr>
          <a:lstStyle/>
          <a:p>
            <a:pPr algn="l"/>
            <a:r>
              <a:rPr sz="900" b="1" i="0" spc="140">
                <a:solidFill>
                  <a:srgbClr val="9EA8B2"/>
                </a:solidFill>
                <a:latin typeface="Calibri"/>
              </a:rPr>
              <a:t>USER INTERFACE</a:t>
            </a:r>
          </a:p>
        </p:txBody>
      </p:sp>
      <p:sp>
        <p:nvSpPr>
          <p:cNvPr id="16" name="TextBox 15"/>
          <p:cNvSpPr txBox="1"/>
          <p:nvPr/>
        </p:nvSpPr>
        <p:spPr>
          <a:xfrm>
            <a:off x="9262872" y="4709160"/>
            <a:ext cx="2194560" cy="292608"/>
          </a:xfrm>
          <a:prstGeom prst="rect">
            <a:avLst/>
          </a:prstGeom>
          <a:noFill/>
        </p:spPr>
        <p:txBody>
          <a:bodyPr wrap="square" lIns="0" rIns="0" tIns="0" bIns="0" anchor="t">
            <a:spAutoFit/>
          </a:bodyPr>
          <a:lstStyle/>
          <a:p>
            <a:pPr algn="l"/>
            <a:r>
              <a:rPr sz="1500" b="1" i="0">
                <a:solidFill>
                  <a:srgbClr val="C46A24"/>
                </a:solidFill>
                <a:latin typeface="Cambria"/>
              </a:rPr>
              <a:t>Not started</a:t>
            </a:r>
          </a:p>
        </p:txBody>
      </p:sp>
      <p:sp>
        <p:nvSpPr>
          <p:cNvPr id="17" name="TextBox 16"/>
          <p:cNvSpPr txBox="1"/>
          <p:nvPr/>
        </p:nvSpPr>
        <p:spPr>
          <a:xfrm>
            <a:off x="548640" y="5779008"/>
            <a:ext cx="8229600" cy="274320"/>
          </a:xfrm>
          <a:prstGeom prst="rect">
            <a:avLst/>
          </a:prstGeom>
          <a:noFill/>
        </p:spPr>
        <p:txBody>
          <a:bodyPr wrap="square" lIns="0" rIns="0" tIns="0" bIns="0" anchor="t">
            <a:spAutoFit/>
          </a:bodyPr>
          <a:lstStyle/>
          <a:p>
            <a:pPr algn="l"/>
            <a:r>
              <a:rPr sz="1150" b="0" i="0">
                <a:solidFill>
                  <a:srgbClr val="6E7C89"/>
                </a:solidFill>
                <a:latin typeface="Calibri"/>
              </a:rPr>
              <a:t>Prepared by Siti Syaziyah  ·  Data Analyst Executive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01  ·  PROJECT STAGE</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Five stages complete, one remaining</a:t>
            </a:r>
          </a:p>
        </p:txBody>
      </p:sp>
      <p:sp>
        <p:nvSpPr>
          <p:cNvPr id="4" name="TextBox 3"/>
          <p:cNvSpPr txBox="1"/>
          <p:nvPr/>
        </p:nvSpPr>
        <p:spPr>
          <a:xfrm>
            <a:off x="548640" y="1261872"/>
            <a:ext cx="10881360" cy="274320"/>
          </a:xfrm>
          <a:prstGeom prst="rect">
            <a:avLst/>
          </a:prstGeom>
          <a:noFill/>
        </p:spPr>
        <p:txBody>
          <a:bodyPr wrap="square" lIns="0" rIns="0" tIns="0" bIns="0" anchor="t">
            <a:spAutoFit/>
          </a:bodyPr>
          <a:lstStyle/>
          <a:p>
            <a:pPr algn="l"/>
            <a:r>
              <a:rPr sz="1300" b="0" i="0">
                <a:solidFill>
                  <a:srgbClr val="4E5A66"/>
                </a:solidFill>
                <a:latin typeface="Calibri"/>
              </a:rPr>
              <a:t>The project runs in six stages. Everything through deployment is finished and verified against live data.</a:t>
            </a:r>
          </a:p>
        </p:txBody>
      </p:sp>
      <p:sp>
        <p:nvSpPr>
          <p:cNvPr id="5" name="Rectangle 4"/>
          <p:cNvSpPr/>
          <p:nvPr/>
        </p:nvSpPr>
        <p:spPr>
          <a:xfrm>
            <a:off x="1440180" y="2263140"/>
            <a:ext cx="9262872" cy="19050"/>
          </a:xfrm>
          <a:prstGeom prst="rect">
            <a:avLst/>
          </a:prstGeom>
          <a:solidFill>
            <a:srgbClr val="DFE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38428"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8428" y="1965960"/>
            <a:ext cx="603504" cy="603504"/>
          </a:xfrm>
          <a:prstGeom prst="rect">
            <a:avLst/>
          </a:prstGeom>
          <a:noFill/>
        </p:spPr>
        <p:txBody>
          <a:bodyPr wrap="square" lIns="0" rIns="0" tIns="0" bIns="0" anchor="ctr">
            <a:spAutoFit/>
          </a:bodyPr>
          <a:lstStyle/>
          <a:p>
            <a:pPr algn="ctr"/>
            <a:r>
              <a:rPr sz="1700" b="1" i="0">
                <a:solidFill>
                  <a:srgbClr val="FFFFFF"/>
                </a:solidFill>
                <a:latin typeface="Calibri"/>
              </a:rPr>
              <a:t>✓</a:t>
            </a:r>
          </a:p>
        </p:txBody>
      </p:sp>
      <p:sp>
        <p:nvSpPr>
          <p:cNvPr id="8" name="TextBox 7"/>
          <p:cNvSpPr txBox="1"/>
          <p:nvPr/>
        </p:nvSpPr>
        <p:spPr>
          <a:xfrm>
            <a:off x="548640" y="2761488"/>
            <a:ext cx="1783080" cy="658368"/>
          </a:xfrm>
          <a:prstGeom prst="rect">
            <a:avLst/>
          </a:prstGeom>
          <a:noFill/>
        </p:spPr>
        <p:txBody>
          <a:bodyPr wrap="square" lIns="0" rIns="0" tIns="0" bIns="0" anchor="t">
            <a:spAutoFit/>
          </a:bodyPr>
          <a:lstStyle/>
          <a:p>
            <a:pPr algn="ctr">
              <a:lnSpc>
                <a:spcPts val="1500"/>
              </a:lnSpc>
            </a:pPr>
            <a:r>
              <a:rPr sz="1200" b="1" i="0">
                <a:solidFill>
                  <a:srgbClr val="1B2430"/>
                </a:solidFill>
                <a:latin typeface="Calibri"/>
              </a:rPr>
              <a:t>Data Extraction</a:t>
            </a:r>
          </a:p>
          <a:p>
            <a:pPr algn="ctr">
              <a:lnSpc>
                <a:spcPts val="1500"/>
              </a:lnSpc>
            </a:pPr>
            <a:r>
              <a:rPr sz="1200" b="1" i="0">
                <a:solidFill>
                  <a:srgbClr val="1B2430"/>
                </a:solidFill>
                <a:latin typeface="Calibri"/>
              </a:rPr>
              <a:t>&amp; Preparation</a:t>
            </a:r>
          </a:p>
        </p:txBody>
      </p:sp>
      <p:sp>
        <p:nvSpPr>
          <p:cNvPr id="9" name="TextBox 8"/>
          <p:cNvSpPr txBox="1"/>
          <p:nvPr/>
        </p:nvSpPr>
        <p:spPr>
          <a:xfrm>
            <a:off x="548640" y="3493008"/>
            <a:ext cx="1783080" cy="237744"/>
          </a:xfrm>
          <a:prstGeom prst="rect">
            <a:avLst/>
          </a:prstGeom>
          <a:noFill/>
        </p:spPr>
        <p:txBody>
          <a:bodyPr wrap="square" lIns="0" rIns="0" tIns="0" bIns="0" anchor="t">
            <a:spAutoFit/>
          </a:bodyPr>
          <a:lstStyle/>
          <a:p>
            <a:pPr algn="ctr"/>
            <a:r>
              <a:rPr sz="1050" b="1" i="0">
                <a:solidFill>
                  <a:srgbClr val="2E7D63"/>
                </a:solidFill>
                <a:latin typeface="Calibri"/>
              </a:rPr>
              <a:t>Complete</a:t>
            </a:r>
          </a:p>
        </p:txBody>
      </p:sp>
      <p:sp>
        <p:nvSpPr>
          <p:cNvPr id="10" name="Oval 9"/>
          <p:cNvSpPr/>
          <p:nvPr/>
        </p:nvSpPr>
        <p:spPr>
          <a:xfrm>
            <a:off x="2991002"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91002" y="1965960"/>
            <a:ext cx="603504" cy="603504"/>
          </a:xfrm>
          <a:prstGeom prst="rect">
            <a:avLst/>
          </a:prstGeom>
          <a:noFill/>
        </p:spPr>
        <p:txBody>
          <a:bodyPr wrap="square" lIns="0" rIns="0" tIns="0" bIns="0" anchor="ctr">
            <a:spAutoFit/>
          </a:bodyPr>
          <a:lstStyle/>
          <a:p>
            <a:pPr algn="ctr"/>
            <a:r>
              <a:rPr sz="1700" b="1" i="0">
                <a:solidFill>
                  <a:srgbClr val="FFFFFF"/>
                </a:solidFill>
                <a:latin typeface="Calibri"/>
              </a:rPr>
              <a:t>✓</a:t>
            </a:r>
          </a:p>
        </p:txBody>
      </p:sp>
      <p:sp>
        <p:nvSpPr>
          <p:cNvPr id="12" name="TextBox 11"/>
          <p:cNvSpPr txBox="1"/>
          <p:nvPr/>
        </p:nvSpPr>
        <p:spPr>
          <a:xfrm>
            <a:off x="2401214" y="2761488"/>
            <a:ext cx="1783080" cy="658368"/>
          </a:xfrm>
          <a:prstGeom prst="rect">
            <a:avLst/>
          </a:prstGeom>
          <a:noFill/>
        </p:spPr>
        <p:txBody>
          <a:bodyPr wrap="square" lIns="0" rIns="0" tIns="0" bIns="0" anchor="t">
            <a:spAutoFit/>
          </a:bodyPr>
          <a:lstStyle/>
          <a:p>
            <a:pPr algn="ctr">
              <a:lnSpc>
                <a:spcPts val="1500"/>
              </a:lnSpc>
            </a:pPr>
            <a:r>
              <a:rPr sz="1200" b="1" i="0">
                <a:solidFill>
                  <a:srgbClr val="1B2430"/>
                </a:solidFill>
                <a:latin typeface="Calibri"/>
              </a:rPr>
              <a:t>Model Research</a:t>
            </a:r>
          </a:p>
          <a:p>
            <a:pPr algn="ctr">
              <a:lnSpc>
                <a:spcPts val="1500"/>
              </a:lnSpc>
            </a:pPr>
            <a:r>
              <a:rPr sz="1200" b="1" i="0">
                <a:solidFill>
                  <a:srgbClr val="1B2430"/>
                </a:solidFill>
                <a:latin typeface="Calibri"/>
              </a:rPr>
              <a:t>&amp; Benchmarking</a:t>
            </a:r>
          </a:p>
        </p:txBody>
      </p:sp>
      <p:sp>
        <p:nvSpPr>
          <p:cNvPr id="13" name="TextBox 12"/>
          <p:cNvSpPr txBox="1"/>
          <p:nvPr/>
        </p:nvSpPr>
        <p:spPr>
          <a:xfrm>
            <a:off x="2401214" y="3493008"/>
            <a:ext cx="1783080" cy="237744"/>
          </a:xfrm>
          <a:prstGeom prst="rect">
            <a:avLst/>
          </a:prstGeom>
          <a:noFill/>
        </p:spPr>
        <p:txBody>
          <a:bodyPr wrap="square" lIns="0" rIns="0" tIns="0" bIns="0" anchor="t">
            <a:spAutoFit/>
          </a:bodyPr>
          <a:lstStyle/>
          <a:p>
            <a:pPr algn="ctr"/>
            <a:r>
              <a:rPr sz="1050" b="1" i="0">
                <a:solidFill>
                  <a:srgbClr val="2E7D63"/>
                </a:solidFill>
                <a:latin typeface="Calibri"/>
              </a:rPr>
              <a:t>Complete</a:t>
            </a:r>
          </a:p>
        </p:txBody>
      </p:sp>
      <p:sp>
        <p:nvSpPr>
          <p:cNvPr id="14" name="Oval 13"/>
          <p:cNvSpPr/>
          <p:nvPr/>
        </p:nvSpPr>
        <p:spPr>
          <a:xfrm>
            <a:off x="4843576"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3576" y="1965960"/>
            <a:ext cx="603504" cy="603504"/>
          </a:xfrm>
          <a:prstGeom prst="rect">
            <a:avLst/>
          </a:prstGeom>
          <a:noFill/>
        </p:spPr>
        <p:txBody>
          <a:bodyPr wrap="square" lIns="0" rIns="0" tIns="0" bIns="0" anchor="ctr">
            <a:spAutoFit/>
          </a:bodyPr>
          <a:lstStyle/>
          <a:p>
            <a:pPr algn="ctr"/>
            <a:r>
              <a:rPr sz="1700" b="1" i="0">
                <a:solidFill>
                  <a:srgbClr val="FFFFFF"/>
                </a:solidFill>
                <a:latin typeface="Calibri"/>
              </a:rPr>
              <a:t>✓</a:t>
            </a:r>
          </a:p>
        </p:txBody>
      </p:sp>
      <p:sp>
        <p:nvSpPr>
          <p:cNvPr id="16" name="TextBox 15"/>
          <p:cNvSpPr txBox="1"/>
          <p:nvPr/>
        </p:nvSpPr>
        <p:spPr>
          <a:xfrm>
            <a:off x="4253788" y="2761488"/>
            <a:ext cx="1783080" cy="658368"/>
          </a:xfrm>
          <a:prstGeom prst="rect">
            <a:avLst/>
          </a:prstGeom>
          <a:noFill/>
        </p:spPr>
        <p:txBody>
          <a:bodyPr wrap="square" lIns="0" rIns="0" tIns="0" bIns="0" anchor="t">
            <a:spAutoFit/>
          </a:bodyPr>
          <a:lstStyle/>
          <a:p>
            <a:pPr algn="ctr">
              <a:lnSpc>
                <a:spcPts val="1500"/>
              </a:lnSpc>
            </a:pPr>
            <a:r>
              <a:rPr sz="1200" b="1" i="0">
                <a:solidFill>
                  <a:srgbClr val="1B2430"/>
                </a:solidFill>
                <a:latin typeface="Calibri"/>
              </a:rPr>
              <a:t>Model Development</a:t>
            </a:r>
          </a:p>
          <a:p>
            <a:pPr algn="ctr">
              <a:lnSpc>
                <a:spcPts val="1500"/>
              </a:lnSpc>
            </a:pPr>
            <a:r>
              <a:rPr sz="1200" b="1" i="0">
                <a:solidFill>
                  <a:srgbClr val="1B2430"/>
                </a:solidFill>
                <a:latin typeface="Calibri"/>
              </a:rPr>
              <a:t>&amp; Training</a:t>
            </a:r>
          </a:p>
        </p:txBody>
      </p:sp>
      <p:sp>
        <p:nvSpPr>
          <p:cNvPr id="17" name="TextBox 16"/>
          <p:cNvSpPr txBox="1"/>
          <p:nvPr/>
        </p:nvSpPr>
        <p:spPr>
          <a:xfrm>
            <a:off x="4253788" y="3493008"/>
            <a:ext cx="1783080" cy="237744"/>
          </a:xfrm>
          <a:prstGeom prst="rect">
            <a:avLst/>
          </a:prstGeom>
          <a:noFill/>
        </p:spPr>
        <p:txBody>
          <a:bodyPr wrap="square" lIns="0" rIns="0" tIns="0" bIns="0" anchor="t">
            <a:spAutoFit/>
          </a:bodyPr>
          <a:lstStyle/>
          <a:p>
            <a:pPr algn="ctr"/>
            <a:r>
              <a:rPr sz="1050" b="1" i="0">
                <a:solidFill>
                  <a:srgbClr val="2E7D63"/>
                </a:solidFill>
                <a:latin typeface="Calibri"/>
              </a:rPr>
              <a:t>Complete</a:t>
            </a:r>
          </a:p>
        </p:txBody>
      </p:sp>
      <p:sp>
        <p:nvSpPr>
          <p:cNvPr id="18" name="Oval 17"/>
          <p:cNvSpPr/>
          <p:nvPr/>
        </p:nvSpPr>
        <p:spPr>
          <a:xfrm>
            <a:off x="6696151"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96151" y="1965960"/>
            <a:ext cx="603504" cy="603504"/>
          </a:xfrm>
          <a:prstGeom prst="rect">
            <a:avLst/>
          </a:prstGeom>
          <a:noFill/>
        </p:spPr>
        <p:txBody>
          <a:bodyPr wrap="square" lIns="0" rIns="0" tIns="0" bIns="0" anchor="ctr">
            <a:spAutoFit/>
          </a:bodyPr>
          <a:lstStyle/>
          <a:p>
            <a:pPr algn="ctr"/>
            <a:r>
              <a:rPr sz="1700" b="1" i="0">
                <a:solidFill>
                  <a:srgbClr val="FFFFFF"/>
                </a:solidFill>
                <a:latin typeface="Calibri"/>
              </a:rPr>
              <a:t>✓</a:t>
            </a:r>
          </a:p>
        </p:txBody>
      </p:sp>
      <p:sp>
        <p:nvSpPr>
          <p:cNvPr id="20" name="TextBox 19"/>
          <p:cNvSpPr txBox="1"/>
          <p:nvPr/>
        </p:nvSpPr>
        <p:spPr>
          <a:xfrm>
            <a:off x="6106363" y="2761488"/>
            <a:ext cx="1783080" cy="658368"/>
          </a:xfrm>
          <a:prstGeom prst="rect">
            <a:avLst/>
          </a:prstGeom>
          <a:noFill/>
        </p:spPr>
        <p:txBody>
          <a:bodyPr wrap="square" lIns="0" rIns="0" tIns="0" bIns="0" anchor="t">
            <a:spAutoFit/>
          </a:bodyPr>
          <a:lstStyle/>
          <a:p>
            <a:pPr algn="ctr">
              <a:lnSpc>
                <a:spcPts val="1500"/>
              </a:lnSpc>
            </a:pPr>
            <a:r>
              <a:rPr sz="1200" b="1" i="0">
                <a:solidFill>
                  <a:srgbClr val="1B2430"/>
                </a:solidFill>
                <a:latin typeface="Calibri"/>
              </a:rPr>
              <a:t>System Integration</a:t>
            </a:r>
          </a:p>
          <a:p>
            <a:pPr algn="ctr">
              <a:lnSpc>
                <a:spcPts val="1500"/>
              </a:lnSpc>
            </a:pPr>
            <a:r>
              <a:rPr sz="1200" b="1" i="0">
                <a:solidFill>
                  <a:srgbClr val="1B2430"/>
                </a:solidFill>
                <a:latin typeface="Calibri"/>
              </a:rPr>
              <a:t>(C# + SQL)</a:t>
            </a:r>
          </a:p>
        </p:txBody>
      </p:sp>
      <p:sp>
        <p:nvSpPr>
          <p:cNvPr id="21" name="TextBox 20"/>
          <p:cNvSpPr txBox="1"/>
          <p:nvPr/>
        </p:nvSpPr>
        <p:spPr>
          <a:xfrm>
            <a:off x="6106363" y="3493008"/>
            <a:ext cx="1783080" cy="237744"/>
          </a:xfrm>
          <a:prstGeom prst="rect">
            <a:avLst/>
          </a:prstGeom>
          <a:noFill/>
        </p:spPr>
        <p:txBody>
          <a:bodyPr wrap="square" lIns="0" rIns="0" tIns="0" bIns="0" anchor="t">
            <a:spAutoFit/>
          </a:bodyPr>
          <a:lstStyle/>
          <a:p>
            <a:pPr algn="ctr"/>
            <a:r>
              <a:rPr sz="1050" b="1" i="0">
                <a:solidFill>
                  <a:srgbClr val="2E7D63"/>
                </a:solidFill>
                <a:latin typeface="Calibri"/>
              </a:rPr>
              <a:t>Complete</a:t>
            </a:r>
          </a:p>
        </p:txBody>
      </p:sp>
      <p:sp>
        <p:nvSpPr>
          <p:cNvPr id="22" name="Oval 21"/>
          <p:cNvSpPr/>
          <p:nvPr/>
        </p:nvSpPr>
        <p:spPr>
          <a:xfrm>
            <a:off x="8548725"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48725" y="1965960"/>
            <a:ext cx="603504" cy="603504"/>
          </a:xfrm>
          <a:prstGeom prst="rect">
            <a:avLst/>
          </a:prstGeom>
          <a:noFill/>
        </p:spPr>
        <p:txBody>
          <a:bodyPr wrap="square" lIns="0" rIns="0" tIns="0" bIns="0" anchor="ctr">
            <a:spAutoFit/>
          </a:bodyPr>
          <a:lstStyle/>
          <a:p>
            <a:pPr algn="ctr"/>
            <a:r>
              <a:rPr sz="1700" b="1" i="0">
                <a:solidFill>
                  <a:srgbClr val="FFFFFF"/>
                </a:solidFill>
                <a:latin typeface="Calibri"/>
              </a:rPr>
              <a:t>✓</a:t>
            </a:r>
          </a:p>
        </p:txBody>
      </p:sp>
      <p:sp>
        <p:nvSpPr>
          <p:cNvPr id="24" name="TextBox 23"/>
          <p:cNvSpPr txBox="1"/>
          <p:nvPr/>
        </p:nvSpPr>
        <p:spPr>
          <a:xfrm>
            <a:off x="7958937" y="2761488"/>
            <a:ext cx="1783080" cy="658368"/>
          </a:xfrm>
          <a:prstGeom prst="rect">
            <a:avLst/>
          </a:prstGeom>
          <a:noFill/>
        </p:spPr>
        <p:txBody>
          <a:bodyPr wrap="square" lIns="0" rIns="0" tIns="0" bIns="0" anchor="t">
            <a:spAutoFit/>
          </a:bodyPr>
          <a:lstStyle/>
          <a:p>
            <a:pPr algn="ctr">
              <a:lnSpc>
                <a:spcPts val="1500"/>
              </a:lnSpc>
            </a:pPr>
            <a:r>
              <a:rPr sz="1200" b="1" i="0">
                <a:solidFill>
                  <a:srgbClr val="1B2430"/>
                </a:solidFill>
                <a:latin typeface="Calibri"/>
              </a:rPr>
              <a:t>Deployment &amp;</a:t>
            </a:r>
          </a:p>
          <a:p>
            <a:pPr algn="ctr">
              <a:lnSpc>
                <a:spcPts val="1500"/>
              </a:lnSpc>
            </a:pPr>
            <a:r>
              <a:rPr sz="1200" b="1" i="0">
                <a:solidFill>
                  <a:srgbClr val="1B2430"/>
                </a:solidFill>
                <a:latin typeface="Calibri"/>
              </a:rPr>
              <a:t>Handover Package</a:t>
            </a:r>
          </a:p>
        </p:txBody>
      </p:sp>
      <p:sp>
        <p:nvSpPr>
          <p:cNvPr id="25" name="TextBox 24"/>
          <p:cNvSpPr txBox="1"/>
          <p:nvPr/>
        </p:nvSpPr>
        <p:spPr>
          <a:xfrm>
            <a:off x="7958937" y="3493008"/>
            <a:ext cx="1783080" cy="237744"/>
          </a:xfrm>
          <a:prstGeom prst="rect">
            <a:avLst/>
          </a:prstGeom>
          <a:noFill/>
        </p:spPr>
        <p:txBody>
          <a:bodyPr wrap="square" lIns="0" rIns="0" tIns="0" bIns="0" anchor="t">
            <a:spAutoFit/>
          </a:bodyPr>
          <a:lstStyle/>
          <a:p>
            <a:pPr algn="ctr"/>
            <a:r>
              <a:rPr sz="1050" b="1" i="0">
                <a:solidFill>
                  <a:srgbClr val="2E7D63"/>
                </a:solidFill>
                <a:latin typeface="Calibri"/>
              </a:rPr>
              <a:t>Complete</a:t>
            </a:r>
          </a:p>
        </p:txBody>
      </p:sp>
      <p:sp>
        <p:nvSpPr>
          <p:cNvPr id="26" name="Oval 25"/>
          <p:cNvSpPr/>
          <p:nvPr/>
        </p:nvSpPr>
        <p:spPr>
          <a:xfrm>
            <a:off x="10401299" y="1965960"/>
            <a:ext cx="603504" cy="603504"/>
          </a:xfrm>
          <a:prstGeom prst="ellipse">
            <a:avLst/>
          </a:prstGeom>
          <a:solidFill>
            <a:srgbClr val="FFFFFF"/>
          </a:solidFill>
          <a:ln w="28575">
            <a:solidFill>
              <a:srgbClr val="C46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401299" y="1965960"/>
            <a:ext cx="603504" cy="603504"/>
          </a:xfrm>
          <a:prstGeom prst="rect">
            <a:avLst/>
          </a:prstGeom>
          <a:noFill/>
        </p:spPr>
        <p:txBody>
          <a:bodyPr wrap="square" lIns="0" rIns="0" tIns="0" bIns="0" anchor="ctr">
            <a:spAutoFit/>
          </a:bodyPr>
          <a:lstStyle/>
          <a:p>
            <a:pPr algn="ctr"/>
            <a:r>
              <a:rPr sz="1700" b="1" i="0">
                <a:solidFill>
                  <a:srgbClr val="C46A24"/>
                </a:solidFill>
                <a:latin typeface="Cambria"/>
              </a:rPr>
              <a:t>6</a:t>
            </a:r>
          </a:p>
        </p:txBody>
      </p:sp>
      <p:sp>
        <p:nvSpPr>
          <p:cNvPr id="28" name="TextBox 27"/>
          <p:cNvSpPr txBox="1"/>
          <p:nvPr/>
        </p:nvSpPr>
        <p:spPr>
          <a:xfrm>
            <a:off x="9811511" y="2761488"/>
            <a:ext cx="1783080" cy="658368"/>
          </a:xfrm>
          <a:prstGeom prst="rect">
            <a:avLst/>
          </a:prstGeom>
          <a:noFill/>
        </p:spPr>
        <p:txBody>
          <a:bodyPr wrap="square" lIns="0" rIns="0" tIns="0" bIns="0" anchor="t">
            <a:spAutoFit/>
          </a:bodyPr>
          <a:lstStyle/>
          <a:p>
            <a:pPr algn="ctr">
              <a:lnSpc>
                <a:spcPts val="1500"/>
              </a:lnSpc>
            </a:pPr>
            <a:r>
              <a:rPr sz="1200" b="1" i="0">
                <a:solidFill>
                  <a:srgbClr val="1B2430"/>
                </a:solidFill>
                <a:latin typeface="Calibri"/>
              </a:rPr>
              <a:t>Validation &amp;</a:t>
            </a:r>
          </a:p>
          <a:p>
            <a:pPr algn="ctr">
              <a:lnSpc>
                <a:spcPts val="1500"/>
              </a:lnSpc>
            </a:pPr>
            <a:r>
              <a:rPr sz="1200" b="1" i="0">
                <a:solidFill>
                  <a:srgbClr val="1B2430"/>
                </a:solidFill>
                <a:latin typeface="Calibri"/>
              </a:rPr>
              <a:t>Production Rollout</a:t>
            </a:r>
          </a:p>
        </p:txBody>
      </p:sp>
      <p:sp>
        <p:nvSpPr>
          <p:cNvPr id="29" name="TextBox 28"/>
          <p:cNvSpPr txBox="1"/>
          <p:nvPr/>
        </p:nvSpPr>
        <p:spPr>
          <a:xfrm>
            <a:off x="9811511" y="3493008"/>
            <a:ext cx="1783080" cy="237744"/>
          </a:xfrm>
          <a:prstGeom prst="rect">
            <a:avLst/>
          </a:prstGeom>
          <a:noFill/>
        </p:spPr>
        <p:txBody>
          <a:bodyPr wrap="square" lIns="0" rIns="0" tIns="0" bIns="0" anchor="t">
            <a:spAutoFit/>
          </a:bodyPr>
          <a:lstStyle/>
          <a:p>
            <a:pPr algn="ctr"/>
            <a:r>
              <a:rPr sz="1050" b="1" i="0">
                <a:solidFill>
                  <a:srgbClr val="C46A24"/>
                </a:solidFill>
                <a:latin typeface="Calibri"/>
              </a:rPr>
              <a:t>In progress</a:t>
            </a:r>
          </a:p>
        </p:txBody>
      </p:sp>
      <p:sp>
        <p:nvSpPr>
          <p:cNvPr id="30" name="Rounded Rectangle 29"/>
          <p:cNvSpPr/>
          <p:nvPr/>
        </p:nvSpPr>
        <p:spPr>
          <a:xfrm>
            <a:off x="548640" y="4224528"/>
            <a:ext cx="11091672" cy="1719072"/>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68680" y="4498848"/>
            <a:ext cx="7315200" cy="237744"/>
          </a:xfrm>
          <a:prstGeom prst="rect">
            <a:avLst/>
          </a:prstGeom>
          <a:noFill/>
        </p:spPr>
        <p:txBody>
          <a:bodyPr wrap="square" lIns="0" rIns="0" tIns="0" bIns="0" anchor="t">
            <a:spAutoFit/>
          </a:bodyPr>
          <a:lstStyle/>
          <a:p>
            <a:pPr algn="l"/>
            <a:r>
              <a:rPr sz="1050" b="1" i="0" spc="200">
                <a:solidFill>
                  <a:srgbClr val="C46A24"/>
                </a:solidFill>
                <a:latin typeface="Calibri"/>
              </a:rPr>
              <a:t>WE ARE HERE</a:t>
            </a:r>
          </a:p>
        </p:txBody>
      </p:sp>
      <p:sp>
        <p:nvSpPr>
          <p:cNvPr id="32" name="TextBox 31"/>
          <p:cNvSpPr txBox="1"/>
          <p:nvPr/>
        </p:nvSpPr>
        <p:spPr>
          <a:xfrm>
            <a:off x="868680" y="4773168"/>
            <a:ext cx="10424160" cy="329184"/>
          </a:xfrm>
          <a:prstGeom prst="rect">
            <a:avLst/>
          </a:prstGeom>
          <a:noFill/>
        </p:spPr>
        <p:txBody>
          <a:bodyPr wrap="square" lIns="0" rIns="0" tIns="0" bIns="0" anchor="t">
            <a:spAutoFit/>
          </a:bodyPr>
          <a:lstStyle/>
          <a:p>
            <a:pPr algn="l"/>
            <a:r>
              <a:rPr sz="1900" b="1" i="0">
                <a:solidFill>
                  <a:srgbClr val="FFFFFF"/>
                </a:solidFill>
                <a:latin typeface="Cambria"/>
              </a:rPr>
              <a:t>Stage 6 — Validation and Production Rollout</a:t>
            </a:r>
          </a:p>
        </p:txBody>
      </p:sp>
      <p:sp>
        <p:nvSpPr>
          <p:cNvPr id="33" name="TextBox 32"/>
          <p:cNvSpPr txBox="1"/>
          <p:nvPr/>
        </p:nvSpPr>
        <p:spPr>
          <a:xfrm>
            <a:off x="868680" y="5230368"/>
            <a:ext cx="10424160" cy="566928"/>
          </a:xfrm>
          <a:prstGeom prst="rect">
            <a:avLst/>
          </a:prstGeom>
          <a:noFill/>
        </p:spPr>
        <p:txBody>
          <a:bodyPr wrap="square" lIns="0" rIns="0" tIns="0" bIns="0" anchor="t">
            <a:spAutoFit/>
          </a:bodyPr>
          <a:lstStyle/>
          <a:p>
            <a:pPr algn="l">
              <a:lnSpc>
                <a:spcPts val="1900"/>
              </a:lnSpc>
            </a:pPr>
            <a:r>
              <a:rPr sz="1350" b="0" i="0">
                <a:solidFill>
                  <a:srgbClr val="9EA8B2"/>
                </a:solidFill>
                <a:latin typeface="Calibri"/>
              </a:rPr>
              <a:t>The engine is built, integrated and handed over. What remains is not development work: it is reference data from engineering, a user interface, and one validation run against a project whose correct answer is already known.</a:t>
            </a:r>
          </a:p>
        </p:txBody>
      </p:sp>
      <p:sp>
        <p:nvSpPr>
          <p:cNvPr id="34" name="TextBox 33"/>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August 2026</a:t>
            </a:r>
          </a:p>
        </p:txBody>
      </p:sp>
      <p:sp>
        <p:nvSpPr>
          <p:cNvPr id="35" name="TextBox 34"/>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02  ·  WORK COMPLETED</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Six components, delivered end to end</a:t>
            </a:r>
          </a:p>
        </p:txBody>
      </p:sp>
      <p:sp>
        <p:nvSpPr>
          <p:cNvPr id="4" name="Rounded Rectangle 3"/>
          <p:cNvSpPr/>
          <p:nvPr/>
        </p:nvSpPr>
        <p:spPr>
          <a:xfrm>
            <a:off x="5486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2295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737360"/>
            <a:ext cx="384048" cy="384048"/>
          </a:xfrm>
          <a:prstGeom prst="rect">
            <a:avLst/>
          </a:prstGeom>
          <a:noFill/>
        </p:spPr>
        <p:txBody>
          <a:bodyPr wrap="square" lIns="0" rIns="0" tIns="0" bIns="0" anchor="ctr">
            <a:spAutoFit/>
          </a:bodyPr>
          <a:lstStyle/>
          <a:p>
            <a:pPr algn="ctr"/>
            <a:r>
              <a:rPr sz="1300" b="1" i="0">
                <a:solidFill>
                  <a:srgbClr val="FFFFFF"/>
                </a:solidFill>
                <a:latin typeface="Cambria"/>
              </a:rPr>
              <a:t>1</a:t>
            </a:r>
          </a:p>
        </p:txBody>
      </p:sp>
      <p:sp>
        <p:nvSpPr>
          <p:cNvPr id="7" name="TextBox 6"/>
          <p:cNvSpPr txBox="1"/>
          <p:nvPr/>
        </p:nvSpPr>
        <p:spPr>
          <a:xfrm>
            <a:off x="822959" y="2267712"/>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Data Extraction &amp; Cleaning</a:t>
            </a:r>
          </a:p>
        </p:txBody>
      </p:sp>
      <p:sp>
        <p:nvSpPr>
          <p:cNvPr id="8" name="TextBox 7"/>
          <p:cNvSpPr txBox="1"/>
          <p:nvPr/>
        </p:nvSpPr>
        <p:spPr>
          <a:xfrm>
            <a:off x="822959" y="2798064"/>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Per-project extraction from SQL Server, tag normalisation, de-duplication and structured datasets built from raw client I/O lists.</a:t>
            </a:r>
          </a:p>
        </p:txBody>
      </p:sp>
      <p:sp>
        <p:nvSpPr>
          <p:cNvPr id="9" name="Rounded Rectangle 8"/>
          <p:cNvSpPr/>
          <p:nvPr/>
        </p:nvSpPr>
        <p:spPr>
          <a:xfrm>
            <a:off x="426339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453770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37709" y="1737360"/>
            <a:ext cx="384048" cy="384048"/>
          </a:xfrm>
          <a:prstGeom prst="rect">
            <a:avLst/>
          </a:prstGeom>
          <a:noFill/>
        </p:spPr>
        <p:txBody>
          <a:bodyPr wrap="square" lIns="0" rIns="0" tIns="0" bIns="0" anchor="ctr">
            <a:spAutoFit/>
          </a:bodyPr>
          <a:lstStyle/>
          <a:p>
            <a:pPr algn="ctr"/>
            <a:r>
              <a:rPr sz="1300" b="1" i="0">
                <a:solidFill>
                  <a:srgbClr val="FFFFFF"/>
                </a:solidFill>
                <a:latin typeface="Cambria"/>
              </a:rPr>
              <a:t>2</a:t>
            </a:r>
          </a:p>
        </p:txBody>
      </p:sp>
      <p:sp>
        <p:nvSpPr>
          <p:cNvPr id="12" name="TextBox 11"/>
          <p:cNvSpPr txBox="1"/>
          <p:nvPr/>
        </p:nvSpPr>
        <p:spPr>
          <a:xfrm>
            <a:off x="4537709" y="2267712"/>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Device Type Model</a:t>
            </a:r>
          </a:p>
        </p:txBody>
      </p:sp>
      <p:sp>
        <p:nvSpPr>
          <p:cNvPr id="13" name="TextBox 12"/>
          <p:cNvSpPr txBox="1"/>
          <p:nvPr/>
        </p:nvSpPr>
        <p:spPr>
          <a:xfrm>
            <a:off x="4537709" y="2798064"/>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A hybrid of SGD Classifier, TF-IDF similarity and a prefix dictionary covering 22 equipment classes.</a:t>
            </a:r>
          </a:p>
        </p:txBody>
      </p:sp>
      <p:sp>
        <p:nvSpPr>
          <p:cNvPr id="14" name="Rounded Rectangle 13"/>
          <p:cNvSpPr/>
          <p:nvPr/>
        </p:nvSpPr>
        <p:spPr>
          <a:xfrm>
            <a:off x="79781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8252460"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52460" y="1737360"/>
            <a:ext cx="384048" cy="384048"/>
          </a:xfrm>
          <a:prstGeom prst="rect">
            <a:avLst/>
          </a:prstGeom>
          <a:noFill/>
        </p:spPr>
        <p:txBody>
          <a:bodyPr wrap="square" lIns="0" rIns="0" tIns="0" bIns="0" anchor="ctr">
            <a:spAutoFit/>
          </a:bodyPr>
          <a:lstStyle/>
          <a:p>
            <a:pPr algn="ctr"/>
            <a:r>
              <a:rPr sz="1300" b="1" i="0">
                <a:solidFill>
                  <a:srgbClr val="FFFFFF"/>
                </a:solidFill>
                <a:latin typeface="Cambria"/>
              </a:rPr>
              <a:t>3</a:t>
            </a:r>
          </a:p>
        </p:txBody>
      </p:sp>
      <p:sp>
        <p:nvSpPr>
          <p:cNvPr id="17" name="TextBox 16"/>
          <p:cNvSpPr txBox="1"/>
          <p:nvPr/>
        </p:nvSpPr>
        <p:spPr>
          <a:xfrm>
            <a:off x="8252460" y="2267712"/>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Section &amp; Cluster Models</a:t>
            </a:r>
          </a:p>
        </p:txBody>
      </p:sp>
      <p:sp>
        <p:nvSpPr>
          <p:cNvPr id="18" name="TextBox 17"/>
          <p:cNvSpPr txBox="1"/>
          <p:nvPr/>
        </p:nvSpPr>
        <p:spPr>
          <a:xfrm>
            <a:off x="8252460" y="2798064"/>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Chained XGBoost classifiers using 27+ engineered features, with out-of-distribution confidence penalties.</a:t>
            </a:r>
          </a:p>
        </p:txBody>
      </p:sp>
      <p:sp>
        <p:nvSpPr>
          <p:cNvPr id="19" name="Rounded Rectangle 18"/>
          <p:cNvSpPr/>
          <p:nvPr/>
        </p:nvSpPr>
        <p:spPr>
          <a:xfrm>
            <a:off x="5486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82295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041648"/>
            <a:ext cx="384048" cy="384048"/>
          </a:xfrm>
          <a:prstGeom prst="rect">
            <a:avLst/>
          </a:prstGeom>
          <a:noFill/>
        </p:spPr>
        <p:txBody>
          <a:bodyPr wrap="square" lIns="0" rIns="0" tIns="0" bIns="0" anchor="ctr">
            <a:spAutoFit/>
          </a:bodyPr>
          <a:lstStyle/>
          <a:p>
            <a:pPr algn="ctr"/>
            <a:r>
              <a:rPr sz="1300" b="1" i="0">
                <a:solidFill>
                  <a:srgbClr val="FFFFFF"/>
                </a:solidFill>
                <a:latin typeface="Cambria"/>
              </a:rPr>
              <a:t>4</a:t>
            </a:r>
          </a:p>
        </p:txBody>
      </p:sp>
      <p:sp>
        <p:nvSpPr>
          <p:cNvPr id="22" name="TextBox 21"/>
          <p:cNvSpPr txBox="1"/>
          <p:nvPr/>
        </p:nvSpPr>
        <p:spPr>
          <a:xfrm>
            <a:off x="822959" y="4572000"/>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Quota Allocation Engine</a:t>
            </a:r>
          </a:p>
        </p:txBody>
      </p:sp>
      <p:sp>
        <p:nvSpPr>
          <p:cNvPr id="23" name="TextBox 22"/>
          <p:cNvSpPr txBox="1"/>
          <p:nvPr/>
        </p:nvSpPr>
        <p:spPr>
          <a:xfrm>
            <a:off x="822959" y="5102352"/>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Three-pass constrained assignment that fits model output to each cluster’s designed composition.</a:t>
            </a:r>
          </a:p>
        </p:txBody>
      </p:sp>
      <p:sp>
        <p:nvSpPr>
          <p:cNvPr id="24" name="Rounded Rectangle 23"/>
          <p:cNvSpPr/>
          <p:nvPr/>
        </p:nvSpPr>
        <p:spPr>
          <a:xfrm>
            <a:off x="426339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453770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37709" y="4041648"/>
            <a:ext cx="384048" cy="384048"/>
          </a:xfrm>
          <a:prstGeom prst="rect">
            <a:avLst/>
          </a:prstGeom>
          <a:noFill/>
        </p:spPr>
        <p:txBody>
          <a:bodyPr wrap="square" lIns="0" rIns="0" tIns="0" bIns="0" anchor="ctr">
            <a:spAutoFit/>
          </a:bodyPr>
          <a:lstStyle/>
          <a:p>
            <a:pPr algn="ctr"/>
            <a:r>
              <a:rPr sz="1300" b="1" i="0">
                <a:solidFill>
                  <a:srgbClr val="FFFFFF"/>
                </a:solidFill>
                <a:latin typeface="Cambria"/>
              </a:rPr>
              <a:t>5</a:t>
            </a:r>
          </a:p>
        </p:txBody>
      </p:sp>
      <p:sp>
        <p:nvSpPr>
          <p:cNvPr id="27" name="TextBox 26"/>
          <p:cNvSpPr txBox="1"/>
          <p:nvPr/>
        </p:nvSpPr>
        <p:spPr>
          <a:xfrm>
            <a:off x="4537709" y="4572000"/>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C# Integration &amp; DLLs</a:t>
            </a:r>
          </a:p>
        </p:txBody>
      </p:sp>
      <p:sp>
        <p:nvSpPr>
          <p:cNvPr id="28" name="TextBox 27"/>
          <p:cNvSpPr txBox="1"/>
          <p:nvPr/>
        </p:nvSpPr>
        <p:spPr>
          <a:xfrm>
            <a:off x="4537709" y="5102352"/>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Two .NET class libraries wrapping SQL access, Python invocation and full pipeline orchestration.</a:t>
            </a:r>
          </a:p>
        </p:txBody>
      </p:sp>
      <p:sp>
        <p:nvSpPr>
          <p:cNvPr id="29" name="Rounded Rectangle 28"/>
          <p:cNvSpPr/>
          <p:nvPr/>
        </p:nvSpPr>
        <p:spPr>
          <a:xfrm>
            <a:off x="79781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8252460"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52460" y="4041648"/>
            <a:ext cx="384048" cy="384048"/>
          </a:xfrm>
          <a:prstGeom prst="rect">
            <a:avLst/>
          </a:prstGeom>
          <a:noFill/>
        </p:spPr>
        <p:txBody>
          <a:bodyPr wrap="square" lIns="0" rIns="0" tIns="0" bIns="0" anchor="ctr">
            <a:spAutoFit/>
          </a:bodyPr>
          <a:lstStyle/>
          <a:p>
            <a:pPr algn="ctr"/>
            <a:r>
              <a:rPr sz="1300" b="1" i="0">
                <a:solidFill>
                  <a:srgbClr val="FFFFFF"/>
                </a:solidFill>
                <a:latin typeface="Cambria"/>
              </a:rPr>
              <a:t>6</a:t>
            </a:r>
          </a:p>
        </p:txBody>
      </p:sp>
      <p:sp>
        <p:nvSpPr>
          <p:cNvPr id="32" name="TextBox 31"/>
          <p:cNvSpPr txBox="1"/>
          <p:nvPr/>
        </p:nvSpPr>
        <p:spPr>
          <a:xfrm>
            <a:off x="8252460" y="4572000"/>
            <a:ext cx="3017520" cy="457200"/>
          </a:xfrm>
          <a:prstGeom prst="rect">
            <a:avLst/>
          </a:prstGeom>
          <a:noFill/>
        </p:spPr>
        <p:txBody>
          <a:bodyPr wrap="square" lIns="0" rIns="0" tIns="0" bIns="0" anchor="t">
            <a:spAutoFit/>
          </a:bodyPr>
          <a:lstStyle/>
          <a:p>
            <a:pPr algn="l">
              <a:lnSpc>
                <a:spcPts val="1800"/>
              </a:lnSpc>
            </a:pPr>
            <a:r>
              <a:rPr sz="1450" b="1" i="0">
                <a:solidFill>
                  <a:srgbClr val="1B2430"/>
                </a:solidFill>
                <a:latin typeface="Cambria"/>
              </a:rPr>
              <a:t>Incremental Learning</a:t>
            </a:r>
          </a:p>
        </p:txBody>
      </p:sp>
      <p:sp>
        <p:nvSpPr>
          <p:cNvPr id="33" name="TextBox 32"/>
          <p:cNvSpPr txBox="1"/>
          <p:nvPr/>
        </p:nvSpPr>
        <p:spPr>
          <a:xfrm>
            <a:off x="8252460" y="5102352"/>
            <a:ext cx="3017520" cy="658368"/>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Engineer corrections update the model and reference data immediately, with no full retraining cycle.</a:t>
            </a:r>
          </a:p>
        </p:txBody>
      </p:sp>
      <p:sp>
        <p:nvSpPr>
          <p:cNvPr id="34" name="TextBox 33"/>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August 2026</a:t>
            </a:r>
          </a:p>
        </p:txBody>
      </p:sp>
      <p:sp>
        <p:nvSpPr>
          <p:cNvPr id="35" name="TextBox 34"/>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03  ·  SYSTEM ARCHITECTURE</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How data moves through the system</a:t>
            </a:r>
          </a:p>
        </p:txBody>
      </p:sp>
      <p:sp>
        <p:nvSpPr>
          <p:cNvPr id="4" name="Rounded Rectangle 3"/>
          <p:cNvSpPr/>
          <p:nvPr/>
        </p:nvSpPr>
        <p:spPr>
          <a:xfrm>
            <a:off x="548640" y="1371600"/>
            <a:ext cx="11091672" cy="621792"/>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22960" y="1371600"/>
            <a:ext cx="10515600" cy="621792"/>
          </a:xfrm>
          <a:prstGeom prst="rect">
            <a:avLst/>
          </a:prstGeom>
          <a:noFill/>
        </p:spPr>
        <p:txBody>
          <a:bodyPr wrap="square" lIns="0" rIns="0" tIns="0" bIns="0" anchor="ctr">
            <a:spAutoFit/>
          </a:bodyPr>
          <a:lstStyle/>
          <a:p>
            <a:pPr algn="ctr"/>
            <a:r>
              <a:rPr sz="1200" b="1" i="0" spc="150">
                <a:solidFill>
                  <a:srgbClr val="C46A24"/>
                </a:solidFill>
                <a:latin typeface="Calibri"/>
              </a:rPr>
              <a:t>DATA SOURCE   </a:t>
            </a:r>
            <a:r>
              <a:rPr sz="1300" b="0" i="0">
                <a:solidFill>
                  <a:srgbClr val="FFFFFF"/>
                </a:solidFill>
                <a:latin typeface="Calibri"/>
              </a:rPr>
              <a:t>SQL Server  ·  XenCreator database  ·  device list filtered by Project Code</a:t>
            </a:r>
          </a:p>
        </p:txBody>
      </p:sp>
      <p:sp>
        <p:nvSpPr>
          <p:cNvPr id="6" name="Isosceles Triangle 5"/>
          <p:cNvSpPr/>
          <p:nvPr/>
        </p:nvSpPr>
        <p:spPr>
          <a:xfrm rot="10800000">
            <a:off x="6003950" y="2048255"/>
            <a:ext cx="182880" cy="18288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2395728"/>
            <a:ext cx="2057400" cy="20116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49808" y="2615184"/>
            <a:ext cx="1655064" cy="201168"/>
          </a:xfrm>
          <a:prstGeom prst="rect">
            <a:avLst/>
          </a:prstGeom>
          <a:noFill/>
        </p:spPr>
        <p:txBody>
          <a:bodyPr wrap="square" lIns="0" rIns="0" tIns="0" bIns="0" anchor="t">
            <a:spAutoFit/>
          </a:bodyPr>
          <a:lstStyle/>
          <a:p>
            <a:pPr algn="l"/>
            <a:r>
              <a:rPr sz="900" b="1" i="0" spc="150">
                <a:solidFill>
                  <a:srgbClr val="2E7D63"/>
                </a:solidFill>
                <a:latin typeface="Calibri"/>
              </a:rPr>
              <a:t>STEP 1</a:t>
            </a:r>
          </a:p>
        </p:txBody>
      </p:sp>
      <p:sp>
        <p:nvSpPr>
          <p:cNvPr id="9" name="TextBox 8"/>
          <p:cNvSpPr txBox="1"/>
          <p:nvPr/>
        </p:nvSpPr>
        <p:spPr>
          <a:xfrm>
            <a:off x="749808" y="2852928"/>
            <a:ext cx="1655064" cy="457200"/>
          </a:xfrm>
          <a:prstGeom prst="rect">
            <a:avLst/>
          </a:prstGeom>
          <a:noFill/>
        </p:spPr>
        <p:txBody>
          <a:bodyPr wrap="square" lIns="0" rIns="0" tIns="0" bIns="0" anchor="t">
            <a:spAutoFit/>
          </a:bodyPr>
          <a:lstStyle/>
          <a:p>
            <a:pPr algn="l">
              <a:lnSpc>
                <a:spcPts val="1700"/>
              </a:lnSpc>
            </a:pPr>
            <a:r>
              <a:rPr sz="1400" b="1" i="0">
                <a:solidFill>
                  <a:srgbClr val="1B2430"/>
                </a:solidFill>
                <a:latin typeface="Cambria"/>
              </a:rPr>
              <a:t>Device Type</a:t>
            </a:r>
          </a:p>
        </p:txBody>
      </p:sp>
      <p:sp>
        <p:nvSpPr>
          <p:cNvPr id="10" name="Rounded Rectangle 9"/>
          <p:cNvSpPr/>
          <p:nvPr/>
        </p:nvSpPr>
        <p:spPr>
          <a:xfrm>
            <a:off x="749808" y="3364992"/>
            <a:ext cx="896112" cy="228600"/>
          </a:xfrm>
          <a:prstGeom prst="roundRect">
            <a:avLst>
              <a:gd name="adj" fmla="val 35000"/>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49808" y="3364992"/>
            <a:ext cx="896112" cy="228600"/>
          </a:xfrm>
          <a:prstGeom prst="rect">
            <a:avLst/>
          </a:prstGeom>
          <a:noFill/>
        </p:spPr>
        <p:txBody>
          <a:bodyPr wrap="square" lIns="0" rIns="0" tIns="0" bIns="0" anchor="ctr">
            <a:spAutoFit/>
          </a:bodyPr>
          <a:lstStyle/>
          <a:p>
            <a:pPr algn="ctr"/>
            <a:r>
              <a:rPr sz="850" b="1" i="0" spc="90">
                <a:solidFill>
                  <a:srgbClr val="FFFFFF"/>
                </a:solidFill>
                <a:latin typeface="Calibri"/>
              </a:rPr>
              <a:t>PYTHON</a:t>
            </a:r>
          </a:p>
        </p:txBody>
      </p:sp>
      <p:sp>
        <p:nvSpPr>
          <p:cNvPr id="12" name="TextBox 11"/>
          <p:cNvSpPr txBox="1"/>
          <p:nvPr/>
        </p:nvSpPr>
        <p:spPr>
          <a:xfrm>
            <a:off x="749808" y="3694176"/>
            <a:ext cx="1655064" cy="566928"/>
          </a:xfrm>
          <a:prstGeom prst="rect">
            <a:avLst/>
          </a:prstGeom>
          <a:noFill/>
        </p:spPr>
        <p:txBody>
          <a:bodyPr wrap="square" lIns="0" rIns="0" tIns="0" bIns="0" anchor="t">
            <a:spAutoFit/>
          </a:bodyPr>
          <a:lstStyle/>
          <a:p>
            <a:pPr algn="l">
              <a:lnSpc>
                <a:spcPts val="1300"/>
              </a:lnSpc>
            </a:pPr>
            <a:r>
              <a:rPr sz="1050" b="0" i="0">
                <a:solidFill>
                  <a:srgbClr val="4E5A66"/>
                </a:solidFill>
                <a:latin typeface="Calibri"/>
              </a:rPr>
              <a:t>SGD Classifier, TF-IDF similarity and a prefix dictionary.</a:t>
            </a:r>
          </a:p>
        </p:txBody>
      </p:sp>
      <p:sp>
        <p:nvSpPr>
          <p:cNvPr id="13" name="Isosceles Triangle 12"/>
          <p:cNvSpPr/>
          <p:nvPr/>
        </p:nvSpPr>
        <p:spPr>
          <a:xfrm rot="5400000">
            <a:off x="2633472"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807208" y="2395728"/>
            <a:ext cx="2057400" cy="20116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008376" y="2615184"/>
            <a:ext cx="1655064" cy="201168"/>
          </a:xfrm>
          <a:prstGeom prst="rect">
            <a:avLst/>
          </a:prstGeom>
          <a:noFill/>
        </p:spPr>
        <p:txBody>
          <a:bodyPr wrap="square" lIns="0" rIns="0" tIns="0" bIns="0" anchor="t">
            <a:spAutoFit/>
          </a:bodyPr>
          <a:lstStyle/>
          <a:p>
            <a:pPr algn="l"/>
            <a:r>
              <a:rPr sz="900" b="1" i="0" spc="150">
                <a:solidFill>
                  <a:srgbClr val="2E7D63"/>
                </a:solidFill>
                <a:latin typeface="Calibri"/>
              </a:rPr>
              <a:t>STEP 2</a:t>
            </a:r>
          </a:p>
        </p:txBody>
      </p:sp>
      <p:sp>
        <p:nvSpPr>
          <p:cNvPr id="16" name="TextBox 15"/>
          <p:cNvSpPr txBox="1"/>
          <p:nvPr/>
        </p:nvSpPr>
        <p:spPr>
          <a:xfrm>
            <a:off x="3008376" y="2852928"/>
            <a:ext cx="1655064" cy="457200"/>
          </a:xfrm>
          <a:prstGeom prst="rect">
            <a:avLst/>
          </a:prstGeom>
          <a:noFill/>
        </p:spPr>
        <p:txBody>
          <a:bodyPr wrap="square" lIns="0" rIns="0" tIns="0" bIns="0" anchor="t">
            <a:spAutoFit/>
          </a:bodyPr>
          <a:lstStyle/>
          <a:p>
            <a:pPr algn="l">
              <a:lnSpc>
                <a:spcPts val="1700"/>
              </a:lnSpc>
            </a:pPr>
            <a:r>
              <a:rPr sz="1400" b="1" i="0">
                <a:solidFill>
                  <a:srgbClr val="1B2430"/>
                </a:solidFill>
                <a:latin typeface="Cambria"/>
              </a:rPr>
              <a:t>Section</a:t>
            </a:r>
          </a:p>
        </p:txBody>
      </p:sp>
      <p:sp>
        <p:nvSpPr>
          <p:cNvPr id="17" name="Rounded Rectangle 16"/>
          <p:cNvSpPr/>
          <p:nvPr/>
        </p:nvSpPr>
        <p:spPr>
          <a:xfrm>
            <a:off x="3008376" y="3364992"/>
            <a:ext cx="896112" cy="228600"/>
          </a:xfrm>
          <a:prstGeom prst="roundRect">
            <a:avLst>
              <a:gd name="adj" fmla="val 35000"/>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08376" y="3364992"/>
            <a:ext cx="896112" cy="228600"/>
          </a:xfrm>
          <a:prstGeom prst="rect">
            <a:avLst/>
          </a:prstGeom>
          <a:noFill/>
        </p:spPr>
        <p:txBody>
          <a:bodyPr wrap="square" lIns="0" rIns="0" tIns="0" bIns="0" anchor="ctr">
            <a:spAutoFit/>
          </a:bodyPr>
          <a:lstStyle/>
          <a:p>
            <a:pPr algn="ctr"/>
            <a:r>
              <a:rPr sz="850" b="1" i="0" spc="90">
                <a:solidFill>
                  <a:srgbClr val="FFFFFF"/>
                </a:solidFill>
                <a:latin typeface="Calibri"/>
              </a:rPr>
              <a:t>PYTHON</a:t>
            </a:r>
          </a:p>
        </p:txBody>
      </p:sp>
      <p:sp>
        <p:nvSpPr>
          <p:cNvPr id="19" name="TextBox 18"/>
          <p:cNvSpPr txBox="1"/>
          <p:nvPr/>
        </p:nvSpPr>
        <p:spPr>
          <a:xfrm>
            <a:off x="3008376" y="3694176"/>
            <a:ext cx="1655064" cy="566928"/>
          </a:xfrm>
          <a:prstGeom prst="rect">
            <a:avLst/>
          </a:prstGeom>
          <a:noFill/>
        </p:spPr>
        <p:txBody>
          <a:bodyPr wrap="square" lIns="0" rIns="0" tIns="0" bIns="0" anchor="t">
            <a:spAutoFit/>
          </a:bodyPr>
          <a:lstStyle/>
          <a:p>
            <a:pPr algn="l">
              <a:lnSpc>
                <a:spcPts val="1300"/>
              </a:lnSpc>
            </a:pPr>
            <a:r>
              <a:rPr sz="1050" b="0" i="0">
                <a:solidFill>
                  <a:srgbClr val="4E5A66"/>
                </a:solidFill>
                <a:latin typeface="Calibri"/>
              </a:rPr>
              <a:t>XGBoost over 27+ engineered tag features.</a:t>
            </a:r>
          </a:p>
        </p:txBody>
      </p:sp>
      <p:sp>
        <p:nvSpPr>
          <p:cNvPr id="20" name="Isosceles Triangle 19"/>
          <p:cNvSpPr/>
          <p:nvPr/>
        </p:nvSpPr>
        <p:spPr>
          <a:xfrm rot="5400000">
            <a:off x="4892040"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065776" y="2395728"/>
            <a:ext cx="2057400" cy="20116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66944" y="2615184"/>
            <a:ext cx="1655064" cy="201168"/>
          </a:xfrm>
          <a:prstGeom prst="rect">
            <a:avLst/>
          </a:prstGeom>
          <a:noFill/>
        </p:spPr>
        <p:txBody>
          <a:bodyPr wrap="square" lIns="0" rIns="0" tIns="0" bIns="0" anchor="t">
            <a:spAutoFit/>
          </a:bodyPr>
          <a:lstStyle/>
          <a:p>
            <a:pPr algn="l"/>
            <a:r>
              <a:rPr sz="900" b="1" i="0" spc="150">
                <a:solidFill>
                  <a:srgbClr val="2E7D63"/>
                </a:solidFill>
                <a:latin typeface="Calibri"/>
              </a:rPr>
              <a:t>STEP 3</a:t>
            </a:r>
          </a:p>
        </p:txBody>
      </p:sp>
      <p:sp>
        <p:nvSpPr>
          <p:cNvPr id="23" name="TextBox 22"/>
          <p:cNvSpPr txBox="1"/>
          <p:nvPr/>
        </p:nvSpPr>
        <p:spPr>
          <a:xfrm>
            <a:off x="5266944" y="2852928"/>
            <a:ext cx="1655064" cy="457200"/>
          </a:xfrm>
          <a:prstGeom prst="rect">
            <a:avLst/>
          </a:prstGeom>
          <a:noFill/>
        </p:spPr>
        <p:txBody>
          <a:bodyPr wrap="square" lIns="0" rIns="0" tIns="0" bIns="0" anchor="t">
            <a:spAutoFit/>
          </a:bodyPr>
          <a:lstStyle/>
          <a:p>
            <a:pPr algn="l">
              <a:lnSpc>
                <a:spcPts val="1700"/>
              </a:lnSpc>
            </a:pPr>
            <a:r>
              <a:rPr sz="1400" b="1" i="0">
                <a:solidFill>
                  <a:srgbClr val="1B2430"/>
                </a:solidFill>
                <a:latin typeface="Cambria"/>
              </a:rPr>
              <a:t>Cluster</a:t>
            </a:r>
          </a:p>
        </p:txBody>
      </p:sp>
      <p:sp>
        <p:nvSpPr>
          <p:cNvPr id="24" name="Rounded Rectangle 23"/>
          <p:cNvSpPr/>
          <p:nvPr/>
        </p:nvSpPr>
        <p:spPr>
          <a:xfrm>
            <a:off x="5266944" y="3364992"/>
            <a:ext cx="896112" cy="228600"/>
          </a:xfrm>
          <a:prstGeom prst="roundRect">
            <a:avLst>
              <a:gd name="adj" fmla="val 35000"/>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266944" y="3364992"/>
            <a:ext cx="896112" cy="228600"/>
          </a:xfrm>
          <a:prstGeom prst="rect">
            <a:avLst/>
          </a:prstGeom>
          <a:noFill/>
        </p:spPr>
        <p:txBody>
          <a:bodyPr wrap="square" lIns="0" rIns="0" tIns="0" bIns="0" anchor="ctr">
            <a:spAutoFit/>
          </a:bodyPr>
          <a:lstStyle/>
          <a:p>
            <a:pPr algn="ctr"/>
            <a:r>
              <a:rPr sz="850" b="1" i="0" spc="90">
                <a:solidFill>
                  <a:srgbClr val="FFFFFF"/>
                </a:solidFill>
                <a:latin typeface="Calibri"/>
              </a:rPr>
              <a:t>PYTHON</a:t>
            </a:r>
          </a:p>
        </p:txBody>
      </p:sp>
      <p:sp>
        <p:nvSpPr>
          <p:cNvPr id="26" name="TextBox 25"/>
          <p:cNvSpPr txBox="1"/>
          <p:nvPr/>
        </p:nvSpPr>
        <p:spPr>
          <a:xfrm>
            <a:off x="5266944" y="3694176"/>
            <a:ext cx="1655064" cy="566928"/>
          </a:xfrm>
          <a:prstGeom prst="rect">
            <a:avLst/>
          </a:prstGeom>
          <a:noFill/>
        </p:spPr>
        <p:txBody>
          <a:bodyPr wrap="square" lIns="0" rIns="0" tIns="0" bIns="0" anchor="t">
            <a:spAutoFit/>
          </a:bodyPr>
          <a:lstStyle/>
          <a:p>
            <a:pPr algn="l">
              <a:lnSpc>
                <a:spcPts val="1300"/>
              </a:lnSpc>
            </a:pPr>
            <a:r>
              <a:rPr sz="1050" b="0" i="0">
                <a:solidFill>
                  <a:srgbClr val="4E5A66"/>
                </a:solidFill>
                <a:latin typeface="Calibri"/>
              </a:rPr>
              <a:t>XGBoost chained on the predicted section. Returns a top-3 ranking.</a:t>
            </a:r>
          </a:p>
        </p:txBody>
      </p:sp>
      <p:sp>
        <p:nvSpPr>
          <p:cNvPr id="27" name="Isosceles Triangle 26"/>
          <p:cNvSpPr/>
          <p:nvPr/>
        </p:nvSpPr>
        <p:spPr>
          <a:xfrm rot="5400000">
            <a:off x="7150608"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324344" y="2395728"/>
            <a:ext cx="2057400" cy="2011680"/>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525512" y="2615184"/>
            <a:ext cx="1655064" cy="201168"/>
          </a:xfrm>
          <a:prstGeom prst="rect">
            <a:avLst/>
          </a:prstGeom>
          <a:noFill/>
        </p:spPr>
        <p:txBody>
          <a:bodyPr wrap="square" lIns="0" rIns="0" tIns="0" bIns="0" anchor="t">
            <a:spAutoFit/>
          </a:bodyPr>
          <a:lstStyle/>
          <a:p>
            <a:pPr algn="l"/>
            <a:r>
              <a:rPr sz="900" b="1" i="0" spc="150">
                <a:solidFill>
                  <a:srgbClr val="C46A24"/>
                </a:solidFill>
                <a:latin typeface="Calibri"/>
              </a:rPr>
              <a:t>STEP 4</a:t>
            </a:r>
          </a:p>
        </p:txBody>
      </p:sp>
      <p:sp>
        <p:nvSpPr>
          <p:cNvPr id="30" name="TextBox 29"/>
          <p:cNvSpPr txBox="1"/>
          <p:nvPr/>
        </p:nvSpPr>
        <p:spPr>
          <a:xfrm>
            <a:off x="7525512" y="2852928"/>
            <a:ext cx="1655064" cy="457200"/>
          </a:xfrm>
          <a:prstGeom prst="rect">
            <a:avLst/>
          </a:prstGeom>
          <a:noFill/>
        </p:spPr>
        <p:txBody>
          <a:bodyPr wrap="square" lIns="0" rIns="0" tIns="0" bIns="0" anchor="t">
            <a:spAutoFit/>
          </a:bodyPr>
          <a:lstStyle/>
          <a:p>
            <a:pPr algn="l">
              <a:lnSpc>
                <a:spcPts val="1700"/>
              </a:lnSpc>
            </a:pPr>
            <a:r>
              <a:rPr sz="1400" b="1" i="0">
                <a:solidFill>
                  <a:srgbClr val="1B2430"/>
                </a:solidFill>
                <a:latin typeface="Cambria"/>
              </a:rPr>
              <a:t>Quota Allocation</a:t>
            </a:r>
          </a:p>
        </p:txBody>
      </p:sp>
      <p:sp>
        <p:nvSpPr>
          <p:cNvPr id="31" name="Rounded Rectangle 30"/>
          <p:cNvSpPr/>
          <p:nvPr/>
        </p:nvSpPr>
        <p:spPr>
          <a:xfrm>
            <a:off x="7525512" y="3364992"/>
            <a:ext cx="896112" cy="228600"/>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525512" y="3364992"/>
            <a:ext cx="896112" cy="228600"/>
          </a:xfrm>
          <a:prstGeom prst="rect">
            <a:avLst/>
          </a:prstGeom>
          <a:noFill/>
        </p:spPr>
        <p:txBody>
          <a:bodyPr wrap="square" lIns="0" rIns="0" tIns="0" bIns="0" anchor="ctr">
            <a:spAutoFit/>
          </a:bodyPr>
          <a:lstStyle/>
          <a:p>
            <a:pPr algn="ctr"/>
            <a:r>
              <a:rPr sz="850" b="1" i="0" spc="90">
                <a:solidFill>
                  <a:srgbClr val="FFFFFF"/>
                </a:solidFill>
                <a:latin typeface="Calibri"/>
              </a:rPr>
              <a:t>C#</a:t>
            </a:r>
          </a:p>
        </p:txBody>
      </p:sp>
      <p:sp>
        <p:nvSpPr>
          <p:cNvPr id="33" name="TextBox 32"/>
          <p:cNvSpPr txBox="1"/>
          <p:nvPr/>
        </p:nvSpPr>
        <p:spPr>
          <a:xfrm>
            <a:off x="7525512" y="3694176"/>
            <a:ext cx="1655064" cy="566928"/>
          </a:xfrm>
          <a:prstGeom prst="rect">
            <a:avLst/>
          </a:prstGeom>
          <a:noFill/>
        </p:spPr>
        <p:txBody>
          <a:bodyPr wrap="square" lIns="0" rIns="0" tIns="0" bIns="0" anchor="t">
            <a:spAutoFit/>
          </a:bodyPr>
          <a:lstStyle/>
          <a:p>
            <a:pPr algn="l">
              <a:lnSpc>
                <a:spcPts val="1300"/>
              </a:lnSpc>
            </a:pPr>
            <a:r>
              <a:rPr sz="1050" b="0" i="0">
                <a:solidFill>
                  <a:srgbClr val="4E5A66"/>
                </a:solidFill>
                <a:latin typeface="Calibri"/>
              </a:rPr>
              <a:t>Three passes fitting predictions to the designed composition.</a:t>
            </a:r>
          </a:p>
        </p:txBody>
      </p:sp>
      <p:sp>
        <p:nvSpPr>
          <p:cNvPr id="34" name="Isosceles Triangle 33"/>
          <p:cNvSpPr/>
          <p:nvPr/>
        </p:nvSpPr>
        <p:spPr>
          <a:xfrm rot="5400000">
            <a:off x="9409176"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582912" y="2395728"/>
            <a:ext cx="2057400" cy="2011680"/>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84080" y="2615184"/>
            <a:ext cx="1655064" cy="201168"/>
          </a:xfrm>
          <a:prstGeom prst="rect">
            <a:avLst/>
          </a:prstGeom>
          <a:noFill/>
        </p:spPr>
        <p:txBody>
          <a:bodyPr wrap="square" lIns="0" rIns="0" tIns="0" bIns="0" anchor="t">
            <a:spAutoFit/>
          </a:bodyPr>
          <a:lstStyle/>
          <a:p>
            <a:pPr algn="l"/>
            <a:r>
              <a:rPr sz="900" b="1" i="0" spc="150">
                <a:solidFill>
                  <a:srgbClr val="C46A24"/>
                </a:solidFill>
                <a:latin typeface="Calibri"/>
              </a:rPr>
              <a:t>STEP 5</a:t>
            </a:r>
          </a:p>
        </p:txBody>
      </p:sp>
      <p:sp>
        <p:nvSpPr>
          <p:cNvPr id="37" name="TextBox 36"/>
          <p:cNvSpPr txBox="1"/>
          <p:nvPr/>
        </p:nvSpPr>
        <p:spPr>
          <a:xfrm>
            <a:off x="9784080" y="2852928"/>
            <a:ext cx="1655064" cy="457200"/>
          </a:xfrm>
          <a:prstGeom prst="rect">
            <a:avLst/>
          </a:prstGeom>
          <a:noFill/>
        </p:spPr>
        <p:txBody>
          <a:bodyPr wrap="square" lIns="0" rIns="0" tIns="0" bIns="0" anchor="t">
            <a:spAutoFit/>
          </a:bodyPr>
          <a:lstStyle/>
          <a:p>
            <a:pPr algn="l">
              <a:lnSpc>
                <a:spcPts val="1700"/>
              </a:lnSpc>
            </a:pPr>
            <a:r>
              <a:rPr sz="1400" b="1" i="0">
                <a:solidFill>
                  <a:srgbClr val="1B2430"/>
                </a:solidFill>
                <a:latin typeface="Cambria"/>
              </a:rPr>
              <a:t>Placement</a:t>
            </a:r>
          </a:p>
        </p:txBody>
      </p:sp>
      <p:sp>
        <p:nvSpPr>
          <p:cNvPr id="38" name="Rounded Rectangle 37"/>
          <p:cNvSpPr/>
          <p:nvPr/>
        </p:nvSpPr>
        <p:spPr>
          <a:xfrm>
            <a:off x="9784080" y="3364992"/>
            <a:ext cx="896112" cy="228600"/>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84080" y="3364992"/>
            <a:ext cx="896112" cy="228600"/>
          </a:xfrm>
          <a:prstGeom prst="rect">
            <a:avLst/>
          </a:prstGeom>
          <a:noFill/>
        </p:spPr>
        <p:txBody>
          <a:bodyPr wrap="square" lIns="0" rIns="0" tIns="0" bIns="0" anchor="ctr">
            <a:spAutoFit/>
          </a:bodyPr>
          <a:lstStyle/>
          <a:p>
            <a:pPr algn="ctr"/>
            <a:r>
              <a:rPr sz="850" b="1" i="0" spc="90">
                <a:solidFill>
                  <a:srgbClr val="FFFFFF"/>
                </a:solidFill>
                <a:latin typeface="Calibri"/>
              </a:rPr>
              <a:t>C#</a:t>
            </a:r>
          </a:p>
        </p:txBody>
      </p:sp>
      <p:sp>
        <p:nvSpPr>
          <p:cNvPr id="40" name="TextBox 39"/>
          <p:cNvSpPr txBox="1"/>
          <p:nvPr/>
        </p:nvSpPr>
        <p:spPr>
          <a:xfrm>
            <a:off x="9784080" y="3694176"/>
            <a:ext cx="1655064" cy="566928"/>
          </a:xfrm>
          <a:prstGeom prst="rect">
            <a:avLst/>
          </a:prstGeom>
          <a:noFill/>
        </p:spPr>
        <p:txBody>
          <a:bodyPr wrap="square" lIns="0" rIns="0" tIns="0" bIns="0" anchor="t">
            <a:spAutoFit/>
          </a:bodyPr>
          <a:lstStyle/>
          <a:p>
            <a:pPr algn="l">
              <a:lnSpc>
                <a:spcPts val="1300"/>
              </a:lnSpc>
            </a:pPr>
            <a:r>
              <a:rPr sz="1050" b="0" i="0">
                <a:solidFill>
                  <a:srgbClr val="4E5A66"/>
                </a:solidFill>
                <a:latin typeface="Calibri"/>
              </a:rPr>
              <a:t>Groups assigned devices; splits the rest for review.</a:t>
            </a:r>
          </a:p>
        </p:txBody>
      </p:sp>
      <p:sp>
        <p:nvSpPr>
          <p:cNvPr id="41" name="Isosceles Triangle 40"/>
          <p:cNvSpPr/>
          <p:nvPr/>
        </p:nvSpPr>
        <p:spPr>
          <a:xfrm rot="10800000">
            <a:off x="6003950" y="4498848"/>
            <a:ext cx="182880" cy="18288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48640" y="4828032"/>
            <a:ext cx="5440680" cy="932688"/>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822959" y="5010912"/>
            <a:ext cx="4892040" cy="237744"/>
          </a:xfrm>
          <a:prstGeom prst="rect">
            <a:avLst/>
          </a:prstGeom>
          <a:noFill/>
        </p:spPr>
        <p:txBody>
          <a:bodyPr wrap="square" lIns="0" rIns="0" tIns="0" bIns="0" anchor="t">
            <a:spAutoFit/>
          </a:bodyPr>
          <a:lstStyle/>
          <a:p>
            <a:pPr algn="l"/>
            <a:r>
              <a:rPr sz="1150" b="1" i="0">
                <a:solidFill>
                  <a:srgbClr val="2E7D63"/>
                </a:solidFill>
                <a:latin typeface="Consolas"/>
              </a:rPr>
              <a:t>dbo.OutputDeviceAssignment</a:t>
            </a:r>
          </a:p>
        </p:txBody>
      </p:sp>
      <p:sp>
        <p:nvSpPr>
          <p:cNvPr id="44" name="TextBox 43"/>
          <p:cNvSpPr txBox="1"/>
          <p:nvPr/>
        </p:nvSpPr>
        <p:spPr>
          <a:xfrm>
            <a:off x="822959" y="5285232"/>
            <a:ext cx="4892040" cy="292608"/>
          </a:xfrm>
          <a:prstGeom prst="rect">
            <a:avLst/>
          </a:prstGeom>
          <a:noFill/>
        </p:spPr>
        <p:txBody>
          <a:bodyPr wrap="square" lIns="0" rIns="0" tIns="0" bIns="0" anchor="t">
            <a:spAutoFit/>
          </a:bodyPr>
          <a:lstStyle/>
          <a:p>
            <a:pPr algn="l"/>
            <a:r>
              <a:rPr sz="1100" b="0" i="0">
                <a:solidFill>
                  <a:srgbClr val="4E5A66"/>
                </a:solidFill>
                <a:latin typeface="Calibri"/>
              </a:rPr>
              <a:t>Devices successfully placed into a cluster.</a:t>
            </a:r>
          </a:p>
        </p:txBody>
      </p:sp>
      <p:sp>
        <p:nvSpPr>
          <p:cNvPr id="45" name="Rounded Rectangle 44"/>
          <p:cNvSpPr/>
          <p:nvPr/>
        </p:nvSpPr>
        <p:spPr>
          <a:xfrm>
            <a:off x="6199632" y="4828032"/>
            <a:ext cx="5440680" cy="932688"/>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473952" y="5010912"/>
            <a:ext cx="4892040" cy="237744"/>
          </a:xfrm>
          <a:prstGeom prst="rect">
            <a:avLst/>
          </a:prstGeom>
          <a:noFill/>
        </p:spPr>
        <p:txBody>
          <a:bodyPr wrap="square" lIns="0" rIns="0" tIns="0" bIns="0" anchor="t">
            <a:spAutoFit/>
          </a:bodyPr>
          <a:lstStyle/>
          <a:p>
            <a:pPr algn="l"/>
            <a:r>
              <a:rPr sz="1150" b="1" i="0">
                <a:solidFill>
                  <a:srgbClr val="C46A24"/>
                </a:solidFill>
                <a:latin typeface="Consolas"/>
              </a:rPr>
              <a:t>dbo.DeviceReviewQueue</a:t>
            </a:r>
          </a:p>
        </p:txBody>
      </p:sp>
      <p:sp>
        <p:nvSpPr>
          <p:cNvPr id="47" name="TextBox 46"/>
          <p:cNvSpPr txBox="1"/>
          <p:nvPr/>
        </p:nvSpPr>
        <p:spPr>
          <a:xfrm>
            <a:off x="6473952" y="5285232"/>
            <a:ext cx="4892040" cy="292608"/>
          </a:xfrm>
          <a:prstGeom prst="rect">
            <a:avLst/>
          </a:prstGeom>
          <a:noFill/>
        </p:spPr>
        <p:txBody>
          <a:bodyPr wrap="square" lIns="0" rIns="0" tIns="0" bIns="0" anchor="t">
            <a:spAutoFit/>
          </a:bodyPr>
          <a:lstStyle/>
          <a:p>
            <a:pPr algn="l"/>
            <a:r>
              <a:rPr sz="1100" b="0" i="0">
                <a:solidFill>
                  <a:srgbClr val="4E5A66"/>
                </a:solidFill>
                <a:latin typeface="Calibri"/>
              </a:rPr>
              <a:t>Devices the engine will not guess at — sent for engineer review.</a:t>
            </a:r>
          </a:p>
        </p:txBody>
      </p:sp>
      <p:sp>
        <p:nvSpPr>
          <p:cNvPr id="48" name="TextBox 47"/>
          <p:cNvSpPr txBox="1"/>
          <p:nvPr/>
        </p:nvSpPr>
        <p:spPr>
          <a:xfrm>
            <a:off x="548640" y="5925312"/>
            <a:ext cx="11091672" cy="256032"/>
          </a:xfrm>
          <a:prstGeom prst="rect">
            <a:avLst/>
          </a:prstGeom>
          <a:noFill/>
        </p:spPr>
        <p:txBody>
          <a:bodyPr wrap="square" lIns="0" rIns="0" tIns="0" bIns="0" anchor="t">
            <a:spAutoFit/>
          </a:bodyPr>
          <a:lstStyle/>
          <a:p>
            <a:pPr algn="l"/>
            <a:r>
              <a:rPr sz="1100" b="0" i="1">
                <a:solidFill>
                  <a:srgbClr val="7A8792"/>
                </a:solidFill>
                <a:latin typeface="Calibri"/>
              </a:rPr>
              <a:t>Both outcomes are written back to SQL Server, so a user interface reads results from the database rather than from files.</a:t>
            </a:r>
          </a:p>
        </p:txBody>
      </p:sp>
      <p:sp>
        <p:nvSpPr>
          <p:cNvPr id="49" name="TextBox 48"/>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August 2026</a:t>
            </a:r>
          </a:p>
        </p:txBody>
      </p:sp>
      <p:sp>
        <p:nvSpPr>
          <p:cNvPr id="50" name="TextBox 49"/>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04  ·  METHOD IN DETAIL</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Device Type — a ladder, not a single model</a:t>
            </a:r>
          </a:p>
        </p:txBody>
      </p:sp>
      <p:sp>
        <p:nvSpPr>
          <p:cNvPr id="4" name="TextBox 3"/>
          <p:cNvSpPr txBox="1"/>
          <p:nvPr/>
        </p:nvSpPr>
        <p:spPr>
          <a:xfrm>
            <a:off x="548640" y="1261872"/>
            <a:ext cx="10881360" cy="274320"/>
          </a:xfrm>
          <a:prstGeom prst="rect">
            <a:avLst/>
          </a:prstGeom>
          <a:noFill/>
        </p:spPr>
        <p:txBody>
          <a:bodyPr wrap="square" lIns="0" rIns="0" tIns="0" bIns="0" anchor="t">
            <a:spAutoFit/>
          </a:bodyPr>
          <a:lstStyle/>
          <a:p>
            <a:pPr algn="l"/>
            <a:r>
              <a:rPr sz="1300" b="0" i="0">
                <a:solidFill>
                  <a:srgbClr val="4E5A66"/>
                </a:solidFill>
                <a:latin typeface="Calibri"/>
              </a:rPr>
              <a:t>Five sources are checked in strict priority order, and the first confident one wins.</a:t>
            </a:r>
          </a:p>
        </p:txBody>
      </p:sp>
      <p:sp>
        <p:nvSpPr>
          <p:cNvPr id="5" name="Rounded Rectangle 4"/>
          <p:cNvSpPr/>
          <p:nvPr/>
        </p:nvSpPr>
        <p:spPr>
          <a:xfrm>
            <a:off x="548640" y="1783080"/>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749808" y="1938528"/>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938528"/>
            <a:ext cx="310896" cy="310896"/>
          </a:xfrm>
          <a:prstGeom prst="rect">
            <a:avLst/>
          </a:prstGeom>
          <a:noFill/>
        </p:spPr>
        <p:txBody>
          <a:bodyPr wrap="square" lIns="0" rIns="0" tIns="0" bIns="0" anchor="ctr">
            <a:spAutoFit/>
          </a:bodyPr>
          <a:lstStyle/>
          <a:p>
            <a:pPr algn="ctr"/>
            <a:r>
              <a:rPr sz="1100" b="1" i="0">
                <a:solidFill>
                  <a:srgbClr val="FFFFFF"/>
                </a:solidFill>
                <a:latin typeface="Cambria"/>
              </a:rPr>
              <a:t>1</a:t>
            </a:r>
          </a:p>
        </p:txBody>
      </p:sp>
      <p:sp>
        <p:nvSpPr>
          <p:cNvPr id="8" name="TextBox 7"/>
          <p:cNvSpPr txBox="1"/>
          <p:nvPr/>
        </p:nvSpPr>
        <p:spPr>
          <a:xfrm>
            <a:off x="1188720" y="1783080"/>
            <a:ext cx="3200400" cy="621792"/>
          </a:xfrm>
          <a:prstGeom prst="rect">
            <a:avLst/>
          </a:prstGeom>
          <a:noFill/>
        </p:spPr>
        <p:txBody>
          <a:bodyPr wrap="square" lIns="0" rIns="0" tIns="0" bIns="0" anchor="ctr">
            <a:spAutoFit/>
          </a:bodyPr>
          <a:lstStyle/>
          <a:p>
            <a:pPr algn="l"/>
            <a:r>
              <a:rPr sz="1200" b="1" i="0">
                <a:solidFill>
                  <a:srgbClr val="1B2430"/>
                </a:solidFill>
                <a:latin typeface="Calibri"/>
              </a:rPr>
              <a:t>Exact match in reference data</a:t>
            </a:r>
          </a:p>
        </p:txBody>
      </p:sp>
      <p:sp>
        <p:nvSpPr>
          <p:cNvPr id="9" name="TextBox 8"/>
          <p:cNvSpPr txBox="1"/>
          <p:nvPr/>
        </p:nvSpPr>
        <p:spPr>
          <a:xfrm>
            <a:off x="4526280" y="1783080"/>
            <a:ext cx="2377440" cy="621792"/>
          </a:xfrm>
          <a:prstGeom prst="rect">
            <a:avLst/>
          </a:prstGeom>
          <a:noFill/>
        </p:spPr>
        <p:txBody>
          <a:bodyPr wrap="square" lIns="0" rIns="0" tIns="0" bIns="0" anchor="ctr">
            <a:spAutoFit/>
          </a:bodyPr>
          <a:lstStyle/>
          <a:p>
            <a:pPr algn="r"/>
            <a:r>
              <a:rPr sz="1100" b="0" i="0">
                <a:solidFill>
                  <a:srgbClr val="4E5A66"/>
                </a:solidFill>
                <a:latin typeface="Calibri"/>
              </a:rPr>
              <a:t>Confidence 1.00</a:t>
            </a:r>
          </a:p>
        </p:txBody>
      </p:sp>
      <p:sp>
        <p:nvSpPr>
          <p:cNvPr id="10" name="Rounded Rectangle 9"/>
          <p:cNvSpPr/>
          <p:nvPr/>
        </p:nvSpPr>
        <p:spPr>
          <a:xfrm>
            <a:off x="548640" y="2523744"/>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49808" y="2679191"/>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679191"/>
            <a:ext cx="310896" cy="310896"/>
          </a:xfrm>
          <a:prstGeom prst="rect">
            <a:avLst/>
          </a:prstGeom>
          <a:noFill/>
        </p:spPr>
        <p:txBody>
          <a:bodyPr wrap="square" lIns="0" rIns="0" tIns="0" bIns="0" anchor="ctr">
            <a:spAutoFit/>
          </a:bodyPr>
          <a:lstStyle/>
          <a:p>
            <a:pPr algn="ctr"/>
            <a:r>
              <a:rPr sz="1100" b="1" i="0">
                <a:solidFill>
                  <a:srgbClr val="FFFFFF"/>
                </a:solidFill>
                <a:latin typeface="Cambria"/>
              </a:rPr>
              <a:t>2</a:t>
            </a:r>
          </a:p>
        </p:txBody>
      </p:sp>
      <p:sp>
        <p:nvSpPr>
          <p:cNvPr id="13" name="TextBox 12"/>
          <p:cNvSpPr txBox="1"/>
          <p:nvPr/>
        </p:nvSpPr>
        <p:spPr>
          <a:xfrm>
            <a:off x="1188720" y="2523744"/>
            <a:ext cx="3200400" cy="621792"/>
          </a:xfrm>
          <a:prstGeom prst="rect">
            <a:avLst/>
          </a:prstGeom>
          <a:noFill/>
        </p:spPr>
        <p:txBody>
          <a:bodyPr wrap="square" lIns="0" rIns="0" tIns="0" bIns="0" anchor="ctr">
            <a:spAutoFit/>
          </a:bodyPr>
          <a:lstStyle/>
          <a:p>
            <a:pPr algn="l"/>
            <a:r>
              <a:rPr sz="1200" b="1" i="0">
                <a:solidFill>
                  <a:srgbClr val="1B2430"/>
                </a:solidFill>
                <a:latin typeface="Calibri"/>
              </a:rPr>
              <a:t>SGD Classifier confidence ≥ 0.60</a:t>
            </a:r>
          </a:p>
        </p:txBody>
      </p:sp>
      <p:sp>
        <p:nvSpPr>
          <p:cNvPr id="14" name="TextBox 13"/>
          <p:cNvSpPr txBox="1"/>
          <p:nvPr/>
        </p:nvSpPr>
        <p:spPr>
          <a:xfrm>
            <a:off x="4526280" y="2523744"/>
            <a:ext cx="2377440" cy="621792"/>
          </a:xfrm>
          <a:prstGeom prst="rect">
            <a:avLst/>
          </a:prstGeom>
          <a:noFill/>
        </p:spPr>
        <p:txBody>
          <a:bodyPr wrap="square" lIns="0" rIns="0" tIns="0" bIns="0" anchor="ctr">
            <a:spAutoFit/>
          </a:bodyPr>
          <a:lstStyle/>
          <a:p>
            <a:pPr algn="r"/>
            <a:r>
              <a:rPr sz="1100" b="0" i="0">
                <a:solidFill>
                  <a:srgbClr val="4E5A66"/>
                </a:solidFill>
                <a:latin typeface="Calibri"/>
              </a:rPr>
              <a:t>SGD label</a:t>
            </a:r>
          </a:p>
        </p:txBody>
      </p:sp>
      <p:sp>
        <p:nvSpPr>
          <p:cNvPr id="15" name="Rounded Rectangle 14"/>
          <p:cNvSpPr/>
          <p:nvPr/>
        </p:nvSpPr>
        <p:spPr>
          <a:xfrm>
            <a:off x="548640" y="3264408"/>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49808" y="3419856"/>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419856"/>
            <a:ext cx="310896" cy="310896"/>
          </a:xfrm>
          <a:prstGeom prst="rect">
            <a:avLst/>
          </a:prstGeom>
          <a:noFill/>
        </p:spPr>
        <p:txBody>
          <a:bodyPr wrap="square" lIns="0" rIns="0" tIns="0" bIns="0" anchor="ctr">
            <a:spAutoFit/>
          </a:bodyPr>
          <a:lstStyle/>
          <a:p>
            <a:pPr algn="ctr"/>
            <a:r>
              <a:rPr sz="1100" b="1" i="0">
                <a:solidFill>
                  <a:srgbClr val="FFFFFF"/>
                </a:solidFill>
                <a:latin typeface="Cambria"/>
              </a:rPr>
              <a:t>3</a:t>
            </a:r>
          </a:p>
        </p:txBody>
      </p:sp>
      <p:sp>
        <p:nvSpPr>
          <p:cNvPr id="18" name="TextBox 17"/>
          <p:cNvSpPr txBox="1"/>
          <p:nvPr/>
        </p:nvSpPr>
        <p:spPr>
          <a:xfrm>
            <a:off x="1188720" y="3264408"/>
            <a:ext cx="3200400" cy="621792"/>
          </a:xfrm>
          <a:prstGeom prst="rect">
            <a:avLst/>
          </a:prstGeom>
          <a:noFill/>
        </p:spPr>
        <p:txBody>
          <a:bodyPr wrap="square" lIns="0" rIns="0" tIns="0" bIns="0" anchor="ctr">
            <a:spAutoFit/>
          </a:bodyPr>
          <a:lstStyle/>
          <a:p>
            <a:pPr algn="l"/>
            <a:r>
              <a:rPr sz="1200" b="1" i="0">
                <a:solidFill>
                  <a:srgbClr val="1B2430"/>
                </a:solidFill>
                <a:latin typeface="Calibri"/>
              </a:rPr>
              <a:t>Composite similarity ≥ 0.60</a:t>
            </a:r>
          </a:p>
        </p:txBody>
      </p:sp>
      <p:sp>
        <p:nvSpPr>
          <p:cNvPr id="19" name="TextBox 18"/>
          <p:cNvSpPr txBox="1"/>
          <p:nvPr/>
        </p:nvSpPr>
        <p:spPr>
          <a:xfrm>
            <a:off x="4526280" y="3264408"/>
            <a:ext cx="2377440" cy="621792"/>
          </a:xfrm>
          <a:prstGeom prst="rect">
            <a:avLst/>
          </a:prstGeom>
          <a:noFill/>
        </p:spPr>
        <p:txBody>
          <a:bodyPr wrap="square" lIns="0" rIns="0" tIns="0" bIns="0" anchor="ctr">
            <a:spAutoFit/>
          </a:bodyPr>
          <a:lstStyle/>
          <a:p>
            <a:pPr algn="r"/>
            <a:r>
              <a:rPr sz="1100" b="0" i="0">
                <a:solidFill>
                  <a:srgbClr val="4E5A66"/>
                </a:solidFill>
                <a:latin typeface="Calibri"/>
              </a:rPr>
              <a:t>Nearest-neighbour label</a:t>
            </a:r>
          </a:p>
        </p:txBody>
      </p:sp>
      <p:sp>
        <p:nvSpPr>
          <p:cNvPr id="20" name="Rounded Rectangle 19"/>
          <p:cNvSpPr/>
          <p:nvPr/>
        </p:nvSpPr>
        <p:spPr>
          <a:xfrm>
            <a:off x="548640" y="4005072"/>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749808" y="4160520"/>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160520"/>
            <a:ext cx="310896" cy="310896"/>
          </a:xfrm>
          <a:prstGeom prst="rect">
            <a:avLst/>
          </a:prstGeom>
          <a:noFill/>
        </p:spPr>
        <p:txBody>
          <a:bodyPr wrap="square" lIns="0" rIns="0" tIns="0" bIns="0" anchor="ctr">
            <a:spAutoFit/>
          </a:bodyPr>
          <a:lstStyle/>
          <a:p>
            <a:pPr algn="ctr"/>
            <a:r>
              <a:rPr sz="1100" b="1" i="0">
                <a:solidFill>
                  <a:srgbClr val="FFFFFF"/>
                </a:solidFill>
                <a:latin typeface="Cambria"/>
              </a:rPr>
              <a:t>4</a:t>
            </a:r>
          </a:p>
        </p:txBody>
      </p:sp>
      <p:sp>
        <p:nvSpPr>
          <p:cNvPr id="23" name="TextBox 22"/>
          <p:cNvSpPr txBox="1"/>
          <p:nvPr/>
        </p:nvSpPr>
        <p:spPr>
          <a:xfrm>
            <a:off x="1188720" y="4005072"/>
            <a:ext cx="3200400" cy="621792"/>
          </a:xfrm>
          <a:prstGeom prst="rect">
            <a:avLst/>
          </a:prstGeom>
          <a:noFill/>
        </p:spPr>
        <p:txBody>
          <a:bodyPr wrap="square" lIns="0" rIns="0" tIns="0" bIns="0" anchor="ctr">
            <a:spAutoFit/>
          </a:bodyPr>
          <a:lstStyle/>
          <a:p>
            <a:pPr algn="l"/>
            <a:r>
              <a:rPr sz="1200" b="1" i="0">
                <a:solidFill>
                  <a:srgbClr val="1B2430"/>
                </a:solidFill>
                <a:latin typeface="Calibri"/>
              </a:rPr>
              <a:t>Prefix dictionary match</a:t>
            </a:r>
          </a:p>
        </p:txBody>
      </p:sp>
      <p:sp>
        <p:nvSpPr>
          <p:cNvPr id="24" name="TextBox 23"/>
          <p:cNvSpPr txBox="1"/>
          <p:nvPr/>
        </p:nvSpPr>
        <p:spPr>
          <a:xfrm>
            <a:off x="4526280" y="4005072"/>
            <a:ext cx="2377440" cy="621792"/>
          </a:xfrm>
          <a:prstGeom prst="rect">
            <a:avLst/>
          </a:prstGeom>
          <a:noFill/>
        </p:spPr>
        <p:txBody>
          <a:bodyPr wrap="square" lIns="0" rIns="0" tIns="0" bIns="0" anchor="ctr">
            <a:spAutoFit/>
          </a:bodyPr>
          <a:lstStyle/>
          <a:p>
            <a:pPr algn="r"/>
            <a:r>
              <a:rPr sz="1100" b="0" i="0">
                <a:solidFill>
                  <a:srgbClr val="4E5A66"/>
                </a:solidFill>
                <a:latin typeface="Calibri"/>
              </a:rPr>
              <a:t>Dictionary label · 22 classes</a:t>
            </a:r>
          </a:p>
        </p:txBody>
      </p:sp>
      <p:sp>
        <p:nvSpPr>
          <p:cNvPr id="25" name="Rounded Rectangle 24"/>
          <p:cNvSpPr/>
          <p:nvPr/>
        </p:nvSpPr>
        <p:spPr>
          <a:xfrm>
            <a:off x="548640" y="4745736"/>
            <a:ext cx="6537960" cy="621792"/>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49808" y="4901184"/>
            <a:ext cx="310896" cy="310896"/>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901184"/>
            <a:ext cx="310896" cy="310896"/>
          </a:xfrm>
          <a:prstGeom prst="rect">
            <a:avLst/>
          </a:prstGeom>
          <a:noFill/>
        </p:spPr>
        <p:txBody>
          <a:bodyPr wrap="square" lIns="0" rIns="0" tIns="0" bIns="0" anchor="ctr">
            <a:spAutoFit/>
          </a:bodyPr>
          <a:lstStyle/>
          <a:p>
            <a:pPr algn="ctr"/>
            <a:r>
              <a:rPr sz="1100" b="1" i="0">
                <a:solidFill>
                  <a:srgbClr val="FFFFFF"/>
                </a:solidFill>
                <a:latin typeface="Cambria"/>
              </a:rPr>
              <a:t>5</a:t>
            </a:r>
          </a:p>
        </p:txBody>
      </p:sp>
      <p:sp>
        <p:nvSpPr>
          <p:cNvPr id="28" name="TextBox 27"/>
          <p:cNvSpPr txBox="1"/>
          <p:nvPr/>
        </p:nvSpPr>
        <p:spPr>
          <a:xfrm>
            <a:off x="1188720" y="4745736"/>
            <a:ext cx="3200400" cy="621792"/>
          </a:xfrm>
          <a:prstGeom prst="rect">
            <a:avLst/>
          </a:prstGeom>
          <a:noFill/>
        </p:spPr>
        <p:txBody>
          <a:bodyPr wrap="square" lIns="0" rIns="0" tIns="0" bIns="0" anchor="ctr">
            <a:spAutoFit/>
          </a:bodyPr>
          <a:lstStyle/>
          <a:p>
            <a:pPr algn="l"/>
            <a:r>
              <a:rPr sz="1200" b="1" i="0">
                <a:solidFill>
                  <a:srgbClr val="C46A24"/>
                </a:solidFill>
                <a:latin typeface="Calibri"/>
              </a:rPr>
              <a:t>None of the above</a:t>
            </a:r>
          </a:p>
        </p:txBody>
      </p:sp>
      <p:sp>
        <p:nvSpPr>
          <p:cNvPr id="29" name="TextBox 28"/>
          <p:cNvSpPr txBox="1"/>
          <p:nvPr/>
        </p:nvSpPr>
        <p:spPr>
          <a:xfrm>
            <a:off x="4526280" y="4745736"/>
            <a:ext cx="2377440" cy="621792"/>
          </a:xfrm>
          <a:prstGeom prst="rect">
            <a:avLst/>
          </a:prstGeom>
          <a:noFill/>
        </p:spPr>
        <p:txBody>
          <a:bodyPr wrap="square" lIns="0" rIns="0" tIns="0" bIns="0" anchor="ctr">
            <a:spAutoFit/>
          </a:bodyPr>
          <a:lstStyle/>
          <a:p>
            <a:pPr algn="r"/>
            <a:r>
              <a:rPr sz="1100" b="0" i="0">
                <a:solidFill>
                  <a:srgbClr val="C46A24"/>
                </a:solidFill>
                <a:latin typeface="Calibri"/>
              </a:rPr>
              <a:t>UNKNOWN → review queue</a:t>
            </a:r>
          </a:p>
        </p:txBody>
      </p:sp>
      <p:sp>
        <p:nvSpPr>
          <p:cNvPr id="30" name="TextBox 29"/>
          <p:cNvSpPr txBox="1"/>
          <p:nvPr/>
        </p:nvSpPr>
        <p:spPr>
          <a:xfrm>
            <a:off x="548640" y="5559552"/>
            <a:ext cx="6537960" cy="457200"/>
          </a:xfrm>
          <a:prstGeom prst="rect">
            <a:avLst/>
          </a:prstGeom>
          <a:noFill/>
        </p:spPr>
        <p:txBody>
          <a:bodyPr wrap="square" lIns="0" rIns="0" tIns="0" bIns="0" anchor="t">
            <a:spAutoFit/>
          </a:bodyPr>
          <a:lstStyle/>
          <a:p>
            <a:pPr algn="l">
              <a:lnSpc>
                <a:spcPts val="1400"/>
              </a:lnSpc>
            </a:pPr>
            <a:r>
              <a:rPr sz="1100" b="0" i="1">
                <a:solidFill>
                  <a:srgbClr val="7A8792"/>
                </a:solidFill>
                <a:latin typeface="Calibri"/>
              </a:rPr>
              <a:t>Nothing is ever silently guessed — an UNKNOWN carries its best candidates with it.</a:t>
            </a:r>
          </a:p>
        </p:txBody>
      </p:sp>
      <p:sp>
        <p:nvSpPr>
          <p:cNvPr id="31" name="Rounded Rectangle 30"/>
          <p:cNvSpPr/>
          <p:nvPr/>
        </p:nvSpPr>
        <p:spPr>
          <a:xfrm>
            <a:off x="7360920" y="1783080"/>
            <a:ext cx="4279392" cy="1719072"/>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616952" y="2002536"/>
            <a:ext cx="3767328" cy="219456"/>
          </a:xfrm>
          <a:prstGeom prst="rect">
            <a:avLst/>
          </a:prstGeom>
          <a:noFill/>
        </p:spPr>
        <p:txBody>
          <a:bodyPr wrap="square" lIns="0" rIns="0" tIns="0" bIns="0" anchor="t">
            <a:spAutoFit/>
          </a:bodyPr>
          <a:lstStyle/>
          <a:p>
            <a:pPr algn="l"/>
            <a:r>
              <a:rPr sz="1050" b="1" i="0" spc="180">
                <a:solidFill>
                  <a:srgbClr val="C46A24"/>
                </a:solidFill>
                <a:latin typeface="Calibri"/>
              </a:rPr>
              <a:t>WHY A LADDER</a:t>
            </a:r>
          </a:p>
        </p:txBody>
      </p:sp>
      <p:sp>
        <p:nvSpPr>
          <p:cNvPr id="33" name="TextBox 32"/>
          <p:cNvSpPr txBox="1"/>
          <p:nvPr/>
        </p:nvSpPr>
        <p:spPr>
          <a:xfrm>
            <a:off x="7616952" y="2286000"/>
            <a:ext cx="3767328" cy="1051560"/>
          </a:xfrm>
          <a:prstGeom prst="rect">
            <a:avLst/>
          </a:prstGeom>
          <a:noFill/>
        </p:spPr>
        <p:txBody>
          <a:bodyPr wrap="square" lIns="0" rIns="0" tIns="0" bIns="0" anchor="t">
            <a:spAutoFit/>
          </a:bodyPr>
          <a:lstStyle/>
          <a:p>
            <a:pPr algn="l">
              <a:lnSpc>
                <a:spcPts val="1600"/>
              </a:lnSpc>
            </a:pPr>
            <a:r>
              <a:rPr sz="1200" b="0" i="0">
                <a:solidFill>
                  <a:srgbClr val="9EA8B2"/>
                </a:solidFill>
                <a:latin typeface="Calibri"/>
              </a:rPr>
              <a:t>Tag conventions differ between customers and change over time. A single classifier would fail silently on an unseen pattern; the ladder always falls back to something deterministic.</a:t>
            </a:r>
          </a:p>
        </p:txBody>
      </p:sp>
      <p:sp>
        <p:nvSpPr>
          <p:cNvPr id="34" name="Rounded Rectangle 33"/>
          <p:cNvSpPr/>
          <p:nvPr/>
        </p:nvSpPr>
        <p:spPr>
          <a:xfrm>
            <a:off x="7360920" y="3621024"/>
            <a:ext cx="4279392" cy="105156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16952" y="3822191"/>
            <a:ext cx="3767328" cy="219456"/>
          </a:xfrm>
          <a:prstGeom prst="rect">
            <a:avLst/>
          </a:prstGeom>
          <a:noFill/>
        </p:spPr>
        <p:txBody>
          <a:bodyPr wrap="square" lIns="0" rIns="0" tIns="0" bIns="0" anchor="t">
            <a:spAutoFit/>
          </a:bodyPr>
          <a:lstStyle/>
          <a:p>
            <a:pPr algn="l"/>
            <a:r>
              <a:rPr sz="1050" b="1" i="0" spc="180">
                <a:solidFill>
                  <a:srgbClr val="C46A24"/>
                </a:solidFill>
                <a:latin typeface="Calibri"/>
              </a:rPr>
              <a:t>COMPOSITE SIMILARITY</a:t>
            </a:r>
          </a:p>
        </p:txBody>
      </p:sp>
      <p:sp>
        <p:nvSpPr>
          <p:cNvPr id="36" name="TextBox 35"/>
          <p:cNvSpPr txBox="1"/>
          <p:nvPr/>
        </p:nvSpPr>
        <p:spPr>
          <a:xfrm>
            <a:off x="7616952" y="4114800"/>
            <a:ext cx="3767328" cy="457200"/>
          </a:xfrm>
          <a:prstGeom prst="rect">
            <a:avLst/>
          </a:prstGeom>
          <a:noFill/>
        </p:spPr>
        <p:txBody>
          <a:bodyPr wrap="square" lIns="0" rIns="0" tIns="0" bIns="0" anchor="t">
            <a:spAutoFit/>
          </a:bodyPr>
          <a:lstStyle/>
          <a:p>
            <a:pPr algn="l">
              <a:lnSpc>
                <a:spcPts val="1500"/>
              </a:lnSpc>
            </a:pPr>
            <a:r>
              <a:rPr sz="1100" b="0" i="0">
                <a:solidFill>
                  <a:srgbClr val="1B2430"/>
                </a:solidFill>
                <a:latin typeface="Consolas"/>
              </a:rPr>
              <a:t>0.65 × prefix score</a:t>
            </a:r>
          </a:p>
          <a:p>
            <a:pPr algn="l">
              <a:lnSpc>
                <a:spcPts val="1500"/>
              </a:lnSpc>
            </a:pPr>
            <a:r>
              <a:rPr sz="1100" b="0" i="0">
                <a:solidFill>
                  <a:srgbClr val="1B2430"/>
                </a:solidFill>
                <a:latin typeface="Consolas"/>
              </a:rPr>
              <a:t>+ 0.35 × cosine similarity</a:t>
            </a:r>
          </a:p>
        </p:txBody>
      </p:sp>
      <p:sp>
        <p:nvSpPr>
          <p:cNvPr id="37" name="Rounded Rectangle 36"/>
          <p:cNvSpPr/>
          <p:nvPr/>
        </p:nvSpPr>
        <p:spPr>
          <a:xfrm>
            <a:off x="7360920" y="4791456"/>
            <a:ext cx="4279392"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616952" y="4992624"/>
            <a:ext cx="3767328" cy="219456"/>
          </a:xfrm>
          <a:prstGeom prst="rect">
            <a:avLst/>
          </a:prstGeom>
          <a:noFill/>
        </p:spPr>
        <p:txBody>
          <a:bodyPr wrap="square" lIns="0" rIns="0" tIns="0" bIns="0" anchor="t">
            <a:spAutoFit/>
          </a:bodyPr>
          <a:lstStyle/>
          <a:p>
            <a:pPr algn="l"/>
            <a:r>
              <a:rPr sz="1050" b="1" i="0" spc="180">
                <a:solidFill>
                  <a:srgbClr val="C46A24"/>
                </a:solidFill>
                <a:latin typeface="Calibri"/>
              </a:rPr>
              <a:t>TECHNIQUES USED</a:t>
            </a:r>
          </a:p>
        </p:txBody>
      </p:sp>
      <p:sp>
        <p:nvSpPr>
          <p:cNvPr id="39" name="TextBox 38"/>
          <p:cNvSpPr txBox="1"/>
          <p:nvPr/>
        </p:nvSpPr>
        <p:spPr>
          <a:xfrm>
            <a:off x="7616952" y="5285232"/>
            <a:ext cx="3767328" cy="822960"/>
          </a:xfrm>
          <a:prstGeom prst="rect">
            <a:avLst/>
          </a:prstGeom>
          <a:noFill/>
        </p:spPr>
        <p:txBody>
          <a:bodyPr wrap="square" lIns="0" rIns="0" tIns="0" bIns="0" anchor="t">
            <a:spAutoFit/>
          </a:bodyPr>
          <a:lstStyle/>
          <a:p>
            <a:pPr algn="l">
              <a:lnSpc>
                <a:spcPts val="1550"/>
              </a:lnSpc>
            </a:pPr>
            <a:r>
              <a:rPr sz="1100" b="0" i="0">
                <a:solidFill>
                  <a:srgbClr val="4E5A66"/>
                </a:solidFill>
                <a:latin typeface="Calibri"/>
              </a:rPr>
              <a:t>SGD Classifier (partial_fit)</a:t>
            </a:r>
          </a:p>
          <a:p>
            <a:pPr algn="l">
              <a:lnSpc>
                <a:spcPts val="1550"/>
              </a:lnSpc>
            </a:pPr>
            <a:r>
              <a:rPr sz="1100" b="0" i="0">
                <a:solidFill>
                  <a:srgbClr val="4E5A66"/>
                </a:solidFill>
                <a:latin typeface="Calibri"/>
              </a:rPr>
              <a:t>TF-IDF text vectorisation</a:t>
            </a:r>
          </a:p>
          <a:p>
            <a:pPr algn="l">
              <a:lnSpc>
                <a:spcPts val="1550"/>
              </a:lnSpc>
            </a:pPr>
            <a:r>
              <a:rPr sz="1100" b="0" i="0">
                <a:solidFill>
                  <a:srgbClr val="4E5A66"/>
                </a:solidFill>
                <a:latin typeface="Calibri"/>
              </a:rPr>
              <a:t>Cosine k-NN, k = 10</a:t>
            </a:r>
          </a:p>
          <a:p>
            <a:pPr algn="l">
              <a:lnSpc>
                <a:spcPts val="1550"/>
              </a:lnSpc>
            </a:pPr>
            <a:r>
              <a:rPr sz="1100" b="0" i="0">
                <a:solidFill>
                  <a:srgbClr val="4E5A66"/>
                </a:solidFill>
                <a:latin typeface="Calibri"/>
              </a:rPr>
              <a:t>Prefix dictionary, 22 classes</a:t>
            </a:r>
          </a:p>
        </p:txBody>
      </p:sp>
      <p:sp>
        <p:nvSpPr>
          <p:cNvPr id="40" name="TextBox 39"/>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August 2026</a:t>
            </a:r>
          </a:p>
        </p:txBody>
      </p:sp>
      <p:sp>
        <p:nvSpPr>
          <p:cNvPr id="41" name="TextBox 40"/>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04  ·  METHOD IN DETAIL</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Section and Cluster — chained XGBoost</a:t>
            </a:r>
          </a:p>
        </p:txBody>
      </p:sp>
      <p:sp>
        <p:nvSpPr>
          <p:cNvPr id="4" name="Rounded Rectangle 3"/>
          <p:cNvSpPr/>
          <p:nvPr/>
        </p:nvSpPr>
        <p:spPr>
          <a:xfrm>
            <a:off x="548640" y="1335024"/>
            <a:ext cx="1719072" cy="841248"/>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40080" y="1335024"/>
            <a:ext cx="1536192" cy="841248"/>
          </a:xfrm>
          <a:prstGeom prst="rect">
            <a:avLst/>
          </a:prstGeom>
          <a:noFill/>
        </p:spPr>
        <p:txBody>
          <a:bodyPr wrap="square" lIns="0" rIns="0" tIns="0" bIns="0" anchor="ctr">
            <a:spAutoFit/>
          </a:bodyPr>
          <a:lstStyle/>
          <a:p>
            <a:pPr algn="ctr">
              <a:lnSpc>
                <a:spcPts val="1400"/>
              </a:lnSpc>
            </a:pPr>
            <a:r>
              <a:rPr sz="1100" b="1" i="0">
                <a:solidFill>
                  <a:srgbClr val="1B2430"/>
                </a:solidFill>
                <a:latin typeface="Calibri"/>
              </a:rPr>
              <a:t>Engineered</a:t>
            </a:r>
          </a:p>
          <a:p>
            <a:pPr algn="ctr">
              <a:lnSpc>
                <a:spcPts val="1400"/>
              </a:lnSpc>
            </a:pPr>
            <a:r>
              <a:rPr sz="1100" b="1" i="0">
                <a:solidFill>
                  <a:srgbClr val="1B2430"/>
                </a:solidFill>
                <a:latin typeface="Calibri"/>
              </a:rPr>
              <a:t>features</a:t>
            </a:r>
          </a:p>
        </p:txBody>
      </p:sp>
      <p:sp>
        <p:nvSpPr>
          <p:cNvPr id="6" name="Isosceles Triangle 5"/>
          <p:cNvSpPr/>
          <p:nvPr/>
        </p:nvSpPr>
        <p:spPr>
          <a:xfrm rot="5400000">
            <a:off x="2272284"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414016" y="1335024"/>
            <a:ext cx="1719072" cy="841248"/>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505456" y="1335024"/>
            <a:ext cx="1536192" cy="841248"/>
          </a:xfrm>
          <a:prstGeom prst="rect">
            <a:avLst/>
          </a:prstGeom>
          <a:noFill/>
        </p:spPr>
        <p:txBody>
          <a:bodyPr wrap="square" lIns="0" rIns="0" tIns="0" bIns="0" anchor="ctr">
            <a:spAutoFit/>
          </a:bodyPr>
          <a:lstStyle/>
          <a:p>
            <a:pPr algn="ctr">
              <a:lnSpc>
                <a:spcPts val="1400"/>
              </a:lnSpc>
            </a:pPr>
            <a:r>
              <a:rPr sz="1100" b="1" i="0">
                <a:solidFill>
                  <a:srgbClr val="FFFFFF"/>
                </a:solidFill>
                <a:latin typeface="Calibri"/>
              </a:rPr>
              <a:t>XGBoost</a:t>
            </a:r>
          </a:p>
          <a:p>
            <a:pPr algn="ctr">
              <a:lnSpc>
                <a:spcPts val="1400"/>
              </a:lnSpc>
            </a:pPr>
            <a:r>
              <a:rPr sz="1100" b="1" i="0">
                <a:solidFill>
                  <a:srgbClr val="FFFFFF"/>
                </a:solidFill>
                <a:latin typeface="Calibri"/>
              </a:rPr>
              <a:t>model 1</a:t>
            </a:r>
          </a:p>
        </p:txBody>
      </p:sp>
      <p:sp>
        <p:nvSpPr>
          <p:cNvPr id="9" name="Isosceles Triangle 8"/>
          <p:cNvSpPr/>
          <p:nvPr/>
        </p:nvSpPr>
        <p:spPr>
          <a:xfrm rot="5400000">
            <a:off x="4137659"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279392" y="1335024"/>
            <a:ext cx="1719072" cy="841248"/>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370831" y="1335024"/>
            <a:ext cx="1536192" cy="841248"/>
          </a:xfrm>
          <a:prstGeom prst="rect">
            <a:avLst/>
          </a:prstGeom>
          <a:noFill/>
        </p:spPr>
        <p:txBody>
          <a:bodyPr wrap="square" lIns="0" rIns="0" tIns="0" bIns="0" anchor="ctr">
            <a:spAutoFit/>
          </a:bodyPr>
          <a:lstStyle/>
          <a:p>
            <a:pPr algn="ctr">
              <a:lnSpc>
                <a:spcPts val="1400"/>
              </a:lnSpc>
            </a:pPr>
            <a:r>
              <a:rPr sz="1100" b="1" i="0">
                <a:solidFill>
                  <a:srgbClr val="2E7D63"/>
                </a:solidFill>
                <a:latin typeface="Calibri"/>
              </a:rPr>
              <a:t>Predicted</a:t>
            </a:r>
          </a:p>
          <a:p>
            <a:pPr algn="ctr">
              <a:lnSpc>
                <a:spcPts val="1400"/>
              </a:lnSpc>
            </a:pPr>
            <a:r>
              <a:rPr sz="1100" b="1" i="0">
                <a:solidFill>
                  <a:srgbClr val="2E7D63"/>
                </a:solidFill>
                <a:latin typeface="Calibri"/>
              </a:rPr>
              <a:t>SECTION</a:t>
            </a:r>
          </a:p>
        </p:txBody>
      </p:sp>
      <p:sp>
        <p:nvSpPr>
          <p:cNvPr id="12" name="Isosceles Triangle 11"/>
          <p:cNvSpPr/>
          <p:nvPr/>
        </p:nvSpPr>
        <p:spPr>
          <a:xfrm rot="5400000">
            <a:off x="6003036"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44768" y="1335024"/>
            <a:ext cx="1719072" cy="841248"/>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236207" y="1335024"/>
            <a:ext cx="1536192" cy="841248"/>
          </a:xfrm>
          <a:prstGeom prst="rect">
            <a:avLst/>
          </a:prstGeom>
          <a:noFill/>
        </p:spPr>
        <p:txBody>
          <a:bodyPr wrap="square" lIns="0" rIns="0" tIns="0" bIns="0" anchor="ctr">
            <a:spAutoFit/>
          </a:bodyPr>
          <a:lstStyle/>
          <a:p>
            <a:pPr algn="ctr">
              <a:lnSpc>
                <a:spcPts val="1400"/>
              </a:lnSpc>
            </a:pPr>
            <a:r>
              <a:rPr sz="1100" b="1" i="0">
                <a:solidFill>
                  <a:srgbClr val="1B2430"/>
                </a:solidFill>
                <a:latin typeface="Calibri"/>
              </a:rPr>
              <a:t>Features +</a:t>
            </a:r>
          </a:p>
          <a:p>
            <a:pPr algn="ctr">
              <a:lnSpc>
                <a:spcPts val="1400"/>
              </a:lnSpc>
            </a:pPr>
            <a:r>
              <a:rPr sz="1100" b="1" i="0">
                <a:solidFill>
                  <a:srgbClr val="1B2430"/>
                </a:solidFill>
                <a:latin typeface="Calibri"/>
              </a:rPr>
              <a:t>Section</a:t>
            </a:r>
          </a:p>
        </p:txBody>
      </p:sp>
      <p:sp>
        <p:nvSpPr>
          <p:cNvPr id="15" name="Isosceles Triangle 14"/>
          <p:cNvSpPr/>
          <p:nvPr/>
        </p:nvSpPr>
        <p:spPr>
          <a:xfrm rot="5400000">
            <a:off x="7868412"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10144" y="1335024"/>
            <a:ext cx="1719072" cy="841248"/>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01583" y="1335024"/>
            <a:ext cx="1536192" cy="841248"/>
          </a:xfrm>
          <a:prstGeom prst="rect">
            <a:avLst/>
          </a:prstGeom>
          <a:noFill/>
        </p:spPr>
        <p:txBody>
          <a:bodyPr wrap="square" lIns="0" rIns="0" tIns="0" bIns="0" anchor="ctr">
            <a:spAutoFit/>
          </a:bodyPr>
          <a:lstStyle/>
          <a:p>
            <a:pPr algn="ctr">
              <a:lnSpc>
                <a:spcPts val="1400"/>
              </a:lnSpc>
            </a:pPr>
            <a:r>
              <a:rPr sz="1100" b="1" i="0">
                <a:solidFill>
                  <a:srgbClr val="FFFFFF"/>
                </a:solidFill>
                <a:latin typeface="Calibri"/>
              </a:rPr>
              <a:t>XGBoost</a:t>
            </a:r>
          </a:p>
          <a:p>
            <a:pPr algn="ctr">
              <a:lnSpc>
                <a:spcPts val="1400"/>
              </a:lnSpc>
            </a:pPr>
            <a:r>
              <a:rPr sz="1100" b="1" i="0">
                <a:solidFill>
                  <a:srgbClr val="FFFFFF"/>
                </a:solidFill>
                <a:latin typeface="Calibri"/>
              </a:rPr>
              <a:t>model 2</a:t>
            </a:r>
          </a:p>
        </p:txBody>
      </p:sp>
      <p:sp>
        <p:nvSpPr>
          <p:cNvPr id="18" name="Isosceles Triangle 17"/>
          <p:cNvSpPr/>
          <p:nvPr/>
        </p:nvSpPr>
        <p:spPr>
          <a:xfrm rot="5400000">
            <a:off x="9733788"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875519" y="1335024"/>
            <a:ext cx="1719072" cy="841248"/>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966959" y="1335024"/>
            <a:ext cx="1536192" cy="841248"/>
          </a:xfrm>
          <a:prstGeom prst="rect">
            <a:avLst/>
          </a:prstGeom>
          <a:noFill/>
        </p:spPr>
        <p:txBody>
          <a:bodyPr wrap="square" lIns="0" rIns="0" tIns="0" bIns="0" anchor="ctr">
            <a:spAutoFit/>
          </a:bodyPr>
          <a:lstStyle/>
          <a:p>
            <a:pPr algn="ctr">
              <a:lnSpc>
                <a:spcPts val="1400"/>
              </a:lnSpc>
            </a:pPr>
            <a:r>
              <a:rPr sz="1100" b="1" i="0">
                <a:solidFill>
                  <a:srgbClr val="2E7D63"/>
                </a:solidFill>
                <a:latin typeface="Calibri"/>
              </a:rPr>
              <a:t>Predicted</a:t>
            </a:r>
          </a:p>
          <a:p>
            <a:pPr algn="ctr">
              <a:lnSpc>
                <a:spcPts val="1400"/>
              </a:lnSpc>
            </a:pPr>
            <a:r>
              <a:rPr sz="1100" b="1" i="0">
                <a:solidFill>
                  <a:srgbClr val="2E7D63"/>
                </a:solidFill>
                <a:latin typeface="Calibri"/>
              </a:rPr>
              <a:t>CLUSTER</a:t>
            </a:r>
          </a:p>
        </p:txBody>
      </p:sp>
      <p:sp>
        <p:nvSpPr>
          <p:cNvPr id="21" name="TextBox 20"/>
          <p:cNvSpPr txBox="1"/>
          <p:nvPr/>
        </p:nvSpPr>
        <p:spPr>
          <a:xfrm>
            <a:off x="548640" y="2304288"/>
            <a:ext cx="11091672" cy="256032"/>
          </a:xfrm>
          <a:prstGeom prst="rect">
            <a:avLst/>
          </a:prstGeom>
          <a:noFill/>
        </p:spPr>
        <p:txBody>
          <a:bodyPr wrap="square" lIns="0" rIns="0" tIns="0" bIns="0" anchor="t">
            <a:spAutoFit/>
          </a:bodyPr>
          <a:lstStyle/>
          <a:p>
            <a:pPr algn="ctr"/>
            <a:r>
              <a:rPr sz="1100" b="0" i="1">
                <a:solidFill>
                  <a:srgbClr val="7A8792"/>
                </a:solidFill>
                <a:latin typeface="Calibri"/>
              </a:rPr>
              <a:t>The section prediction becomes an input to the cluster model — the two stages are chained, not independent.</a:t>
            </a:r>
          </a:p>
        </p:txBody>
      </p:sp>
      <p:sp>
        <p:nvSpPr>
          <p:cNvPr id="22" name="Rounded Rectangle 21"/>
          <p:cNvSpPr/>
          <p:nvPr/>
        </p:nvSpPr>
        <p:spPr>
          <a:xfrm>
            <a:off x="548640" y="2761488"/>
            <a:ext cx="3561588" cy="17830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2959" y="2980944"/>
            <a:ext cx="3017520" cy="310896"/>
          </a:xfrm>
          <a:prstGeom prst="rect">
            <a:avLst/>
          </a:prstGeom>
          <a:noFill/>
        </p:spPr>
        <p:txBody>
          <a:bodyPr wrap="square" lIns="0" rIns="0" tIns="0" bIns="0" anchor="t">
            <a:spAutoFit/>
          </a:bodyPr>
          <a:lstStyle/>
          <a:p>
            <a:pPr algn="l"/>
            <a:r>
              <a:rPr sz="1450" b="1" i="0">
                <a:solidFill>
                  <a:srgbClr val="1B2430"/>
                </a:solidFill>
                <a:latin typeface="Cambria"/>
              </a:rPr>
              <a:t>Out-of-distribution check</a:t>
            </a:r>
          </a:p>
        </p:txBody>
      </p:sp>
      <p:sp>
        <p:nvSpPr>
          <p:cNvPr id="24" name="TextBox 23"/>
          <p:cNvSpPr txBox="1"/>
          <p:nvPr/>
        </p:nvSpPr>
        <p:spPr>
          <a:xfrm>
            <a:off x="822959" y="3383280"/>
            <a:ext cx="3017520" cy="960120"/>
          </a:xfrm>
          <a:prstGeom prst="rect">
            <a:avLst/>
          </a:prstGeom>
          <a:noFill/>
        </p:spPr>
        <p:txBody>
          <a:bodyPr wrap="square" lIns="0" rIns="0" tIns="0" bIns="0" anchor="t">
            <a:spAutoFit/>
          </a:bodyPr>
          <a:lstStyle/>
          <a:p>
            <a:pPr algn="l">
              <a:lnSpc>
                <a:spcPts val="1450"/>
              </a:lnSpc>
            </a:pPr>
            <a:r>
              <a:rPr sz="1100" b="0" i="0">
                <a:solidFill>
                  <a:srgbClr val="4E5A66"/>
                </a:solidFill>
                <a:latin typeface="Calibri"/>
              </a:rPr>
              <a:t>A k-NN distance test compares each device to the training data. The further it sits from anything seen before, the more its confidence is cut.</a:t>
            </a:r>
          </a:p>
        </p:txBody>
      </p:sp>
      <p:sp>
        <p:nvSpPr>
          <p:cNvPr id="25" name="Rounded Rectangle 24"/>
          <p:cNvSpPr/>
          <p:nvPr/>
        </p:nvSpPr>
        <p:spPr>
          <a:xfrm>
            <a:off x="4263390" y="2761488"/>
            <a:ext cx="3561588" cy="17830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537709" y="2980944"/>
            <a:ext cx="3017520" cy="310896"/>
          </a:xfrm>
          <a:prstGeom prst="rect">
            <a:avLst/>
          </a:prstGeom>
          <a:noFill/>
        </p:spPr>
        <p:txBody>
          <a:bodyPr wrap="square" lIns="0" rIns="0" tIns="0" bIns="0" anchor="t">
            <a:spAutoFit/>
          </a:bodyPr>
          <a:lstStyle/>
          <a:p>
            <a:pPr algn="l"/>
            <a:r>
              <a:rPr sz="1450" b="1" i="0">
                <a:solidFill>
                  <a:srgbClr val="1B2430"/>
                </a:solidFill>
                <a:latin typeface="Cambria"/>
              </a:rPr>
              <a:t>Confidence chaining</a:t>
            </a:r>
          </a:p>
        </p:txBody>
      </p:sp>
      <p:sp>
        <p:nvSpPr>
          <p:cNvPr id="27" name="TextBox 26"/>
          <p:cNvSpPr txBox="1"/>
          <p:nvPr/>
        </p:nvSpPr>
        <p:spPr>
          <a:xfrm>
            <a:off x="4537709" y="3383280"/>
            <a:ext cx="3017520" cy="960120"/>
          </a:xfrm>
          <a:prstGeom prst="rect">
            <a:avLst/>
          </a:prstGeom>
          <a:noFill/>
        </p:spPr>
        <p:txBody>
          <a:bodyPr wrap="square" lIns="0" rIns="0" tIns="0" bIns="0" anchor="t">
            <a:spAutoFit/>
          </a:bodyPr>
          <a:lstStyle/>
          <a:p>
            <a:pPr algn="l">
              <a:lnSpc>
                <a:spcPts val="1450"/>
              </a:lnSpc>
            </a:pPr>
            <a:r>
              <a:rPr sz="1100" b="0" i="0">
                <a:solidFill>
                  <a:srgbClr val="4E5A66"/>
                </a:solidFill>
                <a:latin typeface="Calibri"/>
              </a:rPr>
              <a:t>If section confidence falls below 0.60, cluster confidence is multiplied by it. A weak section can never yield a confidently wrong cluster.</a:t>
            </a:r>
          </a:p>
        </p:txBody>
      </p:sp>
      <p:sp>
        <p:nvSpPr>
          <p:cNvPr id="28" name="Rounded Rectangle 27"/>
          <p:cNvSpPr/>
          <p:nvPr/>
        </p:nvSpPr>
        <p:spPr>
          <a:xfrm>
            <a:off x="7978140" y="2761488"/>
            <a:ext cx="3561588" cy="17830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252460" y="2980944"/>
            <a:ext cx="3017520" cy="310896"/>
          </a:xfrm>
          <a:prstGeom prst="rect">
            <a:avLst/>
          </a:prstGeom>
          <a:noFill/>
        </p:spPr>
        <p:txBody>
          <a:bodyPr wrap="square" lIns="0" rIns="0" tIns="0" bIns="0" anchor="t">
            <a:spAutoFit/>
          </a:bodyPr>
          <a:lstStyle/>
          <a:p>
            <a:pPr algn="l"/>
            <a:r>
              <a:rPr sz="1450" b="1" i="0">
                <a:solidFill>
                  <a:srgbClr val="1B2430"/>
                </a:solidFill>
                <a:latin typeface="Cambria"/>
              </a:rPr>
              <a:t>Ranked top-3 candidates</a:t>
            </a:r>
          </a:p>
        </p:txBody>
      </p:sp>
      <p:sp>
        <p:nvSpPr>
          <p:cNvPr id="30" name="TextBox 29"/>
          <p:cNvSpPr txBox="1"/>
          <p:nvPr/>
        </p:nvSpPr>
        <p:spPr>
          <a:xfrm>
            <a:off x="8252460" y="3383280"/>
            <a:ext cx="3017520" cy="960120"/>
          </a:xfrm>
          <a:prstGeom prst="rect">
            <a:avLst/>
          </a:prstGeom>
          <a:noFill/>
        </p:spPr>
        <p:txBody>
          <a:bodyPr wrap="square" lIns="0" rIns="0" tIns="0" bIns="0" anchor="t">
            <a:spAutoFit/>
          </a:bodyPr>
          <a:lstStyle/>
          <a:p>
            <a:pPr algn="l">
              <a:lnSpc>
                <a:spcPts val="1450"/>
              </a:lnSpc>
            </a:pPr>
            <a:r>
              <a:rPr sz="1100" b="0" i="0">
                <a:solidFill>
                  <a:srgbClr val="4E5A66"/>
                </a:solidFill>
                <a:latin typeface="Calibri"/>
              </a:rPr>
              <a:t>The model returns each device’s three best clusters with probabilities, not just the winner. Allocation uses the whole ranking.</a:t>
            </a:r>
          </a:p>
        </p:txBody>
      </p:sp>
      <p:sp>
        <p:nvSpPr>
          <p:cNvPr id="31" name="Rounded Rectangle 30"/>
          <p:cNvSpPr/>
          <p:nvPr/>
        </p:nvSpPr>
        <p:spPr>
          <a:xfrm>
            <a:off x="548640" y="4773168"/>
            <a:ext cx="11091672" cy="1298448"/>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22960" y="4974336"/>
            <a:ext cx="10515600" cy="219456"/>
          </a:xfrm>
          <a:prstGeom prst="rect">
            <a:avLst/>
          </a:prstGeom>
          <a:noFill/>
        </p:spPr>
        <p:txBody>
          <a:bodyPr wrap="square" lIns="0" rIns="0" tIns="0" bIns="0" anchor="t">
            <a:spAutoFit/>
          </a:bodyPr>
          <a:lstStyle/>
          <a:p>
            <a:pPr algn="l"/>
            <a:r>
              <a:rPr sz="1050" b="1" i="0" spc="180">
                <a:solidFill>
                  <a:srgbClr val="C46A24"/>
                </a:solidFill>
                <a:latin typeface="Calibri"/>
              </a:rPr>
              <a:t>FEATURE ENGINEERING  ·  27+ FEATURES DERIVED FROM EACH TAG</a:t>
            </a:r>
          </a:p>
        </p:txBody>
      </p:sp>
      <p:sp>
        <p:nvSpPr>
          <p:cNvPr id="33" name="TextBox 32"/>
          <p:cNvSpPr txBox="1"/>
          <p:nvPr/>
        </p:nvSpPr>
        <p:spPr>
          <a:xfrm>
            <a:off x="822960" y="5285232"/>
            <a:ext cx="5029200" cy="640080"/>
          </a:xfrm>
          <a:prstGeom prst="rect">
            <a:avLst/>
          </a:prstGeom>
          <a:noFill/>
        </p:spPr>
        <p:txBody>
          <a:bodyPr wrap="square" lIns="0" rIns="0" tIns="0" bIns="0" anchor="t">
            <a:spAutoFit/>
          </a:bodyPr>
          <a:lstStyle/>
          <a:p>
            <a:pPr algn="l">
              <a:lnSpc>
                <a:spcPts val="1600"/>
              </a:lnSpc>
            </a:pPr>
            <a:r>
              <a:rPr sz="1100" b="0" i="0">
                <a:solidFill>
                  <a:srgbClr val="4E5A66"/>
                </a:solidFill>
                <a:latin typeface="Calibri"/>
              </a:rPr>
              <a:t>Tag prefix and suffix pattern</a:t>
            </a:r>
          </a:p>
          <a:p>
            <a:pPr algn="l">
              <a:lnSpc>
                <a:spcPts val="1600"/>
              </a:lnSpc>
            </a:pPr>
            <a:r>
              <a:rPr sz="1100" b="0" i="0">
                <a:solidFill>
                  <a:srgbClr val="4E5A66"/>
                </a:solidFill>
                <a:latin typeface="Calibri"/>
              </a:rPr>
              <a:t>Numeric block width and position</a:t>
            </a:r>
          </a:p>
          <a:p>
            <a:pPr algn="l">
              <a:lnSpc>
                <a:spcPts val="1600"/>
              </a:lnSpc>
            </a:pPr>
            <a:r>
              <a:rPr sz="1100" b="0" i="0">
                <a:solidFill>
                  <a:srgbClr val="4E5A66"/>
                </a:solidFill>
                <a:latin typeface="Calibri"/>
              </a:rPr>
              <a:t>Device type carried from Stage 1</a:t>
            </a:r>
          </a:p>
        </p:txBody>
      </p:sp>
      <p:sp>
        <p:nvSpPr>
          <p:cNvPr id="34" name="TextBox 33"/>
          <p:cNvSpPr txBox="1"/>
          <p:nvPr/>
        </p:nvSpPr>
        <p:spPr>
          <a:xfrm>
            <a:off x="6309360" y="5285232"/>
            <a:ext cx="5029200" cy="640080"/>
          </a:xfrm>
          <a:prstGeom prst="rect">
            <a:avLst/>
          </a:prstGeom>
          <a:noFill/>
        </p:spPr>
        <p:txBody>
          <a:bodyPr wrap="square" lIns="0" rIns="0" tIns="0" bIns="0" anchor="t">
            <a:spAutoFit/>
          </a:bodyPr>
          <a:lstStyle/>
          <a:p>
            <a:pPr algn="l">
              <a:lnSpc>
                <a:spcPts val="1600"/>
              </a:lnSpc>
            </a:pPr>
            <a:r>
              <a:rPr sz="1100" b="0" i="0">
                <a:solidFill>
                  <a:srgbClr val="4E5A66"/>
                </a:solidFill>
                <a:latin typeface="Calibri"/>
              </a:rPr>
              <a:t>Customer and project code</a:t>
            </a:r>
          </a:p>
          <a:p>
            <a:pPr algn="l">
              <a:lnSpc>
                <a:spcPts val="1600"/>
              </a:lnSpc>
            </a:pPr>
            <a:r>
              <a:rPr sz="1100" b="0" i="0">
                <a:solidFill>
                  <a:srgbClr val="4E5A66"/>
                </a:solidFill>
                <a:latin typeface="Calibri"/>
              </a:rPr>
              <a:t>Label-encoded categorical fields</a:t>
            </a:r>
          </a:p>
          <a:p>
            <a:pPr algn="l">
              <a:lnSpc>
                <a:spcPts val="1600"/>
              </a:lnSpc>
            </a:pPr>
            <a:r>
              <a:rPr sz="1100" b="0" i="0">
                <a:solidFill>
                  <a:srgbClr val="4E5A66"/>
                </a:solidFill>
                <a:latin typeface="Calibri"/>
              </a:rPr>
              <a:t>Character-class sequence and tag length</a:t>
            </a:r>
          </a:p>
        </p:txBody>
      </p:sp>
      <p:sp>
        <p:nvSpPr>
          <p:cNvPr id="35" name="TextBox 34"/>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August 2026</a:t>
            </a:r>
          </a:p>
        </p:txBody>
      </p:sp>
      <p:sp>
        <p:nvSpPr>
          <p:cNvPr id="36" name="TextBox 35"/>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04  ·  METHOD IN DETAIL</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Quota allocation — fitting output to design</a:t>
            </a:r>
          </a:p>
        </p:txBody>
      </p:sp>
      <p:sp>
        <p:nvSpPr>
          <p:cNvPr id="4" name="TextBox 3"/>
          <p:cNvSpPr txBox="1"/>
          <p:nvPr/>
        </p:nvSpPr>
        <p:spPr>
          <a:xfrm>
            <a:off x="548640" y="1261872"/>
            <a:ext cx="10881360" cy="530352"/>
          </a:xfrm>
          <a:prstGeom prst="rect">
            <a:avLst/>
          </a:prstGeom>
          <a:noFill/>
        </p:spPr>
        <p:txBody>
          <a:bodyPr wrap="square" lIns="0" rIns="0" tIns="0" bIns="0" anchor="t">
            <a:spAutoFit/>
          </a:bodyPr>
          <a:lstStyle/>
          <a:p>
            <a:pPr algn="l">
              <a:lnSpc>
                <a:spcPts val="1800"/>
              </a:lnSpc>
            </a:pPr>
            <a:r>
              <a:rPr sz="1300" b="0" i="0">
                <a:solidFill>
                  <a:srgbClr val="4E5A66"/>
                </a:solidFill>
                <a:latin typeface="Calibri"/>
              </a:rPr>
              <a:t>A cluster can only hold so many devices of each type. That is an engineering design constraint, not something a model should decide — so predictions are fitted against the target composition rather than accepted as they come.</a:t>
            </a:r>
          </a:p>
        </p:txBody>
      </p:sp>
      <p:sp>
        <p:nvSpPr>
          <p:cNvPr id="5" name="Rounded Rectangle 4"/>
          <p:cNvSpPr/>
          <p:nvPr/>
        </p:nvSpPr>
        <p:spPr>
          <a:xfrm>
            <a:off x="548640" y="1965960"/>
            <a:ext cx="3561588" cy="21488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822959" y="2203704"/>
            <a:ext cx="1024128" cy="237744"/>
          </a:xfrm>
          <a:prstGeom prst="roundRect">
            <a:avLst>
              <a:gd name="adj" fmla="val 35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22959" y="2203704"/>
            <a:ext cx="1024128" cy="237744"/>
          </a:xfrm>
          <a:prstGeom prst="rect">
            <a:avLst/>
          </a:prstGeom>
          <a:noFill/>
        </p:spPr>
        <p:txBody>
          <a:bodyPr wrap="square" lIns="0" rIns="0" tIns="0" bIns="0" anchor="ctr">
            <a:spAutoFit/>
          </a:bodyPr>
          <a:lstStyle/>
          <a:p>
            <a:pPr algn="ctr"/>
            <a:r>
              <a:rPr sz="900" b="1" i="0" spc="120">
                <a:solidFill>
                  <a:srgbClr val="FFFFFF"/>
                </a:solidFill>
                <a:latin typeface="Calibri"/>
              </a:rPr>
              <a:t>PASS 1</a:t>
            </a:r>
          </a:p>
        </p:txBody>
      </p:sp>
      <p:sp>
        <p:nvSpPr>
          <p:cNvPr id="8" name="TextBox 7"/>
          <p:cNvSpPr txBox="1"/>
          <p:nvPr/>
        </p:nvSpPr>
        <p:spPr>
          <a:xfrm>
            <a:off x="822959" y="2587752"/>
            <a:ext cx="3017520" cy="566928"/>
          </a:xfrm>
          <a:prstGeom prst="rect">
            <a:avLst/>
          </a:prstGeom>
          <a:noFill/>
        </p:spPr>
        <p:txBody>
          <a:bodyPr wrap="square" lIns="0" rIns="0" tIns="0" bIns="0" anchor="t">
            <a:spAutoFit/>
          </a:bodyPr>
          <a:lstStyle/>
          <a:p>
            <a:pPr algn="l">
              <a:lnSpc>
                <a:spcPts val="1900"/>
              </a:lnSpc>
            </a:pPr>
            <a:r>
              <a:rPr sz="1500" b="1" i="0">
                <a:solidFill>
                  <a:srgbClr val="1B2430"/>
                </a:solidFill>
                <a:latin typeface="Cambria"/>
              </a:rPr>
              <a:t>Fill to quota</a:t>
            </a:r>
          </a:p>
        </p:txBody>
      </p:sp>
      <p:sp>
        <p:nvSpPr>
          <p:cNvPr id="9" name="TextBox 8"/>
          <p:cNvSpPr txBox="1"/>
          <p:nvPr/>
        </p:nvSpPr>
        <p:spPr>
          <a:xfrm>
            <a:off x="822959" y="3227832"/>
            <a:ext cx="3017520" cy="731520"/>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Each Section–Cluster–DeviceType bucket takes its highest-scoring matching devices, up to its target count. Any shortfall is recorded as a deficit.</a:t>
            </a:r>
          </a:p>
        </p:txBody>
      </p:sp>
      <p:sp>
        <p:nvSpPr>
          <p:cNvPr id="10" name="Rounded Rectangle 9"/>
          <p:cNvSpPr/>
          <p:nvPr/>
        </p:nvSpPr>
        <p:spPr>
          <a:xfrm>
            <a:off x="4263390" y="1965960"/>
            <a:ext cx="3561588" cy="21488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4537709" y="2203704"/>
            <a:ext cx="1024128" cy="237744"/>
          </a:xfrm>
          <a:prstGeom prst="roundRect">
            <a:avLst>
              <a:gd name="adj" fmla="val 35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37709" y="2203704"/>
            <a:ext cx="1024128" cy="237744"/>
          </a:xfrm>
          <a:prstGeom prst="rect">
            <a:avLst/>
          </a:prstGeom>
          <a:noFill/>
        </p:spPr>
        <p:txBody>
          <a:bodyPr wrap="square" lIns="0" rIns="0" tIns="0" bIns="0" anchor="ctr">
            <a:spAutoFit/>
          </a:bodyPr>
          <a:lstStyle/>
          <a:p>
            <a:pPr algn="ctr"/>
            <a:r>
              <a:rPr sz="900" b="1" i="0" spc="120">
                <a:solidFill>
                  <a:srgbClr val="FFFFFF"/>
                </a:solidFill>
                <a:latin typeface="Calibri"/>
              </a:rPr>
              <a:t>PASS 2</a:t>
            </a:r>
          </a:p>
        </p:txBody>
      </p:sp>
      <p:sp>
        <p:nvSpPr>
          <p:cNvPr id="13" name="TextBox 12"/>
          <p:cNvSpPr txBox="1"/>
          <p:nvPr/>
        </p:nvSpPr>
        <p:spPr>
          <a:xfrm>
            <a:off x="4537709" y="2587752"/>
            <a:ext cx="3017520" cy="566928"/>
          </a:xfrm>
          <a:prstGeom prst="rect">
            <a:avLst/>
          </a:prstGeom>
          <a:noFill/>
        </p:spPr>
        <p:txBody>
          <a:bodyPr wrap="square" lIns="0" rIns="0" tIns="0" bIns="0" anchor="t">
            <a:spAutoFit/>
          </a:bodyPr>
          <a:lstStyle/>
          <a:p>
            <a:pPr algn="l">
              <a:lnSpc>
                <a:spcPts val="1900"/>
              </a:lnSpc>
            </a:pPr>
            <a:r>
              <a:rPr sz="1500" b="1" i="0">
                <a:solidFill>
                  <a:srgbClr val="1B2430"/>
                </a:solidFill>
                <a:latin typeface="Cambria"/>
              </a:rPr>
              <a:t>Build the floating pool</a:t>
            </a:r>
          </a:p>
        </p:txBody>
      </p:sp>
      <p:sp>
        <p:nvSpPr>
          <p:cNvPr id="14" name="TextBox 13"/>
          <p:cNvSpPr txBox="1"/>
          <p:nvPr/>
        </p:nvSpPr>
        <p:spPr>
          <a:xfrm>
            <a:off x="4537709" y="3227832"/>
            <a:ext cx="3017520" cy="731520"/>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Every device not claimed in the first pass is pooled — including confident predictions that simply found no room.</a:t>
            </a:r>
          </a:p>
        </p:txBody>
      </p:sp>
      <p:sp>
        <p:nvSpPr>
          <p:cNvPr id="15" name="Rounded Rectangle 14"/>
          <p:cNvSpPr/>
          <p:nvPr/>
        </p:nvSpPr>
        <p:spPr>
          <a:xfrm>
            <a:off x="7978140" y="1965960"/>
            <a:ext cx="3561588" cy="21488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8252460" y="2203704"/>
            <a:ext cx="1024128" cy="237744"/>
          </a:xfrm>
          <a:prstGeom prst="roundRect">
            <a:avLst>
              <a:gd name="adj" fmla="val 35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2460" y="2203704"/>
            <a:ext cx="1024128" cy="237744"/>
          </a:xfrm>
          <a:prstGeom prst="rect">
            <a:avLst/>
          </a:prstGeom>
          <a:noFill/>
        </p:spPr>
        <p:txBody>
          <a:bodyPr wrap="square" lIns="0" rIns="0" tIns="0" bIns="0" anchor="ctr">
            <a:spAutoFit/>
          </a:bodyPr>
          <a:lstStyle/>
          <a:p>
            <a:pPr algn="ctr"/>
            <a:r>
              <a:rPr sz="900" b="1" i="0" spc="120">
                <a:solidFill>
                  <a:srgbClr val="FFFFFF"/>
                </a:solidFill>
                <a:latin typeface="Calibri"/>
              </a:rPr>
              <a:t>PASS 3</a:t>
            </a:r>
          </a:p>
        </p:txBody>
      </p:sp>
      <p:sp>
        <p:nvSpPr>
          <p:cNvPr id="18" name="TextBox 17"/>
          <p:cNvSpPr txBox="1"/>
          <p:nvPr/>
        </p:nvSpPr>
        <p:spPr>
          <a:xfrm>
            <a:off x="8252460" y="2587752"/>
            <a:ext cx="3017520" cy="566928"/>
          </a:xfrm>
          <a:prstGeom prst="rect">
            <a:avLst/>
          </a:prstGeom>
          <a:noFill/>
        </p:spPr>
        <p:txBody>
          <a:bodyPr wrap="square" lIns="0" rIns="0" tIns="0" bIns="0" anchor="t">
            <a:spAutoFit/>
          </a:bodyPr>
          <a:lstStyle/>
          <a:p>
            <a:pPr algn="l">
              <a:lnSpc>
                <a:spcPts val="1900"/>
              </a:lnSpc>
            </a:pPr>
            <a:r>
              <a:rPr sz="1500" b="1" i="0">
                <a:solidFill>
                  <a:srgbClr val="1B2430"/>
                </a:solidFill>
                <a:latin typeface="Cambria"/>
              </a:rPr>
              <a:t>Reassign, device first</a:t>
            </a:r>
          </a:p>
        </p:txBody>
      </p:sp>
      <p:sp>
        <p:nvSpPr>
          <p:cNvPr id="19" name="TextBox 18"/>
          <p:cNvSpPr txBox="1"/>
          <p:nvPr/>
        </p:nvSpPr>
        <p:spPr>
          <a:xfrm>
            <a:off x="8252460" y="3227832"/>
            <a:ext cx="3017520" cy="731520"/>
          </a:xfrm>
          <a:prstGeom prst="rect">
            <a:avLst/>
          </a:prstGeom>
          <a:noFill/>
        </p:spPr>
        <p:txBody>
          <a:bodyPr wrap="square" lIns="0" rIns="0" tIns="0" bIns="0" anchor="t">
            <a:spAutoFit/>
          </a:bodyPr>
          <a:lstStyle/>
          <a:p>
            <a:pPr algn="l">
              <a:lnSpc>
                <a:spcPts val="1400"/>
              </a:lnSpc>
            </a:pPr>
            <a:r>
              <a:rPr sz="1100" b="0" i="0">
                <a:solidFill>
                  <a:srgbClr val="4E5A66"/>
                </a:solidFill>
                <a:latin typeface="Calibri"/>
              </a:rPr>
              <a:t>Strongest device first, each one tries its own ranked cluster candidates in order and takes the first that still has space.</a:t>
            </a:r>
          </a:p>
        </p:txBody>
      </p:sp>
      <p:sp>
        <p:nvSpPr>
          <p:cNvPr id="20" name="Rounded Rectangle 19"/>
          <p:cNvSpPr/>
          <p:nvPr/>
        </p:nvSpPr>
        <p:spPr>
          <a:xfrm>
            <a:off x="548640" y="4315968"/>
            <a:ext cx="11091672" cy="1417320"/>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68680" y="4498848"/>
            <a:ext cx="10424160" cy="219456"/>
          </a:xfrm>
          <a:prstGeom prst="rect">
            <a:avLst/>
          </a:prstGeom>
          <a:noFill/>
        </p:spPr>
        <p:txBody>
          <a:bodyPr wrap="square" lIns="0" rIns="0" tIns="0" bIns="0" anchor="t">
            <a:spAutoFit/>
          </a:bodyPr>
          <a:lstStyle/>
          <a:p>
            <a:pPr algn="l"/>
            <a:r>
              <a:rPr sz="1050" b="1" i="0" spc="180">
                <a:solidFill>
                  <a:srgbClr val="C46A24"/>
                </a:solidFill>
                <a:latin typeface="Calibri"/>
              </a:rPr>
              <a:t>WHAT IS LEFT OVER IS NOT FORCED ANYWHERE</a:t>
            </a:r>
          </a:p>
        </p:txBody>
      </p:sp>
      <p:sp>
        <p:nvSpPr>
          <p:cNvPr id="22" name="TextBox 21"/>
          <p:cNvSpPr txBox="1"/>
          <p:nvPr/>
        </p:nvSpPr>
        <p:spPr>
          <a:xfrm>
            <a:off x="868680" y="4791456"/>
            <a:ext cx="5029200" cy="237744"/>
          </a:xfrm>
          <a:prstGeom prst="rect">
            <a:avLst/>
          </a:prstGeom>
          <a:noFill/>
        </p:spPr>
        <p:txBody>
          <a:bodyPr wrap="square" lIns="0" rIns="0" tIns="0" bIns="0" anchor="t">
            <a:spAutoFit/>
          </a:bodyPr>
          <a:lstStyle/>
          <a:p>
            <a:pPr algn="l"/>
            <a:r>
              <a:rPr sz="1150" b="1" i="0">
                <a:solidFill>
                  <a:srgbClr val="FFFFFF"/>
                </a:solidFill>
                <a:latin typeface="Consolas"/>
              </a:rPr>
              <a:t>Category: UnknownPrediction</a:t>
            </a:r>
          </a:p>
        </p:txBody>
      </p:sp>
      <p:sp>
        <p:nvSpPr>
          <p:cNvPr id="23" name="TextBox 22"/>
          <p:cNvSpPr txBox="1"/>
          <p:nvPr/>
        </p:nvSpPr>
        <p:spPr>
          <a:xfrm>
            <a:off x="868680" y="5047488"/>
            <a:ext cx="5029200" cy="402336"/>
          </a:xfrm>
          <a:prstGeom prst="rect">
            <a:avLst/>
          </a:prstGeom>
          <a:noFill/>
        </p:spPr>
        <p:txBody>
          <a:bodyPr wrap="square" lIns="0" rIns="0" tIns="0" bIns="0" anchor="t">
            <a:spAutoFit/>
          </a:bodyPr>
          <a:lstStyle/>
          <a:p>
            <a:pPr algn="l">
              <a:lnSpc>
                <a:spcPts val="1500"/>
              </a:lnSpc>
            </a:pPr>
            <a:r>
              <a:rPr sz="1150" b="0" i="0">
                <a:solidFill>
                  <a:srgbClr val="9EA8B2"/>
                </a:solidFill>
                <a:latin typeface="Calibri"/>
              </a:rPr>
              <a:t>The models could not confidently classify the device.</a:t>
            </a:r>
          </a:p>
        </p:txBody>
      </p:sp>
      <p:sp>
        <p:nvSpPr>
          <p:cNvPr id="24" name="TextBox 23"/>
          <p:cNvSpPr txBox="1"/>
          <p:nvPr/>
        </p:nvSpPr>
        <p:spPr>
          <a:xfrm>
            <a:off x="6355080" y="4791456"/>
            <a:ext cx="4937760" cy="237744"/>
          </a:xfrm>
          <a:prstGeom prst="rect">
            <a:avLst/>
          </a:prstGeom>
          <a:noFill/>
        </p:spPr>
        <p:txBody>
          <a:bodyPr wrap="square" lIns="0" rIns="0" tIns="0" bIns="0" anchor="t">
            <a:spAutoFit/>
          </a:bodyPr>
          <a:lstStyle/>
          <a:p>
            <a:pPr algn="l"/>
            <a:r>
              <a:rPr sz="1150" b="1" i="0">
                <a:solidFill>
                  <a:srgbClr val="FFFFFF"/>
                </a:solidFill>
                <a:latin typeface="Consolas"/>
              </a:rPr>
              <a:t>Category: Unallocated</a:t>
            </a:r>
          </a:p>
        </p:txBody>
      </p:sp>
      <p:sp>
        <p:nvSpPr>
          <p:cNvPr id="25" name="TextBox 24"/>
          <p:cNvSpPr txBox="1"/>
          <p:nvPr/>
        </p:nvSpPr>
        <p:spPr>
          <a:xfrm>
            <a:off x="6355080" y="5047488"/>
            <a:ext cx="4937760" cy="402336"/>
          </a:xfrm>
          <a:prstGeom prst="rect">
            <a:avLst/>
          </a:prstGeom>
          <a:noFill/>
        </p:spPr>
        <p:txBody>
          <a:bodyPr wrap="square" lIns="0" rIns="0" tIns="0" bIns="0" anchor="t">
            <a:spAutoFit/>
          </a:bodyPr>
          <a:lstStyle/>
          <a:p>
            <a:pPr algn="l">
              <a:lnSpc>
                <a:spcPts val="1500"/>
              </a:lnSpc>
            </a:pPr>
            <a:r>
              <a:rPr sz="1150" b="0" i="0">
                <a:solidFill>
                  <a:srgbClr val="9EA8B2"/>
                </a:solidFill>
                <a:latin typeface="Calibri"/>
              </a:rPr>
              <a:t>Classified confidently, but every candidate cluster was full.</a:t>
            </a:r>
          </a:p>
        </p:txBody>
      </p:sp>
      <p:sp>
        <p:nvSpPr>
          <p:cNvPr id="26" name="TextBox 25"/>
          <p:cNvSpPr txBox="1"/>
          <p:nvPr/>
        </p:nvSpPr>
        <p:spPr>
          <a:xfrm>
            <a:off x="868680" y="5486400"/>
            <a:ext cx="10424160" cy="219456"/>
          </a:xfrm>
          <a:prstGeom prst="rect">
            <a:avLst/>
          </a:prstGeom>
          <a:noFill/>
        </p:spPr>
        <p:txBody>
          <a:bodyPr wrap="square" lIns="0" rIns="0" tIns="0" bIns="0" anchor="t">
            <a:spAutoFit/>
          </a:bodyPr>
          <a:lstStyle/>
          <a:p>
            <a:pPr algn="l"/>
            <a:r>
              <a:rPr sz="1150" b="0" i="1">
                <a:solidFill>
                  <a:srgbClr val="9EA8B2"/>
                </a:solidFill>
                <a:latin typeface="Calibri"/>
              </a:rPr>
              <a:t>Both are written to dbo.DeviceReviewQueue with the model’s own suggestions attached.</a:t>
            </a:r>
          </a:p>
        </p:txBody>
      </p:sp>
      <p:sp>
        <p:nvSpPr>
          <p:cNvPr id="27" name="TextBox 26"/>
          <p:cNvSpPr txBox="1"/>
          <p:nvPr/>
        </p:nvSpPr>
        <p:spPr>
          <a:xfrm>
            <a:off x="548640" y="5897880"/>
            <a:ext cx="11091672" cy="256032"/>
          </a:xfrm>
          <a:prstGeom prst="rect">
            <a:avLst/>
          </a:prstGeom>
          <a:noFill/>
        </p:spPr>
        <p:txBody>
          <a:bodyPr wrap="square" lIns="0" rIns="0" tIns="0" bIns="0" anchor="t">
            <a:spAutoFit/>
          </a:bodyPr>
          <a:lstStyle/>
          <a:p>
            <a:pPr algn="l"/>
            <a:r>
              <a:rPr sz="1100" b="0" i="1">
                <a:solidFill>
                  <a:srgbClr val="7A8792"/>
                </a:solidFill>
                <a:latin typeface="Calibri"/>
              </a:rPr>
              <a:t>Quota patterns are loaded live from dbo.PatternCluster per customer — an engineer can change target composition without a developer.</a:t>
            </a:r>
          </a:p>
        </p:txBody>
      </p:sp>
      <p:sp>
        <p:nvSpPr>
          <p:cNvPr id="28" name="TextBox 27"/>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August 2026</a:t>
            </a:r>
          </a:p>
        </p:txBody>
      </p:sp>
      <p:sp>
        <p:nvSpPr>
          <p:cNvPr id="29" name="TextBox 28"/>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05  ·  METHOD SELECTION</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What was tested before committing</a:t>
            </a:r>
          </a:p>
        </p:txBody>
      </p:sp>
      <p:sp>
        <p:nvSpPr>
          <p:cNvPr id="4" name="TextBox 3"/>
          <p:cNvSpPr txBox="1"/>
          <p:nvPr/>
        </p:nvSpPr>
        <p:spPr>
          <a:xfrm>
            <a:off x="548640" y="1261872"/>
            <a:ext cx="10881360" cy="530352"/>
          </a:xfrm>
          <a:prstGeom prst="rect">
            <a:avLst/>
          </a:prstGeom>
          <a:noFill/>
        </p:spPr>
        <p:txBody>
          <a:bodyPr wrap="square" lIns="0" rIns="0" tIns="0" bIns="0" anchor="t">
            <a:spAutoFit/>
          </a:bodyPr>
          <a:lstStyle/>
          <a:p>
            <a:pPr algn="l">
              <a:lnSpc>
                <a:spcPts val="1800"/>
              </a:lnSpc>
            </a:pPr>
            <a:r>
              <a:rPr sz="1300" b="0" i="0">
                <a:solidFill>
                  <a:srgbClr val="4E5A66"/>
                </a:solidFill>
                <a:latin typeface="Calibri"/>
              </a:rPr>
              <a:t>The client data arrived without labels, so unsupervised methods were used first to discover structure. Supervised models were then trained on what they revealed. Every choice below was benchmarked, not assumed.</a:t>
            </a:r>
          </a:p>
        </p:txBody>
      </p:sp>
      <p:sp>
        <p:nvSpPr>
          <p:cNvPr id="5" name="Rounded Rectangle 4"/>
          <p:cNvSpPr/>
          <p:nvPr/>
        </p:nvSpPr>
        <p:spPr>
          <a:xfrm>
            <a:off x="548640" y="1965960"/>
            <a:ext cx="5440680" cy="38404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2221992"/>
            <a:ext cx="4892040" cy="219456"/>
          </a:xfrm>
          <a:prstGeom prst="rect">
            <a:avLst/>
          </a:prstGeom>
          <a:noFill/>
        </p:spPr>
        <p:txBody>
          <a:bodyPr wrap="square" lIns="0" rIns="0" tIns="0" bIns="0" anchor="t">
            <a:spAutoFit/>
          </a:bodyPr>
          <a:lstStyle/>
          <a:p>
            <a:pPr algn="l"/>
            <a:r>
              <a:rPr sz="1050" b="1" i="0" spc="180">
                <a:solidFill>
                  <a:srgbClr val="2E7D63"/>
                </a:solidFill>
                <a:latin typeface="Calibri"/>
              </a:rPr>
              <a:t>ADOPTED IN PRODUCTION</a:t>
            </a:r>
          </a:p>
        </p:txBody>
      </p:sp>
      <p:sp>
        <p:nvSpPr>
          <p:cNvPr id="7" name="TextBox 6"/>
          <p:cNvSpPr txBox="1"/>
          <p:nvPr/>
        </p:nvSpPr>
        <p:spPr>
          <a:xfrm>
            <a:off x="822960" y="2587752"/>
            <a:ext cx="4892040" cy="237744"/>
          </a:xfrm>
          <a:prstGeom prst="rect">
            <a:avLst/>
          </a:prstGeom>
          <a:noFill/>
        </p:spPr>
        <p:txBody>
          <a:bodyPr wrap="square" lIns="0" rIns="0" tIns="0" bIns="0" anchor="t">
            <a:spAutoFit/>
          </a:bodyPr>
          <a:lstStyle/>
          <a:p>
            <a:pPr algn="l"/>
            <a:r>
              <a:rPr sz="1300" b="1" i="0">
                <a:solidFill>
                  <a:srgbClr val="1B2430"/>
                </a:solidFill>
                <a:latin typeface="Cambria"/>
              </a:rPr>
              <a:t>SGD Classifier</a:t>
            </a:r>
          </a:p>
        </p:txBody>
      </p:sp>
      <p:sp>
        <p:nvSpPr>
          <p:cNvPr id="8" name="TextBox 7"/>
          <p:cNvSpPr txBox="1"/>
          <p:nvPr/>
        </p:nvSpPr>
        <p:spPr>
          <a:xfrm>
            <a:off x="822960" y="2843784"/>
            <a:ext cx="4892040" cy="457200"/>
          </a:xfrm>
          <a:prstGeom prst="rect">
            <a:avLst/>
          </a:prstGeom>
          <a:noFill/>
        </p:spPr>
        <p:txBody>
          <a:bodyPr wrap="square" lIns="0" rIns="0" tIns="0" bIns="0" anchor="t">
            <a:spAutoFit/>
          </a:bodyPr>
          <a:lstStyle/>
          <a:p>
            <a:pPr algn="l">
              <a:lnSpc>
                <a:spcPts val="1400"/>
              </a:lnSpc>
            </a:pPr>
            <a:r>
              <a:rPr sz="1050" b="0" i="0">
                <a:solidFill>
                  <a:srgbClr val="4E5A66"/>
                </a:solidFill>
                <a:latin typeface="Calibri"/>
              </a:rPr>
              <a:t>Device type. Chosen for partial_fit — it can learn from a single correction without a full retrain.</a:t>
            </a:r>
          </a:p>
        </p:txBody>
      </p:sp>
      <p:sp>
        <p:nvSpPr>
          <p:cNvPr id="9" name="TextBox 8"/>
          <p:cNvSpPr txBox="1"/>
          <p:nvPr/>
        </p:nvSpPr>
        <p:spPr>
          <a:xfrm>
            <a:off x="822960" y="3374136"/>
            <a:ext cx="4892040" cy="237744"/>
          </a:xfrm>
          <a:prstGeom prst="rect">
            <a:avLst/>
          </a:prstGeom>
          <a:noFill/>
        </p:spPr>
        <p:txBody>
          <a:bodyPr wrap="square" lIns="0" rIns="0" tIns="0" bIns="0" anchor="t">
            <a:spAutoFit/>
          </a:bodyPr>
          <a:lstStyle/>
          <a:p>
            <a:pPr algn="l"/>
            <a:r>
              <a:rPr sz="1300" b="1" i="0">
                <a:solidFill>
                  <a:srgbClr val="1B2430"/>
                </a:solidFill>
                <a:latin typeface="Cambria"/>
              </a:rPr>
              <a:t>XGBoost</a:t>
            </a:r>
          </a:p>
        </p:txBody>
      </p:sp>
      <p:sp>
        <p:nvSpPr>
          <p:cNvPr id="10" name="TextBox 9"/>
          <p:cNvSpPr txBox="1"/>
          <p:nvPr/>
        </p:nvSpPr>
        <p:spPr>
          <a:xfrm>
            <a:off x="822960" y="3630168"/>
            <a:ext cx="4892040" cy="457200"/>
          </a:xfrm>
          <a:prstGeom prst="rect">
            <a:avLst/>
          </a:prstGeom>
          <a:noFill/>
        </p:spPr>
        <p:txBody>
          <a:bodyPr wrap="square" lIns="0" rIns="0" tIns="0" bIns="0" anchor="t">
            <a:spAutoFit/>
          </a:bodyPr>
          <a:lstStyle/>
          <a:p>
            <a:pPr algn="l">
              <a:lnSpc>
                <a:spcPts val="1400"/>
              </a:lnSpc>
            </a:pPr>
            <a:r>
              <a:rPr sz="1050" b="0" i="0">
                <a:solidFill>
                  <a:srgbClr val="4E5A66"/>
                </a:solidFill>
                <a:latin typeface="Calibri"/>
              </a:rPr>
              <a:t>Section and cluster. Best accuracy of everything tested on engineered tabular features.</a:t>
            </a:r>
          </a:p>
        </p:txBody>
      </p:sp>
      <p:sp>
        <p:nvSpPr>
          <p:cNvPr id="11" name="TextBox 10"/>
          <p:cNvSpPr txBox="1"/>
          <p:nvPr/>
        </p:nvSpPr>
        <p:spPr>
          <a:xfrm>
            <a:off x="822960" y="4160520"/>
            <a:ext cx="4892040" cy="237744"/>
          </a:xfrm>
          <a:prstGeom prst="rect">
            <a:avLst/>
          </a:prstGeom>
          <a:noFill/>
        </p:spPr>
        <p:txBody>
          <a:bodyPr wrap="square" lIns="0" rIns="0" tIns="0" bIns="0" anchor="t">
            <a:spAutoFit/>
          </a:bodyPr>
          <a:lstStyle/>
          <a:p>
            <a:pPr algn="l"/>
            <a:r>
              <a:rPr sz="1300" b="1" i="0">
                <a:solidFill>
                  <a:srgbClr val="1B2430"/>
                </a:solidFill>
                <a:latin typeface="Cambria"/>
              </a:rPr>
              <a:t>TF-IDF + cosine k-NN</a:t>
            </a:r>
          </a:p>
        </p:txBody>
      </p:sp>
      <p:sp>
        <p:nvSpPr>
          <p:cNvPr id="12" name="TextBox 11"/>
          <p:cNvSpPr txBox="1"/>
          <p:nvPr/>
        </p:nvSpPr>
        <p:spPr>
          <a:xfrm>
            <a:off x="822960" y="4416552"/>
            <a:ext cx="4892040" cy="457200"/>
          </a:xfrm>
          <a:prstGeom prst="rect">
            <a:avLst/>
          </a:prstGeom>
          <a:noFill/>
        </p:spPr>
        <p:txBody>
          <a:bodyPr wrap="square" lIns="0" rIns="0" tIns="0" bIns="0" anchor="t">
            <a:spAutoFit/>
          </a:bodyPr>
          <a:lstStyle/>
          <a:p>
            <a:pPr algn="l">
              <a:lnSpc>
                <a:spcPts val="1400"/>
              </a:lnSpc>
            </a:pPr>
            <a:r>
              <a:rPr sz="1050" b="0" i="0">
                <a:solidFill>
                  <a:srgbClr val="4E5A66"/>
                </a:solidFill>
                <a:latin typeface="Calibri"/>
              </a:rPr>
              <a:t>Similarity fallback for tags the classifier has never seen before.</a:t>
            </a:r>
          </a:p>
        </p:txBody>
      </p:sp>
      <p:sp>
        <p:nvSpPr>
          <p:cNvPr id="13" name="TextBox 12"/>
          <p:cNvSpPr txBox="1"/>
          <p:nvPr/>
        </p:nvSpPr>
        <p:spPr>
          <a:xfrm>
            <a:off x="822960" y="4946904"/>
            <a:ext cx="4892040" cy="237744"/>
          </a:xfrm>
          <a:prstGeom prst="rect">
            <a:avLst/>
          </a:prstGeom>
          <a:noFill/>
        </p:spPr>
        <p:txBody>
          <a:bodyPr wrap="square" lIns="0" rIns="0" tIns="0" bIns="0" anchor="t">
            <a:spAutoFit/>
          </a:bodyPr>
          <a:lstStyle/>
          <a:p>
            <a:pPr algn="l"/>
            <a:r>
              <a:rPr sz="1300" b="1" i="0">
                <a:solidFill>
                  <a:srgbClr val="1B2430"/>
                </a:solidFill>
                <a:latin typeface="Cambria"/>
              </a:rPr>
              <a:t>Prefix dictionary</a:t>
            </a:r>
          </a:p>
        </p:txBody>
      </p:sp>
      <p:sp>
        <p:nvSpPr>
          <p:cNvPr id="14" name="TextBox 13"/>
          <p:cNvSpPr txBox="1"/>
          <p:nvPr/>
        </p:nvSpPr>
        <p:spPr>
          <a:xfrm>
            <a:off x="822960" y="5202936"/>
            <a:ext cx="4892040" cy="457200"/>
          </a:xfrm>
          <a:prstGeom prst="rect">
            <a:avLst/>
          </a:prstGeom>
          <a:noFill/>
        </p:spPr>
        <p:txBody>
          <a:bodyPr wrap="square" lIns="0" rIns="0" tIns="0" bIns="0" anchor="t">
            <a:spAutoFit/>
          </a:bodyPr>
          <a:lstStyle/>
          <a:p>
            <a:pPr algn="l">
              <a:lnSpc>
                <a:spcPts val="1400"/>
              </a:lnSpc>
            </a:pPr>
            <a:r>
              <a:rPr sz="1050" b="0" i="0">
                <a:solidFill>
                  <a:srgbClr val="4E5A66"/>
                </a:solidFill>
                <a:latin typeface="Calibri"/>
              </a:rPr>
              <a:t>Deterministic, fully explainable base layer an engineer can read and edit.</a:t>
            </a:r>
          </a:p>
        </p:txBody>
      </p:sp>
      <p:sp>
        <p:nvSpPr>
          <p:cNvPr id="15" name="Rounded Rectangle 14"/>
          <p:cNvSpPr/>
          <p:nvPr/>
        </p:nvSpPr>
        <p:spPr>
          <a:xfrm>
            <a:off x="6199632" y="1965960"/>
            <a:ext cx="5440680" cy="38404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73952" y="2221992"/>
            <a:ext cx="4892040" cy="219456"/>
          </a:xfrm>
          <a:prstGeom prst="rect">
            <a:avLst/>
          </a:prstGeom>
          <a:noFill/>
        </p:spPr>
        <p:txBody>
          <a:bodyPr wrap="square" lIns="0" rIns="0" tIns="0" bIns="0" anchor="t">
            <a:spAutoFit/>
          </a:bodyPr>
          <a:lstStyle/>
          <a:p>
            <a:pPr algn="l"/>
            <a:r>
              <a:rPr sz="1050" b="1" i="0" spc="180">
                <a:solidFill>
                  <a:srgbClr val="7A8792"/>
                </a:solidFill>
                <a:latin typeface="Calibri"/>
              </a:rPr>
              <a:t>EVALUATED, NOT CARRIED FORWARD</a:t>
            </a:r>
          </a:p>
        </p:txBody>
      </p:sp>
      <p:sp>
        <p:nvSpPr>
          <p:cNvPr id="17" name="TextBox 16"/>
          <p:cNvSpPr txBox="1"/>
          <p:nvPr/>
        </p:nvSpPr>
        <p:spPr>
          <a:xfrm>
            <a:off x="6473952" y="2587752"/>
            <a:ext cx="4892040" cy="219456"/>
          </a:xfrm>
          <a:prstGeom prst="rect">
            <a:avLst/>
          </a:prstGeom>
          <a:noFill/>
        </p:spPr>
        <p:txBody>
          <a:bodyPr wrap="square" lIns="0" rIns="0" tIns="0" bIns="0" anchor="t">
            <a:spAutoFit/>
          </a:bodyPr>
          <a:lstStyle/>
          <a:p>
            <a:pPr algn="l"/>
            <a:r>
              <a:rPr sz="1200" b="1" i="0">
                <a:solidFill>
                  <a:srgbClr val="1B2430"/>
                </a:solidFill>
                <a:latin typeface="Cambria"/>
              </a:rPr>
              <a:t>DBSCAN</a:t>
            </a:r>
          </a:p>
        </p:txBody>
      </p:sp>
      <p:sp>
        <p:nvSpPr>
          <p:cNvPr id="18" name="TextBox 17"/>
          <p:cNvSpPr txBox="1"/>
          <p:nvPr/>
        </p:nvSpPr>
        <p:spPr>
          <a:xfrm>
            <a:off x="6473952" y="2825496"/>
            <a:ext cx="4892040" cy="347472"/>
          </a:xfrm>
          <a:prstGeom prst="rect">
            <a:avLst/>
          </a:prstGeom>
          <a:noFill/>
        </p:spPr>
        <p:txBody>
          <a:bodyPr wrap="square" lIns="0" rIns="0" tIns="0" bIns="0" anchor="t">
            <a:spAutoFit/>
          </a:bodyPr>
          <a:lstStyle/>
          <a:p>
            <a:pPr algn="l">
              <a:lnSpc>
                <a:spcPts val="1400"/>
              </a:lnSpc>
            </a:pPr>
            <a:r>
              <a:rPr sz="1050" b="0" i="0">
                <a:solidFill>
                  <a:srgbClr val="4E5A66"/>
                </a:solidFill>
                <a:latin typeface="Calibri"/>
              </a:rPr>
              <a:t>Discovered section groupings in unlabelled data. Not used at inference.</a:t>
            </a:r>
          </a:p>
        </p:txBody>
      </p:sp>
      <p:sp>
        <p:nvSpPr>
          <p:cNvPr id="19" name="TextBox 18"/>
          <p:cNvSpPr txBox="1"/>
          <p:nvPr/>
        </p:nvSpPr>
        <p:spPr>
          <a:xfrm>
            <a:off x="6473952" y="3227832"/>
            <a:ext cx="4892040" cy="219456"/>
          </a:xfrm>
          <a:prstGeom prst="rect">
            <a:avLst/>
          </a:prstGeom>
          <a:noFill/>
        </p:spPr>
        <p:txBody>
          <a:bodyPr wrap="square" lIns="0" rIns="0" tIns="0" bIns="0" anchor="t">
            <a:spAutoFit/>
          </a:bodyPr>
          <a:lstStyle/>
          <a:p>
            <a:pPr algn="l"/>
            <a:r>
              <a:rPr sz="1200" b="1" i="0">
                <a:solidFill>
                  <a:srgbClr val="1B2430"/>
                </a:solidFill>
                <a:latin typeface="Cambria"/>
              </a:rPr>
              <a:t>K-Means &amp; Agglomerative</a:t>
            </a:r>
          </a:p>
        </p:txBody>
      </p:sp>
      <p:sp>
        <p:nvSpPr>
          <p:cNvPr id="20" name="TextBox 19"/>
          <p:cNvSpPr txBox="1"/>
          <p:nvPr/>
        </p:nvSpPr>
        <p:spPr>
          <a:xfrm>
            <a:off x="6473952" y="3465576"/>
            <a:ext cx="4892040" cy="347472"/>
          </a:xfrm>
          <a:prstGeom prst="rect">
            <a:avLst/>
          </a:prstGeom>
          <a:noFill/>
        </p:spPr>
        <p:txBody>
          <a:bodyPr wrap="square" lIns="0" rIns="0" tIns="0" bIns="0" anchor="t">
            <a:spAutoFit/>
          </a:bodyPr>
          <a:lstStyle/>
          <a:p>
            <a:pPr algn="l">
              <a:lnSpc>
                <a:spcPts val="1400"/>
              </a:lnSpc>
            </a:pPr>
            <a:r>
              <a:rPr sz="1050" b="0" i="0">
                <a:solidFill>
                  <a:srgbClr val="4E5A66"/>
                </a:solidFill>
                <a:latin typeface="Calibri"/>
              </a:rPr>
              <a:t>Cluster-count exploration; superseded once labels existed.</a:t>
            </a:r>
          </a:p>
        </p:txBody>
      </p:sp>
      <p:sp>
        <p:nvSpPr>
          <p:cNvPr id="21" name="TextBox 20"/>
          <p:cNvSpPr txBox="1"/>
          <p:nvPr/>
        </p:nvSpPr>
        <p:spPr>
          <a:xfrm>
            <a:off x="6473952" y="3867912"/>
            <a:ext cx="4892040" cy="219456"/>
          </a:xfrm>
          <a:prstGeom prst="rect">
            <a:avLst/>
          </a:prstGeom>
          <a:noFill/>
        </p:spPr>
        <p:txBody>
          <a:bodyPr wrap="square" lIns="0" rIns="0" tIns="0" bIns="0" anchor="t">
            <a:spAutoFit/>
          </a:bodyPr>
          <a:lstStyle/>
          <a:p>
            <a:pPr algn="l"/>
            <a:r>
              <a:rPr sz="1200" b="1" i="0">
                <a:solidFill>
                  <a:srgbClr val="1B2430"/>
                </a:solidFill>
                <a:latin typeface="Cambria"/>
              </a:rPr>
              <a:t>Decision tree rule mining</a:t>
            </a:r>
          </a:p>
        </p:txBody>
      </p:sp>
      <p:sp>
        <p:nvSpPr>
          <p:cNvPr id="22" name="TextBox 21"/>
          <p:cNvSpPr txBox="1"/>
          <p:nvPr/>
        </p:nvSpPr>
        <p:spPr>
          <a:xfrm>
            <a:off x="6473952" y="4105656"/>
            <a:ext cx="4892040" cy="347472"/>
          </a:xfrm>
          <a:prstGeom prst="rect">
            <a:avLst/>
          </a:prstGeom>
          <a:noFill/>
        </p:spPr>
        <p:txBody>
          <a:bodyPr wrap="square" lIns="0" rIns="0" tIns="0" bIns="0" anchor="t">
            <a:spAutoFit/>
          </a:bodyPr>
          <a:lstStyle/>
          <a:p>
            <a:pPr algn="l">
              <a:lnSpc>
                <a:spcPts val="1400"/>
              </a:lnSpc>
            </a:pPr>
            <a:r>
              <a:rPr sz="1050" b="0" i="0">
                <a:solidFill>
                  <a:srgbClr val="4E5A66"/>
                </a:solidFill>
                <a:latin typeface="Calibri"/>
              </a:rPr>
              <a:t>Extracted readable tag rules used to sanity-check the models.</a:t>
            </a:r>
          </a:p>
        </p:txBody>
      </p:sp>
      <p:sp>
        <p:nvSpPr>
          <p:cNvPr id="23" name="TextBox 22"/>
          <p:cNvSpPr txBox="1"/>
          <p:nvPr/>
        </p:nvSpPr>
        <p:spPr>
          <a:xfrm>
            <a:off x="6473952" y="4507992"/>
            <a:ext cx="4892040" cy="219456"/>
          </a:xfrm>
          <a:prstGeom prst="rect">
            <a:avLst/>
          </a:prstGeom>
          <a:noFill/>
        </p:spPr>
        <p:txBody>
          <a:bodyPr wrap="square" lIns="0" rIns="0" tIns="0" bIns="0" anchor="t">
            <a:spAutoFit/>
          </a:bodyPr>
          <a:lstStyle/>
          <a:p>
            <a:pPr algn="l"/>
            <a:r>
              <a:rPr sz="1200" b="1" i="0">
                <a:solidFill>
                  <a:srgbClr val="1B2430"/>
                </a:solidFill>
                <a:latin typeface="Cambria"/>
              </a:rPr>
              <a:t>Random Forest</a:t>
            </a:r>
          </a:p>
        </p:txBody>
      </p:sp>
      <p:sp>
        <p:nvSpPr>
          <p:cNvPr id="24" name="TextBox 23"/>
          <p:cNvSpPr txBox="1"/>
          <p:nvPr/>
        </p:nvSpPr>
        <p:spPr>
          <a:xfrm>
            <a:off x="6473952" y="4745736"/>
            <a:ext cx="4892040" cy="347472"/>
          </a:xfrm>
          <a:prstGeom prst="rect">
            <a:avLst/>
          </a:prstGeom>
          <a:noFill/>
        </p:spPr>
        <p:txBody>
          <a:bodyPr wrap="square" lIns="0" rIns="0" tIns="0" bIns="0" anchor="t">
            <a:spAutoFit/>
          </a:bodyPr>
          <a:lstStyle/>
          <a:p>
            <a:pPr algn="l">
              <a:lnSpc>
                <a:spcPts val="1400"/>
              </a:lnSpc>
            </a:pPr>
            <a:r>
              <a:rPr sz="1050" b="0" i="0">
                <a:solidFill>
                  <a:srgbClr val="4E5A66"/>
                </a:solidFill>
                <a:latin typeface="Calibri"/>
              </a:rPr>
              <a:t>Benchmarked against XGBoost; consistently lower accuracy.</a:t>
            </a:r>
          </a:p>
        </p:txBody>
      </p:sp>
      <p:sp>
        <p:nvSpPr>
          <p:cNvPr id="25" name="TextBox 24"/>
          <p:cNvSpPr txBox="1"/>
          <p:nvPr/>
        </p:nvSpPr>
        <p:spPr>
          <a:xfrm>
            <a:off x="6473952" y="5148072"/>
            <a:ext cx="4892040" cy="219456"/>
          </a:xfrm>
          <a:prstGeom prst="rect">
            <a:avLst/>
          </a:prstGeom>
          <a:noFill/>
        </p:spPr>
        <p:txBody>
          <a:bodyPr wrap="square" lIns="0" rIns="0" tIns="0" bIns="0" anchor="t">
            <a:spAutoFit/>
          </a:bodyPr>
          <a:lstStyle/>
          <a:p>
            <a:pPr algn="l"/>
            <a:r>
              <a:rPr sz="1200" b="1" i="0">
                <a:solidFill>
                  <a:srgbClr val="1B2430"/>
                </a:solidFill>
                <a:latin typeface="Cambria"/>
              </a:rPr>
              <a:t>LSTM / neural network</a:t>
            </a:r>
          </a:p>
        </p:txBody>
      </p:sp>
      <p:sp>
        <p:nvSpPr>
          <p:cNvPr id="26" name="TextBox 25"/>
          <p:cNvSpPr txBox="1"/>
          <p:nvPr/>
        </p:nvSpPr>
        <p:spPr>
          <a:xfrm>
            <a:off x="6473952" y="5385816"/>
            <a:ext cx="4892040" cy="347472"/>
          </a:xfrm>
          <a:prstGeom prst="rect">
            <a:avLst/>
          </a:prstGeom>
          <a:noFill/>
        </p:spPr>
        <p:txBody>
          <a:bodyPr wrap="square" lIns="0" rIns="0" tIns="0" bIns="0" anchor="t">
            <a:spAutoFit/>
          </a:bodyPr>
          <a:lstStyle/>
          <a:p>
            <a:pPr algn="l">
              <a:lnSpc>
                <a:spcPts val="1400"/>
              </a:lnSpc>
            </a:pPr>
            <a:r>
              <a:rPr sz="1050" b="0" i="0">
                <a:solidFill>
                  <a:srgbClr val="4E5A66"/>
                </a:solidFill>
                <a:latin typeface="Calibri"/>
              </a:rPr>
              <a:t>Trialled on tag sequences; complexity not justified by the gain.</a:t>
            </a:r>
          </a:p>
        </p:txBody>
      </p:sp>
      <p:sp>
        <p:nvSpPr>
          <p:cNvPr id="27" name="TextBox 26"/>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August 2026</a:t>
            </a:r>
          </a:p>
        </p:txBody>
      </p:sp>
      <p:sp>
        <p:nvSpPr>
          <p:cNvPr id="28" name="TextBox 27"/>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06  ·  DEPLOYMENT ARCHITECTURE</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How the models reach the product</a:t>
            </a:r>
          </a:p>
        </p:txBody>
      </p:sp>
      <p:sp>
        <p:nvSpPr>
          <p:cNvPr id="4" name="Rounded Rectangle 3"/>
          <p:cNvSpPr/>
          <p:nvPr/>
        </p:nvSpPr>
        <p:spPr>
          <a:xfrm>
            <a:off x="548640" y="1463040"/>
            <a:ext cx="6035040" cy="71323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04672" y="1463040"/>
            <a:ext cx="2194560" cy="713232"/>
          </a:xfrm>
          <a:prstGeom prst="rect">
            <a:avLst/>
          </a:prstGeom>
          <a:noFill/>
        </p:spPr>
        <p:txBody>
          <a:bodyPr wrap="square" lIns="0" rIns="0" tIns="0" bIns="0" anchor="ctr">
            <a:spAutoFit/>
          </a:bodyPr>
          <a:lstStyle/>
          <a:p>
            <a:pPr algn="l"/>
            <a:r>
              <a:rPr sz="1350" b="1" i="0">
                <a:solidFill>
                  <a:srgbClr val="1B2430"/>
                </a:solidFill>
                <a:latin typeface="Cambria"/>
              </a:rPr>
              <a:t>Caller</a:t>
            </a:r>
          </a:p>
        </p:txBody>
      </p:sp>
      <p:sp>
        <p:nvSpPr>
          <p:cNvPr id="6" name="TextBox 5"/>
          <p:cNvSpPr txBox="1"/>
          <p:nvPr/>
        </p:nvSpPr>
        <p:spPr>
          <a:xfrm>
            <a:off x="3200400" y="1463040"/>
            <a:ext cx="3108960" cy="713232"/>
          </a:xfrm>
          <a:prstGeom prst="rect">
            <a:avLst/>
          </a:prstGeom>
          <a:noFill/>
        </p:spPr>
        <p:txBody>
          <a:bodyPr wrap="square" lIns="0" rIns="0" tIns="0" bIns="0" anchor="ctr">
            <a:spAutoFit/>
          </a:bodyPr>
          <a:lstStyle/>
          <a:p>
            <a:pPr algn="l">
              <a:lnSpc>
                <a:spcPts val="1400"/>
              </a:lnSpc>
            </a:pPr>
            <a:r>
              <a:rPr sz="1050" b="0" i="0">
                <a:solidFill>
                  <a:srgbClr val="4E5A66"/>
                </a:solidFill>
                <a:latin typeface="Calibri"/>
              </a:rPr>
              <a:t>Console app today; a user interface next</a:t>
            </a:r>
          </a:p>
        </p:txBody>
      </p:sp>
      <p:sp>
        <p:nvSpPr>
          <p:cNvPr id="7" name="Rounded Rectangle 6"/>
          <p:cNvSpPr/>
          <p:nvPr/>
        </p:nvSpPr>
        <p:spPr>
          <a:xfrm>
            <a:off x="548640" y="2304288"/>
            <a:ext cx="6035040" cy="713232"/>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04672" y="2304288"/>
            <a:ext cx="2194560" cy="713232"/>
          </a:xfrm>
          <a:prstGeom prst="rect">
            <a:avLst/>
          </a:prstGeom>
          <a:noFill/>
        </p:spPr>
        <p:txBody>
          <a:bodyPr wrap="square" lIns="0" rIns="0" tIns="0" bIns="0" anchor="ctr">
            <a:spAutoFit/>
          </a:bodyPr>
          <a:lstStyle/>
          <a:p>
            <a:pPr algn="l"/>
            <a:r>
              <a:rPr sz="1350" b="1" i="0">
                <a:solidFill>
                  <a:srgbClr val="1B2430"/>
                </a:solidFill>
                <a:latin typeface="Cambria"/>
              </a:rPr>
              <a:t>Logic.dll</a:t>
            </a:r>
          </a:p>
        </p:txBody>
      </p:sp>
      <p:sp>
        <p:nvSpPr>
          <p:cNvPr id="9" name="TextBox 8"/>
          <p:cNvSpPr txBox="1"/>
          <p:nvPr/>
        </p:nvSpPr>
        <p:spPr>
          <a:xfrm>
            <a:off x="3200400" y="2304288"/>
            <a:ext cx="3108960" cy="713232"/>
          </a:xfrm>
          <a:prstGeom prst="rect">
            <a:avLst/>
          </a:prstGeom>
          <a:noFill/>
        </p:spPr>
        <p:txBody>
          <a:bodyPr wrap="square" lIns="0" rIns="0" tIns="0" bIns="0" anchor="ctr">
            <a:spAutoFit/>
          </a:bodyPr>
          <a:lstStyle/>
          <a:p>
            <a:pPr algn="l">
              <a:lnSpc>
                <a:spcPts val="1400"/>
              </a:lnSpc>
            </a:pPr>
            <a:r>
              <a:rPr sz="1050" b="0" i="0">
                <a:solidFill>
                  <a:srgbClr val="4E5A66"/>
                </a:solidFill>
                <a:latin typeface="Calibri"/>
              </a:rPr>
              <a:t>Orchestration, quota allocation, placement, review queue</a:t>
            </a:r>
          </a:p>
        </p:txBody>
      </p:sp>
      <p:sp>
        <p:nvSpPr>
          <p:cNvPr id="10" name="Rounded Rectangle 9"/>
          <p:cNvSpPr/>
          <p:nvPr/>
        </p:nvSpPr>
        <p:spPr>
          <a:xfrm>
            <a:off x="548640" y="3145536"/>
            <a:ext cx="6035040" cy="713232"/>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04672" y="3145536"/>
            <a:ext cx="2194560" cy="713232"/>
          </a:xfrm>
          <a:prstGeom prst="rect">
            <a:avLst/>
          </a:prstGeom>
          <a:noFill/>
        </p:spPr>
        <p:txBody>
          <a:bodyPr wrap="square" lIns="0" rIns="0" tIns="0" bIns="0" anchor="ctr">
            <a:spAutoFit/>
          </a:bodyPr>
          <a:lstStyle/>
          <a:p>
            <a:pPr algn="l"/>
            <a:r>
              <a:rPr sz="1350" b="1" i="0">
                <a:solidFill>
                  <a:srgbClr val="1B2430"/>
                </a:solidFill>
                <a:latin typeface="Cambria"/>
              </a:rPr>
              <a:t>Model.dll</a:t>
            </a:r>
          </a:p>
        </p:txBody>
      </p:sp>
      <p:sp>
        <p:nvSpPr>
          <p:cNvPr id="12" name="TextBox 11"/>
          <p:cNvSpPr txBox="1"/>
          <p:nvPr/>
        </p:nvSpPr>
        <p:spPr>
          <a:xfrm>
            <a:off x="3200400" y="3145536"/>
            <a:ext cx="3108960" cy="713232"/>
          </a:xfrm>
          <a:prstGeom prst="rect">
            <a:avLst/>
          </a:prstGeom>
          <a:noFill/>
        </p:spPr>
        <p:txBody>
          <a:bodyPr wrap="square" lIns="0" rIns="0" tIns="0" bIns="0" anchor="ctr">
            <a:spAutoFit/>
          </a:bodyPr>
          <a:lstStyle/>
          <a:p>
            <a:pPr algn="l">
              <a:lnSpc>
                <a:spcPts val="1400"/>
              </a:lnSpc>
            </a:pPr>
            <a:r>
              <a:rPr sz="1050" b="0" i="0">
                <a:solidFill>
                  <a:srgbClr val="4E5A66"/>
                </a:solidFill>
                <a:latin typeface="Calibri"/>
              </a:rPr>
              <a:t>SQL Server access and Python process invocation</a:t>
            </a:r>
          </a:p>
        </p:txBody>
      </p:sp>
      <p:sp>
        <p:nvSpPr>
          <p:cNvPr id="13" name="Rounded Rectangle 12"/>
          <p:cNvSpPr/>
          <p:nvPr/>
        </p:nvSpPr>
        <p:spPr>
          <a:xfrm>
            <a:off x="548640" y="3986784"/>
            <a:ext cx="6035040" cy="713232"/>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2" y="3986784"/>
            <a:ext cx="2194560" cy="713232"/>
          </a:xfrm>
          <a:prstGeom prst="rect">
            <a:avLst/>
          </a:prstGeom>
          <a:noFill/>
        </p:spPr>
        <p:txBody>
          <a:bodyPr wrap="square" lIns="0" rIns="0" tIns="0" bIns="0" anchor="ctr">
            <a:spAutoFit/>
          </a:bodyPr>
          <a:lstStyle/>
          <a:p>
            <a:pPr algn="l"/>
            <a:r>
              <a:rPr sz="1350" b="1" i="0">
                <a:solidFill>
                  <a:srgbClr val="1B2430"/>
                </a:solidFill>
                <a:latin typeface="Cambria"/>
              </a:rPr>
              <a:t>Python models</a:t>
            </a:r>
          </a:p>
        </p:txBody>
      </p:sp>
      <p:sp>
        <p:nvSpPr>
          <p:cNvPr id="15" name="TextBox 14"/>
          <p:cNvSpPr txBox="1"/>
          <p:nvPr/>
        </p:nvSpPr>
        <p:spPr>
          <a:xfrm>
            <a:off x="3200400" y="3986784"/>
            <a:ext cx="3108960" cy="713232"/>
          </a:xfrm>
          <a:prstGeom prst="rect">
            <a:avLst/>
          </a:prstGeom>
          <a:noFill/>
        </p:spPr>
        <p:txBody>
          <a:bodyPr wrap="square" lIns="0" rIns="0" tIns="0" bIns="0" anchor="ctr">
            <a:spAutoFit/>
          </a:bodyPr>
          <a:lstStyle/>
          <a:p>
            <a:pPr algn="l">
              <a:lnSpc>
                <a:spcPts val="1400"/>
              </a:lnSpc>
            </a:pPr>
            <a:r>
              <a:rPr sz="1050" b="0" i="0">
                <a:solidFill>
                  <a:srgbClr val="4E5A66"/>
                </a:solidFill>
                <a:latin typeface="Calibri"/>
              </a:rPr>
              <a:t>predict_equipment.py, predict_sectioncluster.py, .pkl files</a:t>
            </a:r>
          </a:p>
        </p:txBody>
      </p:sp>
      <p:sp>
        <p:nvSpPr>
          <p:cNvPr id="16" name="Rounded Rectangle 15"/>
          <p:cNvSpPr/>
          <p:nvPr/>
        </p:nvSpPr>
        <p:spPr>
          <a:xfrm>
            <a:off x="548640" y="4828032"/>
            <a:ext cx="6035040" cy="713232"/>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04672" y="4828032"/>
            <a:ext cx="2194560" cy="713232"/>
          </a:xfrm>
          <a:prstGeom prst="rect">
            <a:avLst/>
          </a:prstGeom>
          <a:noFill/>
        </p:spPr>
        <p:txBody>
          <a:bodyPr wrap="square" lIns="0" rIns="0" tIns="0" bIns="0" anchor="ctr">
            <a:spAutoFit/>
          </a:bodyPr>
          <a:lstStyle/>
          <a:p>
            <a:pPr algn="l"/>
            <a:r>
              <a:rPr sz="1350" b="1" i="0">
                <a:solidFill>
                  <a:srgbClr val="FFFFFF"/>
                </a:solidFill>
                <a:latin typeface="Cambria"/>
              </a:rPr>
              <a:t>SQL Server</a:t>
            </a:r>
          </a:p>
        </p:txBody>
      </p:sp>
      <p:sp>
        <p:nvSpPr>
          <p:cNvPr id="18" name="TextBox 17"/>
          <p:cNvSpPr txBox="1"/>
          <p:nvPr/>
        </p:nvSpPr>
        <p:spPr>
          <a:xfrm>
            <a:off x="3200400" y="4828032"/>
            <a:ext cx="3108960" cy="713232"/>
          </a:xfrm>
          <a:prstGeom prst="rect">
            <a:avLst/>
          </a:prstGeom>
          <a:noFill/>
        </p:spPr>
        <p:txBody>
          <a:bodyPr wrap="square" lIns="0" rIns="0" tIns="0" bIns="0" anchor="ctr">
            <a:spAutoFit/>
          </a:bodyPr>
          <a:lstStyle/>
          <a:p>
            <a:pPr algn="l">
              <a:lnSpc>
                <a:spcPts val="1400"/>
              </a:lnSpc>
            </a:pPr>
            <a:r>
              <a:rPr sz="1050" b="0" i="0">
                <a:solidFill>
                  <a:srgbClr val="9EA8B2"/>
                </a:solidFill>
                <a:latin typeface="Calibri"/>
              </a:rPr>
              <a:t>XenCreator — source table, quota table, two output tables</a:t>
            </a:r>
          </a:p>
        </p:txBody>
      </p:sp>
      <p:sp>
        <p:nvSpPr>
          <p:cNvPr id="19" name="TextBox 18"/>
          <p:cNvSpPr txBox="1"/>
          <p:nvPr/>
        </p:nvSpPr>
        <p:spPr>
          <a:xfrm>
            <a:off x="548640" y="5669280"/>
            <a:ext cx="6035040" cy="274320"/>
          </a:xfrm>
          <a:prstGeom prst="rect">
            <a:avLst/>
          </a:prstGeom>
          <a:noFill/>
        </p:spPr>
        <p:txBody>
          <a:bodyPr wrap="square" lIns="0" rIns="0" tIns="0" bIns="0" anchor="t">
            <a:spAutoFit/>
          </a:bodyPr>
          <a:lstStyle/>
          <a:p>
            <a:pPr algn="l"/>
            <a:r>
              <a:rPr sz="1050" b="0" i="1">
                <a:solidFill>
                  <a:srgbClr val="7A8792"/>
                </a:solidFill>
                <a:latin typeface="Calibri"/>
              </a:rPr>
              <a:t>Each layer only depends on the one beneath it.</a:t>
            </a:r>
          </a:p>
        </p:txBody>
      </p:sp>
      <p:sp>
        <p:nvSpPr>
          <p:cNvPr id="20" name="Rounded Rectangle 19"/>
          <p:cNvSpPr/>
          <p:nvPr/>
        </p:nvSpPr>
        <p:spPr>
          <a:xfrm>
            <a:off x="6858000" y="1463040"/>
            <a:ext cx="4782312" cy="1554480"/>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114032" y="1682496"/>
            <a:ext cx="4270248" cy="219456"/>
          </a:xfrm>
          <a:prstGeom prst="rect">
            <a:avLst/>
          </a:prstGeom>
          <a:noFill/>
        </p:spPr>
        <p:txBody>
          <a:bodyPr wrap="square" lIns="0" rIns="0" tIns="0" bIns="0" anchor="t">
            <a:spAutoFit/>
          </a:bodyPr>
          <a:lstStyle/>
          <a:p>
            <a:pPr algn="l"/>
            <a:r>
              <a:rPr sz="1050" b="1" i="0" spc="180">
                <a:solidFill>
                  <a:srgbClr val="C46A24"/>
                </a:solidFill>
                <a:latin typeface="Calibri"/>
              </a:rPr>
              <a:t>ONE CALL RUNS EVERYTHING</a:t>
            </a:r>
          </a:p>
        </p:txBody>
      </p:sp>
      <p:sp>
        <p:nvSpPr>
          <p:cNvPr id="22" name="TextBox 21"/>
          <p:cNvSpPr txBox="1"/>
          <p:nvPr/>
        </p:nvSpPr>
        <p:spPr>
          <a:xfrm>
            <a:off x="7114032" y="1993392"/>
            <a:ext cx="4270248" cy="822960"/>
          </a:xfrm>
          <a:prstGeom prst="rect">
            <a:avLst/>
          </a:prstGeom>
          <a:noFill/>
        </p:spPr>
        <p:txBody>
          <a:bodyPr wrap="square" lIns="0" rIns="0" tIns="0" bIns="0" anchor="t">
            <a:spAutoFit/>
          </a:bodyPr>
          <a:lstStyle/>
          <a:p>
            <a:pPr algn="l">
              <a:lnSpc>
                <a:spcPts val="1400"/>
              </a:lnSpc>
            </a:pPr>
            <a:r>
              <a:rPr sz="1050" b="0" i="0">
                <a:solidFill>
                  <a:srgbClr val="FFFFFF"/>
                </a:solidFill>
                <a:latin typeface="Consolas"/>
              </a:rPr>
              <a:t>var result = await</a:t>
            </a:r>
          </a:p>
          <a:p>
            <a:pPr algn="l">
              <a:lnSpc>
                <a:spcPts val="1400"/>
              </a:lnSpc>
            </a:pPr>
            <a:r>
              <a:rPr sz="1050" b="0" i="0">
                <a:solidFill>
                  <a:srgbClr val="FFFFFF"/>
                </a:solidFill>
                <a:latin typeface="Consolas"/>
              </a:rPr>
              <a:t>DevicePipeline.RunAsync(</a:t>
            </a:r>
          </a:p>
          <a:p>
            <a:pPr algn="l">
              <a:lnSpc>
                <a:spcPts val="1400"/>
              </a:lnSpc>
            </a:pPr>
            <a:r>
              <a:rPr sz="1050" b="0" i="0">
                <a:solidFill>
                  <a:srgbClr val="FFFFFF"/>
                </a:solidFill>
                <a:latin typeface="Consolas"/>
              </a:rPr>
              <a:t>    sqlReader, client, logic,</a:t>
            </a:r>
          </a:p>
          <a:p>
            <a:pPr algn="l">
              <a:lnSpc>
                <a:spcPts val="1400"/>
              </a:lnSpc>
            </a:pPr>
            <a:r>
              <a:rPr sz="1050" b="0" i="0">
                <a:solidFill>
                  <a:srgbClr val="FFFFFF"/>
                </a:solidFill>
                <a:latin typeface="Consolas"/>
              </a:rPr>
              <a:t>    projectCode: "A9998");</a:t>
            </a:r>
          </a:p>
        </p:txBody>
      </p:sp>
      <p:sp>
        <p:nvSpPr>
          <p:cNvPr id="23" name="Rounded Rectangle 22"/>
          <p:cNvSpPr/>
          <p:nvPr/>
        </p:nvSpPr>
        <p:spPr>
          <a:xfrm>
            <a:off x="6858000" y="3145536"/>
            <a:ext cx="4782312"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114032" y="3346704"/>
            <a:ext cx="4270248" cy="219456"/>
          </a:xfrm>
          <a:prstGeom prst="rect">
            <a:avLst/>
          </a:prstGeom>
          <a:noFill/>
        </p:spPr>
        <p:txBody>
          <a:bodyPr wrap="square" lIns="0" rIns="0" tIns="0" bIns="0" anchor="t">
            <a:spAutoFit/>
          </a:bodyPr>
          <a:lstStyle/>
          <a:p>
            <a:pPr algn="l"/>
            <a:r>
              <a:rPr sz="1050" b="1" i="0" spc="180">
                <a:solidFill>
                  <a:srgbClr val="C46A24"/>
                </a:solidFill>
                <a:latin typeface="Calibri"/>
              </a:rPr>
              <a:t>RUNTIME REQUIREMENTS</a:t>
            </a:r>
          </a:p>
        </p:txBody>
      </p:sp>
      <p:sp>
        <p:nvSpPr>
          <p:cNvPr id="25" name="TextBox 24"/>
          <p:cNvSpPr txBox="1"/>
          <p:nvPr/>
        </p:nvSpPr>
        <p:spPr>
          <a:xfrm>
            <a:off x="7114032" y="3639312"/>
            <a:ext cx="4270248" cy="548640"/>
          </a:xfrm>
          <a:prstGeom prst="rect">
            <a:avLst/>
          </a:prstGeom>
          <a:noFill/>
        </p:spPr>
        <p:txBody>
          <a:bodyPr wrap="square" lIns="0" rIns="0" tIns="0" bIns="0" anchor="t">
            <a:spAutoFit/>
          </a:bodyPr>
          <a:lstStyle/>
          <a:p>
            <a:pPr algn="l">
              <a:lnSpc>
                <a:spcPts val="1700"/>
              </a:lnSpc>
            </a:pPr>
            <a:r>
              <a:rPr sz="1200" b="0" i="0">
                <a:solidFill>
                  <a:srgbClr val="1B2430"/>
                </a:solidFill>
                <a:latin typeface="Calibri"/>
              </a:rPr>
              <a:t>.NET 10  ·  Windows x64</a:t>
            </a:r>
          </a:p>
          <a:p>
            <a:pPr algn="l">
              <a:lnSpc>
                <a:spcPts val="1700"/>
              </a:lnSpc>
            </a:pPr>
            <a:r>
              <a:rPr sz="1200" b="0" i="0">
                <a:solidFill>
                  <a:srgbClr val="1B2430"/>
                </a:solidFill>
                <a:latin typeface="Calibri"/>
              </a:rPr>
              <a:t>Python 3.13  ·  SQL Server</a:t>
            </a:r>
          </a:p>
        </p:txBody>
      </p:sp>
      <p:sp>
        <p:nvSpPr>
          <p:cNvPr id="26" name="Rounded Rectangle 25"/>
          <p:cNvSpPr/>
          <p:nvPr/>
        </p:nvSpPr>
        <p:spPr>
          <a:xfrm>
            <a:off x="6858000" y="4507992"/>
            <a:ext cx="4782312"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114032" y="4709160"/>
            <a:ext cx="4270248" cy="219456"/>
          </a:xfrm>
          <a:prstGeom prst="rect">
            <a:avLst/>
          </a:prstGeom>
          <a:noFill/>
        </p:spPr>
        <p:txBody>
          <a:bodyPr wrap="square" lIns="0" rIns="0" tIns="0" bIns="0" anchor="t">
            <a:spAutoFit/>
          </a:bodyPr>
          <a:lstStyle/>
          <a:p>
            <a:pPr algn="l"/>
            <a:r>
              <a:rPr sz="1050" b="1" i="0" spc="180">
                <a:solidFill>
                  <a:srgbClr val="C46A24"/>
                </a:solidFill>
                <a:latin typeface="Calibri"/>
              </a:rPr>
              <a:t>HANDOVER PACKAGE DELIVERED</a:t>
            </a:r>
          </a:p>
        </p:txBody>
      </p:sp>
      <p:sp>
        <p:nvSpPr>
          <p:cNvPr id="28" name="TextBox 27"/>
          <p:cNvSpPr txBox="1"/>
          <p:nvPr/>
        </p:nvSpPr>
        <p:spPr>
          <a:xfrm>
            <a:off x="7114032" y="5001768"/>
            <a:ext cx="4270248" cy="685800"/>
          </a:xfrm>
          <a:prstGeom prst="rect">
            <a:avLst/>
          </a:prstGeom>
          <a:noFill/>
        </p:spPr>
        <p:txBody>
          <a:bodyPr wrap="square" lIns="0" rIns="0" tIns="0" bIns="0" anchor="t">
            <a:spAutoFit/>
          </a:bodyPr>
          <a:lstStyle/>
          <a:p>
            <a:pPr algn="l">
              <a:lnSpc>
                <a:spcPts val="1600"/>
              </a:lnSpc>
            </a:pPr>
            <a:r>
              <a:rPr sz="1100" b="0" i="0">
                <a:solidFill>
                  <a:srgbClr val="4E5A66"/>
                </a:solidFill>
                <a:latin typeface="Calibri"/>
              </a:rPr>
              <a:t>2 DLLs + 22 dependencies</a:t>
            </a:r>
          </a:p>
          <a:p>
            <a:pPr algn="l">
              <a:lnSpc>
                <a:spcPts val="1600"/>
              </a:lnSpc>
            </a:pPr>
            <a:r>
              <a:rPr sz="1100" b="0" i="0">
                <a:solidFill>
                  <a:srgbClr val="4E5A66"/>
                </a:solidFill>
                <a:latin typeface="Calibri"/>
              </a:rPr>
              <a:t>Trained models and 3 SQL scripts</a:t>
            </a:r>
          </a:p>
          <a:p>
            <a:pPr algn="l">
              <a:lnSpc>
                <a:spcPts val="1600"/>
              </a:lnSpc>
            </a:pPr>
            <a:r>
              <a:rPr sz="1100" b="0" i="0">
                <a:solidFill>
                  <a:srgbClr val="4E5A66"/>
                </a:solidFill>
                <a:latin typeface="Calibri"/>
              </a:rPr>
              <a:t>API reference and quick guide</a:t>
            </a:r>
          </a:p>
        </p:txBody>
      </p:sp>
      <p:sp>
        <p:nvSpPr>
          <p:cNvPr id="29" name="TextBox 28"/>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August 2026</a:t>
            </a:r>
          </a:p>
        </p:txBody>
      </p:sp>
      <p:sp>
        <p:nvSpPr>
          <p:cNvPr id="30" name="TextBox 29"/>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07  ·  HUMAN IN THE LOOP</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The system improves as engineers correct it</a:t>
            </a:r>
          </a:p>
        </p:txBody>
      </p:sp>
      <p:sp>
        <p:nvSpPr>
          <p:cNvPr id="4" name="Rounded Rectangle 3"/>
          <p:cNvSpPr/>
          <p:nvPr/>
        </p:nvSpPr>
        <p:spPr>
          <a:xfrm>
            <a:off x="548640"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749808"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572768"/>
            <a:ext cx="329184" cy="329184"/>
          </a:xfrm>
          <a:prstGeom prst="rect">
            <a:avLst/>
          </a:prstGeom>
          <a:noFill/>
        </p:spPr>
        <p:txBody>
          <a:bodyPr wrap="square" lIns="0" rIns="0" tIns="0" bIns="0" anchor="ctr">
            <a:spAutoFit/>
          </a:bodyPr>
          <a:lstStyle/>
          <a:p>
            <a:pPr algn="ctr"/>
            <a:r>
              <a:rPr sz="1100" b="1" i="0">
                <a:solidFill>
                  <a:srgbClr val="FFFFFF"/>
                </a:solidFill>
                <a:latin typeface="Cambria"/>
              </a:rPr>
              <a:t>1</a:t>
            </a:r>
          </a:p>
        </p:txBody>
      </p:sp>
      <p:sp>
        <p:nvSpPr>
          <p:cNvPr id="7" name="TextBox 6"/>
          <p:cNvSpPr txBox="1"/>
          <p:nvPr/>
        </p:nvSpPr>
        <p:spPr>
          <a:xfrm>
            <a:off x="749808" y="2011680"/>
            <a:ext cx="1655064" cy="457200"/>
          </a:xfrm>
          <a:prstGeom prst="rect">
            <a:avLst/>
          </a:prstGeom>
          <a:noFill/>
        </p:spPr>
        <p:txBody>
          <a:bodyPr wrap="square" lIns="0" rIns="0" tIns="0" bIns="0" anchor="t">
            <a:spAutoFit/>
          </a:bodyPr>
          <a:lstStyle/>
          <a:p>
            <a:pPr algn="l">
              <a:lnSpc>
                <a:spcPts val="1400"/>
              </a:lnSpc>
            </a:pPr>
            <a:r>
              <a:rPr sz="1100" b="1" i="0">
                <a:solidFill>
                  <a:srgbClr val="1B2430"/>
                </a:solidFill>
                <a:latin typeface="Calibri"/>
              </a:rPr>
              <a:t>Prediction is made</a:t>
            </a:r>
          </a:p>
        </p:txBody>
      </p:sp>
      <p:sp>
        <p:nvSpPr>
          <p:cNvPr id="8" name="Isosceles Triangle 7"/>
          <p:cNvSpPr/>
          <p:nvPr/>
        </p:nvSpPr>
        <p:spPr>
          <a:xfrm rot="5400000">
            <a:off x="2633472"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807208"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3008376"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08376" y="1572768"/>
            <a:ext cx="329184" cy="329184"/>
          </a:xfrm>
          <a:prstGeom prst="rect">
            <a:avLst/>
          </a:prstGeom>
          <a:noFill/>
        </p:spPr>
        <p:txBody>
          <a:bodyPr wrap="square" lIns="0" rIns="0" tIns="0" bIns="0" anchor="ctr">
            <a:spAutoFit/>
          </a:bodyPr>
          <a:lstStyle/>
          <a:p>
            <a:pPr algn="ctr"/>
            <a:r>
              <a:rPr sz="1100" b="1" i="0">
                <a:solidFill>
                  <a:srgbClr val="FFFFFF"/>
                </a:solidFill>
                <a:latin typeface="Cambria"/>
              </a:rPr>
              <a:t>2</a:t>
            </a:r>
          </a:p>
        </p:txBody>
      </p:sp>
      <p:sp>
        <p:nvSpPr>
          <p:cNvPr id="12" name="TextBox 11"/>
          <p:cNvSpPr txBox="1"/>
          <p:nvPr/>
        </p:nvSpPr>
        <p:spPr>
          <a:xfrm>
            <a:off x="3008376" y="2011680"/>
            <a:ext cx="1655064" cy="457200"/>
          </a:xfrm>
          <a:prstGeom prst="rect">
            <a:avLst/>
          </a:prstGeom>
          <a:noFill/>
        </p:spPr>
        <p:txBody>
          <a:bodyPr wrap="square" lIns="0" rIns="0" tIns="0" bIns="0" anchor="t">
            <a:spAutoFit/>
          </a:bodyPr>
          <a:lstStyle/>
          <a:p>
            <a:pPr algn="l">
              <a:lnSpc>
                <a:spcPts val="1400"/>
              </a:lnSpc>
            </a:pPr>
            <a:r>
              <a:rPr sz="1100" b="1" i="0">
                <a:solidFill>
                  <a:srgbClr val="1B2430"/>
                </a:solidFill>
                <a:latin typeface="Calibri"/>
              </a:rPr>
              <a:t>Low confidence goes to the review queue</a:t>
            </a:r>
          </a:p>
        </p:txBody>
      </p:sp>
      <p:sp>
        <p:nvSpPr>
          <p:cNvPr id="13" name="Isosceles Triangle 12"/>
          <p:cNvSpPr/>
          <p:nvPr/>
        </p:nvSpPr>
        <p:spPr>
          <a:xfrm rot="5400000">
            <a:off x="4892040"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065776"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5266944"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66944" y="1572768"/>
            <a:ext cx="329184" cy="329184"/>
          </a:xfrm>
          <a:prstGeom prst="rect">
            <a:avLst/>
          </a:prstGeom>
          <a:noFill/>
        </p:spPr>
        <p:txBody>
          <a:bodyPr wrap="square" lIns="0" rIns="0" tIns="0" bIns="0" anchor="ctr">
            <a:spAutoFit/>
          </a:bodyPr>
          <a:lstStyle/>
          <a:p>
            <a:pPr algn="ctr"/>
            <a:r>
              <a:rPr sz="1100" b="1" i="0">
                <a:solidFill>
                  <a:srgbClr val="FFFFFF"/>
                </a:solidFill>
                <a:latin typeface="Cambria"/>
              </a:rPr>
              <a:t>3</a:t>
            </a:r>
          </a:p>
        </p:txBody>
      </p:sp>
      <p:sp>
        <p:nvSpPr>
          <p:cNvPr id="17" name="TextBox 16"/>
          <p:cNvSpPr txBox="1"/>
          <p:nvPr/>
        </p:nvSpPr>
        <p:spPr>
          <a:xfrm>
            <a:off x="5266944" y="2011680"/>
            <a:ext cx="1655064" cy="457200"/>
          </a:xfrm>
          <a:prstGeom prst="rect">
            <a:avLst/>
          </a:prstGeom>
          <a:noFill/>
        </p:spPr>
        <p:txBody>
          <a:bodyPr wrap="square" lIns="0" rIns="0" tIns="0" bIns="0" anchor="t">
            <a:spAutoFit/>
          </a:bodyPr>
          <a:lstStyle/>
          <a:p>
            <a:pPr algn="l">
              <a:lnSpc>
                <a:spcPts val="1400"/>
              </a:lnSpc>
            </a:pPr>
            <a:r>
              <a:rPr sz="1100" b="1" i="0">
                <a:solidFill>
                  <a:srgbClr val="1B2430"/>
                </a:solidFill>
                <a:latin typeface="Calibri"/>
              </a:rPr>
              <a:t>Engineer assigns the correct value</a:t>
            </a:r>
          </a:p>
        </p:txBody>
      </p:sp>
      <p:sp>
        <p:nvSpPr>
          <p:cNvPr id="18" name="Isosceles Triangle 17"/>
          <p:cNvSpPr/>
          <p:nvPr/>
        </p:nvSpPr>
        <p:spPr>
          <a:xfrm rot="5400000">
            <a:off x="7150608"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24344"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525512"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25512" y="1572768"/>
            <a:ext cx="329184" cy="329184"/>
          </a:xfrm>
          <a:prstGeom prst="rect">
            <a:avLst/>
          </a:prstGeom>
          <a:noFill/>
        </p:spPr>
        <p:txBody>
          <a:bodyPr wrap="square" lIns="0" rIns="0" tIns="0" bIns="0" anchor="ctr">
            <a:spAutoFit/>
          </a:bodyPr>
          <a:lstStyle/>
          <a:p>
            <a:pPr algn="ctr"/>
            <a:r>
              <a:rPr sz="1100" b="1" i="0">
                <a:solidFill>
                  <a:srgbClr val="FFFFFF"/>
                </a:solidFill>
                <a:latin typeface="Cambria"/>
              </a:rPr>
              <a:t>4</a:t>
            </a:r>
          </a:p>
        </p:txBody>
      </p:sp>
      <p:sp>
        <p:nvSpPr>
          <p:cNvPr id="22" name="TextBox 21"/>
          <p:cNvSpPr txBox="1"/>
          <p:nvPr/>
        </p:nvSpPr>
        <p:spPr>
          <a:xfrm>
            <a:off x="7525512" y="2011680"/>
            <a:ext cx="1655064" cy="457200"/>
          </a:xfrm>
          <a:prstGeom prst="rect">
            <a:avLst/>
          </a:prstGeom>
          <a:noFill/>
        </p:spPr>
        <p:txBody>
          <a:bodyPr wrap="square" lIns="0" rIns="0" tIns="0" bIns="0" anchor="t">
            <a:spAutoFit/>
          </a:bodyPr>
          <a:lstStyle/>
          <a:p>
            <a:pPr algn="l">
              <a:lnSpc>
                <a:spcPts val="1400"/>
              </a:lnSpc>
            </a:pPr>
            <a:r>
              <a:rPr sz="1100" b="1" i="0">
                <a:solidFill>
                  <a:srgbClr val="1B2430"/>
                </a:solidFill>
                <a:latin typeface="Calibri"/>
              </a:rPr>
              <a:t>Reference data and model update</a:t>
            </a:r>
          </a:p>
        </p:txBody>
      </p:sp>
      <p:sp>
        <p:nvSpPr>
          <p:cNvPr id="23" name="Isosceles Triangle 22"/>
          <p:cNvSpPr/>
          <p:nvPr/>
        </p:nvSpPr>
        <p:spPr>
          <a:xfrm rot="5400000">
            <a:off x="9409176"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582912"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9784080"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0" y="1572768"/>
            <a:ext cx="329184" cy="329184"/>
          </a:xfrm>
          <a:prstGeom prst="rect">
            <a:avLst/>
          </a:prstGeom>
          <a:noFill/>
        </p:spPr>
        <p:txBody>
          <a:bodyPr wrap="square" lIns="0" rIns="0" tIns="0" bIns="0" anchor="ctr">
            <a:spAutoFit/>
          </a:bodyPr>
          <a:lstStyle/>
          <a:p>
            <a:pPr algn="ctr"/>
            <a:r>
              <a:rPr sz="1100" b="1" i="0">
                <a:solidFill>
                  <a:srgbClr val="FFFFFF"/>
                </a:solidFill>
                <a:latin typeface="Cambria"/>
              </a:rPr>
              <a:t>5</a:t>
            </a:r>
          </a:p>
        </p:txBody>
      </p:sp>
      <p:sp>
        <p:nvSpPr>
          <p:cNvPr id="27" name="TextBox 26"/>
          <p:cNvSpPr txBox="1"/>
          <p:nvPr/>
        </p:nvSpPr>
        <p:spPr>
          <a:xfrm>
            <a:off x="9784080" y="2011680"/>
            <a:ext cx="1655064" cy="457200"/>
          </a:xfrm>
          <a:prstGeom prst="rect">
            <a:avLst/>
          </a:prstGeom>
          <a:noFill/>
        </p:spPr>
        <p:txBody>
          <a:bodyPr wrap="square" lIns="0" rIns="0" tIns="0" bIns="0" anchor="t">
            <a:spAutoFit/>
          </a:bodyPr>
          <a:lstStyle/>
          <a:p>
            <a:pPr algn="l">
              <a:lnSpc>
                <a:spcPts val="1400"/>
              </a:lnSpc>
            </a:pPr>
            <a:r>
              <a:rPr sz="1100" b="1" i="0">
                <a:solidFill>
                  <a:srgbClr val="1B2430"/>
                </a:solidFill>
                <a:latin typeface="Calibri"/>
              </a:rPr>
              <a:t>The next run already knows</a:t>
            </a:r>
          </a:p>
        </p:txBody>
      </p:sp>
      <p:sp>
        <p:nvSpPr>
          <p:cNvPr id="28" name="Rounded Rectangle 27"/>
          <p:cNvSpPr/>
          <p:nvPr/>
        </p:nvSpPr>
        <p:spPr>
          <a:xfrm>
            <a:off x="548640" y="2926080"/>
            <a:ext cx="5440680" cy="17830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22960" y="3145536"/>
            <a:ext cx="4892040" cy="219456"/>
          </a:xfrm>
          <a:prstGeom prst="rect">
            <a:avLst/>
          </a:prstGeom>
          <a:noFill/>
        </p:spPr>
        <p:txBody>
          <a:bodyPr wrap="square" lIns="0" rIns="0" tIns="0" bIns="0" anchor="t">
            <a:spAutoFit/>
          </a:bodyPr>
          <a:lstStyle/>
          <a:p>
            <a:pPr algn="l"/>
            <a:r>
              <a:rPr sz="1050" b="1" i="0" spc="180">
                <a:solidFill>
                  <a:srgbClr val="2E7D63"/>
                </a:solidFill>
                <a:latin typeface="Calibri"/>
              </a:rPr>
              <a:t>DEVICE TYPE — APPLIED IMMEDIATELY</a:t>
            </a:r>
          </a:p>
        </p:txBody>
      </p:sp>
      <p:sp>
        <p:nvSpPr>
          <p:cNvPr id="30" name="TextBox 29"/>
          <p:cNvSpPr txBox="1"/>
          <p:nvPr/>
        </p:nvSpPr>
        <p:spPr>
          <a:xfrm>
            <a:off x="822960" y="3456432"/>
            <a:ext cx="4892040" cy="713232"/>
          </a:xfrm>
          <a:prstGeom prst="rect">
            <a:avLst/>
          </a:prstGeom>
          <a:noFill/>
        </p:spPr>
        <p:txBody>
          <a:bodyPr wrap="square" lIns="0" rIns="0" tIns="0" bIns="0" anchor="t">
            <a:spAutoFit/>
          </a:bodyPr>
          <a:lstStyle/>
          <a:p>
            <a:pPr algn="l">
              <a:lnSpc>
                <a:spcPts val="1500"/>
              </a:lnSpc>
            </a:pPr>
            <a:r>
              <a:rPr sz="1150" b="0" i="0">
                <a:solidFill>
                  <a:srgbClr val="4E5A66"/>
                </a:solidFill>
                <a:latin typeface="Calibri"/>
              </a:rPr>
              <a:t>The correction updates the prefix dictionary and the classifier through partial_fit, then writes to disk atomically with an automatic backup. The very next prediction uses it.</a:t>
            </a:r>
          </a:p>
        </p:txBody>
      </p:sp>
      <p:sp>
        <p:nvSpPr>
          <p:cNvPr id="31" name="TextBox 30"/>
          <p:cNvSpPr txBox="1"/>
          <p:nvPr/>
        </p:nvSpPr>
        <p:spPr>
          <a:xfrm>
            <a:off x="822960" y="4261104"/>
            <a:ext cx="4892040" cy="310896"/>
          </a:xfrm>
          <a:prstGeom prst="rect">
            <a:avLst/>
          </a:prstGeom>
          <a:noFill/>
        </p:spPr>
        <p:txBody>
          <a:bodyPr wrap="square" lIns="0" rIns="0" tIns="0" bIns="0" anchor="t">
            <a:spAutoFit/>
          </a:bodyPr>
          <a:lstStyle/>
          <a:p>
            <a:pPr algn="l"/>
            <a:r>
              <a:rPr sz="1050" b="0" i="1">
                <a:solidFill>
                  <a:srgbClr val="7A8792"/>
                </a:solidFill>
                <a:latin typeface="Calibri"/>
              </a:rPr>
              <a:t>Buffered flush every 50 records; manual assignments persist at once.</a:t>
            </a:r>
          </a:p>
        </p:txBody>
      </p:sp>
      <p:sp>
        <p:nvSpPr>
          <p:cNvPr id="32" name="Rounded Rectangle 31"/>
          <p:cNvSpPr/>
          <p:nvPr/>
        </p:nvSpPr>
        <p:spPr>
          <a:xfrm>
            <a:off x="6199632" y="2926080"/>
            <a:ext cx="5440680" cy="1783080"/>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73952" y="3145536"/>
            <a:ext cx="4892040" cy="219456"/>
          </a:xfrm>
          <a:prstGeom prst="rect">
            <a:avLst/>
          </a:prstGeom>
          <a:noFill/>
        </p:spPr>
        <p:txBody>
          <a:bodyPr wrap="square" lIns="0" rIns="0" tIns="0" bIns="0" anchor="t">
            <a:spAutoFit/>
          </a:bodyPr>
          <a:lstStyle/>
          <a:p>
            <a:pPr algn="l"/>
            <a:r>
              <a:rPr sz="1050" b="1" i="0" spc="180">
                <a:solidFill>
                  <a:srgbClr val="C46A24"/>
                </a:solidFill>
                <a:latin typeface="Calibri"/>
              </a:rPr>
              <a:t>SECTION &amp; CLUSTER — QUEUED FOR RETRAINING</a:t>
            </a:r>
          </a:p>
        </p:txBody>
      </p:sp>
      <p:sp>
        <p:nvSpPr>
          <p:cNvPr id="34" name="TextBox 33"/>
          <p:cNvSpPr txBox="1"/>
          <p:nvPr/>
        </p:nvSpPr>
        <p:spPr>
          <a:xfrm>
            <a:off x="6473952" y="3456432"/>
            <a:ext cx="4892040" cy="713232"/>
          </a:xfrm>
          <a:prstGeom prst="rect">
            <a:avLst/>
          </a:prstGeom>
          <a:noFill/>
        </p:spPr>
        <p:txBody>
          <a:bodyPr wrap="square" lIns="0" rIns="0" tIns="0" bIns="0" anchor="t">
            <a:spAutoFit/>
          </a:bodyPr>
          <a:lstStyle/>
          <a:p>
            <a:pPr algn="l">
              <a:lnSpc>
                <a:spcPts val="1500"/>
              </a:lnSpc>
            </a:pPr>
            <a:r>
              <a:rPr sz="1150" b="0" i="0">
                <a:solidFill>
                  <a:srgbClr val="4E5A66"/>
                </a:solidFill>
                <a:latin typeface="Calibri"/>
              </a:rPr>
              <a:t>XGBoost cannot learn incrementally, so corrections are stored and applied at the next training cycle rather than changing the live model mid-run.</a:t>
            </a:r>
          </a:p>
        </p:txBody>
      </p:sp>
      <p:sp>
        <p:nvSpPr>
          <p:cNvPr id="35" name="TextBox 34"/>
          <p:cNvSpPr txBox="1"/>
          <p:nvPr/>
        </p:nvSpPr>
        <p:spPr>
          <a:xfrm>
            <a:off x="6473952" y="4261104"/>
            <a:ext cx="4892040" cy="310896"/>
          </a:xfrm>
          <a:prstGeom prst="rect">
            <a:avLst/>
          </a:prstGeom>
          <a:noFill/>
        </p:spPr>
        <p:txBody>
          <a:bodyPr wrap="square" lIns="0" rIns="0" tIns="0" bIns="0" anchor="t">
            <a:spAutoFit/>
          </a:bodyPr>
          <a:lstStyle/>
          <a:p>
            <a:pPr algn="l"/>
            <a:r>
              <a:rPr sz="1050" b="0" i="1">
                <a:solidFill>
                  <a:srgbClr val="7A8792"/>
                </a:solidFill>
                <a:latin typeface="Calibri"/>
              </a:rPr>
              <a:t>No silent drift: the model changes only when deliberately retrained.</a:t>
            </a:r>
          </a:p>
        </p:txBody>
      </p:sp>
      <p:sp>
        <p:nvSpPr>
          <p:cNvPr id="36" name="Rounded Rectangle 35"/>
          <p:cNvSpPr/>
          <p:nvPr/>
        </p:nvSpPr>
        <p:spPr>
          <a:xfrm>
            <a:off x="548640" y="4956048"/>
            <a:ext cx="11091672" cy="914400"/>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68680" y="4956048"/>
            <a:ext cx="10424160" cy="914400"/>
          </a:xfrm>
          <a:prstGeom prst="rect">
            <a:avLst/>
          </a:prstGeom>
          <a:noFill/>
        </p:spPr>
        <p:txBody>
          <a:bodyPr wrap="square" lIns="0" rIns="0" tIns="0" bIns="0" anchor="ctr">
            <a:spAutoFit/>
          </a:bodyPr>
          <a:lstStyle/>
          <a:p>
            <a:pPr algn="ctr"/>
            <a:r>
              <a:rPr sz="1600" b="0" i="1">
                <a:solidFill>
                  <a:srgbClr val="FFFFFF"/>
                </a:solidFill>
                <a:latin typeface="Cambria"/>
              </a:rPr>
              <a:t>A new naming convention does not need a developer — an engineer’s correction is the training signal.</a:t>
            </a:r>
          </a:p>
        </p:txBody>
      </p:sp>
      <p:sp>
        <p:nvSpPr>
          <p:cNvPr id="38" name="TextBox 37"/>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August 2026</a:t>
            </a:r>
          </a:p>
        </p:txBody>
      </p:sp>
      <p:sp>
        <p:nvSpPr>
          <p:cNvPr id="39" name="TextBox 38"/>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08  ·  CURRENT UPDATE</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What changed in this cycle</a:t>
            </a:r>
          </a:p>
        </p:txBody>
      </p:sp>
      <p:sp>
        <p:nvSpPr>
          <p:cNvPr id="4" name="TextBox 3"/>
          <p:cNvSpPr txBox="1"/>
          <p:nvPr/>
        </p:nvSpPr>
        <p:spPr>
          <a:xfrm>
            <a:off x="548640" y="1280160"/>
            <a:ext cx="10881360" cy="274320"/>
          </a:xfrm>
          <a:prstGeom prst="rect">
            <a:avLst/>
          </a:prstGeom>
          <a:noFill/>
        </p:spPr>
        <p:txBody>
          <a:bodyPr wrap="square" lIns="0" rIns="0" tIns="0" bIns="0" anchor="t">
            <a:spAutoFit/>
          </a:bodyPr>
          <a:lstStyle/>
          <a:p>
            <a:pPr algn="l"/>
            <a:r>
              <a:rPr sz="1300" b="0" i="0">
                <a:solidFill>
                  <a:srgbClr val="4E5A66"/>
                </a:solidFill>
                <a:latin typeface="Calibri"/>
              </a:rPr>
              <a:t>Since the last review the focus moved from model accuracy to making the system safe to re-run and safe to hand over.</a:t>
            </a:r>
          </a:p>
        </p:txBody>
      </p:sp>
      <p:sp>
        <p:nvSpPr>
          <p:cNvPr id="5" name="Rounded Rectangle 4"/>
          <p:cNvSpPr/>
          <p:nvPr/>
        </p:nvSpPr>
        <p:spPr>
          <a:xfrm>
            <a:off x="548640" y="1737360"/>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786384" y="1975104"/>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1975104"/>
            <a:ext cx="274320" cy="274320"/>
          </a:xfrm>
          <a:prstGeom prst="rect">
            <a:avLst/>
          </a:prstGeom>
          <a:noFill/>
        </p:spPr>
        <p:txBody>
          <a:bodyPr wrap="square" lIns="0" rIns="0" tIns="0" bIns="0" anchor="ctr">
            <a:spAutoFit/>
          </a:bodyPr>
          <a:lstStyle/>
          <a:p>
            <a:pPr algn="ctr"/>
            <a:r>
              <a:rPr sz="1100" b="1" i="0">
                <a:solidFill>
                  <a:srgbClr val="FFFFFF"/>
                </a:solidFill>
                <a:latin typeface="Calibri"/>
              </a:rPr>
              <a:t>✓</a:t>
            </a:r>
          </a:p>
        </p:txBody>
      </p:sp>
      <p:sp>
        <p:nvSpPr>
          <p:cNvPr id="8" name="TextBox 7"/>
          <p:cNvSpPr txBox="1"/>
          <p:nvPr/>
        </p:nvSpPr>
        <p:spPr>
          <a:xfrm>
            <a:off x="1170432" y="1975104"/>
            <a:ext cx="4572000" cy="256032"/>
          </a:xfrm>
          <a:prstGeom prst="rect">
            <a:avLst/>
          </a:prstGeom>
          <a:noFill/>
        </p:spPr>
        <p:txBody>
          <a:bodyPr wrap="square" lIns="0" rIns="0" tIns="0" bIns="0" anchor="t">
            <a:spAutoFit/>
          </a:bodyPr>
          <a:lstStyle/>
          <a:p>
            <a:pPr algn="l"/>
            <a:r>
              <a:rPr sz="1300" b="1" i="0">
                <a:solidFill>
                  <a:srgbClr val="1B2430"/>
                </a:solidFill>
                <a:latin typeface="Cambria"/>
              </a:rPr>
              <a:t>Allocation rewritten to be device-centric</a:t>
            </a:r>
          </a:p>
        </p:txBody>
      </p:sp>
      <p:sp>
        <p:nvSpPr>
          <p:cNvPr id="9" name="TextBox 8"/>
          <p:cNvSpPr txBox="1"/>
          <p:nvPr/>
        </p:nvSpPr>
        <p:spPr>
          <a:xfrm>
            <a:off x="1170432" y="2304288"/>
            <a:ext cx="4572000" cy="640080"/>
          </a:xfrm>
          <a:prstGeom prst="rect">
            <a:avLst/>
          </a:prstGeom>
          <a:noFill/>
        </p:spPr>
        <p:txBody>
          <a:bodyPr wrap="square" lIns="0" rIns="0" tIns="0" bIns="0" anchor="t">
            <a:spAutoFit/>
          </a:bodyPr>
          <a:lstStyle/>
          <a:p>
            <a:pPr algn="l">
              <a:lnSpc>
                <a:spcPts val="1350"/>
              </a:lnSpc>
            </a:pPr>
            <a:r>
              <a:rPr sz="1050" b="0" i="0">
                <a:solidFill>
                  <a:srgbClr val="4E5A66"/>
                </a:solidFill>
                <a:latin typeface="Calibri"/>
              </a:rPr>
              <a:t>Each unplaced device now tries its own ranked cluster candidates, instead of clusters pulling in whichever device fits. This matches the approved flowchart design.</a:t>
            </a:r>
          </a:p>
        </p:txBody>
      </p:sp>
      <p:sp>
        <p:nvSpPr>
          <p:cNvPr id="10" name="Rounded Rectangle 9"/>
          <p:cNvSpPr/>
          <p:nvPr/>
        </p:nvSpPr>
        <p:spPr>
          <a:xfrm>
            <a:off x="6199631" y="1737360"/>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37375" y="1975104"/>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37375" y="1975104"/>
            <a:ext cx="274320" cy="274320"/>
          </a:xfrm>
          <a:prstGeom prst="rect">
            <a:avLst/>
          </a:prstGeom>
          <a:noFill/>
        </p:spPr>
        <p:txBody>
          <a:bodyPr wrap="square" lIns="0" rIns="0" tIns="0" bIns="0" anchor="ctr">
            <a:spAutoFit/>
          </a:bodyPr>
          <a:lstStyle/>
          <a:p>
            <a:pPr algn="ctr"/>
            <a:r>
              <a:rPr sz="1100" b="1" i="0">
                <a:solidFill>
                  <a:srgbClr val="FFFFFF"/>
                </a:solidFill>
                <a:latin typeface="Calibri"/>
              </a:rPr>
              <a:t>✓</a:t>
            </a:r>
          </a:p>
        </p:txBody>
      </p:sp>
      <p:sp>
        <p:nvSpPr>
          <p:cNvPr id="13" name="TextBox 12"/>
          <p:cNvSpPr txBox="1"/>
          <p:nvPr/>
        </p:nvSpPr>
        <p:spPr>
          <a:xfrm>
            <a:off x="6821423" y="1975104"/>
            <a:ext cx="4572000" cy="256032"/>
          </a:xfrm>
          <a:prstGeom prst="rect">
            <a:avLst/>
          </a:prstGeom>
          <a:noFill/>
        </p:spPr>
        <p:txBody>
          <a:bodyPr wrap="square" lIns="0" rIns="0" tIns="0" bIns="0" anchor="t">
            <a:spAutoFit/>
          </a:bodyPr>
          <a:lstStyle/>
          <a:p>
            <a:pPr algn="l"/>
            <a:r>
              <a:rPr sz="1300" b="1" i="0">
                <a:solidFill>
                  <a:srgbClr val="1B2430"/>
                </a:solidFill>
                <a:latin typeface="Cambria"/>
              </a:rPr>
              <a:t>Output files replaced by SQL tables</a:t>
            </a:r>
          </a:p>
        </p:txBody>
      </p:sp>
      <p:sp>
        <p:nvSpPr>
          <p:cNvPr id="14" name="TextBox 13"/>
          <p:cNvSpPr txBox="1"/>
          <p:nvPr/>
        </p:nvSpPr>
        <p:spPr>
          <a:xfrm>
            <a:off x="6821423" y="2304288"/>
            <a:ext cx="4572000" cy="640080"/>
          </a:xfrm>
          <a:prstGeom prst="rect">
            <a:avLst/>
          </a:prstGeom>
          <a:noFill/>
        </p:spPr>
        <p:txBody>
          <a:bodyPr wrap="square" lIns="0" rIns="0" tIns="0" bIns="0" anchor="t">
            <a:spAutoFit/>
          </a:bodyPr>
          <a:lstStyle/>
          <a:p>
            <a:pPr algn="l">
              <a:lnSpc>
                <a:spcPts val="1350"/>
              </a:lnSpc>
            </a:pPr>
            <a:r>
              <a:rPr sz="1050" b="0" i="0">
                <a:solidFill>
                  <a:srgbClr val="4E5A66"/>
                </a:solidFill>
                <a:latin typeface="Calibri"/>
              </a:rPr>
              <a:t>dbo.OutputDeviceAssignment and dbo.DeviceReviewQueue, upserted with MERGE, so re-running a project updates rows instead of duplicating them.</a:t>
            </a:r>
          </a:p>
        </p:txBody>
      </p:sp>
      <p:sp>
        <p:nvSpPr>
          <p:cNvPr id="15" name="Rounded Rectangle 14"/>
          <p:cNvSpPr/>
          <p:nvPr/>
        </p:nvSpPr>
        <p:spPr>
          <a:xfrm>
            <a:off x="548640" y="3172968"/>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86384" y="3410711"/>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3410711"/>
            <a:ext cx="274320" cy="274320"/>
          </a:xfrm>
          <a:prstGeom prst="rect">
            <a:avLst/>
          </a:prstGeom>
          <a:noFill/>
        </p:spPr>
        <p:txBody>
          <a:bodyPr wrap="square" lIns="0" rIns="0" tIns="0" bIns="0" anchor="ctr">
            <a:spAutoFit/>
          </a:bodyPr>
          <a:lstStyle/>
          <a:p>
            <a:pPr algn="ctr"/>
            <a:r>
              <a:rPr sz="1100" b="1" i="0">
                <a:solidFill>
                  <a:srgbClr val="FFFFFF"/>
                </a:solidFill>
                <a:latin typeface="Calibri"/>
              </a:rPr>
              <a:t>✓</a:t>
            </a:r>
          </a:p>
        </p:txBody>
      </p:sp>
      <p:sp>
        <p:nvSpPr>
          <p:cNvPr id="18" name="TextBox 17"/>
          <p:cNvSpPr txBox="1"/>
          <p:nvPr/>
        </p:nvSpPr>
        <p:spPr>
          <a:xfrm>
            <a:off x="1170432" y="3410711"/>
            <a:ext cx="4572000" cy="256032"/>
          </a:xfrm>
          <a:prstGeom prst="rect">
            <a:avLst/>
          </a:prstGeom>
          <a:noFill/>
        </p:spPr>
        <p:txBody>
          <a:bodyPr wrap="square" lIns="0" rIns="0" tIns="0" bIns="0" anchor="t">
            <a:spAutoFit/>
          </a:bodyPr>
          <a:lstStyle/>
          <a:p>
            <a:pPr algn="l"/>
            <a:r>
              <a:rPr sz="1300" b="1" i="0">
                <a:solidFill>
                  <a:srgbClr val="1B2430"/>
                </a:solidFill>
                <a:latin typeface="Cambria"/>
              </a:rPr>
              <a:t>Cross-table reconciliation added</a:t>
            </a:r>
          </a:p>
        </p:txBody>
      </p:sp>
      <p:sp>
        <p:nvSpPr>
          <p:cNvPr id="19" name="TextBox 18"/>
          <p:cNvSpPr txBox="1"/>
          <p:nvPr/>
        </p:nvSpPr>
        <p:spPr>
          <a:xfrm>
            <a:off x="1170432" y="3739896"/>
            <a:ext cx="4572000" cy="640080"/>
          </a:xfrm>
          <a:prstGeom prst="rect">
            <a:avLst/>
          </a:prstGeom>
          <a:noFill/>
        </p:spPr>
        <p:txBody>
          <a:bodyPr wrap="square" lIns="0" rIns="0" tIns="0" bIns="0" anchor="t">
            <a:spAutoFit/>
          </a:bodyPr>
          <a:lstStyle/>
          <a:p>
            <a:pPr algn="l">
              <a:lnSpc>
                <a:spcPts val="1350"/>
              </a:lnSpc>
            </a:pPr>
            <a:r>
              <a:rPr sz="1050" b="0" i="0">
                <a:solidFill>
                  <a:srgbClr val="4E5A66"/>
                </a:solidFill>
                <a:latin typeface="Calibri"/>
              </a:rPr>
              <a:t>A device that changes outcome between runs is cleared from the table it left, so it can never show as assigned and unassigned at the same time.</a:t>
            </a:r>
          </a:p>
        </p:txBody>
      </p:sp>
      <p:sp>
        <p:nvSpPr>
          <p:cNvPr id="20" name="Rounded Rectangle 19"/>
          <p:cNvSpPr/>
          <p:nvPr/>
        </p:nvSpPr>
        <p:spPr>
          <a:xfrm>
            <a:off x="6199631" y="3172968"/>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6437375" y="3410711"/>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5" y="3410711"/>
            <a:ext cx="274320" cy="274320"/>
          </a:xfrm>
          <a:prstGeom prst="rect">
            <a:avLst/>
          </a:prstGeom>
          <a:noFill/>
        </p:spPr>
        <p:txBody>
          <a:bodyPr wrap="square" lIns="0" rIns="0" tIns="0" bIns="0" anchor="ctr">
            <a:spAutoFit/>
          </a:bodyPr>
          <a:lstStyle/>
          <a:p>
            <a:pPr algn="ctr"/>
            <a:r>
              <a:rPr sz="1100" b="1" i="0">
                <a:solidFill>
                  <a:srgbClr val="FFFFFF"/>
                </a:solidFill>
                <a:latin typeface="Calibri"/>
              </a:rPr>
              <a:t>✓</a:t>
            </a:r>
          </a:p>
        </p:txBody>
      </p:sp>
      <p:sp>
        <p:nvSpPr>
          <p:cNvPr id="23" name="TextBox 22"/>
          <p:cNvSpPr txBox="1"/>
          <p:nvPr/>
        </p:nvSpPr>
        <p:spPr>
          <a:xfrm>
            <a:off x="6821423" y="3410711"/>
            <a:ext cx="4572000" cy="256032"/>
          </a:xfrm>
          <a:prstGeom prst="rect">
            <a:avLst/>
          </a:prstGeom>
          <a:noFill/>
        </p:spPr>
        <p:txBody>
          <a:bodyPr wrap="square" lIns="0" rIns="0" tIns="0" bIns="0" anchor="t">
            <a:spAutoFit/>
          </a:bodyPr>
          <a:lstStyle/>
          <a:p>
            <a:pPr algn="l"/>
            <a:r>
              <a:rPr sz="1300" b="1" i="0">
                <a:solidFill>
                  <a:srgbClr val="1B2430"/>
                </a:solidFill>
                <a:latin typeface="Cambria"/>
              </a:rPr>
              <a:t>Quota patterns moved out of code</a:t>
            </a:r>
          </a:p>
        </p:txBody>
      </p:sp>
      <p:sp>
        <p:nvSpPr>
          <p:cNvPr id="24" name="TextBox 23"/>
          <p:cNvSpPr txBox="1"/>
          <p:nvPr/>
        </p:nvSpPr>
        <p:spPr>
          <a:xfrm>
            <a:off x="6821423" y="3739896"/>
            <a:ext cx="4572000" cy="640080"/>
          </a:xfrm>
          <a:prstGeom prst="rect">
            <a:avLst/>
          </a:prstGeom>
          <a:noFill/>
        </p:spPr>
        <p:txBody>
          <a:bodyPr wrap="square" lIns="0" rIns="0" tIns="0" bIns="0" anchor="t">
            <a:spAutoFit/>
          </a:bodyPr>
          <a:lstStyle/>
          <a:p>
            <a:pPr algn="l">
              <a:lnSpc>
                <a:spcPts val="1350"/>
              </a:lnSpc>
            </a:pPr>
            <a:r>
              <a:rPr sz="1050" b="0" i="0">
                <a:solidFill>
                  <a:srgbClr val="4E5A66"/>
                </a:solidFill>
                <a:latin typeface="Calibri"/>
              </a:rPr>
              <a:t>Target composition now lives in a SQL table an engineer can edit directly. Previously any rule change required a developer.</a:t>
            </a:r>
          </a:p>
        </p:txBody>
      </p:sp>
      <p:sp>
        <p:nvSpPr>
          <p:cNvPr id="25" name="Rounded Rectangle 24"/>
          <p:cNvSpPr/>
          <p:nvPr/>
        </p:nvSpPr>
        <p:spPr>
          <a:xfrm>
            <a:off x="548640" y="4608576"/>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86384" y="4846320"/>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6384" y="4846320"/>
            <a:ext cx="274320" cy="274320"/>
          </a:xfrm>
          <a:prstGeom prst="rect">
            <a:avLst/>
          </a:prstGeom>
          <a:noFill/>
        </p:spPr>
        <p:txBody>
          <a:bodyPr wrap="square" lIns="0" rIns="0" tIns="0" bIns="0" anchor="ctr">
            <a:spAutoFit/>
          </a:bodyPr>
          <a:lstStyle/>
          <a:p>
            <a:pPr algn="ctr"/>
            <a:r>
              <a:rPr sz="1100" b="1" i="0">
                <a:solidFill>
                  <a:srgbClr val="FFFFFF"/>
                </a:solidFill>
                <a:latin typeface="Calibri"/>
              </a:rPr>
              <a:t>✓</a:t>
            </a:r>
          </a:p>
        </p:txBody>
      </p:sp>
      <p:sp>
        <p:nvSpPr>
          <p:cNvPr id="28" name="TextBox 27"/>
          <p:cNvSpPr txBox="1"/>
          <p:nvPr/>
        </p:nvSpPr>
        <p:spPr>
          <a:xfrm>
            <a:off x="1170432" y="4846320"/>
            <a:ext cx="4572000" cy="256032"/>
          </a:xfrm>
          <a:prstGeom prst="rect">
            <a:avLst/>
          </a:prstGeom>
          <a:noFill/>
        </p:spPr>
        <p:txBody>
          <a:bodyPr wrap="square" lIns="0" rIns="0" tIns="0" bIns="0" anchor="t">
            <a:spAutoFit/>
          </a:bodyPr>
          <a:lstStyle/>
          <a:p>
            <a:pPr algn="l"/>
            <a:r>
              <a:rPr sz="1300" b="1" i="0">
                <a:solidFill>
                  <a:srgbClr val="1B2430"/>
                </a:solidFill>
                <a:latin typeface="Cambria"/>
              </a:rPr>
              <a:t>Pipeline reduced to a single call</a:t>
            </a:r>
          </a:p>
        </p:txBody>
      </p:sp>
      <p:sp>
        <p:nvSpPr>
          <p:cNvPr id="29" name="TextBox 28"/>
          <p:cNvSpPr txBox="1"/>
          <p:nvPr/>
        </p:nvSpPr>
        <p:spPr>
          <a:xfrm>
            <a:off x="1170432" y="5175504"/>
            <a:ext cx="4572000" cy="640080"/>
          </a:xfrm>
          <a:prstGeom prst="rect">
            <a:avLst/>
          </a:prstGeom>
          <a:noFill/>
        </p:spPr>
        <p:txBody>
          <a:bodyPr wrap="square" lIns="0" rIns="0" tIns="0" bIns="0" anchor="t">
            <a:spAutoFit/>
          </a:bodyPr>
          <a:lstStyle/>
          <a:p>
            <a:pPr algn="l">
              <a:lnSpc>
                <a:spcPts val="1350"/>
              </a:lnSpc>
            </a:pPr>
            <a:r>
              <a:rPr sz="1050" b="0" i="0">
                <a:solidFill>
                  <a:srgbClr val="4E5A66"/>
                </a:solidFill>
                <a:latin typeface="Calibri"/>
              </a:rPr>
              <a:t>DevicePipeline.RunAsync runs the whole sequence with no console dependency, so a UI, a scheduler or an API can drive it unchanged.</a:t>
            </a:r>
          </a:p>
        </p:txBody>
      </p:sp>
      <p:sp>
        <p:nvSpPr>
          <p:cNvPr id="30" name="Rounded Rectangle 29"/>
          <p:cNvSpPr/>
          <p:nvPr/>
        </p:nvSpPr>
        <p:spPr>
          <a:xfrm>
            <a:off x="6199631" y="4608576"/>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6437375" y="4846320"/>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37375" y="4846320"/>
            <a:ext cx="274320" cy="274320"/>
          </a:xfrm>
          <a:prstGeom prst="rect">
            <a:avLst/>
          </a:prstGeom>
          <a:noFill/>
        </p:spPr>
        <p:txBody>
          <a:bodyPr wrap="square" lIns="0" rIns="0" tIns="0" bIns="0" anchor="ctr">
            <a:spAutoFit/>
          </a:bodyPr>
          <a:lstStyle/>
          <a:p>
            <a:pPr algn="ctr"/>
            <a:r>
              <a:rPr sz="1100" b="1" i="0">
                <a:solidFill>
                  <a:srgbClr val="FFFFFF"/>
                </a:solidFill>
                <a:latin typeface="Calibri"/>
              </a:rPr>
              <a:t>✓</a:t>
            </a:r>
          </a:p>
        </p:txBody>
      </p:sp>
      <p:sp>
        <p:nvSpPr>
          <p:cNvPr id="33" name="TextBox 32"/>
          <p:cNvSpPr txBox="1"/>
          <p:nvPr/>
        </p:nvSpPr>
        <p:spPr>
          <a:xfrm>
            <a:off x="6821423" y="4846320"/>
            <a:ext cx="4572000" cy="256032"/>
          </a:xfrm>
          <a:prstGeom prst="rect">
            <a:avLst/>
          </a:prstGeom>
          <a:noFill/>
        </p:spPr>
        <p:txBody>
          <a:bodyPr wrap="square" lIns="0" rIns="0" tIns="0" bIns="0" anchor="t">
            <a:spAutoFit/>
          </a:bodyPr>
          <a:lstStyle/>
          <a:p>
            <a:pPr algn="l"/>
            <a:r>
              <a:rPr sz="1300" b="1" i="0">
                <a:solidFill>
                  <a:srgbClr val="1B2430"/>
                </a:solidFill>
                <a:latin typeface="Cambria"/>
              </a:rPr>
              <a:t>Unattended mode and data fixes</a:t>
            </a:r>
          </a:p>
        </p:txBody>
      </p:sp>
      <p:sp>
        <p:nvSpPr>
          <p:cNvPr id="34" name="TextBox 33"/>
          <p:cNvSpPr txBox="1"/>
          <p:nvPr/>
        </p:nvSpPr>
        <p:spPr>
          <a:xfrm>
            <a:off x="6821423" y="5175504"/>
            <a:ext cx="4572000" cy="640080"/>
          </a:xfrm>
          <a:prstGeom prst="rect">
            <a:avLst/>
          </a:prstGeom>
          <a:noFill/>
        </p:spPr>
        <p:txBody>
          <a:bodyPr wrap="square" lIns="0" rIns="0" tIns="0" bIns="0" anchor="t">
            <a:spAutoFit/>
          </a:bodyPr>
          <a:lstStyle/>
          <a:p>
            <a:pPr algn="l">
              <a:lnSpc>
                <a:spcPts val="1350"/>
              </a:lnSpc>
            </a:pPr>
            <a:r>
              <a:rPr sz="1050" b="0" i="0">
                <a:solidFill>
                  <a:srgbClr val="4E5A66"/>
                </a:solidFill>
                <a:latin typeface="Calibri"/>
              </a:rPr>
              <a:t>The pipeline can now run headless as a scheduled job. Queries are scoped per project, and case-sensitivity and device-ID formatting faults were fixed.</a:t>
            </a:r>
          </a:p>
        </p:txBody>
      </p:sp>
      <p:sp>
        <p:nvSpPr>
          <p:cNvPr id="35" name="TextBox 34"/>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August 2026</a:t>
            </a:r>
          </a:p>
        </p:txBody>
      </p:sp>
      <p:sp>
        <p:nvSpPr>
          <p:cNvPr id="36" name="TextBox 35"/>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09  ·  STATUS DETAIL</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Component-by-component status</a:t>
            </a:r>
          </a:p>
        </p:txBody>
      </p:sp>
      <p:sp>
        <p:nvSpPr>
          <p:cNvPr id="4" name="TextBox 3"/>
          <p:cNvSpPr txBox="1"/>
          <p:nvPr/>
        </p:nvSpPr>
        <p:spPr>
          <a:xfrm>
            <a:off x="548640" y="1280160"/>
            <a:ext cx="10881360" cy="256032"/>
          </a:xfrm>
          <a:prstGeom prst="rect">
            <a:avLst/>
          </a:prstGeom>
          <a:noFill/>
        </p:spPr>
        <p:txBody>
          <a:bodyPr wrap="square" lIns="0" rIns="0" tIns="0" bIns="0" anchor="t">
            <a:spAutoFit/>
          </a:bodyPr>
          <a:lstStyle/>
          <a:p>
            <a:pPr algn="l"/>
            <a:r>
              <a:rPr sz="1250" b="0" i="0">
                <a:solidFill>
                  <a:srgbClr val="4E5A66"/>
                </a:solidFill>
                <a:latin typeface="Calibri"/>
              </a:rPr>
              <a:t>Eleven of fifteen components are complete and verified against live data and real trained models.</a:t>
            </a:r>
          </a:p>
        </p:txBody>
      </p:sp>
      <p:graphicFrame>
        <p:nvGraphicFramePr>
          <p:cNvPr id="5" name="Table 4"/>
          <p:cNvGraphicFramePr>
            <a:graphicFrameLocks noGrp="1"/>
          </p:cNvGraphicFramePr>
          <p:nvPr/>
        </p:nvGraphicFramePr>
        <p:xfrm>
          <a:off x="548640" y="1664208"/>
          <a:ext cx="11091672" cy="4389120"/>
        </p:xfrm>
        <a:graphic>
          <a:graphicData uri="http://schemas.openxmlformats.org/drawingml/2006/table">
            <a:tbl>
              <a:tblPr>
                <a:tableStyleId>{2D5ABB26-0587-4C30-8999-92F81FD0307C}</a:tableStyleId>
              </a:tblPr>
              <a:tblGrid>
                <a:gridCol w="4206240"/>
                <a:gridCol w="1920240"/>
                <a:gridCol w="4965192"/>
              </a:tblGrid>
              <a:tr h="274320">
                <a:tc>
                  <a:txBody>
                    <a:bodyPr wrap="square"/>
                    <a:lstStyle/>
                    <a:p>
                      <a:pPr algn="l"/>
                      <a:r>
                        <a:rPr sz="950" b="1">
                          <a:solidFill>
                            <a:srgbClr val="FFFFFF"/>
                          </a:solidFill>
                          <a:latin typeface="Calibri"/>
                        </a:rPr>
                        <a:t>COMPONENT</a:t>
                      </a:r>
                    </a:p>
                  </a:txBody>
                  <a:tcPr marL="128016" marR="91440" marT="27432" marB="27432" anchor="ctr">
                    <a:solidFill>
                      <a:srgbClr val="1B2430"/>
                    </a:solidFill>
                  </a:tcPr>
                </a:tc>
                <a:tc>
                  <a:txBody>
                    <a:bodyPr wrap="square"/>
                    <a:lstStyle/>
                    <a:p>
                      <a:pPr algn="l"/>
                      <a:r>
                        <a:rPr sz="950" b="1">
                          <a:solidFill>
                            <a:srgbClr val="FFFFFF"/>
                          </a:solidFill>
                          <a:latin typeface="Calibri"/>
                        </a:rPr>
                        <a:t>STATUS</a:t>
                      </a:r>
                    </a:p>
                  </a:txBody>
                  <a:tcPr marL="128016" marR="91440" marT="27432" marB="27432" anchor="ctr">
                    <a:solidFill>
                      <a:srgbClr val="1B2430"/>
                    </a:solidFill>
                  </a:tcPr>
                </a:tc>
                <a:tc>
                  <a:txBody>
                    <a:bodyPr wrap="square"/>
                    <a:lstStyle/>
                    <a:p>
                      <a:pPr algn="l"/>
                      <a:r>
                        <a:rPr sz="950" b="1">
                          <a:solidFill>
                            <a:srgbClr val="FFFFFF"/>
                          </a:solidFill>
                          <a:latin typeface="Calibri"/>
                        </a:rPr>
                        <a:t>NOTE</a:t>
                      </a:r>
                    </a:p>
                  </a:txBody>
                  <a:tcPr marL="128016" marR="91440" marT="27432" marB="27432" anchor="ctr">
                    <a:solidFill>
                      <a:srgbClr val="1B2430"/>
                    </a:solidFill>
                  </a:tcPr>
                </a:tc>
              </a:tr>
              <a:tr h="274320">
                <a:tc>
                  <a:txBody>
                    <a:bodyPr wrap="square"/>
                    <a:lstStyle/>
                    <a:p>
                      <a:pPr algn="l"/>
                      <a:r>
                        <a:rPr sz="1050" b="1">
                          <a:solidFill>
                            <a:srgbClr val="1B2430"/>
                          </a:solidFill>
                          <a:latin typeface="Calibri"/>
                        </a:rPr>
                        <a:t>Data extraction &amp; preparation</a:t>
                      </a:r>
                    </a:p>
                  </a:txBody>
                  <a:tcPr marL="128016" marR="91440" marT="27432" marB="27432" anchor="ctr">
                    <a:solidFill>
                      <a:srgbClr val="FFFFFF"/>
                    </a:solidFill>
                  </a:tcPr>
                </a:tc>
                <a:tc>
                  <a:txBody>
                    <a:bodyPr wrap="square"/>
                    <a:lstStyle/>
                    <a:p>
                      <a:pPr algn="l"/>
                      <a:r>
                        <a:rPr sz="1050" b="1">
                          <a:solidFill>
                            <a:srgbClr val="2E7D63"/>
                          </a:solidFill>
                          <a:latin typeface="Calibri"/>
                        </a:rPr>
                        <a:t>Complete</a:t>
                      </a:r>
                    </a:p>
                  </a:txBody>
                  <a:tcPr marL="128016" marR="91440" marT="27432" marB="27432" anchor="ctr">
                    <a:solidFill>
                      <a:srgbClr val="FFFFFF"/>
                    </a:solidFill>
                  </a:tcPr>
                </a:tc>
                <a:tc>
                  <a:txBody>
                    <a:bodyPr wrap="square"/>
                    <a:lstStyle/>
                    <a:p>
                      <a:pPr algn="l"/>
                      <a:r>
                        <a:rPr sz="1050" b="0">
                          <a:solidFill>
                            <a:srgbClr val="4E5A66"/>
                          </a:solidFill>
                          <a:latin typeface="Calibri"/>
                        </a:rPr>
                        <a:t>SQL-driven, filtered per project code</a:t>
                      </a:r>
                    </a:p>
                  </a:txBody>
                  <a:tcPr marL="128016" marR="91440" marT="27432" marB="27432" anchor="ctr">
                    <a:solidFill>
                      <a:srgbClr val="FFFFFF"/>
                    </a:solidFill>
                  </a:tcPr>
                </a:tc>
              </a:tr>
              <a:tr h="274320">
                <a:tc>
                  <a:txBody>
                    <a:bodyPr wrap="square"/>
                    <a:lstStyle/>
                    <a:p>
                      <a:pPr algn="l"/>
                      <a:r>
                        <a:rPr sz="1050" b="1">
                          <a:solidFill>
                            <a:srgbClr val="1B2430"/>
                          </a:solidFill>
                          <a:latin typeface="Calibri"/>
                        </a:rPr>
                        <a:t>Device type prediction</a:t>
                      </a:r>
                    </a:p>
                  </a:txBody>
                  <a:tcPr marL="128016" marR="91440" marT="27432" marB="27432" anchor="ctr">
                    <a:solidFill>
                      <a:srgbClr val="F7F9FA"/>
                    </a:solidFill>
                  </a:tcPr>
                </a:tc>
                <a:tc>
                  <a:txBody>
                    <a:bodyPr wrap="square"/>
                    <a:lstStyle/>
                    <a:p>
                      <a:pPr algn="l"/>
                      <a:r>
                        <a:rPr sz="1050" b="1">
                          <a:solidFill>
                            <a:srgbClr val="2E7D63"/>
                          </a:solidFill>
                          <a:latin typeface="Calibri"/>
                        </a:rPr>
                        <a:t>Complete</a:t>
                      </a:r>
                    </a:p>
                  </a:txBody>
                  <a:tcPr marL="128016" marR="91440" marT="27432" marB="27432" anchor="ctr">
                    <a:solidFill>
                      <a:srgbClr val="F7F9FA"/>
                    </a:solidFill>
                  </a:tcPr>
                </a:tc>
                <a:tc>
                  <a:txBody>
                    <a:bodyPr wrap="square"/>
                    <a:lstStyle/>
                    <a:p>
                      <a:pPr algn="l"/>
                      <a:r>
                        <a:rPr sz="1050" b="0">
                          <a:solidFill>
                            <a:srgbClr val="4E5A66"/>
                          </a:solidFill>
                          <a:latin typeface="Calibri"/>
                        </a:rPr>
                        <a:t>Hybrid ladder, 22 equipment classes</a:t>
                      </a:r>
                    </a:p>
                  </a:txBody>
                  <a:tcPr marL="128016" marR="91440" marT="27432" marB="27432" anchor="ctr">
                    <a:solidFill>
                      <a:srgbClr val="F7F9FA"/>
                    </a:solidFill>
                  </a:tcPr>
                </a:tc>
              </a:tr>
              <a:tr h="274320">
                <a:tc>
                  <a:txBody>
                    <a:bodyPr wrap="square"/>
                    <a:lstStyle/>
                    <a:p>
                      <a:pPr algn="l"/>
                      <a:r>
                        <a:rPr sz="1050" b="1">
                          <a:solidFill>
                            <a:srgbClr val="1B2430"/>
                          </a:solidFill>
                          <a:latin typeface="Calibri"/>
                        </a:rPr>
                        <a:t>Section prediction</a:t>
                      </a:r>
                    </a:p>
                  </a:txBody>
                  <a:tcPr marL="128016" marR="91440" marT="27432" marB="27432" anchor="ctr">
                    <a:solidFill>
                      <a:srgbClr val="FFFFFF"/>
                    </a:solidFill>
                  </a:tcPr>
                </a:tc>
                <a:tc>
                  <a:txBody>
                    <a:bodyPr wrap="square"/>
                    <a:lstStyle/>
                    <a:p>
                      <a:pPr algn="l"/>
                      <a:r>
                        <a:rPr sz="1050" b="1">
                          <a:solidFill>
                            <a:srgbClr val="2E7D63"/>
                          </a:solidFill>
                          <a:latin typeface="Calibri"/>
                        </a:rPr>
                        <a:t>Complete</a:t>
                      </a:r>
                    </a:p>
                  </a:txBody>
                  <a:tcPr marL="128016" marR="91440" marT="27432" marB="27432" anchor="ctr">
                    <a:solidFill>
                      <a:srgbClr val="FFFFFF"/>
                    </a:solidFill>
                  </a:tcPr>
                </a:tc>
                <a:tc>
                  <a:txBody>
                    <a:bodyPr wrap="square"/>
                    <a:lstStyle/>
                    <a:p>
                      <a:pPr algn="l"/>
                      <a:r>
                        <a:rPr sz="1050" b="0">
                          <a:solidFill>
                            <a:srgbClr val="4E5A66"/>
                          </a:solidFill>
                          <a:latin typeface="Calibri"/>
                        </a:rPr>
                        <a:t>XGBoost with out-of-distribution penalty</a:t>
                      </a:r>
                    </a:p>
                  </a:txBody>
                  <a:tcPr marL="128016" marR="91440" marT="27432" marB="27432" anchor="ctr">
                    <a:solidFill>
                      <a:srgbClr val="FFFFFF"/>
                    </a:solidFill>
                  </a:tcPr>
                </a:tc>
              </a:tr>
              <a:tr h="274320">
                <a:tc>
                  <a:txBody>
                    <a:bodyPr wrap="square"/>
                    <a:lstStyle/>
                    <a:p>
                      <a:pPr algn="l"/>
                      <a:r>
                        <a:rPr sz="1050" b="1">
                          <a:solidFill>
                            <a:srgbClr val="1B2430"/>
                          </a:solidFill>
                          <a:latin typeface="Calibri"/>
                        </a:rPr>
                        <a:t>Cluster prediction</a:t>
                      </a:r>
                    </a:p>
                  </a:txBody>
                  <a:tcPr marL="128016" marR="91440" marT="27432" marB="27432" anchor="ctr">
                    <a:solidFill>
                      <a:srgbClr val="F7F9FA"/>
                    </a:solidFill>
                  </a:tcPr>
                </a:tc>
                <a:tc>
                  <a:txBody>
                    <a:bodyPr wrap="square"/>
                    <a:lstStyle/>
                    <a:p>
                      <a:pPr algn="l"/>
                      <a:r>
                        <a:rPr sz="1050" b="1">
                          <a:solidFill>
                            <a:srgbClr val="2E7D63"/>
                          </a:solidFill>
                          <a:latin typeface="Calibri"/>
                        </a:rPr>
                        <a:t>Complete</a:t>
                      </a:r>
                    </a:p>
                  </a:txBody>
                  <a:tcPr marL="128016" marR="91440" marT="27432" marB="27432" anchor="ctr">
                    <a:solidFill>
                      <a:srgbClr val="F7F9FA"/>
                    </a:solidFill>
                  </a:tcPr>
                </a:tc>
                <a:tc>
                  <a:txBody>
                    <a:bodyPr wrap="square"/>
                    <a:lstStyle/>
                    <a:p>
                      <a:pPr algn="l"/>
                      <a:r>
                        <a:rPr sz="1050" b="0">
                          <a:solidFill>
                            <a:srgbClr val="4E5A66"/>
                          </a:solidFill>
                          <a:latin typeface="Calibri"/>
                        </a:rPr>
                        <a:t>Chained XGBoost, returns a top-3 ranking</a:t>
                      </a:r>
                    </a:p>
                  </a:txBody>
                  <a:tcPr marL="128016" marR="91440" marT="27432" marB="27432" anchor="ctr">
                    <a:solidFill>
                      <a:srgbClr val="F7F9FA"/>
                    </a:solidFill>
                  </a:tcPr>
                </a:tc>
              </a:tr>
              <a:tr h="274320">
                <a:tc>
                  <a:txBody>
                    <a:bodyPr wrap="square"/>
                    <a:lstStyle/>
                    <a:p>
                      <a:pPr algn="l"/>
                      <a:r>
                        <a:rPr sz="1050" b="1">
                          <a:solidFill>
                            <a:srgbClr val="1B2430"/>
                          </a:solidFill>
                          <a:latin typeface="Calibri"/>
                        </a:rPr>
                        <a:t>Quota allocation</a:t>
                      </a:r>
                    </a:p>
                  </a:txBody>
                  <a:tcPr marL="128016" marR="91440" marT="27432" marB="27432" anchor="ctr">
                    <a:solidFill>
                      <a:srgbClr val="FFFFFF"/>
                    </a:solidFill>
                  </a:tcPr>
                </a:tc>
                <a:tc>
                  <a:txBody>
                    <a:bodyPr wrap="square"/>
                    <a:lstStyle/>
                    <a:p>
                      <a:pPr algn="l"/>
                      <a:r>
                        <a:rPr sz="1050" b="1">
                          <a:solidFill>
                            <a:srgbClr val="2E7D63"/>
                          </a:solidFill>
                          <a:latin typeface="Calibri"/>
                        </a:rPr>
                        <a:t>Complete</a:t>
                      </a:r>
                    </a:p>
                  </a:txBody>
                  <a:tcPr marL="128016" marR="91440" marT="27432" marB="27432" anchor="ctr">
                    <a:solidFill>
                      <a:srgbClr val="FFFFFF"/>
                    </a:solidFill>
                  </a:tcPr>
                </a:tc>
                <a:tc>
                  <a:txBody>
                    <a:bodyPr wrap="square"/>
                    <a:lstStyle/>
                    <a:p>
                      <a:pPr algn="l"/>
                      <a:r>
                        <a:rPr sz="1050" b="0">
                          <a:solidFill>
                            <a:srgbClr val="4E5A66"/>
                          </a:solidFill>
                          <a:latin typeface="Calibri"/>
                        </a:rPr>
                        <a:t>Three passes; quotas read live from SQL</a:t>
                      </a:r>
                    </a:p>
                  </a:txBody>
                  <a:tcPr marL="128016" marR="91440" marT="27432" marB="27432" anchor="ctr">
                    <a:solidFill>
                      <a:srgbClr val="FFFFFF"/>
                    </a:solidFill>
                  </a:tcPr>
                </a:tc>
              </a:tr>
              <a:tr h="274320">
                <a:tc>
                  <a:txBody>
                    <a:bodyPr wrap="square"/>
                    <a:lstStyle/>
                    <a:p>
                      <a:pPr algn="l"/>
                      <a:r>
                        <a:rPr sz="1050" b="1">
                          <a:solidFill>
                            <a:srgbClr val="1B2430"/>
                          </a:solidFill>
                          <a:latin typeface="Calibri"/>
                        </a:rPr>
                        <a:t>Placement &amp; cluster grouping</a:t>
                      </a:r>
                    </a:p>
                  </a:txBody>
                  <a:tcPr marL="128016" marR="91440" marT="27432" marB="27432" anchor="ctr">
                    <a:solidFill>
                      <a:srgbClr val="F7F9FA"/>
                    </a:solidFill>
                  </a:tcPr>
                </a:tc>
                <a:tc>
                  <a:txBody>
                    <a:bodyPr wrap="square"/>
                    <a:lstStyle/>
                    <a:p>
                      <a:pPr algn="l"/>
                      <a:r>
                        <a:rPr sz="1050" b="1">
                          <a:solidFill>
                            <a:srgbClr val="2E7D63"/>
                          </a:solidFill>
                          <a:latin typeface="Calibri"/>
                        </a:rPr>
                        <a:t>Complete</a:t>
                      </a:r>
                    </a:p>
                  </a:txBody>
                  <a:tcPr marL="128016" marR="91440" marT="27432" marB="27432" anchor="ctr">
                    <a:solidFill>
                      <a:srgbClr val="F7F9FA"/>
                    </a:solidFill>
                  </a:tcPr>
                </a:tc>
                <a:tc>
                  <a:txBody>
                    <a:bodyPr wrap="square"/>
                    <a:lstStyle/>
                    <a:p>
                      <a:pPr algn="l"/>
                      <a:r>
                        <a:rPr sz="1050" b="0">
                          <a:solidFill>
                            <a:srgbClr val="4E5A66"/>
                          </a:solidFill>
                          <a:latin typeface="Calibri"/>
                        </a:rPr>
                        <a:t>Final assignment written back to SQL</a:t>
                      </a:r>
                    </a:p>
                  </a:txBody>
                  <a:tcPr marL="128016" marR="91440" marT="27432" marB="27432" anchor="ctr">
                    <a:solidFill>
                      <a:srgbClr val="F7F9FA"/>
                    </a:solidFill>
                  </a:tcPr>
                </a:tc>
              </a:tr>
              <a:tr h="274320">
                <a:tc>
                  <a:txBody>
                    <a:bodyPr wrap="square"/>
                    <a:lstStyle/>
                    <a:p>
                      <a:pPr algn="l"/>
                      <a:r>
                        <a:rPr sz="1050" b="1">
                          <a:solidFill>
                            <a:srgbClr val="1B2430"/>
                          </a:solidFill>
                          <a:latin typeface="Calibri"/>
                        </a:rPr>
                        <a:t>SQL integration (read &amp; write)</a:t>
                      </a:r>
                    </a:p>
                  </a:txBody>
                  <a:tcPr marL="128016" marR="91440" marT="27432" marB="27432" anchor="ctr">
                    <a:solidFill>
                      <a:srgbClr val="FFFFFF"/>
                    </a:solidFill>
                  </a:tcPr>
                </a:tc>
                <a:tc>
                  <a:txBody>
                    <a:bodyPr wrap="square"/>
                    <a:lstStyle/>
                    <a:p>
                      <a:pPr algn="l"/>
                      <a:r>
                        <a:rPr sz="1050" b="1">
                          <a:solidFill>
                            <a:srgbClr val="2E7D63"/>
                          </a:solidFill>
                          <a:latin typeface="Calibri"/>
                        </a:rPr>
                        <a:t>Complete</a:t>
                      </a:r>
                    </a:p>
                  </a:txBody>
                  <a:tcPr marL="128016" marR="91440" marT="27432" marB="27432" anchor="ctr">
                    <a:solidFill>
                      <a:srgbClr val="FFFFFF"/>
                    </a:solidFill>
                  </a:tcPr>
                </a:tc>
                <a:tc>
                  <a:txBody>
                    <a:bodyPr wrap="square"/>
                    <a:lstStyle/>
                    <a:p>
                      <a:pPr algn="l"/>
                      <a:r>
                        <a:rPr sz="1050" b="0">
                          <a:solidFill>
                            <a:srgbClr val="4E5A66"/>
                          </a:solidFill>
                          <a:latin typeface="Calibri"/>
                        </a:rPr>
                        <a:t>Four tables, MERGE-based upserts</a:t>
                      </a:r>
                    </a:p>
                  </a:txBody>
                  <a:tcPr marL="128016" marR="91440" marT="27432" marB="27432" anchor="ctr">
                    <a:solidFill>
                      <a:srgbClr val="FFFFFF"/>
                    </a:solidFill>
                  </a:tcPr>
                </a:tc>
              </a:tr>
              <a:tr h="274320">
                <a:tc>
                  <a:txBody>
                    <a:bodyPr wrap="square"/>
                    <a:lstStyle/>
                    <a:p>
                      <a:pPr algn="l"/>
                      <a:r>
                        <a:rPr sz="1050" b="1">
                          <a:solidFill>
                            <a:srgbClr val="1B2430"/>
                          </a:solidFill>
                          <a:latin typeface="Calibri"/>
                        </a:rPr>
                        <a:t>C# service integration</a:t>
                      </a:r>
                    </a:p>
                  </a:txBody>
                  <a:tcPr marL="128016" marR="91440" marT="27432" marB="27432" anchor="ctr">
                    <a:solidFill>
                      <a:srgbClr val="F7F9FA"/>
                    </a:solidFill>
                  </a:tcPr>
                </a:tc>
                <a:tc>
                  <a:txBody>
                    <a:bodyPr wrap="square"/>
                    <a:lstStyle/>
                    <a:p>
                      <a:pPr algn="l"/>
                      <a:r>
                        <a:rPr sz="1050" b="1">
                          <a:solidFill>
                            <a:srgbClr val="2E7D63"/>
                          </a:solidFill>
                          <a:latin typeface="Calibri"/>
                        </a:rPr>
                        <a:t>Complete</a:t>
                      </a:r>
                    </a:p>
                  </a:txBody>
                  <a:tcPr marL="128016" marR="91440" marT="27432" marB="27432" anchor="ctr">
                    <a:solidFill>
                      <a:srgbClr val="F7F9FA"/>
                    </a:solidFill>
                  </a:tcPr>
                </a:tc>
                <a:tc>
                  <a:txBody>
                    <a:bodyPr wrap="square"/>
                    <a:lstStyle/>
                    <a:p>
                      <a:pPr algn="l"/>
                      <a:r>
                        <a:rPr sz="1050" b="0">
                          <a:solidFill>
                            <a:srgbClr val="4E5A66"/>
                          </a:solidFill>
                          <a:latin typeface="Calibri"/>
                        </a:rPr>
                        <a:t>Model.dll and Logic.dll, .NET 10</a:t>
                      </a:r>
                    </a:p>
                  </a:txBody>
                  <a:tcPr marL="128016" marR="91440" marT="27432" marB="27432" anchor="ctr">
                    <a:solidFill>
                      <a:srgbClr val="F7F9FA"/>
                    </a:solidFill>
                  </a:tcPr>
                </a:tc>
              </a:tr>
              <a:tr h="274320">
                <a:tc>
                  <a:txBody>
                    <a:bodyPr wrap="square"/>
                    <a:lstStyle/>
                    <a:p>
                      <a:pPr algn="l"/>
                      <a:r>
                        <a:rPr sz="1050" b="1">
                          <a:solidFill>
                            <a:srgbClr val="1B2430"/>
                          </a:solidFill>
                          <a:latin typeface="Calibri"/>
                        </a:rPr>
                        <a:t>Incremental learning</a:t>
                      </a:r>
                    </a:p>
                  </a:txBody>
                  <a:tcPr marL="128016" marR="91440" marT="27432" marB="27432" anchor="ctr">
                    <a:solidFill>
                      <a:srgbClr val="FFFFFF"/>
                    </a:solidFill>
                  </a:tcPr>
                </a:tc>
                <a:tc>
                  <a:txBody>
                    <a:bodyPr wrap="square"/>
                    <a:lstStyle/>
                    <a:p>
                      <a:pPr algn="l"/>
                      <a:r>
                        <a:rPr sz="1050" b="1">
                          <a:solidFill>
                            <a:srgbClr val="2E7D63"/>
                          </a:solidFill>
                          <a:latin typeface="Calibri"/>
                        </a:rPr>
                        <a:t>Complete</a:t>
                      </a:r>
                    </a:p>
                  </a:txBody>
                  <a:tcPr marL="128016" marR="91440" marT="27432" marB="27432" anchor="ctr">
                    <a:solidFill>
                      <a:srgbClr val="FFFFFF"/>
                    </a:solidFill>
                  </a:tcPr>
                </a:tc>
                <a:tc>
                  <a:txBody>
                    <a:bodyPr wrap="square"/>
                    <a:lstStyle/>
                    <a:p>
                      <a:pPr algn="l"/>
                      <a:r>
                        <a:rPr sz="1050" b="0">
                          <a:solidFill>
                            <a:srgbClr val="4E5A66"/>
                          </a:solidFill>
                          <a:latin typeface="Calibri"/>
                        </a:rPr>
                        <a:t>Device type applies immediately</a:t>
                      </a:r>
                    </a:p>
                  </a:txBody>
                  <a:tcPr marL="128016" marR="91440" marT="27432" marB="27432" anchor="ctr">
                    <a:solidFill>
                      <a:srgbClr val="FFFFFF"/>
                    </a:solidFill>
                  </a:tcPr>
                </a:tc>
              </a:tr>
              <a:tr h="274320">
                <a:tc>
                  <a:txBody>
                    <a:bodyPr wrap="square"/>
                    <a:lstStyle/>
                    <a:p>
                      <a:pPr algn="l"/>
                      <a:r>
                        <a:rPr sz="1050" b="1">
                          <a:solidFill>
                            <a:srgbClr val="1B2430"/>
                          </a:solidFill>
                          <a:latin typeface="Calibri"/>
                        </a:rPr>
                        <a:t>Unattended / scheduled runs</a:t>
                      </a:r>
                    </a:p>
                  </a:txBody>
                  <a:tcPr marL="128016" marR="91440" marT="27432" marB="27432" anchor="ctr">
                    <a:solidFill>
                      <a:srgbClr val="F7F9FA"/>
                    </a:solidFill>
                  </a:tcPr>
                </a:tc>
                <a:tc>
                  <a:txBody>
                    <a:bodyPr wrap="square"/>
                    <a:lstStyle/>
                    <a:p>
                      <a:pPr algn="l"/>
                      <a:r>
                        <a:rPr sz="1050" b="1">
                          <a:solidFill>
                            <a:srgbClr val="2E7D63"/>
                          </a:solidFill>
                          <a:latin typeface="Calibri"/>
                        </a:rPr>
                        <a:t>Complete</a:t>
                      </a:r>
                    </a:p>
                  </a:txBody>
                  <a:tcPr marL="128016" marR="91440" marT="27432" marB="27432" anchor="ctr">
                    <a:solidFill>
                      <a:srgbClr val="F7F9FA"/>
                    </a:solidFill>
                  </a:tcPr>
                </a:tc>
                <a:tc>
                  <a:txBody>
                    <a:bodyPr wrap="square"/>
                    <a:lstStyle/>
                    <a:p>
                      <a:pPr algn="l"/>
                      <a:r>
                        <a:rPr sz="1050" b="0">
                          <a:solidFill>
                            <a:srgbClr val="4E5A66"/>
                          </a:solidFill>
                          <a:latin typeface="Calibri"/>
                        </a:rPr>
                        <a:t>Headless mode, no prompts</a:t>
                      </a:r>
                    </a:p>
                  </a:txBody>
                  <a:tcPr marL="128016" marR="91440" marT="27432" marB="27432" anchor="ctr">
                    <a:solidFill>
                      <a:srgbClr val="F7F9FA"/>
                    </a:solidFill>
                  </a:tcPr>
                </a:tc>
              </a:tr>
              <a:tr h="274320">
                <a:tc>
                  <a:txBody>
                    <a:bodyPr wrap="square"/>
                    <a:lstStyle/>
                    <a:p>
                      <a:pPr algn="l"/>
                      <a:r>
                        <a:rPr sz="1050" b="1">
                          <a:solidFill>
                            <a:srgbClr val="1B2430"/>
                          </a:solidFill>
                          <a:latin typeface="Calibri"/>
                        </a:rPr>
                        <a:t>Handover package &amp; documentation</a:t>
                      </a:r>
                    </a:p>
                  </a:txBody>
                  <a:tcPr marL="128016" marR="91440" marT="27432" marB="27432" anchor="ctr">
                    <a:solidFill>
                      <a:srgbClr val="FFFFFF"/>
                    </a:solidFill>
                  </a:tcPr>
                </a:tc>
                <a:tc>
                  <a:txBody>
                    <a:bodyPr wrap="square"/>
                    <a:lstStyle/>
                    <a:p>
                      <a:pPr algn="l"/>
                      <a:r>
                        <a:rPr sz="1050" b="1">
                          <a:solidFill>
                            <a:srgbClr val="2E7D63"/>
                          </a:solidFill>
                          <a:latin typeface="Calibri"/>
                        </a:rPr>
                        <a:t>Complete</a:t>
                      </a:r>
                    </a:p>
                  </a:txBody>
                  <a:tcPr marL="128016" marR="91440" marT="27432" marB="27432" anchor="ctr">
                    <a:solidFill>
                      <a:srgbClr val="FFFFFF"/>
                    </a:solidFill>
                  </a:tcPr>
                </a:tc>
                <a:tc>
                  <a:txBody>
                    <a:bodyPr wrap="square"/>
                    <a:lstStyle/>
                    <a:p>
                      <a:pPr algn="l"/>
                      <a:r>
                        <a:rPr sz="1050" b="0">
                          <a:solidFill>
                            <a:srgbClr val="4E5A66"/>
                          </a:solidFill>
                          <a:latin typeface="Calibri"/>
                        </a:rPr>
                        <a:t>DLLs, models, SQL scripts, API reference</a:t>
                      </a:r>
                    </a:p>
                  </a:txBody>
                  <a:tcPr marL="128016" marR="91440" marT="27432" marB="27432" anchor="ctr">
                    <a:solidFill>
                      <a:srgbClr val="FFFFFF"/>
                    </a:solidFill>
                  </a:tcPr>
                </a:tc>
              </a:tr>
              <a:tr h="274320">
                <a:tc>
                  <a:txBody>
                    <a:bodyPr wrap="square"/>
                    <a:lstStyle/>
                    <a:p>
                      <a:pPr algn="l"/>
                      <a:r>
                        <a:rPr sz="1050" b="1">
                          <a:solidFill>
                            <a:srgbClr val="1B2430"/>
                          </a:solidFill>
                          <a:latin typeface="Calibri"/>
                        </a:rPr>
                        <a:t>Quota reference data</a:t>
                      </a:r>
                    </a:p>
                  </a:txBody>
                  <a:tcPr marL="128016" marR="91440" marT="27432" marB="27432" anchor="ctr">
                    <a:solidFill>
                      <a:srgbClr val="F7F9FA"/>
                    </a:solidFill>
                  </a:tcPr>
                </a:tc>
                <a:tc>
                  <a:txBody>
                    <a:bodyPr wrap="square"/>
                    <a:lstStyle/>
                    <a:p>
                      <a:pPr algn="l"/>
                      <a:r>
                        <a:rPr sz="1050" b="1">
                          <a:solidFill>
                            <a:srgbClr val="C46A24"/>
                          </a:solidFill>
                          <a:latin typeface="Calibri"/>
                        </a:rPr>
                        <a:t>Partial</a:t>
                      </a:r>
                    </a:p>
                  </a:txBody>
                  <a:tcPr marL="128016" marR="91440" marT="27432" marB="27432" anchor="ctr">
                    <a:solidFill>
                      <a:srgbClr val="F7F9FA"/>
                    </a:solidFill>
                  </a:tcPr>
                </a:tc>
                <a:tc>
                  <a:txBody>
                    <a:bodyPr wrap="square"/>
                    <a:lstStyle/>
                    <a:p>
                      <a:pPr algn="l"/>
                      <a:r>
                        <a:rPr sz="1050" b="0">
                          <a:solidFill>
                            <a:srgbClr val="4E5A66"/>
                          </a:solidFill>
                          <a:latin typeface="Calibri"/>
                        </a:rPr>
                        <a:t>Real figures for 1 of 8 sections</a:t>
                      </a:r>
                    </a:p>
                  </a:txBody>
                  <a:tcPr marL="128016" marR="91440" marT="27432" marB="27432" anchor="ctr">
                    <a:solidFill>
                      <a:srgbClr val="F7F9FA"/>
                    </a:solidFill>
                  </a:tcPr>
                </a:tc>
              </a:tr>
              <a:tr h="274320">
                <a:tc>
                  <a:txBody>
                    <a:bodyPr wrap="square"/>
                    <a:lstStyle/>
                    <a:p>
                      <a:pPr algn="l"/>
                      <a:r>
                        <a:rPr sz="1050" b="1">
                          <a:solidFill>
                            <a:srgbClr val="1B2430"/>
                          </a:solidFill>
                          <a:latin typeface="Calibri"/>
                        </a:rPr>
                        <a:t>Accuracy validation</a:t>
                      </a:r>
                    </a:p>
                  </a:txBody>
                  <a:tcPr marL="128016" marR="91440" marT="27432" marB="27432" anchor="ctr">
                    <a:solidFill>
                      <a:srgbClr val="FFFFFF"/>
                    </a:solidFill>
                  </a:tcPr>
                </a:tc>
                <a:tc>
                  <a:txBody>
                    <a:bodyPr wrap="square"/>
                    <a:lstStyle/>
                    <a:p>
                      <a:pPr algn="l"/>
                      <a:r>
                        <a:rPr sz="1050" b="1">
                          <a:solidFill>
                            <a:srgbClr val="7A8792"/>
                          </a:solidFill>
                          <a:latin typeface="Calibri"/>
                        </a:rPr>
                        <a:t>Not started</a:t>
                      </a:r>
                    </a:p>
                  </a:txBody>
                  <a:tcPr marL="128016" marR="91440" marT="27432" marB="27432" anchor="ctr">
                    <a:solidFill>
                      <a:srgbClr val="FFFFFF"/>
                    </a:solidFill>
                  </a:tcPr>
                </a:tc>
                <a:tc>
                  <a:txBody>
                    <a:bodyPr wrap="square"/>
                    <a:lstStyle/>
                    <a:p>
                      <a:pPr algn="l"/>
                      <a:r>
                        <a:rPr sz="1050" b="0">
                          <a:solidFill>
                            <a:srgbClr val="4E5A66"/>
                          </a:solidFill>
                          <a:latin typeface="Calibri"/>
                        </a:rPr>
                        <a:t>Needs a completed project to measure against</a:t>
                      </a:r>
                    </a:p>
                  </a:txBody>
                  <a:tcPr marL="128016" marR="91440" marT="27432" marB="27432" anchor="ctr">
                    <a:solidFill>
                      <a:srgbClr val="FFFFFF"/>
                    </a:solidFill>
                  </a:tcPr>
                </a:tc>
              </a:tr>
              <a:tr h="274320">
                <a:tc>
                  <a:txBody>
                    <a:bodyPr wrap="square"/>
                    <a:lstStyle/>
                    <a:p>
                      <a:pPr algn="l"/>
                      <a:r>
                        <a:rPr sz="1050" b="1">
                          <a:solidFill>
                            <a:srgbClr val="1B2430"/>
                          </a:solidFill>
                          <a:latin typeface="Calibri"/>
                        </a:rPr>
                        <a:t>Automated test suite</a:t>
                      </a:r>
                    </a:p>
                  </a:txBody>
                  <a:tcPr marL="128016" marR="91440" marT="27432" marB="27432" anchor="ctr">
                    <a:solidFill>
                      <a:srgbClr val="F7F9FA"/>
                    </a:solidFill>
                  </a:tcPr>
                </a:tc>
                <a:tc>
                  <a:txBody>
                    <a:bodyPr wrap="square"/>
                    <a:lstStyle/>
                    <a:p>
                      <a:pPr algn="l"/>
                      <a:r>
                        <a:rPr sz="1050" b="1">
                          <a:solidFill>
                            <a:srgbClr val="7A8792"/>
                          </a:solidFill>
                          <a:latin typeface="Calibri"/>
                        </a:rPr>
                        <a:t>Not started</a:t>
                      </a:r>
                    </a:p>
                  </a:txBody>
                  <a:tcPr marL="128016" marR="91440" marT="27432" marB="27432" anchor="ctr">
                    <a:solidFill>
                      <a:srgbClr val="F7F9FA"/>
                    </a:solidFill>
                  </a:tcPr>
                </a:tc>
                <a:tc>
                  <a:txBody>
                    <a:bodyPr wrap="square"/>
                    <a:lstStyle/>
                    <a:p>
                      <a:pPr algn="l"/>
                      <a:r>
                        <a:rPr sz="1050" b="0">
                          <a:solidFill>
                            <a:srgbClr val="4E5A66"/>
                          </a:solidFill>
                          <a:latin typeface="Calibri"/>
                        </a:rPr>
                        <a:t>Verification is manual live runs today</a:t>
                      </a:r>
                    </a:p>
                  </a:txBody>
                  <a:tcPr marL="128016" marR="91440" marT="27432" marB="27432" anchor="ctr">
                    <a:solidFill>
                      <a:srgbClr val="F7F9FA"/>
                    </a:solidFill>
                  </a:tcPr>
                </a:tc>
              </a:tr>
              <a:tr h="274320">
                <a:tc>
                  <a:txBody>
                    <a:bodyPr wrap="square"/>
                    <a:lstStyle/>
                    <a:p>
                      <a:pPr algn="l"/>
                      <a:r>
                        <a:rPr sz="1050" b="1">
                          <a:solidFill>
                            <a:srgbClr val="1B2430"/>
                          </a:solidFill>
                          <a:latin typeface="Calibri"/>
                        </a:rPr>
                        <a:t>User interface</a:t>
                      </a:r>
                    </a:p>
                  </a:txBody>
                  <a:tcPr marL="128016" marR="91440" marT="27432" marB="27432" anchor="ctr">
                    <a:solidFill>
                      <a:srgbClr val="FFFFFF"/>
                    </a:solidFill>
                  </a:tcPr>
                </a:tc>
                <a:tc>
                  <a:txBody>
                    <a:bodyPr wrap="square"/>
                    <a:lstStyle/>
                    <a:p>
                      <a:pPr algn="l"/>
                      <a:r>
                        <a:rPr sz="1050" b="1">
                          <a:solidFill>
                            <a:srgbClr val="7A8792"/>
                          </a:solidFill>
                          <a:latin typeface="Calibri"/>
                        </a:rPr>
                        <a:t>Not started</a:t>
                      </a:r>
                    </a:p>
                  </a:txBody>
                  <a:tcPr marL="128016" marR="91440" marT="27432" marB="27432" anchor="ctr">
                    <a:solidFill>
                      <a:srgbClr val="FFFFFF"/>
                    </a:solidFill>
                  </a:tcPr>
                </a:tc>
                <a:tc>
                  <a:txBody>
                    <a:bodyPr wrap="square"/>
                    <a:lstStyle/>
                    <a:p>
                      <a:pPr algn="l"/>
                      <a:r>
                        <a:rPr sz="1050" b="0">
                          <a:solidFill>
                            <a:srgbClr val="4E5A66"/>
                          </a:solidFill>
                          <a:latin typeface="Calibri"/>
                        </a:rPr>
                        <a:t>Handed to software development</a:t>
                      </a:r>
                    </a:p>
                  </a:txBody>
                  <a:tcPr marL="128016" marR="91440" marT="27432" marB="27432" anchor="ctr">
                    <a:solidFill>
                      <a:srgbClr val="FFFFFF"/>
                    </a:solidFill>
                  </a:tcPr>
                </a:tc>
              </a:tr>
            </a:tbl>
          </a:graphicData>
        </a:graphic>
      </p:graphicFrame>
      <p:sp>
        <p:nvSpPr>
          <p:cNvPr id="6" name="TextBox 5"/>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August 2026</a:t>
            </a:r>
          </a:p>
        </p:txBody>
      </p:sp>
      <p:sp>
        <p:nvSpPr>
          <p:cNvPr id="7" name="TextBox 6"/>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10  ·  CONSTRAINTS</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What stands between here and production</a:t>
            </a:r>
          </a:p>
        </p:txBody>
      </p:sp>
      <p:sp>
        <p:nvSpPr>
          <p:cNvPr id="4" name="Rounded Rectangle 3"/>
          <p:cNvSpPr/>
          <p:nvPr/>
        </p:nvSpPr>
        <p:spPr>
          <a:xfrm>
            <a:off x="548640" y="1280160"/>
            <a:ext cx="11091672" cy="841248"/>
          </a:xfrm>
          <a:prstGeom prst="roundRect">
            <a:avLst>
              <a:gd name="adj" fmla="val 5500"/>
            </a:avLst>
          </a:prstGeom>
          <a:solidFill>
            <a:srgbClr val="FAF1E8"/>
          </a:solidFill>
          <a:ln w="9525">
            <a:solidFill>
              <a:srgbClr val="C46A2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22960" y="1444752"/>
            <a:ext cx="10543032" cy="548640"/>
          </a:xfrm>
          <a:prstGeom prst="rect">
            <a:avLst/>
          </a:prstGeom>
          <a:noFill/>
        </p:spPr>
        <p:txBody>
          <a:bodyPr wrap="square" lIns="0" rIns="0" tIns="0" bIns="0" anchor="t">
            <a:spAutoFit/>
          </a:bodyPr>
          <a:lstStyle/>
          <a:p>
            <a:pPr algn="l">
              <a:lnSpc>
                <a:spcPts val="1700"/>
              </a:lnSpc>
            </a:pPr>
            <a:r>
              <a:rPr sz="1250" b="1" i="0">
                <a:solidFill>
                  <a:srgbClr val="C46A24"/>
                </a:solidFill>
                <a:latin typeface="Calibri"/>
              </a:rPr>
              <a:t>Read this number carefully — </a:t>
            </a:r>
            <a:r>
              <a:rPr sz="1250" b="0" i="0">
                <a:solidFill>
                  <a:srgbClr val="1B2430"/>
                </a:solidFill>
                <a:latin typeface="Calibri"/>
              </a:rPr>
              <a:t>the 25% auto-assignment rate seen on project A9998 (358 devices) measures missing quota data, not model accuracy. The system cannot place a device into a cluster whose intended composition has never been defined.</a:t>
            </a:r>
          </a:p>
        </p:txBody>
      </p:sp>
      <p:sp>
        <p:nvSpPr>
          <p:cNvPr id="6" name="Rounded Rectangle 5"/>
          <p:cNvSpPr/>
          <p:nvPr/>
        </p:nvSpPr>
        <p:spPr>
          <a:xfrm>
            <a:off x="548640" y="23317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822959" y="2569463"/>
            <a:ext cx="960120" cy="237744"/>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22959" y="2569463"/>
            <a:ext cx="960120" cy="237744"/>
          </a:xfrm>
          <a:prstGeom prst="rect">
            <a:avLst/>
          </a:prstGeom>
          <a:noFill/>
        </p:spPr>
        <p:txBody>
          <a:bodyPr wrap="square" lIns="0" rIns="0" tIns="0" bIns="0" anchor="ctr">
            <a:spAutoFit/>
          </a:bodyPr>
          <a:lstStyle/>
          <a:p>
            <a:pPr algn="ctr"/>
            <a:r>
              <a:rPr sz="850" b="1" i="0" spc="110">
                <a:solidFill>
                  <a:srgbClr val="FFFFFF"/>
                </a:solidFill>
                <a:latin typeface="Calibri"/>
              </a:rPr>
              <a:t>BLOCKER</a:t>
            </a:r>
          </a:p>
        </p:txBody>
      </p:sp>
      <p:sp>
        <p:nvSpPr>
          <p:cNvPr id="9" name="TextBox 8"/>
          <p:cNvSpPr txBox="1"/>
          <p:nvPr/>
        </p:nvSpPr>
        <p:spPr>
          <a:xfrm>
            <a:off x="822959" y="2935224"/>
            <a:ext cx="4892040" cy="310896"/>
          </a:xfrm>
          <a:prstGeom prst="rect">
            <a:avLst/>
          </a:prstGeom>
          <a:noFill/>
        </p:spPr>
        <p:txBody>
          <a:bodyPr wrap="square" lIns="0" rIns="0" tIns="0" bIns="0" anchor="t">
            <a:spAutoFit/>
          </a:bodyPr>
          <a:lstStyle/>
          <a:p>
            <a:pPr algn="l"/>
            <a:r>
              <a:rPr sz="1500" b="1" i="0">
                <a:solidFill>
                  <a:srgbClr val="1B2430"/>
                </a:solidFill>
                <a:latin typeface="Cambria"/>
              </a:rPr>
              <a:t>Quota data is mostly placeholder</a:t>
            </a:r>
          </a:p>
        </p:txBody>
      </p:sp>
      <p:sp>
        <p:nvSpPr>
          <p:cNvPr id="10" name="TextBox 9"/>
          <p:cNvSpPr txBox="1"/>
          <p:nvPr/>
        </p:nvSpPr>
        <p:spPr>
          <a:xfrm>
            <a:off x="822959" y="3319272"/>
            <a:ext cx="4892040" cy="566928"/>
          </a:xfrm>
          <a:prstGeom prst="rect">
            <a:avLst/>
          </a:prstGeom>
          <a:noFill/>
        </p:spPr>
        <p:txBody>
          <a:bodyPr wrap="square" lIns="0" rIns="0" tIns="0" bIns="0" anchor="t">
            <a:spAutoFit/>
          </a:bodyPr>
          <a:lstStyle/>
          <a:p>
            <a:pPr algn="l">
              <a:lnSpc>
                <a:spcPts val="1450"/>
              </a:lnSpc>
            </a:pPr>
            <a:r>
              <a:rPr sz="1100" b="0" i="0">
                <a:solidFill>
                  <a:srgbClr val="4E5A66"/>
                </a:solidFill>
                <a:latin typeface="Calibri"/>
              </a:rPr>
              <a:t>Real target composition exists for Section 2 only. Sections 1 and 3 to 8 hold invented figures, added so the pipeline could be tested end to end.</a:t>
            </a:r>
          </a:p>
        </p:txBody>
      </p:sp>
      <p:sp>
        <p:nvSpPr>
          <p:cNvPr id="11" name="Rounded Rectangle 10"/>
          <p:cNvSpPr/>
          <p:nvPr/>
        </p:nvSpPr>
        <p:spPr>
          <a:xfrm>
            <a:off x="6199631" y="23317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473951" y="2569463"/>
            <a:ext cx="960120" cy="237744"/>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73951" y="2569463"/>
            <a:ext cx="960120" cy="237744"/>
          </a:xfrm>
          <a:prstGeom prst="rect">
            <a:avLst/>
          </a:prstGeom>
          <a:noFill/>
        </p:spPr>
        <p:txBody>
          <a:bodyPr wrap="square" lIns="0" rIns="0" tIns="0" bIns="0" anchor="ctr">
            <a:spAutoFit/>
          </a:bodyPr>
          <a:lstStyle/>
          <a:p>
            <a:pPr algn="ctr"/>
            <a:r>
              <a:rPr sz="850" b="1" i="0" spc="110">
                <a:solidFill>
                  <a:srgbClr val="FFFFFF"/>
                </a:solidFill>
                <a:latin typeface="Calibri"/>
              </a:rPr>
              <a:t>BLOCKER</a:t>
            </a:r>
          </a:p>
        </p:txBody>
      </p:sp>
      <p:sp>
        <p:nvSpPr>
          <p:cNvPr id="14" name="TextBox 13"/>
          <p:cNvSpPr txBox="1"/>
          <p:nvPr/>
        </p:nvSpPr>
        <p:spPr>
          <a:xfrm>
            <a:off x="6473951" y="2935224"/>
            <a:ext cx="4892040" cy="310896"/>
          </a:xfrm>
          <a:prstGeom prst="rect">
            <a:avLst/>
          </a:prstGeom>
          <a:noFill/>
        </p:spPr>
        <p:txBody>
          <a:bodyPr wrap="square" lIns="0" rIns="0" tIns="0" bIns="0" anchor="t">
            <a:spAutoFit/>
          </a:bodyPr>
          <a:lstStyle/>
          <a:p>
            <a:pPr algn="l"/>
            <a:r>
              <a:rPr sz="1500" b="1" i="0">
                <a:solidFill>
                  <a:srgbClr val="1B2430"/>
                </a:solidFill>
                <a:latin typeface="Cambria"/>
              </a:rPr>
              <a:t>No user interface</a:t>
            </a:r>
          </a:p>
        </p:txBody>
      </p:sp>
      <p:sp>
        <p:nvSpPr>
          <p:cNvPr id="15" name="TextBox 14"/>
          <p:cNvSpPr txBox="1"/>
          <p:nvPr/>
        </p:nvSpPr>
        <p:spPr>
          <a:xfrm>
            <a:off x="6473951" y="3319272"/>
            <a:ext cx="4892040" cy="566928"/>
          </a:xfrm>
          <a:prstGeom prst="rect">
            <a:avLst/>
          </a:prstGeom>
          <a:noFill/>
        </p:spPr>
        <p:txBody>
          <a:bodyPr wrap="square" lIns="0" rIns="0" tIns="0" bIns="0" anchor="t">
            <a:spAutoFit/>
          </a:bodyPr>
          <a:lstStyle/>
          <a:p>
            <a:pPr algn="l">
              <a:lnSpc>
                <a:spcPts val="1450"/>
              </a:lnSpc>
            </a:pPr>
            <a:r>
              <a:rPr sz="1100" b="0" i="0">
                <a:solidFill>
                  <a:srgbClr val="4E5A66"/>
                </a:solidFill>
                <a:latin typeface="Calibri"/>
              </a:rPr>
              <a:t>What exists is the engine plus a console harness for testing. The screens engineers would actually use still have to be built.</a:t>
            </a:r>
          </a:p>
        </p:txBody>
      </p:sp>
      <p:sp>
        <p:nvSpPr>
          <p:cNvPr id="16" name="Rounded Rectangle 15"/>
          <p:cNvSpPr/>
          <p:nvPr/>
        </p:nvSpPr>
        <p:spPr>
          <a:xfrm>
            <a:off x="548640" y="41605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822959" y="4398264"/>
            <a:ext cx="960120" cy="237744"/>
          </a:xfrm>
          <a:prstGeom prst="roundRect">
            <a:avLst>
              <a:gd name="adj" fmla="val 35000"/>
            </a:avLst>
          </a:prstGeom>
          <a:solidFill>
            <a:srgbClr val="7A87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2959" y="4398264"/>
            <a:ext cx="960120" cy="237744"/>
          </a:xfrm>
          <a:prstGeom prst="rect">
            <a:avLst/>
          </a:prstGeom>
          <a:noFill/>
        </p:spPr>
        <p:txBody>
          <a:bodyPr wrap="square" lIns="0" rIns="0" tIns="0" bIns="0" anchor="ctr">
            <a:spAutoFit/>
          </a:bodyPr>
          <a:lstStyle/>
          <a:p>
            <a:pPr algn="ctr"/>
            <a:r>
              <a:rPr sz="850" b="1" i="0" spc="110">
                <a:solidFill>
                  <a:srgbClr val="FFFFFF"/>
                </a:solidFill>
                <a:latin typeface="Calibri"/>
              </a:rPr>
              <a:t>GAP</a:t>
            </a:r>
          </a:p>
        </p:txBody>
      </p:sp>
      <p:sp>
        <p:nvSpPr>
          <p:cNvPr id="19" name="TextBox 18"/>
          <p:cNvSpPr txBox="1"/>
          <p:nvPr/>
        </p:nvSpPr>
        <p:spPr>
          <a:xfrm>
            <a:off x="822959" y="4764024"/>
            <a:ext cx="4892040" cy="310896"/>
          </a:xfrm>
          <a:prstGeom prst="rect">
            <a:avLst/>
          </a:prstGeom>
          <a:noFill/>
        </p:spPr>
        <p:txBody>
          <a:bodyPr wrap="square" lIns="0" rIns="0" tIns="0" bIns="0" anchor="t">
            <a:spAutoFit/>
          </a:bodyPr>
          <a:lstStyle/>
          <a:p>
            <a:pPr algn="l"/>
            <a:r>
              <a:rPr sz="1500" b="1" i="0">
                <a:solidFill>
                  <a:srgbClr val="1B2430"/>
                </a:solidFill>
                <a:latin typeface="Cambria"/>
              </a:rPr>
              <a:t>No validated accuracy figure</a:t>
            </a:r>
          </a:p>
        </p:txBody>
      </p:sp>
      <p:sp>
        <p:nvSpPr>
          <p:cNvPr id="20" name="TextBox 19"/>
          <p:cNvSpPr txBox="1"/>
          <p:nvPr/>
        </p:nvSpPr>
        <p:spPr>
          <a:xfrm>
            <a:off x="822959" y="5148072"/>
            <a:ext cx="4892040" cy="566928"/>
          </a:xfrm>
          <a:prstGeom prst="rect">
            <a:avLst/>
          </a:prstGeom>
          <a:noFill/>
        </p:spPr>
        <p:txBody>
          <a:bodyPr wrap="square" lIns="0" rIns="0" tIns="0" bIns="0" anchor="t">
            <a:spAutoFit/>
          </a:bodyPr>
          <a:lstStyle/>
          <a:p>
            <a:pPr algn="l">
              <a:lnSpc>
                <a:spcPts val="1450"/>
              </a:lnSpc>
            </a:pPr>
            <a:r>
              <a:rPr sz="1100" b="0" i="0">
                <a:solidFill>
                  <a:srgbClr val="4E5A66"/>
                </a:solidFill>
                <a:latin typeface="Calibri"/>
              </a:rPr>
              <a:t>Verification so far is live runs on representative data. A run against a completed project, where the answer is already known, is needed before any number is quoted.</a:t>
            </a:r>
          </a:p>
        </p:txBody>
      </p:sp>
      <p:sp>
        <p:nvSpPr>
          <p:cNvPr id="21" name="Rounded Rectangle 20"/>
          <p:cNvSpPr/>
          <p:nvPr/>
        </p:nvSpPr>
        <p:spPr>
          <a:xfrm>
            <a:off x="6199631" y="41605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473951" y="4398264"/>
            <a:ext cx="960120" cy="237744"/>
          </a:xfrm>
          <a:prstGeom prst="roundRect">
            <a:avLst>
              <a:gd name="adj" fmla="val 35000"/>
            </a:avLst>
          </a:prstGeom>
          <a:solidFill>
            <a:srgbClr val="7A879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73951" y="4398264"/>
            <a:ext cx="960120" cy="237744"/>
          </a:xfrm>
          <a:prstGeom prst="rect">
            <a:avLst/>
          </a:prstGeom>
          <a:noFill/>
        </p:spPr>
        <p:txBody>
          <a:bodyPr wrap="square" lIns="0" rIns="0" tIns="0" bIns="0" anchor="ctr">
            <a:spAutoFit/>
          </a:bodyPr>
          <a:lstStyle/>
          <a:p>
            <a:pPr algn="ctr"/>
            <a:r>
              <a:rPr sz="850" b="1" i="0" spc="110">
                <a:solidFill>
                  <a:srgbClr val="FFFFFF"/>
                </a:solidFill>
                <a:latin typeface="Calibri"/>
              </a:rPr>
              <a:t>GAP</a:t>
            </a:r>
          </a:p>
        </p:txBody>
      </p:sp>
      <p:sp>
        <p:nvSpPr>
          <p:cNvPr id="24" name="TextBox 23"/>
          <p:cNvSpPr txBox="1"/>
          <p:nvPr/>
        </p:nvSpPr>
        <p:spPr>
          <a:xfrm>
            <a:off x="6473951" y="4764024"/>
            <a:ext cx="4892040" cy="310896"/>
          </a:xfrm>
          <a:prstGeom prst="rect">
            <a:avLst/>
          </a:prstGeom>
          <a:noFill/>
        </p:spPr>
        <p:txBody>
          <a:bodyPr wrap="square" lIns="0" rIns="0" tIns="0" bIns="0" anchor="t">
            <a:spAutoFit/>
          </a:bodyPr>
          <a:lstStyle/>
          <a:p>
            <a:pPr algn="l"/>
            <a:r>
              <a:rPr sz="1500" b="1" i="0">
                <a:solidFill>
                  <a:srgbClr val="1B2430"/>
                </a:solidFill>
                <a:latin typeface="Cambria"/>
              </a:rPr>
              <a:t>No automated test suite</a:t>
            </a:r>
          </a:p>
        </p:txBody>
      </p:sp>
      <p:sp>
        <p:nvSpPr>
          <p:cNvPr id="25" name="TextBox 24"/>
          <p:cNvSpPr txBox="1"/>
          <p:nvPr/>
        </p:nvSpPr>
        <p:spPr>
          <a:xfrm>
            <a:off x="6473951" y="5148072"/>
            <a:ext cx="4892040" cy="566928"/>
          </a:xfrm>
          <a:prstGeom prst="rect">
            <a:avLst/>
          </a:prstGeom>
          <a:noFill/>
        </p:spPr>
        <p:txBody>
          <a:bodyPr wrap="square" lIns="0" rIns="0" tIns="0" bIns="0" anchor="t">
            <a:spAutoFit/>
          </a:bodyPr>
          <a:lstStyle/>
          <a:p>
            <a:pPr algn="l">
              <a:lnSpc>
                <a:spcPts val="1450"/>
              </a:lnSpc>
            </a:pPr>
            <a:r>
              <a:rPr sz="1100" b="0" i="0">
                <a:solidFill>
                  <a:srgbClr val="4E5A66"/>
                </a:solidFill>
                <a:latin typeface="Calibri"/>
              </a:rPr>
              <a:t>All checks to date are manual. Interface work needs automated coverage so a change cannot break the pipeline silently.</a:t>
            </a:r>
          </a:p>
        </p:txBody>
      </p:sp>
      <p:sp>
        <p:nvSpPr>
          <p:cNvPr id="26" name="TextBox 25"/>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August 2026</a:t>
            </a:r>
          </a:p>
        </p:txBody>
      </p:sp>
      <p:sp>
        <p:nvSpPr>
          <p:cNvPr id="27" name="TextBox 26"/>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11  ·  WHAT TO DO NEXT</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Three actions, in order of what unblocks most</a:t>
            </a:r>
          </a:p>
        </p:txBody>
      </p:sp>
      <p:sp>
        <p:nvSpPr>
          <p:cNvPr id="4" name="TextBox 3"/>
          <p:cNvSpPr txBox="1"/>
          <p:nvPr/>
        </p:nvSpPr>
        <p:spPr>
          <a:xfrm>
            <a:off x="548640" y="1280160"/>
            <a:ext cx="10881360" cy="274320"/>
          </a:xfrm>
          <a:prstGeom prst="rect">
            <a:avLst/>
          </a:prstGeom>
          <a:noFill/>
        </p:spPr>
        <p:txBody>
          <a:bodyPr wrap="square" lIns="0" rIns="0" tIns="0" bIns="0" anchor="t">
            <a:spAutoFit/>
          </a:bodyPr>
          <a:lstStyle/>
          <a:p>
            <a:pPr algn="l"/>
            <a:r>
              <a:rPr sz="1300" b="0" i="0">
                <a:solidFill>
                  <a:srgbClr val="4E5A66"/>
                </a:solidFill>
                <a:latin typeface="Calibri"/>
              </a:rPr>
              <a:t>Only one of the three is development work. The largest constraint is data that only engineering can supply.</a:t>
            </a:r>
          </a:p>
        </p:txBody>
      </p:sp>
      <p:sp>
        <p:nvSpPr>
          <p:cNvPr id="5" name="Rounded Rectangle 4"/>
          <p:cNvSpPr/>
          <p:nvPr/>
        </p:nvSpPr>
        <p:spPr>
          <a:xfrm>
            <a:off x="548640" y="1691640"/>
            <a:ext cx="11091672" cy="126187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68680" y="1691640"/>
            <a:ext cx="777240" cy="1261872"/>
          </a:xfrm>
          <a:prstGeom prst="rect">
            <a:avLst/>
          </a:prstGeom>
          <a:noFill/>
        </p:spPr>
        <p:txBody>
          <a:bodyPr wrap="square" lIns="0" rIns="0" tIns="0" bIns="0" anchor="ctr">
            <a:spAutoFit/>
          </a:bodyPr>
          <a:lstStyle/>
          <a:p>
            <a:pPr algn="ctr"/>
            <a:r>
              <a:rPr sz="3400" b="1" i="0">
                <a:solidFill>
                  <a:srgbClr val="C46A24"/>
                </a:solidFill>
                <a:latin typeface="Cambria"/>
              </a:rPr>
              <a:t>01</a:t>
            </a:r>
          </a:p>
        </p:txBody>
      </p:sp>
      <p:sp>
        <p:nvSpPr>
          <p:cNvPr id="7" name="TextBox 6"/>
          <p:cNvSpPr txBox="1"/>
          <p:nvPr/>
        </p:nvSpPr>
        <p:spPr>
          <a:xfrm>
            <a:off x="1847088" y="1911095"/>
            <a:ext cx="5852160" cy="292608"/>
          </a:xfrm>
          <a:prstGeom prst="rect">
            <a:avLst/>
          </a:prstGeom>
          <a:noFill/>
        </p:spPr>
        <p:txBody>
          <a:bodyPr wrap="square" lIns="0" rIns="0" tIns="0" bIns="0" anchor="t">
            <a:spAutoFit/>
          </a:bodyPr>
          <a:lstStyle/>
          <a:p>
            <a:pPr algn="l"/>
            <a:r>
              <a:rPr sz="1650" b="1" i="0">
                <a:solidFill>
                  <a:srgbClr val="1B2430"/>
                </a:solidFill>
                <a:latin typeface="Cambria"/>
              </a:rPr>
              <a:t>Collect the real quota patterns</a:t>
            </a:r>
          </a:p>
        </p:txBody>
      </p:sp>
      <p:sp>
        <p:nvSpPr>
          <p:cNvPr id="8" name="TextBox 7"/>
          <p:cNvSpPr txBox="1"/>
          <p:nvPr/>
        </p:nvSpPr>
        <p:spPr>
          <a:xfrm>
            <a:off x="1847088" y="2240280"/>
            <a:ext cx="5852160" cy="566928"/>
          </a:xfrm>
          <a:prstGeom prst="rect">
            <a:avLst/>
          </a:prstGeom>
          <a:noFill/>
        </p:spPr>
        <p:txBody>
          <a:bodyPr wrap="square" lIns="0" rIns="0" tIns="0" bIns="0" anchor="t">
            <a:spAutoFit/>
          </a:bodyPr>
          <a:lstStyle/>
          <a:p>
            <a:pPr algn="l">
              <a:lnSpc>
                <a:spcPts val="1500"/>
              </a:lnSpc>
            </a:pPr>
            <a:r>
              <a:rPr sz="1150" b="0" i="0">
                <a:solidFill>
                  <a:srgbClr val="4E5A66"/>
                </a:solidFill>
                <a:latin typeface="Calibri"/>
              </a:rPr>
              <a:t>Target composition for sections 1 and 3 to 8. This is domain knowledge from engineering, not development time, and it is the single biggest limit on how much the system can place automatically.</a:t>
            </a:r>
          </a:p>
        </p:txBody>
      </p:sp>
      <p:sp>
        <p:nvSpPr>
          <p:cNvPr id="9" name="TextBox 8"/>
          <p:cNvSpPr txBox="1"/>
          <p:nvPr/>
        </p:nvSpPr>
        <p:spPr>
          <a:xfrm>
            <a:off x="8183879" y="1929384"/>
            <a:ext cx="3200400" cy="182880"/>
          </a:xfrm>
          <a:prstGeom prst="rect">
            <a:avLst/>
          </a:prstGeom>
          <a:noFill/>
        </p:spPr>
        <p:txBody>
          <a:bodyPr wrap="square" lIns="0" rIns="0" tIns="0" bIns="0" anchor="t">
            <a:spAutoFit/>
          </a:bodyPr>
          <a:lstStyle/>
          <a:p>
            <a:pPr algn="l"/>
            <a:r>
              <a:rPr sz="850" b="1" i="0" spc="140">
                <a:solidFill>
                  <a:srgbClr val="A6AEB6"/>
                </a:solidFill>
                <a:latin typeface="Calibri"/>
              </a:rPr>
              <a:t>OWNER</a:t>
            </a:r>
          </a:p>
        </p:txBody>
      </p:sp>
      <p:sp>
        <p:nvSpPr>
          <p:cNvPr id="10" name="TextBox 9"/>
          <p:cNvSpPr txBox="1"/>
          <p:nvPr/>
        </p:nvSpPr>
        <p:spPr>
          <a:xfrm>
            <a:off x="8183879" y="2121408"/>
            <a:ext cx="3200400" cy="237744"/>
          </a:xfrm>
          <a:prstGeom prst="rect">
            <a:avLst/>
          </a:prstGeom>
          <a:noFill/>
        </p:spPr>
        <p:txBody>
          <a:bodyPr wrap="square" lIns="0" rIns="0" tIns="0" bIns="0" anchor="t">
            <a:spAutoFit/>
          </a:bodyPr>
          <a:lstStyle/>
          <a:p>
            <a:pPr algn="l"/>
            <a:r>
              <a:rPr sz="1200" b="1" i="0">
                <a:solidFill>
                  <a:srgbClr val="1B2430"/>
                </a:solidFill>
                <a:latin typeface="Calibri"/>
              </a:rPr>
              <a:t>Engineering</a:t>
            </a:r>
          </a:p>
        </p:txBody>
      </p:sp>
      <p:sp>
        <p:nvSpPr>
          <p:cNvPr id="11" name="TextBox 10"/>
          <p:cNvSpPr txBox="1"/>
          <p:nvPr/>
        </p:nvSpPr>
        <p:spPr>
          <a:xfrm>
            <a:off x="8183879" y="2404872"/>
            <a:ext cx="3200400" cy="182880"/>
          </a:xfrm>
          <a:prstGeom prst="rect">
            <a:avLst/>
          </a:prstGeom>
          <a:noFill/>
        </p:spPr>
        <p:txBody>
          <a:bodyPr wrap="square" lIns="0" rIns="0" tIns="0" bIns="0" anchor="t">
            <a:spAutoFit/>
          </a:bodyPr>
          <a:lstStyle/>
          <a:p>
            <a:pPr algn="l"/>
            <a:r>
              <a:rPr sz="850" b="1" i="0" spc="140">
                <a:solidFill>
                  <a:srgbClr val="A6AEB6"/>
                </a:solidFill>
                <a:latin typeface="Calibri"/>
              </a:rPr>
              <a:t>UNBLOCKS</a:t>
            </a:r>
          </a:p>
        </p:txBody>
      </p:sp>
      <p:sp>
        <p:nvSpPr>
          <p:cNvPr id="12" name="TextBox 11"/>
          <p:cNvSpPr txBox="1"/>
          <p:nvPr/>
        </p:nvSpPr>
        <p:spPr>
          <a:xfrm>
            <a:off x="8183879" y="2596896"/>
            <a:ext cx="3200400" cy="310896"/>
          </a:xfrm>
          <a:prstGeom prst="rect">
            <a:avLst/>
          </a:prstGeom>
          <a:noFill/>
        </p:spPr>
        <p:txBody>
          <a:bodyPr wrap="square" lIns="0" rIns="0" tIns="0" bIns="0" anchor="t">
            <a:spAutoFit/>
          </a:bodyPr>
          <a:lstStyle/>
          <a:p>
            <a:pPr algn="l">
              <a:lnSpc>
                <a:spcPts val="1350"/>
              </a:lnSpc>
            </a:pPr>
            <a:r>
              <a:rPr sz="1050" b="0" i="0">
                <a:solidFill>
                  <a:srgbClr val="4E5A66"/>
                </a:solidFill>
                <a:latin typeface="Calibri"/>
              </a:rPr>
              <a:t>Auto-assignment across all 8 sections</a:t>
            </a:r>
          </a:p>
        </p:txBody>
      </p:sp>
      <p:sp>
        <p:nvSpPr>
          <p:cNvPr id="13" name="Rounded Rectangle 12"/>
          <p:cNvSpPr/>
          <p:nvPr/>
        </p:nvSpPr>
        <p:spPr>
          <a:xfrm>
            <a:off x="548640" y="3090672"/>
            <a:ext cx="11091672" cy="126187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090672"/>
            <a:ext cx="777240" cy="1261872"/>
          </a:xfrm>
          <a:prstGeom prst="rect">
            <a:avLst/>
          </a:prstGeom>
          <a:noFill/>
        </p:spPr>
        <p:txBody>
          <a:bodyPr wrap="square" lIns="0" rIns="0" tIns="0" bIns="0" anchor="ctr">
            <a:spAutoFit/>
          </a:bodyPr>
          <a:lstStyle/>
          <a:p>
            <a:pPr algn="ctr"/>
            <a:r>
              <a:rPr sz="3400" b="1" i="0">
                <a:solidFill>
                  <a:srgbClr val="C46A24"/>
                </a:solidFill>
                <a:latin typeface="Cambria"/>
              </a:rPr>
              <a:t>02</a:t>
            </a:r>
          </a:p>
        </p:txBody>
      </p:sp>
      <p:sp>
        <p:nvSpPr>
          <p:cNvPr id="15" name="TextBox 14"/>
          <p:cNvSpPr txBox="1"/>
          <p:nvPr/>
        </p:nvSpPr>
        <p:spPr>
          <a:xfrm>
            <a:off x="1847088" y="3310128"/>
            <a:ext cx="5852160" cy="292608"/>
          </a:xfrm>
          <a:prstGeom prst="rect">
            <a:avLst/>
          </a:prstGeom>
          <a:noFill/>
        </p:spPr>
        <p:txBody>
          <a:bodyPr wrap="square" lIns="0" rIns="0" tIns="0" bIns="0" anchor="t">
            <a:spAutoFit/>
          </a:bodyPr>
          <a:lstStyle/>
          <a:p>
            <a:pPr algn="l"/>
            <a:r>
              <a:rPr sz="1650" b="1" i="0">
                <a:solidFill>
                  <a:srgbClr val="1B2430"/>
                </a:solidFill>
                <a:latin typeface="Cambria"/>
              </a:rPr>
              <a:t>Build the user interface</a:t>
            </a:r>
          </a:p>
        </p:txBody>
      </p:sp>
      <p:sp>
        <p:nvSpPr>
          <p:cNvPr id="16" name="TextBox 15"/>
          <p:cNvSpPr txBox="1"/>
          <p:nvPr/>
        </p:nvSpPr>
        <p:spPr>
          <a:xfrm>
            <a:off x="1847088" y="3639312"/>
            <a:ext cx="5852160" cy="566928"/>
          </a:xfrm>
          <a:prstGeom prst="rect">
            <a:avLst/>
          </a:prstGeom>
          <a:noFill/>
        </p:spPr>
        <p:txBody>
          <a:bodyPr wrap="square" lIns="0" rIns="0" tIns="0" bIns="0" anchor="t">
            <a:spAutoFit/>
          </a:bodyPr>
          <a:lstStyle/>
          <a:p>
            <a:pPr algn="l">
              <a:lnSpc>
                <a:spcPts val="1500"/>
              </a:lnSpc>
            </a:pPr>
            <a:r>
              <a:rPr sz="1150" b="0" i="0">
                <a:solidFill>
                  <a:srgbClr val="4E5A66"/>
                </a:solidFill>
                <a:latin typeface="Calibri"/>
              </a:rPr>
              <a:t>The handover package, both DLLs and the API reference are complete and documented. Development can begin immediately with no further input from analytics.</a:t>
            </a:r>
          </a:p>
        </p:txBody>
      </p:sp>
      <p:sp>
        <p:nvSpPr>
          <p:cNvPr id="17" name="TextBox 16"/>
          <p:cNvSpPr txBox="1"/>
          <p:nvPr/>
        </p:nvSpPr>
        <p:spPr>
          <a:xfrm>
            <a:off x="8183879" y="3328415"/>
            <a:ext cx="3200400" cy="182880"/>
          </a:xfrm>
          <a:prstGeom prst="rect">
            <a:avLst/>
          </a:prstGeom>
          <a:noFill/>
        </p:spPr>
        <p:txBody>
          <a:bodyPr wrap="square" lIns="0" rIns="0" tIns="0" bIns="0" anchor="t">
            <a:spAutoFit/>
          </a:bodyPr>
          <a:lstStyle/>
          <a:p>
            <a:pPr algn="l"/>
            <a:r>
              <a:rPr sz="850" b="1" i="0" spc="140">
                <a:solidFill>
                  <a:srgbClr val="A6AEB6"/>
                </a:solidFill>
                <a:latin typeface="Calibri"/>
              </a:rPr>
              <a:t>OWNER</a:t>
            </a:r>
          </a:p>
        </p:txBody>
      </p:sp>
      <p:sp>
        <p:nvSpPr>
          <p:cNvPr id="18" name="TextBox 17"/>
          <p:cNvSpPr txBox="1"/>
          <p:nvPr/>
        </p:nvSpPr>
        <p:spPr>
          <a:xfrm>
            <a:off x="8183879" y="3520439"/>
            <a:ext cx="3200400" cy="237744"/>
          </a:xfrm>
          <a:prstGeom prst="rect">
            <a:avLst/>
          </a:prstGeom>
          <a:noFill/>
        </p:spPr>
        <p:txBody>
          <a:bodyPr wrap="square" lIns="0" rIns="0" tIns="0" bIns="0" anchor="t">
            <a:spAutoFit/>
          </a:bodyPr>
          <a:lstStyle/>
          <a:p>
            <a:pPr algn="l"/>
            <a:r>
              <a:rPr sz="1200" b="1" i="0">
                <a:solidFill>
                  <a:srgbClr val="1B2430"/>
                </a:solidFill>
                <a:latin typeface="Calibri"/>
              </a:rPr>
              <a:t>Software development</a:t>
            </a:r>
          </a:p>
        </p:txBody>
      </p:sp>
      <p:sp>
        <p:nvSpPr>
          <p:cNvPr id="19" name="TextBox 18"/>
          <p:cNvSpPr txBox="1"/>
          <p:nvPr/>
        </p:nvSpPr>
        <p:spPr>
          <a:xfrm>
            <a:off x="8183879" y="3803904"/>
            <a:ext cx="3200400" cy="182880"/>
          </a:xfrm>
          <a:prstGeom prst="rect">
            <a:avLst/>
          </a:prstGeom>
          <a:noFill/>
        </p:spPr>
        <p:txBody>
          <a:bodyPr wrap="square" lIns="0" rIns="0" tIns="0" bIns="0" anchor="t">
            <a:spAutoFit/>
          </a:bodyPr>
          <a:lstStyle/>
          <a:p>
            <a:pPr algn="l"/>
            <a:r>
              <a:rPr sz="850" b="1" i="0" spc="140">
                <a:solidFill>
                  <a:srgbClr val="A6AEB6"/>
                </a:solidFill>
                <a:latin typeface="Calibri"/>
              </a:rPr>
              <a:t>UNBLOCKS</a:t>
            </a:r>
          </a:p>
        </p:txBody>
      </p:sp>
      <p:sp>
        <p:nvSpPr>
          <p:cNvPr id="20" name="TextBox 19"/>
          <p:cNvSpPr txBox="1"/>
          <p:nvPr/>
        </p:nvSpPr>
        <p:spPr>
          <a:xfrm>
            <a:off x="8183879" y="3995928"/>
            <a:ext cx="3200400" cy="310896"/>
          </a:xfrm>
          <a:prstGeom prst="rect">
            <a:avLst/>
          </a:prstGeom>
          <a:noFill/>
        </p:spPr>
        <p:txBody>
          <a:bodyPr wrap="square" lIns="0" rIns="0" tIns="0" bIns="0" anchor="t">
            <a:spAutoFit/>
          </a:bodyPr>
          <a:lstStyle/>
          <a:p>
            <a:pPr algn="l">
              <a:lnSpc>
                <a:spcPts val="1350"/>
              </a:lnSpc>
            </a:pPr>
            <a:r>
              <a:rPr sz="1050" b="0" i="0">
                <a:solidFill>
                  <a:srgbClr val="4E5A66"/>
                </a:solidFill>
                <a:latin typeface="Calibri"/>
              </a:rPr>
              <a:t>Use outside the console harness</a:t>
            </a:r>
          </a:p>
        </p:txBody>
      </p:sp>
      <p:sp>
        <p:nvSpPr>
          <p:cNvPr id="21" name="Rounded Rectangle 20"/>
          <p:cNvSpPr/>
          <p:nvPr/>
        </p:nvSpPr>
        <p:spPr>
          <a:xfrm>
            <a:off x="548640" y="4489704"/>
            <a:ext cx="11091672" cy="126187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68680" y="4489704"/>
            <a:ext cx="777240" cy="1261872"/>
          </a:xfrm>
          <a:prstGeom prst="rect">
            <a:avLst/>
          </a:prstGeom>
          <a:noFill/>
        </p:spPr>
        <p:txBody>
          <a:bodyPr wrap="square" lIns="0" rIns="0" tIns="0" bIns="0" anchor="ctr">
            <a:spAutoFit/>
          </a:bodyPr>
          <a:lstStyle/>
          <a:p>
            <a:pPr algn="ctr"/>
            <a:r>
              <a:rPr sz="3400" b="1" i="0">
                <a:solidFill>
                  <a:srgbClr val="C46A24"/>
                </a:solidFill>
                <a:latin typeface="Cambria"/>
              </a:rPr>
              <a:t>03</a:t>
            </a:r>
          </a:p>
        </p:txBody>
      </p:sp>
      <p:sp>
        <p:nvSpPr>
          <p:cNvPr id="23" name="TextBox 22"/>
          <p:cNvSpPr txBox="1"/>
          <p:nvPr/>
        </p:nvSpPr>
        <p:spPr>
          <a:xfrm>
            <a:off x="1847088" y="4709160"/>
            <a:ext cx="5852160" cy="292608"/>
          </a:xfrm>
          <a:prstGeom prst="rect">
            <a:avLst/>
          </a:prstGeom>
          <a:noFill/>
        </p:spPr>
        <p:txBody>
          <a:bodyPr wrap="square" lIns="0" rIns="0" tIns="0" bIns="0" anchor="t">
            <a:spAutoFit/>
          </a:bodyPr>
          <a:lstStyle/>
          <a:p>
            <a:pPr algn="l"/>
            <a:r>
              <a:rPr sz="1650" b="1" i="0">
                <a:solidFill>
                  <a:srgbClr val="1B2430"/>
                </a:solidFill>
                <a:latin typeface="Cambria"/>
              </a:rPr>
              <a:t>Run validation on a completed project</a:t>
            </a:r>
          </a:p>
        </p:txBody>
      </p:sp>
      <p:sp>
        <p:nvSpPr>
          <p:cNvPr id="24" name="TextBox 23"/>
          <p:cNvSpPr txBox="1"/>
          <p:nvPr/>
        </p:nvSpPr>
        <p:spPr>
          <a:xfrm>
            <a:off x="1847088" y="5038344"/>
            <a:ext cx="5852160" cy="566928"/>
          </a:xfrm>
          <a:prstGeom prst="rect">
            <a:avLst/>
          </a:prstGeom>
          <a:noFill/>
        </p:spPr>
        <p:txBody>
          <a:bodyPr wrap="square" lIns="0" rIns="0" tIns="0" bIns="0" anchor="t">
            <a:spAutoFit/>
          </a:bodyPr>
          <a:lstStyle/>
          <a:p>
            <a:pPr algn="l">
              <a:lnSpc>
                <a:spcPts val="1500"/>
              </a:lnSpc>
            </a:pPr>
            <a:r>
              <a:rPr sz="1150" b="0" i="0">
                <a:solidFill>
                  <a:srgbClr val="4E5A66"/>
                </a:solidFill>
                <a:latin typeface="Calibri"/>
              </a:rPr>
              <a:t>Compare pipeline output against a project whose correct answer is already known. This is what produces a defensible accuracy figure — which we do not have today and should not estimate.</a:t>
            </a:r>
          </a:p>
        </p:txBody>
      </p:sp>
      <p:sp>
        <p:nvSpPr>
          <p:cNvPr id="25" name="TextBox 24"/>
          <p:cNvSpPr txBox="1"/>
          <p:nvPr/>
        </p:nvSpPr>
        <p:spPr>
          <a:xfrm>
            <a:off x="8183879" y="4727448"/>
            <a:ext cx="3200400" cy="182880"/>
          </a:xfrm>
          <a:prstGeom prst="rect">
            <a:avLst/>
          </a:prstGeom>
          <a:noFill/>
        </p:spPr>
        <p:txBody>
          <a:bodyPr wrap="square" lIns="0" rIns="0" tIns="0" bIns="0" anchor="t">
            <a:spAutoFit/>
          </a:bodyPr>
          <a:lstStyle/>
          <a:p>
            <a:pPr algn="l"/>
            <a:r>
              <a:rPr sz="850" b="1" i="0" spc="140">
                <a:solidFill>
                  <a:srgbClr val="A6AEB6"/>
                </a:solidFill>
                <a:latin typeface="Calibri"/>
              </a:rPr>
              <a:t>OWNER</a:t>
            </a:r>
          </a:p>
        </p:txBody>
      </p:sp>
      <p:sp>
        <p:nvSpPr>
          <p:cNvPr id="26" name="TextBox 25"/>
          <p:cNvSpPr txBox="1"/>
          <p:nvPr/>
        </p:nvSpPr>
        <p:spPr>
          <a:xfrm>
            <a:off x="8183879" y="4919472"/>
            <a:ext cx="3200400" cy="237744"/>
          </a:xfrm>
          <a:prstGeom prst="rect">
            <a:avLst/>
          </a:prstGeom>
          <a:noFill/>
        </p:spPr>
        <p:txBody>
          <a:bodyPr wrap="square" lIns="0" rIns="0" tIns="0" bIns="0" anchor="t">
            <a:spAutoFit/>
          </a:bodyPr>
          <a:lstStyle/>
          <a:p>
            <a:pPr algn="l"/>
            <a:r>
              <a:rPr sz="1200" b="1" i="0">
                <a:solidFill>
                  <a:srgbClr val="1B2430"/>
                </a:solidFill>
                <a:latin typeface="Calibri"/>
              </a:rPr>
              <a:t>Analytics + engineering</a:t>
            </a:r>
          </a:p>
        </p:txBody>
      </p:sp>
      <p:sp>
        <p:nvSpPr>
          <p:cNvPr id="27" name="TextBox 26"/>
          <p:cNvSpPr txBox="1"/>
          <p:nvPr/>
        </p:nvSpPr>
        <p:spPr>
          <a:xfrm>
            <a:off x="8183879" y="5202936"/>
            <a:ext cx="3200400" cy="182880"/>
          </a:xfrm>
          <a:prstGeom prst="rect">
            <a:avLst/>
          </a:prstGeom>
          <a:noFill/>
        </p:spPr>
        <p:txBody>
          <a:bodyPr wrap="square" lIns="0" rIns="0" tIns="0" bIns="0" anchor="t">
            <a:spAutoFit/>
          </a:bodyPr>
          <a:lstStyle/>
          <a:p>
            <a:pPr algn="l"/>
            <a:r>
              <a:rPr sz="850" b="1" i="0" spc="140">
                <a:solidFill>
                  <a:srgbClr val="A6AEB6"/>
                </a:solidFill>
                <a:latin typeface="Calibri"/>
              </a:rPr>
              <a:t>UNBLOCKS</a:t>
            </a:r>
          </a:p>
        </p:txBody>
      </p:sp>
      <p:sp>
        <p:nvSpPr>
          <p:cNvPr id="28" name="TextBox 27"/>
          <p:cNvSpPr txBox="1"/>
          <p:nvPr/>
        </p:nvSpPr>
        <p:spPr>
          <a:xfrm>
            <a:off x="8183879" y="5394960"/>
            <a:ext cx="3200400" cy="310896"/>
          </a:xfrm>
          <a:prstGeom prst="rect">
            <a:avLst/>
          </a:prstGeom>
          <a:noFill/>
        </p:spPr>
        <p:txBody>
          <a:bodyPr wrap="square" lIns="0" rIns="0" tIns="0" bIns="0" anchor="t">
            <a:spAutoFit/>
          </a:bodyPr>
          <a:lstStyle/>
          <a:p>
            <a:pPr algn="l">
              <a:lnSpc>
                <a:spcPts val="1350"/>
              </a:lnSpc>
            </a:pPr>
            <a:r>
              <a:rPr sz="1050" b="0" i="0">
                <a:solidFill>
                  <a:srgbClr val="4E5A66"/>
                </a:solidFill>
                <a:latin typeface="Calibri"/>
              </a:rPr>
              <a:t>A quotable accuracy number</a:t>
            </a:r>
          </a:p>
        </p:txBody>
      </p:sp>
      <p:sp>
        <p:nvSpPr>
          <p:cNvPr id="29" name="TextBox 28"/>
          <p:cNvSpPr txBox="1"/>
          <p:nvPr/>
        </p:nvSpPr>
        <p:spPr>
          <a:xfrm>
            <a:off x="548640" y="5925312"/>
            <a:ext cx="11091672" cy="256032"/>
          </a:xfrm>
          <a:prstGeom prst="rect">
            <a:avLst/>
          </a:prstGeom>
          <a:noFill/>
        </p:spPr>
        <p:txBody>
          <a:bodyPr wrap="square" lIns="0" rIns="0" tIns="0" bIns="0" anchor="t">
            <a:spAutoFit/>
          </a:bodyPr>
          <a:lstStyle/>
          <a:p>
            <a:pPr algn="l"/>
            <a:r>
              <a:rPr sz="1100" b="0" i="1">
                <a:solidFill>
                  <a:srgbClr val="7A8792"/>
                </a:solidFill>
                <a:latin typeface="Calibri"/>
              </a:rPr>
              <a:t>Automated tests should be written alongside the interface, not after it.</a:t>
            </a:r>
          </a:p>
        </p:txBody>
      </p:sp>
      <p:sp>
        <p:nvSpPr>
          <p:cNvPr id="30" name="TextBox 29"/>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August 2026</a:t>
            </a:r>
          </a:p>
        </p:txBody>
      </p:sp>
      <p:sp>
        <p:nvSpPr>
          <p:cNvPr id="31" name="TextBox 30"/>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02336"/>
            <a:ext cx="10607040" cy="237744"/>
          </a:xfrm>
          <a:prstGeom prst="rect">
            <a:avLst/>
          </a:prstGeom>
          <a:noFill/>
        </p:spPr>
        <p:txBody>
          <a:bodyPr wrap="square" lIns="0" rIns="0" tIns="0" bIns="0" anchor="t">
            <a:spAutoFit/>
          </a:bodyPr>
          <a:lstStyle/>
          <a:p>
            <a:pPr algn="l"/>
            <a:r>
              <a:rPr sz="1050" b="1" i="0" spc="200">
                <a:solidFill>
                  <a:srgbClr val="C46A24"/>
                </a:solidFill>
                <a:latin typeface="Calibri"/>
              </a:rPr>
              <a:t>APPENDIX  ·  OPERATING INSTRUCTIONS</a:t>
            </a:r>
          </a:p>
        </p:txBody>
      </p:sp>
      <p:sp>
        <p:nvSpPr>
          <p:cNvPr id="3" name="TextBox 2"/>
          <p:cNvSpPr txBox="1"/>
          <p:nvPr/>
        </p:nvSpPr>
        <p:spPr>
          <a:xfrm>
            <a:off x="548640" y="694944"/>
            <a:ext cx="11091672" cy="475488"/>
          </a:xfrm>
          <a:prstGeom prst="rect">
            <a:avLst/>
          </a:prstGeom>
          <a:noFill/>
        </p:spPr>
        <p:txBody>
          <a:bodyPr wrap="square" lIns="0" rIns="0" tIns="0" bIns="0" anchor="t">
            <a:spAutoFit/>
          </a:bodyPr>
          <a:lstStyle/>
          <a:p>
            <a:pPr algn="l"/>
            <a:r>
              <a:rPr sz="2900" b="1" i="0">
                <a:solidFill>
                  <a:srgbClr val="1B2430"/>
                </a:solidFill>
                <a:latin typeface="Cambria"/>
              </a:rPr>
              <a:t>How the system is run today</a:t>
            </a:r>
          </a:p>
        </p:txBody>
      </p:sp>
      <p:sp>
        <p:nvSpPr>
          <p:cNvPr id="4" name="Rounded Rectangle 3"/>
          <p:cNvSpPr/>
          <p:nvPr/>
        </p:nvSpPr>
        <p:spPr>
          <a:xfrm>
            <a:off x="548640" y="1389888"/>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22960" y="1600200"/>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600200"/>
            <a:ext cx="347472" cy="347472"/>
          </a:xfrm>
          <a:prstGeom prst="rect">
            <a:avLst/>
          </a:prstGeom>
          <a:noFill/>
        </p:spPr>
        <p:txBody>
          <a:bodyPr wrap="square" lIns="0" rIns="0" tIns="0" bIns="0" anchor="ctr">
            <a:spAutoFit/>
          </a:bodyPr>
          <a:lstStyle/>
          <a:p>
            <a:pPr algn="ctr"/>
            <a:r>
              <a:rPr sz="1200" b="1" i="0">
                <a:solidFill>
                  <a:srgbClr val="FFFFFF"/>
                </a:solidFill>
                <a:latin typeface="Cambria"/>
              </a:rPr>
              <a:t>1</a:t>
            </a:r>
          </a:p>
        </p:txBody>
      </p:sp>
      <p:sp>
        <p:nvSpPr>
          <p:cNvPr id="7" name="TextBox 6"/>
          <p:cNvSpPr txBox="1"/>
          <p:nvPr/>
        </p:nvSpPr>
        <p:spPr>
          <a:xfrm>
            <a:off x="1371600" y="1389888"/>
            <a:ext cx="3566160" cy="768096"/>
          </a:xfrm>
          <a:prstGeom prst="rect">
            <a:avLst/>
          </a:prstGeom>
          <a:noFill/>
        </p:spPr>
        <p:txBody>
          <a:bodyPr wrap="square" lIns="0" rIns="0" tIns="0" bIns="0" anchor="ctr">
            <a:spAutoFit/>
          </a:bodyPr>
          <a:lstStyle/>
          <a:p>
            <a:pPr algn="l"/>
            <a:r>
              <a:rPr sz="1350" b="1" i="0">
                <a:solidFill>
                  <a:srgbClr val="1B2430"/>
                </a:solidFill>
                <a:latin typeface="Cambria"/>
              </a:rPr>
              <a:t>Install the prerequisites</a:t>
            </a:r>
          </a:p>
        </p:txBody>
      </p:sp>
      <p:sp>
        <p:nvSpPr>
          <p:cNvPr id="8" name="TextBox 7"/>
          <p:cNvSpPr txBox="1"/>
          <p:nvPr/>
        </p:nvSpPr>
        <p:spPr>
          <a:xfrm>
            <a:off x="5120640" y="1389888"/>
            <a:ext cx="6263640" cy="768096"/>
          </a:xfrm>
          <a:prstGeom prst="rect">
            <a:avLst/>
          </a:prstGeom>
          <a:noFill/>
        </p:spPr>
        <p:txBody>
          <a:bodyPr wrap="square" lIns="0" rIns="0" tIns="0" bIns="0" anchor="ctr">
            <a:spAutoFit/>
          </a:bodyPr>
          <a:lstStyle/>
          <a:p>
            <a:pPr algn="l">
              <a:lnSpc>
                <a:spcPts val="1450"/>
              </a:lnSpc>
            </a:pPr>
            <a:r>
              <a:rPr sz="1100" b="0" i="0">
                <a:solidFill>
                  <a:srgbClr val="4E5A66"/>
                </a:solidFill>
                <a:latin typeface="Calibri"/>
              </a:rPr>
              <a:t>.NET 10 runtime, Python 3.13 with the pinned package versions, and access to the XenCreator database. Windows x64 only.</a:t>
            </a:r>
          </a:p>
        </p:txBody>
      </p:sp>
      <p:sp>
        <p:nvSpPr>
          <p:cNvPr id="9" name="Rounded Rectangle 8"/>
          <p:cNvSpPr/>
          <p:nvPr/>
        </p:nvSpPr>
        <p:spPr>
          <a:xfrm>
            <a:off x="548640" y="2249424"/>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822960" y="2459736"/>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459736"/>
            <a:ext cx="347472" cy="347472"/>
          </a:xfrm>
          <a:prstGeom prst="rect">
            <a:avLst/>
          </a:prstGeom>
          <a:noFill/>
        </p:spPr>
        <p:txBody>
          <a:bodyPr wrap="square" lIns="0" rIns="0" tIns="0" bIns="0" anchor="ctr">
            <a:spAutoFit/>
          </a:bodyPr>
          <a:lstStyle/>
          <a:p>
            <a:pPr algn="ctr"/>
            <a:r>
              <a:rPr sz="1200" b="1" i="0">
                <a:solidFill>
                  <a:srgbClr val="FFFFFF"/>
                </a:solidFill>
                <a:latin typeface="Cambria"/>
              </a:rPr>
              <a:t>2</a:t>
            </a:r>
          </a:p>
        </p:txBody>
      </p:sp>
      <p:sp>
        <p:nvSpPr>
          <p:cNvPr id="12" name="TextBox 11"/>
          <p:cNvSpPr txBox="1"/>
          <p:nvPr/>
        </p:nvSpPr>
        <p:spPr>
          <a:xfrm>
            <a:off x="1371600" y="2249424"/>
            <a:ext cx="3566160" cy="768096"/>
          </a:xfrm>
          <a:prstGeom prst="rect">
            <a:avLst/>
          </a:prstGeom>
          <a:noFill/>
        </p:spPr>
        <p:txBody>
          <a:bodyPr wrap="square" lIns="0" rIns="0" tIns="0" bIns="0" anchor="ctr">
            <a:spAutoFit/>
          </a:bodyPr>
          <a:lstStyle/>
          <a:p>
            <a:pPr algn="l"/>
            <a:r>
              <a:rPr sz="1350" b="1" i="0">
                <a:solidFill>
                  <a:srgbClr val="1B2430"/>
                </a:solidFill>
                <a:latin typeface="Cambria"/>
              </a:rPr>
              <a:t>Create the three SQL tables</a:t>
            </a:r>
          </a:p>
        </p:txBody>
      </p:sp>
      <p:sp>
        <p:nvSpPr>
          <p:cNvPr id="13" name="TextBox 12"/>
          <p:cNvSpPr txBox="1"/>
          <p:nvPr/>
        </p:nvSpPr>
        <p:spPr>
          <a:xfrm>
            <a:off x="5120640" y="2249424"/>
            <a:ext cx="6263640" cy="768096"/>
          </a:xfrm>
          <a:prstGeom prst="rect">
            <a:avLst/>
          </a:prstGeom>
          <a:noFill/>
        </p:spPr>
        <p:txBody>
          <a:bodyPr wrap="square" lIns="0" rIns="0" tIns="0" bIns="0" anchor="ctr">
            <a:spAutoFit/>
          </a:bodyPr>
          <a:lstStyle/>
          <a:p>
            <a:pPr algn="l">
              <a:lnSpc>
                <a:spcPts val="1450"/>
              </a:lnSpc>
            </a:pPr>
            <a:r>
              <a:rPr sz="1100" b="0" i="0">
                <a:solidFill>
                  <a:srgbClr val="4E5A66"/>
                </a:solidFill>
                <a:latin typeface="Calibri"/>
              </a:rPr>
              <a:t>Run PatternCluster.sql, DeviceReviewQueue.sql and OutputDeviceAssignment.sql once. All three are guarded, so re-running them is safe.</a:t>
            </a:r>
          </a:p>
        </p:txBody>
      </p:sp>
      <p:sp>
        <p:nvSpPr>
          <p:cNvPr id="14" name="Rounded Rectangle 13"/>
          <p:cNvSpPr/>
          <p:nvPr/>
        </p:nvSpPr>
        <p:spPr>
          <a:xfrm>
            <a:off x="548640" y="3108960"/>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822960" y="3319272"/>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19272"/>
            <a:ext cx="347472" cy="347472"/>
          </a:xfrm>
          <a:prstGeom prst="rect">
            <a:avLst/>
          </a:prstGeom>
          <a:noFill/>
        </p:spPr>
        <p:txBody>
          <a:bodyPr wrap="square" lIns="0" rIns="0" tIns="0" bIns="0" anchor="ctr">
            <a:spAutoFit/>
          </a:bodyPr>
          <a:lstStyle/>
          <a:p>
            <a:pPr algn="ctr"/>
            <a:r>
              <a:rPr sz="1200" b="1" i="0">
                <a:solidFill>
                  <a:srgbClr val="FFFFFF"/>
                </a:solidFill>
                <a:latin typeface="Cambria"/>
              </a:rPr>
              <a:t>3</a:t>
            </a:r>
          </a:p>
        </p:txBody>
      </p:sp>
      <p:sp>
        <p:nvSpPr>
          <p:cNvPr id="17" name="TextBox 16"/>
          <p:cNvSpPr txBox="1"/>
          <p:nvPr/>
        </p:nvSpPr>
        <p:spPr>
          <a:xfrm>
            <a:off x="1371600" y="3108960"/>
            <a:ext cx="3566160" cy="768096"/>
          </a:xfrm>
          <a:prstGeom prst="rect">
            <a:avLst/>
          </a:prstGeom>
          <a:noFill/>
        </p:spPr>
        <p:txBody>
          <a:bodyPr wrap="square" lIns="0" rIns="0" tIns="0" bIns="0" anchor="ctr">
            <a:spAutoFit/>
          </a:bodyPr>
          <a:lstStyle/>
          <a:p>
            <a:pPr algn="l"/>
            <a:r>
              <a:rPr sz="1350" b="1" i="0">
                <a:solidFill>
                  <a:srgbClr val="1B2430"/>
                </a:solidFill>
                <a:latin typeface="Cambria"/>
              </a:rPr>
              <a:t>Run a project</a:t>
            </a:r>
          </a:p>
        </p:txBody>
      </p:sp>
      <p:sp>
        <p:nvSpPr>
          <p:cNvPr id="18" name="TextBox 17"/>
          <p:cNvSpPr txBox="1"/>
          <p:nvPr/>
        </p:nvSpPr>
        <p:spPr>
          <a:xfrm>
            <a:off x="5120640" y="3108960"/>
            <a:ext cx="6263640" cy="768096"/>
          </a:xfrm>
          <a:prstGeom prst="rect">
            <a:avLst/>
          </a:prstGeom>
          <a:noFill/>
        </p:spPr>
        <p:txBody>
          <a:bodyPr wrap="square" lIns="0" rIns="0" tIns="0" bIns="0" anchor="ctr">
            <a:spAutoFit/>
          </a:bodyPr>
          <a:lstStyle/>
          <a:p>
            <a:pPr algn="l">
              <a:lnSpc>
                <a:spcPts val="1450"/>
              </a:lnSpc>
            </a:pPr>
            <a:r>
              <a:rPr sz="1100" b="0" i="0">
                <a:solidFill>
                  <a:srgbClr val="4E5A66"/>
                </a:solidFill>
                <a:latin typeface="Calibri"/>
              </a:rPr>
              <a:t>DeviceClusterConsoleApp.exe A9998  —  or omit the code and pick from the list of available projects.</a:t>
            </a:r>
          </a:p>
        </p:txBody>
      </p:sp>
      <p:sp>
        <p:nvSpPr>
          <p:cNvPr id="19" name="Rounded Rectangle 18"/>
          <p:cNvSpPr/>
          <p:nvPr/>
        </p:nvSpPr>
        <p:spPr>
          <a:xfrm>
            <a:off x="548640" y="3968496"/>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822960" y="4178808"/>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178808"/>
            <a:ext cx="347472" cy="347472"/>
          </a:xfrm>
          <a:prstGeom prst="rect">
            <a:avLst/>
          </a:prstGeom>
          <a:noFill/>
        </p:spPr>
        <p:txBody>
          <a:bodyPr wrap="square" lIns="0" rIns="0" tIns="0" bIns="0" anchor="ctr">
            <a:spAutoFit/>
          </a:bodyPr>
          <a:lstStyle/>
          <a:p>
            <a:pPr algn="ctr"/>
            <a:r>
              <a:rPr sz="1200" b="1" i="0">
                <a:solidFill>
                  <a:srgbClr val="FFFFFF"/>
                </a:solidFill>
                <a:latin typeface="Cambria"/>
              </a:rPr>
              <a:t>4</a:t>
            </a:r>
          </a:p>
        </p:txBody>
      </p:sp>
      <p:sp>
        <p:nvSpPr>
          <p:cNvPr id="22" name="TextBox 21"/>
          <p:cNvSpPr txBox="1"/>
          <p:nvPr/>
        </p:nvSpPr>
        <p:spPr>
          <a:xfrm>
            <a:off x="1371600" y="3968496"/>
            <a:ext cx="3566160" cy="768096"/>
          </a:xfrm>
          <a:prstGeom prst="rect">
            <a:avLst/>
          </a:prstGeom>
          <a:noFill/>
        </p:spPr>
        <p:txBody>
          <a:bodyPr wrap="square" lIns="0" rIns="0" tIns="0" bIns="0" anchor="ctr">
            <a:spAutoFit/>
          </a:bodyPr>
          <a:lstStyle/>
          <a:p>
            <a:pPr algn="l"/>
            <a:r>
              <a:rPr sz="1350" b="1" i="0">
                <a:solidFill>
                  <a:srgbClr val="1B2430"/>
                </a:solidFill>
                <a:latin typeface="Cambria"/>
              </a:rPr>
              <a:t>Or run it headless</a:t>
            </a:r>
          </a:p>
        </p:txBody>
      </p:sp>
      <p:sp>
        <p:nvSpPr>
          <p:cNvPr id="23" name="TextBox 22"/>
          <p:cNvSpPr txBox="1"/>
          <p:nvPr/>
        </p:nvSpPr>
        <p:spPr>
          <a:xfrm>
            <a:off x="5120640" y="3968496"/>
            <a:ext cx="6263640" cy="768096"/>
          </a:xfrm>
          <a:prstGeom prst="rect">
            <a:avLst/>
          </a:prstGeom>
          <a:noFill/>
        </p:spPr>
        <p:txBody>
          <a:bodyPr wrap="square" lIns="0" rIns="0" tIns="0" bIns="0" anchor="ctr">
            <a:spAutoFit/>
          </a:bodyPr>
          <a:lstStyle/>
          <a:p>
            <a:pPr algn="l">
              <a:lnSpc>
                <a:spcPts val="1450"/>
              </a:lnSpc>
            </a:pPr>
            <a:r>
              <a:rPr sz="1100" b="0" i="0">
                <a:solidFill>
                  <a:srgbClr val="4E5A66"/>
                </a:solidFill>
                <a:latin typeface="Calibri"/>
              </a:rPr>
              <a:t>DeviceClusterConsoleApp.exe A9998 --unattended skips every prompt, for scheduled or automated runs.</a:t>
            </a:r>
          </a:p>
        </p:txBody>
      </p:sp>
      <p:sp>
        <p:nvSpPr>
          <p:cNvPr id="24" name="Rounded Rectangle 23"/>
          <p:cNvSpPr/>
          <p:nvPr/>
        </p:nvSpPr>
        <p:spPr>
          <a:xfrm>
            <a:off x="548640" y="4828031"/>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822960" y="5038344"/>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038344"/>
            <a:ext cx="347472" cy="347472"/>
          </a:xfrm>
          <a:prstGeom prst="rect">
            <a:avLst/>
          </a:prstGeom>
          <a:noFill/>
        </p:spPr>
        <p:txBody>
          <a:bodyPr wrap="square" lIns="0" rIns="0" tIns="0" bIns="0" anchor="ctr">
            <a:spAutoFit/>
          </a:bodyPr>
          <a:lstStyle/>
          <a:p>
            <a:pPr algn="ctr"/>
            <a:r>
              <a:rPr sz="1200" b="1" i="0">
                <a:solidFill>
                  <a:srgbClr val="FFFFFF"/>
                </a:solidFill>
                <a:latin typeface="Cambria"/>
              </a:rPr>
              <a:t>5</a:t>
            </a:r>
          </a:p>
        </p:txBody>
      </p:sp>
      <p:sp>
        <p:nvSpPr>
          <p:cNvPr id="27" name="TextBox 26"/>
          <p:cNvSpPr txBox="1"/>
          <p:nvPr/>
        </p:nvSpPr>
        <p:spPr>
          <a:xfrm>
            <a:off x="1371600" y="4828031"/>
            <a:ext cx="3566160" cy="768096"/>
          </a:xfrm>
          <a:prstGeom prst="rect">
            <a:avLst/>
          </a:prstGeom>
          <a:noFill/>
        </p:spPr>
        <p:txBody>
          <a:bodyPr wrap="square" lIns="0" rIns="0" tIns="0" bIns="0" anchor="ctr">
            <a:spAutoFit/>
          </a:bodyPr>
          <a:lstStyle/>
          <a:p>
            <a:pPr algn="l"/>
            <a:r>
              <a:rPr sz="1350" b="1" i="0">
                <a:solidFill>
                  <a:srgbClr val="1B2430"/>
                </a:solidFill>
                <a:latin typeface="Cambria"/>
              </a:rPr>
              <a:t>Read the results</a:t>
            </a:r>
          </a:p>
        </p:txBody>
      </p:sp>
      <p:sp>
        <p:nvSpPr>
          <p:cNvPr id="28" name="TextBox 27"/>
          <p:cNvSpPr txBox="1"/>
          <p:nvPr/>
        </p:nvSpPr>
        <p:spPr>
          <a:xfrm>
            <a:off x="5120640" y="4828031"/>
            <a:ext cx="6263640" cy="768096"/>
          </a:xfrm>
          <a:prstGeom prst="rect">
            <a:avLst/>
          </a:prstGeom>
          <a:noFill/>
        </p:spPr>
        <p:txBody>
          <a:bodyPr wrap="square" lIns="0" rIns="0" tIns="0" bIns="0" anchor="ctr">
            <a:spAutoFit/>
          </a:bodyPr>
          <a:lstStyle/>
          <a:p>
            <a:pPr algn="l">
              <a:lnSpc>
                <a:spcPts val="1450"/>
              </a:lnSpc>
            </a:pPr>
            <a:r>
              <a:rPr sz="1100" b="0" i="0">
                <a:solidFill>
                  <a:srgbClr val="4E5A66"/>
                </a:solidFill>
                <a:latin typeface="Calibri"/>
              </a:rPr>
              <a:t>Query dbo.OutputDeviceAssignment for placed devices, and dbo.DeviceReviewQueue for anything awaiting review.</a:t>
            </a:r>
          </a:p>
        </p:txBody>
      </p:sp>
      <p:sp>
        <p:nvSpPr>
          <p:cNvPr id="29" name="Rounded Rectangle 28"/>
          <p:cNvSpPr/>
          <p:nvPr/>
        </p:nvSpPr>
        <p:spPr>
          <a:xfrm>
            <a:off x="548640" y="5724144"/>
            <a:ext cx="11091672" cy="475488"/>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68680" y="5724144"/>
            <a:ext cx="10424160" cy="475488"/>
          </a:xfrm>
          <a:prstGeom prst="rect">
            <a:avLst/>
          </a:prstGeom>
          <a:noFill/>
        </p:spPr>
        <p:txBody>
          <a:bodyPr wrap="square" lIns="0" rIns="0" tIns="0" bIns="0" anchor="ctr">
            <a:spAutoFit/>
          </a:bodyPr>
          <a:lstStyle/>
          <a:p>
            <a:pPr algn="ctr"/>
            <a:r>
              <a:rPr sz="1200" b="0" i="0">
                <a:solidFill>
                  <a:srgbClr val="FFFFFF"/>
                </a:solidFill>
                <a:latin typeface="Calibri"/>
              </a:rPr>
              <a:t>For a user interface: reference Logic.dll and call DevicePipeline.RunAsync(…) — it has no console dependency of its own.</a:t>
            </a:r>
          </a:p>
        </p:txBody>
      </p:sp>
      <p:sp>
        <p:nvSpPr>
          <p:cNvPr id="31" name="TextBox 30"/>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A6AEB6"/>
                </a:solidFill>
                <a:latin typeface="Calibri"/>
              </a:rPr>
              <a:t>Device Identifier  ·  Progress Report  ·  August 2026</a:t>
            </a:r>
          </a:p>
        </p:txBody>
      </p:sp>
      <p:sp>
        <p:nvSpPr>
          <p:cNvPr id="32" name="TextBox 31"/>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A6AEB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B2430"/>
        </a:solidFill>
        <a:effectLst/>
      </p:bgPr>
    </p:bg>
    <p:spTree>
      <p:nvGrpSpPr>
        <p:cNvPr id="1" name=""/>
        <p:cNvGrpSpPr/>
        <p:nvPr/>
      </p:nvGrpSpPr>
      <p:grpSpPr/>
      <p:sp>
        <p:nvSpPr>
          <p:cNvPr id="2" name="TextBox 1"/>
          <p:cNvSpPr txBox="1"/>
          <p:nvPr/>
        </p:nvSpPr>
        <p:spPr>
          <a:xfrm>
            <a:off x="548640" y="960120"/>
            <a:ext cx="10058400" cy="256032"/>
          </a:xfrm>
          <a:prstGeom prst="rect">
            <a:avLst/>
          </a:prstGeom>
          <a:noFill/>
        </p:spPr>
        <p:txBody>
          <a:bodyPr wrap="square" lIns="0" rIns="0" tIns="0" bIns="0" anchor="t">
            <a:spAutoFit/>
          </a:bodyPr>
          <a:lstStyle/>
          <a:p>
            <a:pPr algn="l"/>
            <a:r>
              <a:rPr sz="1100" b="1" i="0" spc="240">
                <a:solidFill>
                  <a:srgbClr val="C46A24"/>
                </a:solidFill>
                <a:latin typeface="Calibri"/>
              </a:rPr>
              <a:t>IN SUMMARY</a:t>
            </a:r>
          </a:p>
        </p:txBody>
      </p:sp>
      <p:sp>
        <p:nvSpPr>
          <p:cNvPr id="3" name="TextBox 2"/>
          <p:cNvSpPr txBox="1"/>
          <p:nvPr/>
        </p:nvSpPr>
        <p:spPr>
          <a:xfrm>
            <a:off x="548640" y="1325880"/>
            <a:ext cx="10515600" cy="1371600"/>
          </a:xfrm>
          <a:prstGeom prst="rect">
            <a:avLst/>
          </a:prstGeom>
          <a:noFill/>
        </p:spPr>
        <p:txBody>
          <a:bodyPr wrap="square" lIns="0" rIns="0" tIns="0" bIns="0" anchor="t">
            <a:spAutoFit/>
          </a:bodyPr>
          <a:lstStyle/>
          <a:p>
            <a:pPr algn="l">
              <a:lnSpc>
                <a:spcPts val="4300"/>
              </a:lnSpc>
            </a:pPr>
            <a:r>
              <a:rPr sz="3400" b="1" i="0">
                <a:solidFill>
                  <a:srgbClr val="FFFFFF"/>
                </a:solidFill>
                <a:latin typeface="Cambria"/>
              </a:rPr>
              <a:t>The engine is built and verified.</a:t>
            </a:r>
          </a:p>
          <a:p>
            <a:pPr algn="l">
              <a:lnSpc>
                <a:spcPts val="4300"/>
              </a:lnSpc>
            </a:pPr>
            <a:r>
              <a:rPr sz="3400" b="1" i="0">
                <a:solidFill>
                  <a:srgbClr val="FFFFFF"/>
                </a:solidFill>
                <a:latin typeface="Cambria"/>
              </a:rPr>
              <a:t>What remains is data, not engineering.</a:t>
            </a:r>
          </a:p>
        </p:txBody>
      </p:sp>
      <p:sp>
        <p:nvSpPr>
          <p:cNvPr id="4" name="TextBox 3"/>
          <p:cNvSpPr txBox="1"/>
          <p:nvPr/>
        </p:nvSpPr>
        <p:spPr>
          <a:xfrm>
            <a:off x="548640" y="2880360"/>
            <a:ext cx="9052560" cy="868680"/>
          </a:xfrm>
          <a:prstGeom prst="rect">
            <a:avLst/>
          </a:prstGeom>
          <a:noFill/>
        </p:spPr>
        <p:txBody>
          <a:bodyPr wrap="square" lIns="0" rIns="0" tIns="0" bIns="0" anchor="t">
            <a:spAutoFit/>
          </a:bodyPr>
          <a:lstStyle/>
          <a:p>
            <a:pPr algn="l">
              <a:lnSpc>
                <a:spcPts val="2200"/>
              </a:lnSpc>
            </a:pPr>
            <a:r>
              <a:rPr sz="1500" b="0" i="0">
                <a:solidFill>
                  <a:srgbClr val="9EA8B2"/>
                </a:solidFill>
                <a:latin typeface="Calibri"/>
              </a:rPr>
              <a:t>Five of six stages are complete. The three models, the allocation engine, the SQL integration and the handover package are all finished and running against live data. What stands between here and production use is reference data, an interface, and one validation run.</a:t>
            </a:r>
          </a:p>
        </p:txBody>
      </p:sp>
      <p:sp>
        <p:nvSpPr>
          <p:cNvPr id="5" name="Rounded Rectangle 4"/>
          <p:cNvSpPr/>
          <p:nvPr/>
        </p:nvSpPr>
        <p:spPr>
          <a:xfrm>
            <a:off x="548640" y="3977639"/>
            <a:ext cx="3561588" cy="1051560"/>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59" y="4123944"/>
            <a:ext cx="3017520" cy="438912"/>
          </a:xfrm>
          <a:prstGeom prst="rect">
            <a:avLst/>
          </a:prstGeom>
          <a:noFill/>
        </p:spPr>
        <p:txBody>
          <a:bodyPr wrap="square" lIns="0" rIns="0" tIns="0" bIns="0" anchor="t">
            <a:spAutoFit/>
          </a:bodyPr>
          <a:lstStyle/>
          <a:p>
            <a:pPr algn="ctr"/>
            <a:r>
              <a:rPr sz="3000" b="1" i="0">
                <a:solidFill>
                  <a:srgbClr val="FFFFFF"/>
                </a:solidFill>
                <a:latin typeface="Cambria"/>
              </a:rPr>
              <a:t>5 of 6</a:t>
            </a:r>
          </a:p>
        </p:txBody>
      </p:sp>
      <p:sp>
        <p:nvSpPr>
          <p:cNvPr id="7" name="TextBox 6"/>
          <p:cNvSpPr txBox="1"/>
          <p:nvPr/>
        </p:nvSpPr>
        <p:spPr>
          <a:xfrm>
            <a:off x="822959" y="4626864"/>
            <a:ext cx="3017520" cy="274320"/>
          </a:xfrm>
          <a:prstGeom prst="rect">
            <a:avLst/>
          </a:prstGeom>
          <a:noFill/>
        </p:spPr>
        <p:txBody>
          <a:bodyPr wrap="square" lIns="0" rIns="0" tIns="0" bIns="0" anchor="t">
            <a:spAutoFit/>
          </a:bodyPr>
          <a:lstStyle/>
          <a:p>
            <a:pPr algn="ctr"/>
            <a:r>
              <a:rPr sz="1100" b="0" i="0">
                <a:solidFill>
                  <a:srgbClr val="9EA8B2"/>
                </a:solidFill>
                <a:latin typeface="Calibri"/>
              </a:rPr>
              <a:t>stages complete</a:t>
            </a:r>
          </a:p>
        </p:txBody>
      </p:sp>
      <p:sp>
        <p:nvSpPr>
          <p:cNvPr id="8" name="Rounded Rectangle 7"/>
          <p:cNvSpPr/>
          <p:nvPr/>
        </p:nvSpPr>
        <p:spPr>
          <a:xfrm>
            <a:off x="4263390" y="3977639"/>
            <a:ext cx="3561588" cy="1051560"/>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4537709" y="4123944"/>
            <a:ext cx="3017520" cy="438912"/>
          </a:xfrm>
          <a:prstGeom prst="rect">
            <a:avLst/>
          </a:prstGeom>
          <a:noFill/>
        </p:spPr>
        <p:txBody>
          <a:bodyPr wrap="square" lIns="0" rIns="0" tIns="0" bIns="0" anchor="t">
            <a:spAutoFit/>
          </a:bodyPr>
          <a:lstStyle/>
          <a:p>
            <a:pPr algn="ctr"/>
            <a:r>
              <a:rPr sz="3000" b="1" i="0">
                <a:solidFill>
                  <a:srgbClr val="FFFFFF"/>
                </a:solidFill>
                <a:latin typeface="Cambria"/>
              </a:rPr>
              <a:t>3</a:t>
            </a:r>
          </a:p>
        </p:txBody>
      </p:sp>
      <p:sp>
        <p:nvSpPr>
          <p:cNvPr id="10" name="TextBox 9"/>
          <p:cNvSpPr txBox="1"/>
          <p:nvPr/>
        </p:nvSpPr>
        <p:spPr>
          <a:xfrm>
            <a:off x="4537709" y="4626864"/>
            <a:ext cx="3017520" cy="274320"/>
          </a:xfrm>
          <a:prstGeom prst="rect">
            <a:avLst/>
          </a:prstGeom>
          <a:noFill/>
        </p:spPr>
        <p:txBody>
          <a:bodyPr wrap="square" lIns="0" rIns="0" tIns="0" bIns="0" anchor="t">
            <a:spAutoFit/>
          </a:bodyPr>
          <a:lstStyle/>
          <a:p>
            <a:pPr algn="ctr"/>
            <a:r>
              <a:rPr sz="1100" b="0" i="0">
                <a:solidFill>
                  <a:srgbClr val="9EA8B2"/>
                </a:solidFill>
                <a:latin typeface="Calibri"/>
              </a:rPr>
              <a:t>models in production</a:t>
            </a:r>
          </a:p>
        </p:txBody>
      </p:sp>
      <p:sp>
        <p:nvSpPr>
          <p:cNvPr id="11" name="Rounded Rectangle 10"/>
          <p:cNvSpPr/>
          <p:nvPr/>
        </p:nvSpPr>
        <p:spPr>
          <a:xfrm>
            <a:off x="7978140" y="3977639"/>
            <a:ext cx="3561588" cy="1051560"/>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252460" y="4123944"/>
            <a:ext cx="3017520" cy="438912"/>
          </a:xfrm>
          <a:prstGeom prst="rect">
            <a:avLst/>
          </a:prstGeom>
          <a:noFill/>
        </p:spPr>
        <p:txBody>
          <a:bodyPr wrap="square" lIns="0" rIns="0" tIns="0" bIns="0" anchor="t">
            <a:spAutoFit/>
          </a:bodyPr>
          <a:lstStyle/>
          <a:p>
            <a:pPr algn="ctr"/>
            <a:r>
              <a:rPr sz="3000" b="1" i="0">
                <a:solidFill>
                  <a:srgbClr val="C46A24"/>
                </a:solidFill>
                <a:latin typeface="Cambria"/>
              </a:rPr>
              <a:t>1 of 8</a:t>
            </a:r>
          </a:p>
        </p:txBody>
      </p:sp>
      <p:sp>
        <p:nvSpPr>
          <p:cNvPr id="13" name="TextBox 12"/>
          <p:cNvSpPr txBox="1"/>
          <p:nvPr/>
        </p:nvSpPr>
        <p:spPr>
          <a:xfrm>
            <a:off x="8252460" y="4626864"/>
            <a:ext cx="3017520" cy="274320"/>
          </a:xfrm>
          <a:prstGeom prst="rect">
            <a:avLst/>
          </a:prstGeom>
          <a:noFill/>
        </p:spPr>
        <p:txBody>
          <a:bodyPr wrap="square" lIns="0" rIns="0" tIns="0" bIns="0" anchor="t">
            <a:spAutoFit/>
          </a:bodyPr>
          <a:lstStyle/>
          <a:p>
            <a:pPr algn="ctr"/>
            <a:r>
              <a:rPr sz="1100" b="0" i="0">
                <a:solidFill>
                  <a:srgbClr val="9EA8B2"/>
                </a:solidFill>
                <a:latin typeface="Calibri"/>
              </a:rPr>
              <a:t>sections with real quota data</a:t>
            </a:r>
          </a:p>
        </p:txBody>
      </p:sp>
      <p:sp>
        <p:nvSpPr>
          <p:cNvPr id="14" name="Rounded Rectangle 13"/>
          <p:cNvSpPr/>
          <p:nvPr/>
        </p:nvSpPr>
        <p:spPr>
          <a:xfrm>
            <a:off x="548640" y="5257800"/>
            <a:ext cx="11091672" cy="868680"/>
          </a:xfrm>
          <a:prstGeom prst="roundRect">
            <a:avLst>
              <a:gd name="adj" fmla="val 5500"/>
            </a:avLst>
          </a:prstGeom>
          <a:solidFill>
            <a:srgbClr val="1B2430"/>
          </a:solidFill>
          <a:ln w="9525">
            <a:solidFill>
              <a:srgbClr val="C46A2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68680" y="5413248"/>
            <a:ext cx="10424160" cy="566928"/>
          </a:xfrm>
          <a:prstGeom prst="rect">
            <a:avLst/>
          </a:prstGeom>
          <a:noFill/>
        </p:spPr>
        <p:txBody>
          <a:bodyPr wrap="square" lIns="0" rIns="0" tIns="0" bIns="0" anchor="t">
            <a:spAutoFit/>
          </a:bodyPr>
          <a:lstStyle/>
          <a:p>
            <a:pPr algn="l">
              <a:lnSpc>
                <a:spcPts val="1900"/>
              </a:lnSpc>
            </a:pPr>
            <a:r>
              <a:rPr sz="1400" b="1" i="0">
                <a:solidFill>
                  <a:srgbClr val="C46A24"/>
                </a:solidFill>
                <a:latin typeface="Calibri"/>
              </a:rPr>
              <a:t>The most useful thing this meeting can do — </a:t>
            </a:r>
            <a:r>
              <a:rPr sz="1400" b="0" i="0">
                <a:solidFill>
                  <a:srgbClr val="FFFFFF"/>
                </a:solidFill>
                <a:latin typeface="Calibri"/>
              </a:rPr>
              <a:t>agree an owner and a date for the quota patterns for the remaining seven sections.</a:t>
            </a:r>
          </a:p>
        </p:txBody>
      </p:sp>
      <p:sp>
        <p:nvSpPr>
          <p:cNvPr id="16" name="TextBox 15"/>
          <p:cNvSpPr txBox="1"/>
          <p:nvPr/>
        </p:nvSpPr>
        <p:spPr>
          <a:xfrm>
            <a:off x="548640" y="6419088"/>
            <a:ext cx="8229600" cy="237744"/>
          </a:xfrm>
          <a:prstGeom prst="rect">
            <a:avLst/>
          </a:prstGeom>
          <a:noFill/>
        </p:spPr>
        <p:txBody>
          <a:bodyPr wrap="square" lIns="0" rIns="0" tIns="0" bIns="0" anchor="t">
            <a:spAutoFit/>
          </a:bodyPr>
          <a:lstStyle/>
          <a:p>
            <a:pPr algn="l"/>
            <a:r>
              <a:rPr sz="900" b="0" i="0">
                <a:solidFill>
                  <a:srgbClr val="5D6B78"/>
                </a:solidFill>
                <a:latin typeface="Calibri"/>
              </a:rPr>
              <a:t>Device Identifier  ·  Progress Report  ·  August 2026</a:t>
            </a:r>
          </a:p>
        </p:txBody>
      </p:sp>
      <p:sp>
        <p:nvSpPr>
          <p:cNvPr id="17" name="TextBox 16"/>
          <p:cNvSpPr txBox="1"/>
          <p:nvPr/>
        </p:nvSpPr>
        <p:spPr>
          <a:xfrm>
            <a:off x="10698480" y="6419088"/>
            <a:ext cx="941832" cy="237744"/>
          </a:xfrm>
          <a:prstGeom prst="rect">
            <a:avLst/>
          </a:prstGeom>
          <a:noFill/>
        </p:spPr>
        <p:txBody>
          <a:bodyPr wrap="square" lIns="0" rIns="0" tIns="0" bIns="0" anchor="t">
            <a:spAutoFit/>
          </a:bodyPr>
          <a:lstStyle/>
          <a:p>
            <a:pPr algn="r"/>
            <a:r>
              <a:rPr sz="900" b="0" i="0">
                <a:solidFill>
                  <a:srgbClr val="5D6B78"/>
                </a:solidFill>
                <a:latin typeface="Calibri"/>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Device Identifier - Progress Report</dc:title>
  <dc:subject>Machine learning device classification pipeline - status, methods and next steps</dc:subject>
  <dc:creator>Siti Syaziyah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