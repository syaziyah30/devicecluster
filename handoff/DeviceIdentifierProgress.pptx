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8" r:id="rId2"/>
    <p:sldId id="279" r:id="rId3"/>
    <p:sldId id="257" r:id="rId4"/>
    <p:sldId id="258" r:id="rId5"/>
    <p:sldId id="259" r:id="rId6"/>
    <p:sldId id="260" r:id="rId7"/>
    <p:sldId id="261" r:id="rId8"/>
    <p:sldId id="262" r:id="rId9"/>
    <p:sldId id="264" r:id="rId10"/>
    <p:sldId id="265" r:id="rId11"/>
    <p:sldId id="267" r:id="rId12"/>
    <p:sldId id="416" r:id="rId13"/>
    <p:sldId id="276" r:id="rId14"/>
    <p:sldId id="272" r:id="rId15"/>
    <p:sldId id="274" r:id="rId16"/>
    <p:sldId id="417" r:id="rId17"/>
    <p:sldId id="266" r:id="rId18"/>
    <p:sldId id="268" r:id="rId19"/>
    <p:sldId id="269" r:id="rId20"/>
    <p:sldId id="273" r:id="rId21"/>
    <p:sldId id="277" r:id="rId22"/>
    <p:sldId id="280" r:id="rId23"/>
    <p:sldId id="281" r:id="rId24"/>
    <p:sldId id="263" r:id="rId25"/>
    <p:sldId id="27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803D"/>
    <a:srgbClr val="A8B8AD"/>
    <a:srgbClr val="DCFCE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22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D01395-AC05-405C-BAB9-E5D2B9FDBB40}" type="datetimeFigureOut">
              <a:rPr lang="en-MY" smtClean="0"/>
              <a:t>2/9/2026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B14E928F-1B77-4E5E-9D54-2399041871C2}" type="slidenum">
              <a:rPr lang="en-MY" smtClean="0"/>
              <a:t>‹#›</a:t>
            </a:fld>
            <a:endParaRPr lang="en-MY"/>
          </a:p>
        </p:txBody>
      </p:sp>
    </p:spTree>
    <p:extLst>
      <p:ext uri="{BB962C8B-B14F-4D97-AF65-F5344CB8AC3E}">
        <p14:creationId xmlns:p14="http://schemas.microsoft.com/office/powerpoint/2010/main" val="3438428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2.png"/><Relationship Id="rId34" Type="http://schemas.openxmlformats.org/officeDocument/2006/relationships/image" Target="../media/image35.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hyperlink" Target="http://128.100.8.213/XenxibleCollection/XenProducts/_git/Xenxible%20Intelligent%20Analytic%20-%20Device%20Cluster?path=/Flowchart.md&amp;_a=preview" TargetMode="External"/><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openxmlformats.org/officeDocument/2006/relationships/image" Target="../media/image36.png"/><Relationship Id="rId8"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C604E-3A81-82B2-C835-320BB1E23A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14ECD4-A96B-F5AF-B2B3-A51CB0CB6B5D}"/>
              </a:ext>
            </a:extLst>
          </p:cNvPr>
          <p:cNvSpPr txBox="1"/>
          <p:nvPr/>
        </p:nvSpPr>
        <p:spPr>
          <a:xfrm>
            <a:off x="1214120" y="2336167"/>
            <a:ext cx="9763760" cy="602729"/>
          </a:xfrm>
          <a:prstGeom prst="rect">
            <a:avLst/>
          </a:prstGeom>
          <a:noFill/>
        </p:spPr>
        <p:txBody>
          <a:bodyPr wrap="square" lIns="0" tIns="0" rIns="0" bIns="0" anchor="t">
            <a:spAutoFit/>
          </a:bodyPr>
          <a:lstStyle/>
          <a:p>
            <a:pPr algn="ctr">
              <a:lnSpc>
                <a:spcPts val="4700"/>
              </a:lnSpc>
            </a:pPr>
            <a:r>
              <a:rPr lang="en-MY" sz="4000" b="1" dirty="0" err="1">
                <a:latin typeface="Cambria"/>
              </a:rPr>
              <a:t>Xenxible</a:t>
            </a:r>
            <a:r>
              <a:rPr lang="en-MY" sz="4000" b="1" dirty="0">
                <a:latin typeface="Cambria"/>
              </a:rPr>
              <a:t> Creator - Device Identifier</a:t>
            </a:r>
            <a:endParaRPr sz="4000" b="1" i="0" dirty="0">
              <a:latin typeface="Cambria"/>
            </a:endParaRPr>
          </a:p>
        </p:txBody>
      </p:sp>
      <p:sp>
        <p:nvSpPr>
          <p:cNvPr id="17" name="TextBox 16">
            <a:extLst>
              <a:ext uri="{FF2B5EF4-FFF2-40B4-BE49-F238E27FC236}">
                <a16:creationId xmlns:a16="http://schemas.microsoft.com/office/drawing/2014/main" id="{032D4FEF-49C3-DA1B-5C9F-54EFB154E439}"/>
              </a:ext>
            </a:extLst>
          </p:cNvPr>
          <p:cNvSpPr txBox="1"/>
          <p:nvPr/>
        </p:nvSpPr>
        <p:spPr>
          <a:xfrm>
            <a:off x="1981200" y="5779008"/>
            <a:ext cx="8229600" cy="176972"/>
          </a:xfrm>
          <a:prstGeom prst="rect">
            <a:avLst/>
          </a:prstGeom>
          <a:noFill/>
        </p:spPr>
        <p:txBody>
          <a:bodyPr wrap="square" lIns="0" tIns="0" rIns="0" bIns="0" anchor="t">
            <a:spAutoFit/>
          </a:bodyPr>
          <a:lstStyle/>
          <a:p>
            <a:pPr algn="ctr"/>
            <a:r>
              <a:rPr sz="1150" b="0" i="0" dirty="0">
                <a:solidFill>
                  <a:srgbClr val="6E7C89"/>
                </a:solidFill>
                <a:latin typeface="Calibri"/>
              </a:rPr>
              <a:t>Prepared by Siti Syaziyah  ·  Data Analyst Executive  ·  September 2026</a:t>
            </a:r>
          </a:p>
        </p:txBody>
      </p:sp>
      <p:sp>
        <p:nvSpPr>
          <p:cNvPr id="5" name="TextBox 4">
            <a:extLst>
              <a:ext uri="{FF2B5EF4-FFF2-40B4-BE49-F238E27FC236}">
                <a16:creationId xmlns:a16="http://schemas.microsoft.com/office/drawing/2014/main" id="{5B1ED26C-9450-5CD4-779A-2690A9E0FBF1}"/>
              </a:ext>
            </a:extLst>
          </p:cNvPr>
          <p:cNvSpPr txBox="1"/>
          <p:nvPr/>
        </p:nvSpPr>
        <p:spPr>
          <a:xfrm>
            <a:off x="685800" y="697160"/>
            <a:ext cx="10789920" cy="184666"/>
          </a:xfrm>
          <a:prstGeom prst="rect">
            <a:avLst/>
          </a:prstGeom>
          <a:noFill/>
        </p:spPr>
        <p:txBody>
          <a:bodyPr wrap="square" lIns="0" tIns="0" rIns="0" bIns="0" anchor="t">
            <a:spAutoFit/>
          </a:bodyPr>
          <a:lstStyle/>
          <a:p>
            <a:r>
              <a:rPr lang="en-MY" sz="1200" b="1" i="0" dirty="0">
                <a:solidFill>
                  <a:srgbClr val="C46A24"/>
                </a:solidFill>
                <a:latin typeface="Consolas"/>
              </a:rPr>
              <a:t>XENXIBLE CREATOR - DATA ANALYTICS</a:t>
            </a:r>
            <a:r>
              <a:rPr lang="en-US" sz="1200" b="1" i="0" dirty="0">
                <a:solidFill>
                  <a:srgbClr val="C46A24"/>
                </a:solidFill>
                <a:latin typeface="Consolas"/>
              </a:rPr>
              <a:t> . [1st SEPT 2026].</a:t>
            </a:r>
            <a:endParaRPr lang="en-MY" sz="1200" dirty="0"/>
          </a:p>
        </p:txBody>
      </p:sp>
      <p:sp>
        <p:nvSpPr>
          <p:cNvPr id="7" name="TextBox 6">
            <a:extLst>
              <a:ext uri="{FF2B5EF4-FFF2-40B4-BE49-F238E27FC236}">
                <a16:creationId xmlns:a16="http://schemas.microsoft.com/office/drawing/2014/main" id="{A9EE9356-76E1-F09F-51CD-3787CD8A0955}"/>
              </a:ext>
            </a:extLst>
          </p:cNvPr>
          <p:cNvSpPr txBox="1"/>
          <p:nvPr/>
        </p:nvSpPr>
        <p:spPr>
          <a:xfrm>
            <a:off x="4869656" y="3177374"/>
            <a:ext cx="2452688" cy="246221"/>
          </a:xfrm>
          <a:prstGeom prst="rect">
            <a:avLst/>
          </a:prstGeom>
          <a:noFill/>
        </p:spPr>
        <p:txBody>
          <a:bodyPr wrap="square" lIns="0" tIns="0" rIns="0" bIns="0" anchor="t">
            <a:spAutoFit/>
          </a:bodyPr>
          <a:lstStyle/>
          <a:p>
            <a:pPr algn="ctr"/>
            <a:r>
              <a:rPr lang="en-US" sz="1600" b="1" i="0" dirty="0">
                <a:latin typeface="Consolas"/>
              </a:rPr>
              <a:t>Full Progress Update </a:t>
            </a:r>
            <a:endParaRPr lang="en-MY" sz="1600" dirty="0"/>
          </a:p>
        </p:txBody>
      </p:sp>
    </p:spTree>
    <p:extLst>
      <p:ext uri="{BB962C8B-B14F-4D97-AF65-F5344CB8AC3E}">
        <p14:creationId xmlns:p14="http://schemas.microsoft.com/office/powerpoint/2010/main" val="2155628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1980-451B-DF0D-09AD-7F7D024BAC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42C2E0-EB03-1283-6B37-46D05F874192}"/>
              </a:ext>
            </a:extLst>
          </p:cNvPr>
          <p:cNvSpPr txBox="1"/>
          <p:nvPr/>
        </p:nvSpPr>
        <p:spPr>
          <a:xfrm>
            <a:off x="4321387" y="1407648"/>
            <a:ext cx="4616026" cy="602729"/>
          </a:xfrm>
          <a:prstGeom prst="rect">
            <a:avLst/>
          </a:prstGeom>
          <a:noFill/>
        </p:spPr>
        <p:txBody>
          <a:bodyPr wrap="square" lIns="0" tIns="0" rIns="0" bIns="0" anchor="t">
            <a:spAutoFit/>
          </a:bodyPr>
          <a:lstStyle/>
          <a:p>
            <a:pPr algn="l">
              <a:lnSpc>
                <a:spcPts val="4700"/>
              </a:lnSpc>
            </a:pPr>
            <a:r>
              <a:rPr lang="en-MY" sz="4000" b="1" dirty="0">
                <a:latin typeface="Cambria"/>
              </a:rPr>
              <a:t>Project Progress</a:t>
            </a:r>
            <a:endParaRPr sz="4000" b="1" i="0" dirty="0">
              <a:latin typeface="Cambria"/>
            </a:endParaRPr>
          </a:p>
        </p:txBody>
      </p:sp>
      <p:sp>
        <p:nvSpPr>
          <p:cNvPr id="5" name="Rounded Rectangle 4">
            <a:extLst>
              <a:ext uri="{FF2B5EF4-FFF2-40B4-BE49-F238E27FC236}">
                <a16:creationId xmlns:a16="http://schemas.microsoft.com/office/drawing/2014/main" id="{895D68A9-0C7D-813D-9C06-2785DC3B6632}"/>
              </a:ext>
            </a:extLst>
          </p:cNvPr>
          <p:cNvSpPr/>
          <p:nvPr/>
        </p:nvSpPr>
        <p:spPr>
          <a:xfrm>
            <a:off x="548640"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a:extLst>
              <a:ext uri="{FF2B5EF4-FFF2-40B4-BE49-F238E27FC236}">
                <a16:creationId xmlns:a16="http://schemas.microsoft.com/office/drawing/2014/main" id="{DBEA8114-FB34-A168-A09F-9550EE7BED53}"/>
              </a:ext>
            </a:extLst>
          </p:cNvPr>
          <p:cNvSpPr txBox="1"/>
          <p:nvPr/>
        </p:nvSpPr>
        <p:spPr>
          <a:xfrm>
            <a:off x="786384" y="2961638"/>
            <a:ext cx="2194560" cy="138499"/>
          </a:xfrm>
          <a:prstGeom prst="rect">
            <a:avLst/>
          </a:prstGeom>
          <a:noFill/>
        </p:spPr>
        <p:txBody>
          <a:bodyPr wrap="square" lIns="0" tIns="0" rIns="0" bIns="0" anchor="t">
            <a:spAutoFit/>
          </a:bodyPr>
          <a:lstStyle/>
          <a:p>
            <a:pPr algn="l"/>
            <a:r>
              <a:rPr sz="900" b="1" i="0" spc="140" dirty="0">
                <a:latin typeface="Calibri"/>
              </a:rPr>
              <a:t>MACHINE LEARNING MODELS</a:t>
            </a:r>
          </a:p>
        </p:txBody>
      </p:sp>
      <p:sp>
        <p:nvSpPr>
          <p:cNvPr id="7" name="TextBox 6">
            <a:extLst>
              <a:ext uri="{FF2B5EF4-FFF2-40B4-BE49-F238E27FC236}">
                <a16:creationId xmlns:a16="http://schemas.microsoft.com/office/drawing/2014/main" id="{5D77A8B7-E2EA-F824-D589-E66047D42152}"/>
              </a:ext>
            </a:extLst>
          </p:cNvPr>
          <p:cNvSpPr txBox="1"/>
          <p:nvPr/>
        </p:nvSpPr>
        <p:spPr>
          <a:xfrm>
            <a:off x="786384" y="3235958"/>
            <a:ext cx="2194560" cy="292608"/>
          </a:xfrm>
          <a:prstGeom prst="rect">
            <a:avLst/>
          </a:prstGeom>
          <a:noFill/>
        </p:spPr>
        <p:txBody>
          <a:bodyPr wrap="square" lIns="0" tIns="0" rIns="0" bIns="0" anchor="t">
            <a:spAutoFit/>
          </a:bodyPr>
          <a:lstStyle/>
          <a:p>
            <a:pPr algn="l"/>
            <a:r>
              <a:rPr sz="1500" b="1" i="0">
                <a:solidFill>
                  <a:srgbClr val="2E7D63"/>
                </a:solidFill>
                <a:latin typeface="Cambria"/>
              </a:rPr>
              <a:t>Complete</a:t>
            </a:r>
          </a:p>
        </p:txBody>
      </p:sp>
      <p:sp>
        <p:nvSpPr>
          <p:cNvPr id="8" name="Rounded Rectangle 7">
            <a:extLst>
              <a:ext uri="{FF2B5EF4-FFF2-40B4-BE49-F238E27FC236}">
                <a16:creationId xmlns:a16="http://schemas.microsoft.com/office/drawing/2014/main" id="{DD217BCB-CB00-E045-9EF4-10EA8F692969}"/>
              </a:ext>
            </a:extLst>
          </p:cNvPr>
          <p:cNvSpPr/>
          <p:nvPr/>
        </p:nvSpPr>
        <p:spPr>
          <a:xfrm>
            <a:off x="3374136"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tx1"/>
              </a:solidFill>
            </a:endParaRPr>
          </a:p>
        </p:txBody>
      </p:sp>
      <p:sp>
        <p:nvSpPr>
          <p:cNvPr id="9" name="TextBox 8">
            <a:extLst>
              <a:ext uri="{FF2B5EF4-FFF2-40B4-BE49-F238E27FC236}">
                <a16:creationId xmlns:a16="http://schemas.microsoft.com/office/drawing/2014/main" id="{8D158F5B-E668-DFDC-58B6-236167ABD25E}"/>
              </a:ext>
            </a:extLst>
          </p:cNvPr>
          <p:cNvSpPr txBox="1"/>
          <p:nvPr/>
        </p:nvSpPr>
        <p:spPr>
          <a:xfrm>
            <a:off x="3611880" y="2961638"/>
            <a:ext cx="2194560" cy="138499"/>
          </a:xfrm>
          <a:prstGeom prst="rect">
            <a:avLst/>
          </a:prstGeom>
          <a:noFill/>
        </p:spPr>
        <p:txBody>
          <a:bodyPr wrap="square" lIns="0" tIns="0" rIns="0" bIns="0" anchor="t">
            <a:spAutoFit/>
          </a:bodyPr>
          <a:lstStyle/>
          <a:p>
            <a:pPr algn="l"/>
            <a:r>
              <a:rPr sz="900" b="1" i="0" spc="140">
                <a:latin typeface="Calibri"/>
              </a:rPr>
              <a:t>SQL INTEGRATION</a:t>
            </a:r>
          </a:p>
        </p:txBody>
      </p:sp>
      <p:sp>
        <p:nvSpPr>
          <p:cNvPr id="10" name="TextBox 9">
            <a:extLst>
              <a:ext uri="{FF2B5EF4-FFF2-40B4-BE49-F238E27FC236}">
                <a16:creationId xmlns:a16="http://schemas.microsoft.com/office/drawing/2014/main" id="{8DF2F13D-7C94-C5D7-8182-AC1027AACAA9}"/>
              </a:ext>
            </a:extLst>
          </p:cNvPr>
          <p:cNvSpPr txBox="1"/>
          <p:nvPr/>
        </p:nvSpPr>
        <p:spPr>
          <a:xfrm>
            <a:off x="3611880" y="3235958"/>
            <a:ext cx="2194560" cy="292608"/>
          </a:xfrm>
          <a:prstGeom prst="rect">
            <a:avLst/>
          </a:prstGeom>
          <a:noFill/>
        </p:spPr>
        <p:txBody>
          <a:bodyPr wrap="square" lIns="0" tIns="0" rIns="0" bIns="0" anchor="t">
            <a:spAutoFit/>
          </a:bodyPr>
          <a:lstStyle/>
          <a:p>
            <a:pPr algn="l"/>
            <a:r>
              <a:rPr sz="1500" b="1" i="0">
                <a:solidFill>
                  <a:srgbClr val="2E7D63"/>
                </a:solidFill>
                <a:latin typeface="Cambria"/>
              </a:rPr>
              <a:t>Complete</a:t>
            </a:r>
          </a:p>
        </p:txBody>
      </p:sp>
      <p:sp>
        <p:nvSpPr>
          <p:cNvPr id="11" name="Rounded Rectangle 10">
            <a:extLst>
              <a:ext uri="{FF2B5EF4-FFF2-40B4-BE49-F238E27FC236}">
                <a16:creationId xmlns:a16="http://schemas.microsoft.com/office/drawing/2014/main" id="{025BDEA2-EACD-91C5-4E81-05E1FD3B9680}"/>
              </a:ext>
            </a:extLst>
          </p:cNvPr>
          <p:cNvSpPr/>
          <p:nvPr/>
        </p:nvSpPr>
        <p:spPr>
          <a:xfrm>
            <a:off x="6199631"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a:extLst>
              <a:ext uri="{FF2B5EF4-FFF2-40B4-BE49-F238E27FC236}">
                <a16:creationId xmlns:a16="http://schemas.microsoft.com/office/drawing/2014/main" id="{1FB13B76-6004-A93D-AEE3-01300ECDA318}"/>
              </a:ext>
            </a:extLst>
          </p:cNvPr>
          <p:cNvSpPr txBox="1"/>
          <p:nvPr/>
        </p:nvSpPr>
        <p:spPr>
          <a:xfrm>
            <a:off x="6437375" y="2961638"/>
            <a:ext cx="2194560" cy="138499"/>
          </a:xfrm>
          <a:prstGeom prst="rect">
            <a:avLst/>
          </a:prstGeom>
          <a:noFill/>
        </p:spPr>
        <p:txBody>
          <a:bodyPr wrap="square" lIns="0" tIns="0" rIns="0" bIns="0" anchor="t">
            <a:spAutoFit/>
          </a:bodyPr>
          <a:lstStyle/>
          <a:p>
            <a:pPr algn="l"/>
            <a:r>
              <a:rPr sz="900" b="1" i="0" spc="140">
                <a:latin typeface="Calibri"/>
              </a:rPr>
              <a:t>DEPLOYMENT PACKAGE</a:t>
            </a:r>
          </a:p>
        </p:txBody>
      </p:sp>
      <p:sp>
        <p:nvSpPr>
          <p:cNvPr id="13" name="TextBox 12">
            <a:extLst>
              <a:ext uri="{FF2B5EF4-FFF2-40B4-BE49-F238E27FC236}">
                <a16:creationId xmlns:a16="http://schemas.microsoft.com/office/drawing/2014/main" id="{5159EF2C-4245-7E18-A648-E8F30F8BE0EF}"/>
              </a:ext>
            </a:extLst>
          </p:cNvPr>
          <p:cNvSpPr txBox="1"/>
          <p:nvPr/>
        </p:nvSpPr>
        <p:spPr>
          <a:xfrm>
            <a:off x="6437375" y="3235958"/>
            <a:ext cx="2194560" cy="292608"/>
          </a:xfrm>
          <a:prstGeom prst="rect">
            <a:avLst/>
          </a:prstGeom>
          <a:noFill/>
        </p:spPr>
        <p:txBody>
          <a:bodyPr wrap="square" lIns="0" tIns="0" rIns="0" bIns="0" anchor="t">
            <a:spAutoFit/>
          </a:bodyPr>
          <a:lstStyle/>
          <a:p>
            <a:pPr algn="l"/>
            <a:r>
              <a:rPr sz="1500" b="1" i="0">
                <a:solidFill>
                  <a:srgbClr val="2E7D63"/>
                </a:solidFill>
                <a:latin typeface="Cambria"/>
              </a:rPr>
              <a:t>Complete</a:t>
            </a:r>
          </a:p>
        </p:txBody>
      </p:sp>
      <p:sp>
        <p:nvSpPr>
          <p:cNvPr id="14" name="Rounded Rectangle 13">
            <a:extLst>
              <a:ext uri="{FF2B5EF4-FFF2-40B4-BE49-F238E27FC236}">
                <a16:creationId xmlns:a16="http://schemas.microsoft.com/office/drawing/2014/main" id="{D880524F-0143-9ACD-180F-1DC9E6BB5BCC}"/>
              </a:ext>
            </a:extLst>
          </p:cNvPr>
          <p:cNvSpPr/>
          <p:nvPr/>
        </p:nvSpPr>
        <p:spPr>
          <a:xfrm>
            <a:off x="9025128"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tx1"/>
              </a:solidFill>
            </a:endParaRPr>
          </a:p>
        </p:txBody>
      </p:sp>
      <p:sp>
        <p:nvSpPr>
          <p:cNvPr id="15" name="TextBox 14">
            <a:extLst>
              <a:ext uri="{FF2B5EF4-FFF2-40B4-BE49-F238E27FC236}">
                <a16:creationId xmlns:a16="http://schemas.microsoft.com/office/drawing/2014/main" id="{738917B6-4824-1F0F-DD7F-D7F25C8F5342}"/>
              </a:ext>
            </a:extLst>
          </p:cNvPr>
          <p:cNvSpPr txBox="1"/>
          <p:nvPr/>
        </p:nvSpPr>
        <p:spPr>
          <a:xfrm>
            <a:off x="9262872" y="2961638"/>
            <a:ext cx="2194560" cy="138499"/>
          </a:xfrm>
          <a:prstGeom prst="rect">
            <a:avLst/>
          </a:prstGeom>
          <a:noFill/>
        </p:spPr>
        <p:txBody>
          <a:bodyPr wrap="square" lIns="0" tIns="0" rIns="0" bIns="0" anchor="t">
            <a:spAutoFit/>
          </a:bodyPr>
          <a:lstStyle/>
          <a:p>
            <a:pPr algn="l"/>
            <a:r>
              <a:rPr sz="900" b="1" i="0" spc="140">
                <a:latin typeface="Calibri"/>
              </a:rPr>
              <a:t>USER INTERFACE</a:t>
            </a:r>
          </a:p>
        </p:txBody>
      </p:sp>
      <p:sp>
        <p:nvSpPr>
          <p:cNvPr id="16" name="TextBox 15">
            <a:extLst>
              <a:ext uri="{FF2B5EF4-FFF2-40B4-BE49-F238E27FC236}">
                <a16:creationId xmlns:a16="http://schemas.microsoft.com/office/drawing/2014/main" id="{1EC82089-2BA2-53E8-7419-FDADE3A6A718}"/>
              </a:ext>
            </a:extLst>
          </p:cNvPr>
          <p:cNvSpPr txBox="1"/>
          <p:nvPr/>
        </p:nvSpPr>
        <p:spPr>
          <a:xfrm>
            <a:off x="9262872" y="3235958"/>
            <a:ext cx="2194560" cy="292608"/>
          </a:xfrm>
          <a:prstGeom prst="rect">
            <a:avLst/>
          </a:prstGeom>
          <a:noFill/>
        </p:spPr>
        <p:txBody>
          <a:bodyPr wrap="square" lIns="0" tIns="0" rIns="0" bIns="0" anchor="t">
            <a:spAutoFit/>
          </a:bodyPr>
          <a:lstStyle/>
          <a:p>
            <a:pPr algn="l"/>
            <a:r>
              <a:rPr sz="1500" b="1" i="0">
                <a:solidFill>
                  <a:srgbClr val="C46A24"/>
                </a:solidFill>
                <a:latin typeface="Cambria"/>
              </a:rPr>
              <a:t>Not started</a:t>
            </a:r>
          </a:p>
        </p:txBody>
      </p:sp>
    </p:spTree>
    <p:extLst>
      <p:ext uri="{BB962C8B-B14F-4D97-AF65-F5344CB8AC3E}">
        <p14:creationId xmlns:p14="http://schemas.microsoft.com/office/powerpoint/2010/main" val="1898986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01  ·  PROJECT STAGE</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lang="en-MY" sz="2900" b="1" i="0" dirty="0">
                <a:solidFill>
                  <a:srgbClr val="1B2430"/>
                </a:solidFill>
                <a:latin typeface="Cambria"/>
              </a:rPr>
              <a:t>5</a:t>
            </a:r>
            <a:r>
              <a:rPr sz="2900" b="1" i="0" dirty="0">
                <a:solidFill>
                  <a:srgbClr val="1B2430"/>
                </a:solidFill>
                <a:latin typeface="Cambria"/>
              </a:rPr>
              <a:t> stages complete, </a:t>
            </a:r>
            <a:r>
              <a:rPr lang="en-MY" sz="2900" b="1" i="0" dirty="0">
                <a:solidFill>
                  <a:srgbClr val="1B2430"/>
                </a:solidFill>
                <a:latin typeface="Cambria"/>
              </a:rPr>
              <a:t>1</a:t>
            </a:r>
            <a:r>
              <a:rPr sz="2900" b="1" i="0" dirty="0">
                <a:solidFill>
                  <a:srgbClr val="1B2430"/>
                </a:solidFill>
                <a:latin typeface="Cambria"/>
              </a:rPr>
              <a:t> remaining</a:t>
            </a:r>
          </a:p>
        </p:txBody>
      </p:sp>
      <p:sp>
        <p:nvSpPr>
          <p:cNvPr id="5" name="Rectangle 4"/>
          <p:cNvSpPr/>
          <p:nvPr/>
        </p:nvSpPr>
        <p:spPr>
          <a:xfrm>
            <a:off x="1440180" y="2263140"/>
            <a:ext cx="9262872" cy="19050"/>
          </a:xfrm>
          <a:prstGeom prst="rect">
            <a:avLst/>
          </a:prstGeom>
          <a:solidFill>
            <a:srgbClr val="DFE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38428"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38428"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8" name="TextBox 7"/>
          <p:cNvSpPr txBox="1"/>
          <p:nvPr/>
        </p:nvSpPr>
        <p:spPr>
          <a:xfrm>
            <a:off x="548640"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Data Extraction</a:t>
            </a:r>
          </a:p>
          <a:p>
            <a:pPr algn="ctr">
              <a:lnSpc>
                <a:spcPts val="1500"/>
              </a:lnSpc>
            </a:pPr>
            <a:r>
              <a:rPr sz="1200" b="1" i="0">
                <a:solidFill>
                  <a:srgbClr val="1B2430"/>
                </a:solidFill>
                <a:latin typeface="Calibri"/>
              </a:rPr>
              <a:t>&amp; Preparation</a:t>
            </a:r>
          </a:p>
        </p:txBody>
      </p:sp>
      <p:sp>
        <p:nvSpPr>
          <p:cNvPr id="9" name="TextBox 8"/>
          <p:cNvSpPr txBox="1"/>
          <p:nvPr/>
        </p:nvSpPr>
        <p:spPr>
          <a:xfrm>
            <a:off x="548640"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10" name="Oval 9"/>
          <p:cNvSpPr/>
          <p:nvPr/>
        </p:nvSpPr>
        <p:spPr>
          <a:xfrm>
            <a:off x="2991002"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91002"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12" name="TextBox 11"/>
          <p:cNvSpPr txBox="1"/>
          <p:nvPr/>
        </p:nvSpPr>
        <p:spPr>
          <a:xfrm>
            <a:off x="2401214"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Model Research</a:t>
            </a:r>
          </a:p>
          <a:p>
            <a:pPr algn="ctr">
              <a:lnSpc>
                <a:spcPts val="1500"/>
              </a:lnSpc>
            </a:pPr>
            <a:r>
              <a:rPr sz="1200" b="1" i="0">
                <a:solidFill>
                  <a:srgbClr val="1B2430"/>
                </a:solidFill>
                <a:latin typeface="Calibri"/>
              </a:rPr>
              <a:t>&amp; Benchmarking</a:t>
            </a:r>
          </a:p>
        </p:txBody>
      </p:sp>
      <p:sp>
        <p:nvSpPr>
          <p:cNvPr id="13" name="TextBox 12"/>
          <p:cNvSpPr txBox="1"/>
          <p:nvPr/>
        </p:nvSpPr>
        <p:spPr>
          <a:xfrm>
            <a:off x="2401214"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14" name="Oval 13"/>
          <p:cNvSpPr/>
          <p:nvPr/>
        </p:nvSpPr>
        <p:spPr>
          <a:xfrm>
            <a:off x="4843576"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43576"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16" name="TextBox 15"/>
          <p:cNvSpPr txBox="1"/>
          <p:nvPr/>
        </p:nvSpPr>
        <p:spPr>
          <a:xfrm>
            <a:off x="4253788"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Model Development</a:t>
            </a:r>
          </a:p>
          <a:p>
            <a:pPr algn="ctr">
              <a:lnSpc>
                <a:spcPts val="1500"/>
              </a:lnSpc>
            </a:pPr>
            <a:r>
              <a:rPr sz="1200" b="1" i="0">
                <a:solidFill>
                  <a:srgbClr val="1B2430"/>
                </a:solidFill>
                <a:latin typeface="Calibri"/>
              </a:rPr>
              <a:t>&amp; Training</a:t>
            </a:r>
          </a:p>
        </p:txBody>
      </p:sp>
      <p:sp>
        <p:nvSpPr>
          <p:cNvPr id="17" name="TextBox 16"/>
          <p:cNvSpPr txBox="1"/>
          <p:nvPr/>
        </p:nvSpPr>
        <p:spPr>
          <a:xfrm>
            <a:off x="4253788"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18" name="Oval 17"/>
          <p:cNvSpPr/>
          <p:nvPr/>
        </p:nvSpPr>
        <p:spPr>
          <a:xfrm>
            <a:off x="6696151"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96151"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20" name="TextBox 19"/>
          <p:cNvSpPr txBox="1"/>
          <p:nvPr/>
        </p:nvSpPr>
        <p:spPr>
          <a:xfrm>
            <a:off x="6106363"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System Integration</a:t>
            </a:r>
          </a:p>
          <a:p>
            <a:pPr algn="ctr">
              <a:lnSpc>
                <a:spcPts val="1500"/>
              </a:lnSpc>
            </a:pPr>
            <a:r>
              <a:rPr sz="1200" b="1" i="0">
                <a:solidFill>
                  <a:srgbClr val="1B2430"/>
                </a:solidFill>
                <a:latin typeface="Calibri"/>
              </a:rPr>
              <a:t>(C# + SQL)</a:t>
            </a:r>
          </a:p>
        </p:txBody>
      </p:sp>
      <p:sp>
        <p:nvSpPr>
          <p:cNvPr id="21" name="TextBox 20"/>
          <p:cNvSpPr txBox="1"/>
          <p:nvPr/>
        </p:nvSpPr>
        <p:spPr>
          <a:xfrm>
            <a:off x="6106363"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22" name="Oval 21"/>
          <p:cNvSpPr/>
          <p:nvPr/>
        </p:nvSpPr>
        <p:spPr>
          <a:xfrm>
            <a:off x="8548725"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8725"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24" name="TextBox 23"/>
          <p:cNvSpPr txBox="1"/>
          <p:nvPr/>
        </p:nvSpPr>
        <p:spPr>
          <a:xfrm>
            <a:off x="7958937"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Deployment &amp;</a:t>
            </a:r>
          </a:p>
          <a:p>
            <a:pPr algn="ctr">
              <a:lnSpc>
                <a:spcPts val="1500"/>
              </a:lnSpc>
            </a:pPr>
            <a:r>
              <a:rPr sz="1200" b="1" i="0">
                <a:solidFill>
                  <a:srgbClr val="1B2430"/>
                </a:solidFill>
                <a:latin typeface="Calibri"/>
              </a:rPr>
              <a:t>Handover Package</a:t>
            </a:r>
          </a:p>
        </p:txBody>
      </p:sp>
      <p:sp>
        <p:nvSpPr>
          <p:cNvPr id="25" name="TextBox 24"/>
          <p:cNvSpPr txBox="1"/>
          <p:nvPr/>
        </p:nvSpPr>
        <p:spPr>
          <a:xfrm>
            <a:off x="7958937"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26" name="Oval 25"/>
          <p:cNvSpPr/>
          <p:nvPr/>
        </p:nvSpPr>
        <p:spPr>
          <a:xfrm>
            <a:off x="10401299" y="1965960"/>
            <a:ext cx="603504" cy="603504"/>
          </a:xfrm>
          <a:prstGeom prst="ellipse">
            <a:avLst/>
          </a:prstGeom>
          <a:solidFill>
            <a:srgbClr val="FFFFFF"/>
          </a:solidFill>
          <a:ln w="28575">
            <a:solidFill>
              <a:srgbClr val="C46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01299" y="1965960"/>
            <a:ext cx="603504" cy="603504"/>
          </a:xfrm>
          <a:prstGeom prst="rect">
            <a:avLst/>
          </a:prstGeom>
          <a:noFill/>
        </p:spPr>
        <p:txBody>
          <a:bodyPr wrap="square" lIns="0" tIns="0" rIns="0" bIns="0" anchor="ctr">
            <a:spAutoFit/>
          </a:bodyPr>
          <a:lstStyle/>
          <a:p>
            <a:pPr algn="ctr"/>
            <a:r>
              <a:rPr sz="1700" b="1" i="0">
                <a:solidFill>
                  <a:srgbClr val="C46A24"/>
                </a:solidFill>
                <a:latin typeface="Cambria"/>
              </a:rPr>
              <a:t>6</a:t>
            </a:r>
          </a:p>
        </p:txBody>
      </p:sp>
      <p:sp>
        <p:nvSpPr>
          <p:cNvPr id="28" name="TextBox 27"/>
          <p:cNvSpPr txBox="1"/>
          <p:nvPr/>
        </p:nvSpPr>
        <p:spPr>
          <a:xfrm>
            <a:off x="9811511"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Validation &amp;</a:t>
            </a:r>
          </a:p>
          <a:p>
            <a:pPr algn="ctr">
              <a:lnSpc>
                <a:spcPts val="1500"/>
              </a:lnSpc>
            </a:pPr>
            <a:r>
              <a:rPr sz="1200" b="1" i="0">
                <a:solidFill>
                  <a:srgbClr val="1B2430"/>
                </a:solidFill>
                <a:latin typeface="Calibri"/>
              </a:rPr>
              <a:t>Production Rollout</a:t>
            </a:r>
          </a:p>
        </p:txBody>
      </p:sp>
      <p:sp>
        <p:nvSpPr>
          <p:cNvPr id="29" name="TextBox 28"/>
          <p:cNvSpPr txBox="1"/>
          <p:nvPr/>
        </p:nvSpPr>
        <p:spPr>
          <a:xfrm>
            <a:off x="9811511" y="3493008"/>
            <a:ext cx="1783080" cy="237744"/>
          </a:xfrm>
          <a:prstGeom prst="rect">
            <a:avLst/>
          </a:prstGeom>
          <a:noFill/>
        </p:spPr>
        <p:txBody>
          <a:bodyPr wrap="square" lIns="0" tIns="0" rIns="0" bIns="0" anchor="t">
            <a:spAutoFit/>
          </a:bodyPr>
          <a:lstStyle/>
          <a:p>
            <a:pPr algn="ctr"/>
            <a:r>
              <a:rPr sz="1050" b="1" i="0">
                <a:solidFill>
                  <a:srgbClr val="C46A24"/>
                </a:solidFill>
                <a:latin typeface="Calibri"/>
              </a:rPr>
              <a:t>In progress</a:t>
            </a:r>
          </a:p>
        </p:txBody>
      </p:sp>
      <p:sp>
        <p:nvSpPr>
          <p:cNvPr id="30" name="Rounded Rectangle 29"/>
          <p:cNvSpPr/>
          <p:nvPr/>
        </p:nvSpPr>
        <p:spPr>
          <a:xfrm>
            <a:off x="548640" y="4224528"/>
            <a:ext cx="11091672" cy="1719072"/>
          </a:xfrm>
          <a:prstGeom prst="roundRect">
            <a:avLst>
              <a:gd name="adj" fmla="val 55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868680" y="4498848"/>
            <a:ext cx="7315200" cy="237744"/>
          </a:xfrm>
          <a:prstGeom prst="rect">
            <a:avLst/>
          </a:prstGeom>
          <a:noFill/>
        </p:spPr>
        <p:txBody>
          <a:bodyPr wrap="square" lIns="0" tIns="0" rIns="0" bIns="0" anchor="t">
            <a:spAutoFit/>
          </a:bodyPr>
          <a:lstStyle/>
          <a:p>
            <a:pPr algn="l"/>
            <a:r>
              <a:rPr sz="1050" b="1" i="0" spc="200">
                <a:solidFill>
                  <a:srgbClr val="C46A24"/>
                </a:solidFill>
                <a:latin typeface="Calibri"/>
              </a:rPr>
              <a:t>WE ARE HERE</a:t>
            </a:r>
          </a:p>
        </p:txBody>
      </p:sp>
      <p:sp>
        <p:nvSpPr>
          <p:cNvPr id="32" name="TextBox 31"/>
          <p:cNvSpPr txBox="1"/>
          <p:nvPr/>
        </p:nvSpPr>
        <p:spPr>
          <a:xfrm>
            <a:off x="868680" y="4773168"/>
            <a:ext cx="10424160" cy="292388"/>
          </a:xfrm>
          <a:prstGeom prst="rect">
            <a:avLst/>
          </a:prstGeom>
          <a:noFill/>
        </p:spPr>
        <p:txBody>
          <a:bodyPr wrap="square" lIns="0" tIns="0" rIns="0" bIns="0" anchor="t">
            <a:spAutoFit/>
          </a:bodyPr>
          <a:lstStyle/>
          <a:p>
            <a:pPr algn="l"/>
            <a:r>
              <a:rPr sz="1900" b="1" i="0" dirty="0">
                <a:latin typeface="Cambria"/>
              </a:rPr>
              <a:t>Stage 6 — Validation and Production Rollout</a:t>
            </a:r>
          </a:p>
        </p:txBody>
      </p:sp>
      <p:sp>
        <p:nvSpPr>
          <p:cNvPr id="33" name="TextBox 32"/>
          <p:cNvSpPr txBox="1"/>
          <p:nvPr/>
        </p:nvSpPr>
        <p:spPr>
          <a:xfrm>
            <a:off x="868680" y="5097018"/>
            <a:ext cx="10424160" cy="715773"/>
          </a:xfrm>
          <a:prstGeom prst="rect">
            <a:avLst/>
          </a:prstGeom>
          <a:noFill/>
        </p:spPr>
        <p:txBody>
          <a:bodyPr wrap="square" lIns="0" tIns="0" rIns="0" bIns="0" anchor="t">
            <a:spAutoFit/>
          </a:bodyPr>
          <a:lstStyle/>
          <a:p>
            <a:pPr algn="l">
              <a:lnSpc>
                <a:spcPts val="1900"/>
              </a:lnSpc>
            </a:pPr>
            <a:r>
              <a:rPr sz="1350" b="0" i="0" dirty="0">
                <a:latin typeface="Calibri"/>
              </a:rPr>
              <a:t>The </a:t>
            </a:r>
            <a:r>
              <a:rPr lang="en-MY" sz="1350" b="0" i="0" dirty="0">
                <a:latin typeface="Calibri"/>
              </a:rPr>
              <a:t>ML </a:t>
            </a:r>
            <a:r>
              <a:rPr sz="1350" b="0" i="0" dirty="0">
                <a:latin typeface="Calibri"/>
              </a:rPr>
              <a:t>engine is built, integrated and handed over. </a:t>
            </a:r>
            <a:endParaRPr lang="en-MY" sz="1350" b="0" i="0" dirty="0">
              <a:latin typeface="Calibri"/>
            </a:endParaRPr>
          </a:p>
          <a:p>
            <a:pPr algn="l">
              <a:lnSpc>
                <a:spcPts val="1900"/>
              </a:lnSpc>
            </a:pPr>
            <a:r>
              <a:rPr lang="en-MY" sz="1350" dirty="0">
                <a:latin typeface="Calibri"/>
              </a:rPr>
              <a:t>Remaining  	= </a:t>
            </a:r>
            <a:r>
              <a:rPr sz="1350" b="0" i="0" dirty="0">
                <a:latin typeface="Calibri"/>
              </a:rPr>
              <a:t>reference data from engineering</a:t>
            </a:r>
            <a:endParaRPr lang="en-MY" sz="1350" dirty="0">
              <a:latin typeface="Calibri"/>
            </a:endParaRPr>
          </a:p>
          <a:p>
            <a:pPr algn="l">
              <a:lnSpc>
                <a:spcPts val="1900"/>
              </a:lnSpc>
            </a:pPr>
            <a:r>
              <a:rPr lang="en-MY" sz="1350" b="0" i="0" dirty="0">
                <a:latin typeface="Calibri"/>
              </a:rPr>
              <a:t>		= </a:t>
            </a:r>
            <a:r>
              <a:rPr sz="1350" b="0" i="0" dirty="0">
                <a:latin typeface="Calibri"/>
              </a:rPr>
              <a:t>validation run against a project whose correct answer is already known.</a:t>
            </a: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02  ·  WORK COMPLETED</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lang="en-MY" sz="2900" b="1" i="0" dirty="0">
                <a:solidFill>
                  <a:srgbClr val="1B2430"/>
                </a:solidFill>
                <a:latin typeface="Cambria"/>
              </a:rPr>
              <a:t>6</a:t>
            </a:r>
            <a:r>
              <a:rPr sz="2900" b="1" i="0" dirty="0">
                <a:solidFill>
                  <a:srgbClr val="1B2430"/>
                </a:solidFill>
                <a:latin typeface="Cambria"/>
              </a:rPr>
              <a:t> components</a:t>
            </a:r>
          </a:p>
        </p:txBody>
      </p:sp>
      <p:sp>
        <p:nvSpPr>
          <p:cNvPr id="4" name="Rounded Rectangle 3"/>
          <p:cNvSpPr/>
          <p:nvPr/>
        </p:nvSpPr>
        <p:spPr>
          <a:xfrm>
            <a:off x="5486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82295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1</a:t>
            </a:r>
          </a:p>
        </p:txBody>
      </p:sp>
      <p:sp>
        <p:nvSpPr>
          <p:cNvPr id="7" name="TextBox 6"/>
          <p:cNvSpPr txBox="1"/>
          <p:nvPr/>
        </p:nvSpPr>
        <p:spPr>
          <a:xfrm>
            <a:off x="82295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Data Extraction &amp; Cleaning</a:t>
            </a:r>
          </a:p>
        </p:txBody>
      </p:sp>
      <p:sp>
        <p:nvSpPr>
          <p:cNvPr id="8" name="TextBox 7"/>
          <p:cNvSpPr txBox="1"/>
          <p:nvPr/>
        </p:nvSpPr>
        <p:spPr>
          <a:xfrm>
            <a:off x="822959" y="2798064"/>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Per-project extraction from SQL Server, tag normalisation, de-duplication and structured datasets built from raw client I/O lists.</a:t>
            </a:r>
          </a:p>
        </p:txBody>
      </p:sp>
      <p:sp>
        <p:nvSpPr>
          <p:cNvPr id="9" name="Rounded Rectangle 8"/>
          <p:cNvSpPr/>
          <p:nvPr/>
        </p:nvSpPr>
        <p:spPr>
          <a:xfrm>
            <a:off x="426339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453770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770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2</a:t>
            </a:r>
          </a:p>
        </p:txBody>
      </p:sp>
      <p:sp>
        <p:nvSpPr>
          <p:cNvPr id="12" name="TextBox 11"/>
          <p:cNvSpPr txBox="1"/>
          <p:nvPr/>
        </p:nvSpPr>
        <p:spPr>
          <a:xfrm>
            <a:off x="453770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Device Type Lookup</a:t>
            </a:r>
          </a:p>
        </p:txBody>
      </p:sp>
      <p:sp>
        <p:nvSpPr>
          <p:cNvPr id="13" name="TextBox 12"/>
          <p:cNvSpPr txBox="1"/>
          <p:nvPr/>
        </p:nvSpPr>
        <p:spPr>
          <a:xfrm>
            <a:off x="4537709" y="2798064"/>
            <a:ext cx="3017520" cy="351443"/>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A deterministic prefix dictionary</a:t>
            </a:r>
            <a:r>
              <a:rPr lang="en-MY" sz="1100" b="0" i="0" dirty="0">
                <a:solidFill>
                  <a:srgbClr val="4E5A66"/>
                </a:solidFill>
                <a:latin typeface="Calibri"/>
              </a:rPr>
              <a:t>. </a:t>
            </a:r>
            <a:r>
              <a:rPr sz="1100" b="0" i="0" dirty="0">
                <a:solidFill>
                  <a:srgbClr val="4E5A66"/>
                </a:solidFill>
                <a:latin typeface="Calibri"/>
              </a:rPr>
              <a:t>A prefix either matches or the device goes to review.</a:t>
            </a:r>
          </a:p>
        </p:txBody>
      </p:sp>
      <p:sp>
        <p:nvSpPr>
          <p:cNvPr id="14" name="Rounded Rectangle 13"/>
          <p:cNvSpPr/>
          <p:nvPr/>
        </p:nvSpPr>
        <p:spPr>
          <a:xfrm>
            <a:off x="79781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8252460"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2460"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3</a:t>
            </a:r>
          </a:p>
        </p:txBody>
      </p:sp>
      <p:sp>
        <p:nvSpPr>
          <p:cNvPr id="17" name="TextBox 16"/>
          <p:cNvSpPr txBox="1"/>
          <p:nvPr/>
        </p:nvSpPr>
        <p:spPr>
          <a:xfrm>
            <a:off x="8252460"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Section &amp; Cluster Models</a:t>
            </a:r>
          </a:p>
        </p:txBody>
      </p:sp>
      <p:sp>
        <p:nvSpPr>
          <p:cNvPr id="18" name="TextBox 17"/>
          <p:cNvSpPr txBox="1"/>
          <p:nvPr/>
        </p:nvSpPr>
        <p:spPr>
          <a:xfrm>
            <a:off x="8252460" y="2798064"/>
            <a:ext cx="3017520" cy="530979"/>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Chained </a:t>
            </a:r>
            <a:r>
              <a:rPr sz="1100" b="1" i="0" dirty="0" err="1">
                <a:solidFill>
                  <a:srgbClr val="4E5A66"/>
                </a:solidFill>
                <a:latin typeface="Calibri"/>
              </a:rPr>
              <a:t>XGBoost</a:t>
            </a:r>
            <a:r>
              <a:rPr sz="1100" b="0" i="0" dirty="0">
                <a:solidFill>
                  <a:srgbClr val="4E5A66"/>
                </a:solidFill>
                <a:latin typeface="Calibri"/>
              </a:rPr>
              <a:t> classifiers using 27+ engineered features, with out-of-distribution confidence penalties.</a:t>
            </a:r>
          </a:p>
        </p:txBody>
      </p:sp>
      <p:sp>
        <p:nvSpPr>
          <p:cNvPr id="19" name="Rounded Rectangle 18"/>
          <p:cNvSpPr/>
          <p:nvPr/>
        </p:nvSpPr>
        <p:spPr>
          <a:xfrm>
            <a:off x="5486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2295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4</a:t>
            </a:r>
          </a:p>
        </p:txBody>
      </p:sp>
      <p:sp>
        <p:nvSpPr>
          <p:cNvPr id="22" name="TextBox 21"/>
          <p:cNvSpPr txBox="1"/>
          <p:nvPr/>
        </p:nvSpPr>
        <p:spPr>
          <a:xfrm>
            <a:off x="82295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Quota Allocation Engine</a:t>
            </a:r>
          </a:p>
        </p:txBody>
      </p:sp>
      <p:sp>
        <p:nvSpPr>
          <p:cNvPr id="23" name="TextBox 22"/>
          <p:cNvSpPr txBox="1"/>
          <p:nvPr/>
        </p:nvSpPr>
        <p:spPr>
          <a:xfrm>
            <a:off x="822959"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Three-pass constrained assignment that fits model output to each cluster’s designed composition.</a:t>
            </a:r>
          </a:p>
        </p:txBody>
      </p:sp>
      <p:sp>
        <p:nvSpPr>
          <p:cNvPr id="24" name="Rounded Rectangle 23"/>
          <p:cNvSpPr/>
          <p:nvPr/>
        </p:nvSpPr>
        <p:spPr>
          <a:xfrm>
            <a:off x="426339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3770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3770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5</a:t>
            </a:r>
          </a:p>
        </p:txBody>
      </p:sp>
      <p:sp>
        <p:nvSpPr>
          <p:cNvPr id="27" name="TextBox 26"/>
          <p:cNvSpPr txBox="1"/>
          <p:nvPr/>
        </p:nvSpPr>
        <p:spPr>
          <a:xfrm>
            <a:off x="453770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C# Integration &amp; DLLs</a:t>
            </a:r>
          </a:p>
        </p:txBody>
      </p:sp>
      <p:sp>
        <p:nvSpPr>
          <p:cNvPr id="28" name="TextBox 27"/>
          <p:cNvSpPr txBox="1"/>
          <p:nvPr/>
        </p:nvSpPr>
        <p:spPr>
          <a:xfrm>
            <a:off x="4537709" y="5102352"/>
            <a:ext cx="3017520" cy="351443"/>
          </a:xfrm>
          <a:prstGeom prst="rect">
            <a:avLst/>
          </a:prstGeom>
          <a:noFill/>
        </p:spPr>
        <p:txBody>
          <a:bodyPr wrap="square" lIns="0" tIns="0" rIns="0" bIns="0" anchor="t">
            <a:spAutoFit/>
          </a:bodyPr>
          <a:lstStyle/>
          <a:p>
            <a:pPr algn="l">
              <a:lnSpc>
                <a:spcPts val="1400"/>
              </a:lnSpc>
            </a:pPr>
            <a:r>
              <a:rPr lang="en-MY" sz="1100" b="0" i="0" dirty="0">
                <a:solidFill>
                  <a:srgbClr val="4E5A66"/>
                </a:solidFill>
                <a:latin typeface="Calibri"/>
              </a:rPr>
              <a:t>2 </a:t>
            </a:r>
            <a:r>
              <a:rPr sz="1100" b="0" i="0" dirty="0">
                <a:solidFill>
                  <a:srgbClr val="4E5A66"/>
                </a:solidFill>
                <a:latin typeface="Calibri"/>
              </a:rPr>
              <a:t>class libraries wrapping SQL access, Python invocation and full pipeline orchestration.</a:t>
            </a:r>
          </a:p>
        </p:txBody>
      </p:sp>
      <p:sp>
        <p:nvSpPr>
          <p:cNvPr id="29" name="Rounded Rectangle 28"/>
          <p:cNvSpPr/>
          <p:nvPr/>
        </p:nvSpPr>
        <p:spPr>
          <a:xfrm>
            <a:off x="79781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8252460"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460"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6</a:t>
            </a:r>
          </a:p>
        </p:txBody>
      </p:sp>
      <p:sp>
        <p:nvSpPr>
          <p:cNvPr id="32" name="TextBox 31"/>
          <p:cNvSpPr txBox="1"/>
          <p:nvPr/>
        </p:nvSpPr>
        <p:spPr>
          <a:xfrm>
            <a:off x="8252460" y="4572000"/>
            <a:ext cx="3017520" cy="215380"/>
          </a:xfrm>
          <a:prstGeom prst="rect">
            <a:avLst/>
          </a:prstGeom>
          <a:noFill/>
        </p:spPr>
        <p:txBody>
          <a:bodyPr wrap="square" lIns="0" tIns="0" rIns="0" bIns="0" anchor="t">
            <a:spAutoFit/>
          </a:bodyPr>
          <a:lstStyle/>
          <a:p>
            <a:pPr algn="l">
              <a:lnSpc>
                <a:spcPts val="1800"/>
              </a:lnSpc>
            </a:pPr>
            <a:r>
              <a:rPr lang="en-MY" sz="1450" b="1" dirty="0">
                <a:solidFill>
                  <a:srgbClr val="1B2430"/>
                </a:solidFill>
                <a:latin typeface="Cambria"/>
              </a:rPr>
              <a:t>Feedback and retraining</a:t>
            </a:r>
            <a:endParaRPr sz="1450" b="1" i="0" dirty="0">
              <a:solidFill>
                <a:srgbClr val="1B2430"/>
              </a:solidFill>
              <a:latin typeface="Cambria"/>
            </a:endParaRPr>
          </a:p>
        </p:txBody>
      </p:sp>
      <p:sp>
        <p:nvSpPr>
          <p:cNvPr id="33" name="TextBox 32"/>
          <p:cNvSpPr txBox="1"/>
          <p:nvPr/>
        </p:nvSpPr>
        <p:spPr>
          <a:xfrm>
            <a:off x="8252460"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An engineer correction updates the prefix dictionary at once. Section and cluster corrections queue for the next retrain.</a:t>
            </a: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03  ·  SYSTEM ARCHITECTURE</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How data moves through the system</a:t>
            </a:r>
          </a:p>
        </p:txBody>
      </p:sp>
      <p:sp>
        <p:nvSpPr>
          <p:cNvPr id="4" name="Rounded Rectangle 3"/>
          <p:cNvSpPr/>
          <p:nvPr/>
        </p:nvSpPr>
        <p:spPr>
          <a:xfrm>
            <a:off x="548640" y="1371600"/>
            <a:ext cx="11091672" cy="621792"/>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22960" y="1371600"/>
            <a:ext cx="10515600" cy="621792"/>
          </a:xfrm>
          <a:prstGeom prst="rect">
            <a:avLst/>
          </a:prstGeom>
          <a:noFill/>
        </p:spPr>
        <p:txBody>
          <a:bodyPr wrap="square" lIns="0" tIns="0" rIns="0" bIns="0" anchor="ctr">
            <a:spAutoFit/>
          </a:bodyPr>
          <a:lstStyle/>
          <a:p>
            <a:pPr algn="ctr"/>
            <a:r>
              <a:rPr sz="1200" b="1" i="0" spc="150">
                <a:solidFill>
                  <a:srgbClr val="C46A24"/>
                </a:solidFill>
                <a:latin typeface="Calibri"/>
              </a:rPr>
              <a:t>DATA SOURCE   </a:t>
            </a:r>
            <a:r>
              <a:rPr sz="1300" b="0" i="0">
                <a:solidFill>
                  <a:srgbClr val="FFFFFF"/>
                </a:solidFill>
                <a:latin typeface="Calibri"/>
              </a:rPr>
              <a:t>SQL Server  ·  XenCreator database  ·  device list filtered by Project Code</a:t>
            </a:r>
          </a:p>
        </p:txBody>
      </p:sp>
      <p:sp>
        <p:nvSpPr>
          <p:cNvPr id="6" name="Isosceles Triangle 5"/>
          <p:cNvSpPr/>
          <p:nvPr/>
        </p:nvSpPr>
        <p:spPr>
          <a:xfrm rot="10800000">
            <a:off x="6003950" y="2048255"/>
            <a:ext cx="182880" cy="18288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395728"/>
            <a:ext cx="2057400" cy="20116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749808" y="2615184"/>
            <a:ext cx="1655064" cy="201168"/>
          </a:xfrm>
          <a:prstGeom prst="rect">
            <a:avLst/>
          </a:prstGeom>
          <a:noFill/>
        </p:spPr>
        <p:txBody>
          <a:bodyPr wrap="square" lIns="0" tIns="0" rIns="0" bIns="0" anchor="t">
            <a:spAutoFit/>
          </a:bodyPr>
          <a:lstStyle/>
          <a:p>
            <a:pPr algn="l"/>
            <a:r>
              <a:rPr sz="900" b="1" i="0" spc="150">
                <a:solidFill>
                  <a:srgbClr val="2E7D63"/>
                </a:solidFill>
                <a:latin typeface="Calibri"/>
              </a:rPr>
              <a:t>STEP 1</a:t>
            </a:r>
          </a:p>
        </p:txBody>
      </p:sp>
      <p:sp>
        <p:nvSpPr>
          <p:cNvPr id="9" name="TextBox 8"/>
          <p:cNvSpPr txBox="1"/>
          <p:nvPr/>
        </p:nvSpPr>
        <p:spPr>
          <a:xfrm>
            <a:off x="749808"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Device Type</a:t>
            </a:r>
          </a:p>
        </p:txBody>
      </p:sp>
      <p:sp>
        <p:nvSpPr>
          <p:cNvPr id="10" name="Rounded Rectangle 9"/>
          <p:cNvSpPr/>
          <p:nvPr/>
        </p:nvSpPr>
        <p:spPr>
          <a:xfrm>
            <a:off x="749808" y="3364992"/>
            <a:ext cx="896112" cy="228600"/>
          </a:xfrm>
          <a:prstGeom prst="roundRect">
            <a:avLst>
              <a:gd name="adj" fmla="val 35000"/>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49808"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PYTHON</a:t>
            </a:r>
          </a:p>
        </p:txBody>
      </p:sp>
      <p:sp>
        <p:nvSpPr>
          <p:cNvPr id="12" name="TextBox 11"/>
          <p:cNvSpPr txBox="1"/>
          <p:nvPr/>
        </p:nvSpPr>
        <p:spPr>
          <a:xfrm>
            <a:off x="749808" y="3694176"/>
            <a:ext cx="1655064" cy="327269"/>
          </a:xfrm>
          <a:prstGeom prst="rect">
            <a:avLst/>
          </a:prstGeom>
          <a:noFill/>
        </p:spPr>
        <p:txBody>
          <a:bodyPr wrap="square" lIns="0" tIns="0" rIns="0" bIns="0" anchor="t">
            <a:spAutoFit/>
          </a:bodyPr>
          <a:lstStyle/>
          <a:p>
            <a:pPr algn="l">
              <a:lnSpc>
                <a:spcPts val="1300"/>
              </a:lnSpc>
            </a:pPr>
            <a:r>
              <a:rPr sz="1050" b="0" i="0" dirty="0">
                <a:solidFill>
                  <a:srgbClr val="4E5A66"/>
                </a:solidFill>
                <a:latin typeface="Calibri"/>
              </a:rPr>
              <a:t>Prefix dictionary lookup. Matched</a:t>
            </a:r>
            <a:r>
              <a:rPr lang="en-MY" sz="1050" b="0" i="0" dirty="0">
                <a:solidFill>
                  <a:srgbClr val="4E5A66"/>
                </a:solidFill>
                <a:latin typeface="Calibri"/>
              </a:rPr>
              <a:t> </a:t>
            </a:r>
            <a:r>
              <a:rPr sz="1050" b="0" i="0" dirty="0">
                <a:solidFill>
                  <a:srgbClr val="4E5A66"/>
                </a:solidFill>
                <a:latin typeface="Calibri"/>
              </a:rPr>
              <a:t>or UNKNOWN.</a:t>
            </a:r>
          </a:p>
        </p:txBody>
      </p:sp>
      <p:sp>
        <p:nvSpPr>
          <p:cNvPr id="13" name="Isosceles Triangle 12"/>
          <p:cNvSpPr/>
          <p:nvPr/>
        </p:nvSpPr>
        <p:spPr>
          <a:xfrm rot="5400000">
            <a:off x="2633472"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807208" y="2395728"/>
            <a:ext cx="2057400" cy="20116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3008376" y="2615184"/>
            <a:ext cx="1655064" cy="201168"/>
          </a:xfrm>
          <a:prstGeom prst="rect">
            <a:avLst/>
          </a:prstGeom>
          <a:noFill/>
        </p:spPr>
        <p:txBody>
          <a:bodyPr wrap="square" lIns="0" tIns="0" rIns="0" bIns="0" anchor="t">
            <a:spAutoFit/>
          </a:bodyPr>
          <a:lstStyle/>
          <a:p>
            <a:pPr algn="l"/>
            <a:r>
              <a:rPr sz="900" b="1" i="0" spc="150">
                <a:solidFill>
                  <a:srgbClr val="2E7D63"/>
                </a:solidFill>
                <a:latin typeface="Calibri"/>
              </a:rPr>
              <a:t>STEP 2</a:t>
            </a:r>
          </a:p>
        </p:txBody>
      </p:sp>
      <p:sp>
        <p:nvSpPr>
          <p:cNvPr id="16" name="TextBox 15"/>
          <p:cNvSpPr txBox="1"/>
          <p:nvPr/>
        </p:nvSpPr>
        <p:spPr>
          <a:xfrm>
            <a:off x="3008376"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Section</a:t>
            </a:r>
          </a:p>
        </p:txBody>
      </p:sp>
      <p:sp>
        <p:nvSpPr>
          <p:cNvPr id="17" name="Rounded Rectangle 16"/>
          <p:cNvSpPr/>
          <p:nvPr/>
        </p:nvSpPr>
        <p:spPr>
          <a:xfrm>
            <a:off x="3008376" y="3364992"/>
            <a:ext cx="896112" cy="228600"/>
          </a:xfrm>
          <a:prstGeom prst="roundRect">
            <a:avLst>
              <a:gd name="adj" fmla="val 35000"/>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3008376"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PYTHON</a:t>
            </a:r>
          </a:p>
        </p:txBody>
      </p:sp>
      <p:sp>
        <p:nvSpPr>
          <p:cNvPr id="19" name="TextBox 18"/>
          <p:cNvSpPr txBox="1"/>
          <p:nvPr/>
        </p:nvSpPr>
        <p:spPr>
          <a:xfrm>
            <a:off x="3008376" y="3694176"/>
            <a:ext cx="1655064" cy="160557"/>
          </a:xfrm>
          <a:prstGeom prst="rect">
            <a:avLst/>
          </a:prstGeom>
          <a:noFill/>
        </p:spPr>
        <p:txBody>
          <a:bodyPr wrap="square" lIns="0" tIns="0" rIns="0" bIns="0" anchor="t">
            <a:spAutoFit/>
          </a:bodyPr>
          <a:lstStyle/>
          <a:p>
            <a:pPr algn="l">
              <a:lnSpc>
                <a:spcPts val="1300"/>
              </a:lnSpc>
            </a:pPr>
            <a:r>
              <a:rPr sz="1050" b="0" i="0" dirty="0" err="1">
                <a:solidFill>
                  <a:srgbClr val="4E5A66"/>
                </a:solidFill>
                <a:latin typeface="Calibri"/>
              </a:rPr>
              <a:t>XGBoost</a:t>
            </a:r>
            <a:endParaRPr sz="1050" b="0" i="0" dirty="0">
              <a:solidFill>
                <a:srgbClr val="4E5A66"/>
              </a:solidFill>
              <a:latin typeface="Calibri"/>
            </a:endParaRPr>
          </a:p>
        </p:txBody>
      </p:sp>
      <p:sp>
        <p:nvSpPr>
          <p:cNvPr id="20" name="Isosceles Triangle 19"/>
          <p:cNvSpPr/>
          <p:nvPr/>
        </p:nvSpPr>
        <p:spPr>
          <a:xfrm rot="5400000">
            <a:off x="4892040"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065776" y="2395728"/>
            <a:ext cx="2057400" cy="20116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5266944" y="2615184"/>
            <a:ext cx="1655064" cy="201168"/>
          </a:xfrm>
          <a:prstGeom prst="rect">
            <a:avLst/>
          </a:prstGeom>
          <a:noFill/>
        </p:spPr>
        <p:txBody>
          <a:bodyPr wrap="square" lIns="0" tIns="0" rIns="0" bIns="0" anchor="t">
            <a:spAutoFit/>
          </a:bodyPr>
          <a:lstStyle/>
          <a:p>
            <a:pPr algn="l"/>
            <a:r>
              <a:rPr sz="900" b="1" i="0" spc="150">
                <a:solidFill>
                  <a:srgbClr val="2E7D63"/>
                </a:solidFill>
                <a:latin typeface="Calibri"/>
              </a:rPr>
              <a:t>STEP 3</a:t>
            </a:r>
          </a:p>
        </p:txBody>
      </p:sp>
      <p:sp>
        <p:nvSpPr>
          <p:cNvPr id="23" name="TextBox 22"/>
          <p:cNvSpPr txBox="1"/>
          <p:nvPr/>
        </p:nvSpPr>
        <p:spPr>
          <a:xfrm>
            <a:off x="5266944"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Cluster</a:t>
            </a:r>
          </a:p>
        </p:txBody>
      </p:sp>
      <p:sp>
        <p:nvSpPr>
          <p:cNvPr id="24" name="Rounded Rectangle 23"/>
          <p:cNvSpPr/>
          <p:nvPr/>
        </p:nvSpPr>
        <p:spPr>
          <a:xfrm>
            <a:off x="5266944" y="3364992"/>
            <a:ext cx="896112" cy="228600"/>
          </a:xfrm>
          <a:prstGeom prst="roundRect">
            <a:avLst>
              <a:gd name="adj" fmla="val 35000"/>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5266944"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PYTHON</a:t>
            </a:r>
          </a:p>
        </p:txBody>
      </p:sp>
      <p:sp>
        <p:nvSpPr>
          <p:cNvPr id="26" name="TextBox 25"/>
          <p:cNvSpPr txBox="1"/>
          <p:nvPr/>
        </p:nvSpPr>
        <p:spPr>
          <a:xfrm>
            <a:off x="5266944" y="3694176"/>
            <a:ext cx="1655064" cy="566928"/>
          </a:xfrm>
          <a:prstGeom prst="rect">
            <a:avLst/>
          </a:prstGeom>
          <a:noFill/>
        </p:spPr>
        <p:txBody>
          <a:bodyPr wrap="square" lIns="0" tIns="0" rIns="0" bIns="0" anchor="t">
            <a:spAutoFit/>
          </a:bodyPr>
          <a:lstStyle/>
          <a:p>
            <a:pPr algn="l">
              <a:lnSpc>
                <a:spcPts val="1300"/>
              </a:lnSpc>
            </a:pPr>
            <a:r>
              <a:rPr sz="1050" b="0" i="0">
                <a:solidFill>
                  <a:srgbClr val="4E5A66"/>
                </a:solidFill>
                <a:latin typeface="Calibri"/>
              </a:rPr>
              <a:t>XGBoost chained on the predicted section. Returns a top-3 ranking.</a:t>
            </a:r>
          </a:p>
        </p:txBody>
      </p:sp>
      <p:sp>
        <p:nvSpPr>
          <p:cNvPr id="27" name="Isosceles Triangle 26"/>
          <p:cNvSpPr/>
          <p:nvPr/>
        </p:nvSpPr>
        <p:spPr>
          <a:xfrm rot="5400000">
            <a:off x="7150608"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324344" y="2395728"/>
            <a:ext cx="2057400" cy="2011680"/>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7525512" y="2615184"/>
            <a:ext cx="1655064" cy="201168"/>
          </a:xfrm>
          <a:prstGeom prst="rect">
            <a:avLst/>
          </a:prstGeom>
          <a:noFill/>
        </p:spPr>
        <p:txBody>
          <a:bodyPr wrap="square" lIns="0" tIns="0" rIns="0" bIns="0" anchor="t">
            <a:spAutoFit/>
          </a:bodyPr>
          <a:lstStyle/>
          <a:p>
            <a:pPr algn="l"/>
            <a:r>
              <a:rPr sz="900" b="1" i="0" spc="150">
                <a:solidFill>
                  <a:srgbClr val="C46A24"/>
                </a:solidFill>
                <a:latin typeface="Calibri"/>
              </a:rPr>
              <a:t>STEP 4</a:t>
            </a:r>
          </a:p>
        </p:txBody>
      </p:sp>
      <p:sp>
        <p:nvSpPr>
          <p:cNvPr id="30" name="TextBox 29"/>
          <p:cNvSpPr txBox="1"/>
          <p:nvPr/>
        </p:nvSpPr>
        <p:spPr>
          <a:xfrm>
            <a:off x="7525512"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Quota Allocation</a:t>
            </a:r>
          </a:p>
        </p:txBody>
      </p:sp>
      <p:sp>
        <p:nvSpPr>
          <p:cNvPr id="31" name="Rounded Rectangle 30"/>
          <p:cNvSpPr/>
          <p:nvPr/>
        </p:nvSpPr>
        <p:spPr>
          <a:xfrm>
            <a:off x="7525512" y="3364992"/>
            <a:ext cx="896112" cy="228600"/>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7525512"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C#</a:t>
            </a:r>
          </a:p>
        </p:txBody>
      </p:sp>
      <p:sp>
        <p:nvSpPr>
          <p:cNvPr id="33" name="TextBox 32"/>
          <p:cNvSpPr txBox="1"/>
          <p:nvPr/>
        </p:nvSpPr>
        <p:spPr>
          <a:xfrm>
            <a:off x="7525512" y="3694176"/>
            <a:ext cx="1655064" cy="566928"/>
          </a:xfrm>
          <a:prstGeom prst="rect">
            <a:avLst/>
          </a:prstGeom>
          <a:noFill/>
        </p:spPr>
        <p:txBody>
          <a:bodyPr wrap="square" lIns="0" tIns="0" rIns="0" bIns="0" anchor="t">
            <a:spAutoFit/>
          </a:bodyPr>
          <a:lstStyle/>
          <a:p>
            <a:pPr algn="l">
              <a:lnSpc>
                <a:spcPts val="1300"/>
              </a:lnSpc>
            </a:pPr>
            <a:r>
              <a:rPr sz="1050" b="0" i="0">
                <a:solidFill>
                  <a:srgbClr val="4E5A66"/>
                </a:solidFill>
                <a:latin typeface="Calibri"/>
              </a:rPr>
              <a:t>Three passes fitting predictions to the designed composition.</a:t>
            </a:r>
          </a:p>
        </p:txBody>
      </p:sp>
      <p:sp>
        <p:nvSpPr>
          <p:cNvPr id="34" name="Isosceles Triangle 33"/>
          <p:cNvSpPr/>
          <p:nvPr/>
        </p:nvSpPr>
        <p:spPr>
          <a:xfrm rot="5400000">
            <a:off x="9409176"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582912" y="2395728"/>
            <a:ext cx="2057400" cy="2011680"/>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9784080" y="2615184"/>
            <a:ext cx="1655064" cy="201168"/>
          </a:xfrm>
          <a:prstGeom prst="rect">
            <a:avLst/>
          </a:prstGeom>
          <a:noFill/>
        </p:spPr>
        <p:txBody>
          <a:bodyPr wrap="square" lIns="0" tIns="0" rIns="0" bIns="0" anchor="t">
            <a:spAutoFit/>
          </a:bodyPr>
          <a:lstStyle/>
          <a:p>
            <a:pPr algn="l"/>
            <a:r>
              <a:rPr sz="900" b="1" i="0" spc="150">
                <a:solidFill>
                  <a:srgbClr val="C46A24"/>
                </a:solidFill>
                <a:latin typeface="Calibri"/>
              </a:rPr>
              <a:t>STEP 5</a:t>
            </a:r>
          </a:p>
        </p:txBody>
      </p:sp>
      <p:sp>
        <p:nvSpPr>
          <p:cNvPr id="37" name="TextBox 36"/>
          <p:cNvSpPr txBox="1"/>
          <p:nvPr/>
        </p:nvSpPr>
        <p:spPr>
          <a:xfrm>
            <a:off x="9784080"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Placement</a:t>
            </a:r>
          </a:p>
        </p:txBody>
      </p:sp>
      <p:sp>
        <p:nvSpPr>
          <p:cNvPr id="38" name="Rounded Rectangle 37"/>
          <p:cNvSpPr/>
          <p:nvPr/>
        </p:nvSpPr>
        <p:spPr>
          <a:xfrm>
            <a:off x="9784080" y="3364992"/>
            <a:ext cx="896112" cy="228600"/>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9784080"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C#</a:t>
            </a:r>
          </a:p>
        </p:txBody>
      </p:sp>
      <p:sp>
        <p:nvSpPr>
          <p:cNvPr id="40" name="TextBox 39"/>
          <p:cNvSpPr txBox="1"/>
          <p:nvPr/>
        </p:nvSpPr>
        <p:spPr>
          <a:xfrm>
            <a:off x="9784080" y="3694176"/>
            <a:ext cx="1655064" cy="566928"/>
          </a:xfrm>
          <a:prstGeom prst="rect">
            <a:avLst/>
          </a:prstGeom>
          <a:noFill/>
        </p:spPr>
        <p:txBody>
          <a:bodyPr wrap="square" lIns="0" tIns="0" rIns="0" bIns="0" anchor="t">
            <a:spAutoFit/>
          </a:bodyPr>
          <a:lstStyle/>
          <a:p>
            <a:pPr algn="l">
              <a:lnSpc>
                <a:spcPts val="1300"/>
              </a:lnSpc>
            </a:pPr>
            <a:r>
              <a:rPr sz="1050" b="0" i="0">
                <a:solidFill>
                  <a:srgbClr val="4E5A66"/>
                </a:solidFill>
                <a:latin typeface="Calibri"/>
              </a:rPr>
              <a:t>Groups assigned devices; splits the rest for review.</a:t>
            </a:r>
          </a:p>
        </p:txBody>
      </p:sp>
      <p:sp>
        <p:nvSpPr>
          <p:cNvPr id="41" name="Isosceles Triangle 40"/>
          <p:cNvSpPr/>
          <p:nvPr/>
        </p:nvSpPr>
        <p:spPr>
          <a:xfrm rot="10800000">
            <a:off x="6003950" y="4498848"/>
            <a:ext cx="182880" cy="18288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48640" y="4828032"/>
            <a:ext cx="5440680" cy="932688"/>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822959" y="5010912"/>
            <a:ext cx="4892040" cy="237744"/>
          </a:xfrm>
          <a:prstGeom prst="rect">
            <a:avLst/>
          </a:prstGeom>
          <a:noFill/>
        </p:spPr>
        <p:txBody>
          <a:bodyPr wrap="square" lIns="0" tIns="0" rIns="0" bIns="0" anchor="t">
            <a:spAutoFit/>
          </a:bodyPr>
          <a:lstStyle/>
          <a:p>
            <a:pPr algn="l"/>
            <a:r>
              <a:rPr sz="1150" b="1" i="0">
                <a:solidFill>
                  <a:srgbClr val="2E7D63"/>
                </a:solidFill>
                <a:latin typeface="Consolas"/>
              </a:rPr>
              <a:t>dbo.OutputDeviceAssignment</a:t>
            </a:r>
          </a:p>
        </p:txBody>
      </p:sp>
      <p:sp>
        <p:nvSpPr>
          <p:cNvPr id="44" name="TextBox 43"/>
          <p:cNvSpPr txBox="1"/>
          <p:nvPr/>
        </p:nvSpPr>
        <p:spPr>
          <a:xfrm>
            <a:off x="822959" y="5285232"/>
            <a:ext cx="4892040" cy="292608"/>
          </a:xfrm>
          <a:prstGeom prst="rect">
            <a:avLst/>
          </a:prstGeom>
          <a:noFill/>
        </p:spPr>
        <p:txBody>
          <a:bodyPr wrap="square" lIns="0" tIns="0" rIns="0" bIns="0" anchor="t">
            <a:spAutoFit/>
          </a:bodyPr>
          <a:lstStyle/>
          <a:p>
            <a:pPr algn="l"/>
            <a:r>
              <a:rPr sz="1100" b="0" i="0">
                <a:solidFill>
                  <a:srgbClr val="4E5A66"/>
                </a:solidFill>
                <a:latin typeface="Calibri"/>
              </a:rPr>
              <a:t>Devices successfully placed into a cluster.</a:t>
            </a:r>
          </a:p>
        </p:txBody>
      </p:sp>
      <p:sp>
        <p:nvSpPr>
          <p:cNvPr id="45" name="Rounded Rectangle 44"/>
          <p:cNvSpPr/>
          <p:nvPr/>
        </p:nvSpPr>
        <p:spPr>
          <a:xfrm>
            <a:off x="6199632" y="4828032"/>
            <a:ext cx="5440680" cy="932688"/>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6473952" y="5010912"/>
            <a:ext cx="4892040" cy="237744"/>
          </a:xfrm>
          <a:prstGeom prst="rect">
            <a:avLst/>
          </a:prstGeom>
          <a:noFill/>
        </p:spPr>
        <p:txBody>
          <a:bodyPr wrap="square" lIns="0" tIns="0" rIns="0" bIns="0" anchor="t">
            <a:spAutoFit/>
          </a:bodyPr>
          <a:lstStyle/>
          <a:p>
            <a:pPr algn="l"/>
            <a:r>
              <a:rPr sz="1150" b="1" i="0">
                <a:solidFill>
                  <a:srgbClr val="C46A24"/>
                </a:solidFill>
                <a:latin typeface="Consolas"/>
              </a:rPr>
              <a:t>dbo.DeviceReviewQueue</a:t>
            </a:r>
          </a:p>
        </p:txBody>
      </p:sp>
      <p:sp>
        <p:nvSpPr>
          <p:cNvPr id="47" name="TextBox 46"/>
          <p:cNvSpPr txBox="1"/>
          <p:nvPr/>
        </p:nvSpPr>
        <p:spPr>
          <a:xfrm>
            <a:off x="6473952" y="5285232"/>
            <a:ext cx="4892040" cy="169277"/>
          </a:xfrm>
          <a:prstGeom prst="rect">
            <a:avLst/>
          </a:prstGeom>
          <a:noFill/>
        </p:spPr>
        <p:txBody>
          <a:bodyPr wrap="square" lIns="0" tIns="0" rIns="0" bIns="0" anchor="t">
            <a:spAutoFit/>
          </a:bodyPr>
          <a:lstStyle/>
          <a:p>
            <a:pPr algn="l"/>
            <a:r>
              <a:rPr lang="en-MY" sz="1100" b="0" i="0" dirty="0">
                <a:solidFill>
                  <a:srgbClr val="4E5A66"/>
                </a:solidFill>
                <a:latin typeface="Calibri"/>
              </a:rPr>
              <a:t>S</a:t>
            </a:r>
            <a:r>
              <a:rPr sz="1100" b="0" i="0" dirty="0" err="1">
                <a:solidFill>
                  <a:srgbClr val="4E5A66"/>
                </a:solidFill>
                <a:latin typeface="Calibri"/>
              </a:rPr>
              <a:t>ent</a:t>
            </a:r>
            <a:r>
              <a:rPr sz="1100" b="0" i="0" dirty="0">
                <a:solidFill>
                  <a:srgbClr val="4E5A66"/>
                </a:solidFill>
                <a:latin typeface="Calibri"/>
              </a:rPr>
              <a:t> for engineer review.</a:t>
            </a:r>
          </a:p>
        </p:txBody>
      </p:sp>
      <p:sp>
        <p:nvSpPr>
          <p:cNvPr id="48" name="TextBox 47"/>
          <p:cNvSpPr txBox="1"/>
          <p:nvPr/>
        </p:nvSpPr>
        <p:spPr>
          <a:xfrm>
            <a:off x="548640" y="5925312"/>
            <a:ext cx="11091672" cy="256032"/>
          </a:xfrm>
          <a:prstGeom prst="rect">
            <a:avLst/>
          </a:prstGeom>
          <a:noFill/>
        </p:spPr>
        <p:txBody>
          <a:bodyPr wrap="square" lIns="0" tIns="0" rIns="0" bIns="0" anchor="t">
            <a:spAutoFit/>
          </a:bodyPr>
          <a:lstStyle/>
          <a:p>
            <a:pPr algn="l"/>
            <a:r>
              <a:rPr sz="1100" b="0" i="1" dirty="0">
                <a:solidFill>
                  <a:srgbClr val="7A8792"/>
                </a:solidFill>
                <a:latin typeface="Calibri"/>
              </a:rPr>
              <a:t>Both outcomes are written back to SQL Server, so a user interface reads results from the database rather than from files.</a:t>
            </a:r>
          </a:p>
        </p:txBody>
      </p:sp>
      <p:sp>
        <p:nvSpPr>
          <p:cNvPr id="49" name="TextBox 48"/>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50" name="TextBox 49"/>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04  ·  METHOD IN DETAIL</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sz="2900" b="1" i="0" dirty="0">
                <a:solidFill>
                  <a:srgbClr val="1B2430"/>
                </a:solidFill>
                <a:latin typeface="Cambria"/>
              </a:rPr>
              <a:t>Device Type </a:t>
            </a:r>
          </a:p>
        </p:txBody>
      </p:sp>
      <p:sp>
        <p:nvSpPr>
          <p:cNvPr id="5" name="Rounded Rectangle 4"/>
          <p:cNvSpPr/>
          <p:nvPr/>
        </p:nvSpPr>
        <p:spPr>
          <a:xfrm>
            <a:off x="548640" y="1783080"/>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749808" y="1938528"/>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938528"/>
            <a:ext cx="310896" cy="310896"/>
          </a:xfrm>
          <a:prstGeom prst="rect">
            <a:avLst/>
          </a:prstGeom>
          <a:noFill/>
        </p:spPr>
        <p:txBody>
          <a:bodyPr wrap="square" lIns="0" tIns="0" rIns="0" bIns="0" anchor="ctr">
            <a:spAutoFit/>
          </a:bodyPr>
          <a:lstStyle/>
          <a:p>
            <a:pPr algn="ctr"/>
            <a:r>
              <a:rPr sz="1100" b="1" i="0">
                <a:solidFill>
                  <a:srgbClr val="FFFFFF"/>
                </a:solidFill>
                <a:latin typeface="Cambria"/>
              </a:rPr>
              <a:t>1</a:t>
            </a:r>
          </a:p>
        </p:txBody>
      </p:sp>
      <p:sp>
        <p:nvSpPr>
          <p:cNvPr id="8" name="TextBox 7"/>
          <p:cNvSpPr txBox="1"/>
          <p:nvPr/>
        </p:nvSpPr>
        <p:spPr>
          <a:xfrm>
            <a:off x="1188720" y="1783080"/>
            <a:ext cx="3200400" cy="621792"/>
          </a:xfrm>
          <a:prstGeom prst="rect">
            <a:avLst/>
          </a:prstGeom>
          <a:noFill/>
        </p:spPr>
        <p:txBody>
          <a:bodyPr wrap="square" lIns="0" tIns="0" rIns="0" bIns="0" anchor="ctr">
            <a:spAutoFit/>
          </a:bodyPr>
          <a:lstStyle/>
          <a:p>
            <a:pPr algn="l"/>
            <a:r>
              <a:rPr sz="1200" b="1" i="0">
                <a:solidFill>
                  <a:srgbClr val="1B2430"/>
                </a:solidFill>
                <a:latin typeface="Calibri"/>
              </a:rPr>
              <a:t>Clean the tag</a:t>
            </a:r>
          </a:p>
        </p:txBody>
      </p:sp>
      <p:sp>
        <p:nvSpPr>
          <p:cNvPr id="9" name="TextBox 8"/>
          <p:cNvSpPr txBox="1"/>
          <p:nvPr/>
        </p:nvSpPr>
        <p:spPr>
          <a:xfrm>
            <a:off x="4526280" y="1783080"/>
            <a:ext cx="2377440" cy="621792"/>
          </a:xfrm>
          <a:prstGeom prst="rect">
            <a:avLst/>
          </a:prstGeom>
          <a:noFill/>
        </p:spPr>
        <p:txBody>
          <a:bodyPr wrap="square" lIns="0" tIns="0" rIns="0" bIns="0" anchor="ctr">
            <a:spAutoFit/>
          </a:bodyPr>
          <a:lstStyle/>
          <a:p>
            <a:pPr algn="r"/>
            <a:r>
              <a:rPr sz="1100" b="0" i="0">
                <a:solidFill>
                  <a:srgbClr val="4E5A66"/>
                </a:solidFill>
                <a:latin typeface="Calibri"/>
              </a:rPr>
              <a:t>Uppercase, trim, normalise</a:t>
            </a:r>
          </a:p>
        </p:txBody>
      </p:sp>
      <p:sp>
        <p:nvSpPr>
          <p:cNvPr id="10" name="Rounded Rectangle 9"/>
          <p:cNvSpPr/>
          <p:nvPr/>
        </p:nvSpPr>
        <p:spPr>
          <a:xfrm>
            <a:off x="548640" y="2523744"/>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Oval 10"/>
          <p:cNvSpPr/>
          <p:nvPr/>
        </p:nvSpPr>
        <p:spPr>
          <a:xfrm>
            <a:off x="749808" y="2679191"/>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679191"/>
            <a:ext cx="310896" cy="310896"/>
          </a:xfrm>
          <a:prstGeom prst="rect">
            <a:avLst/>
          </a:prstGeom>
          <a:noFill/>
        </p:spPr>
        <p:txBody>
          <a:bodyPr wrap="square" lIns="0" tIns="0" rIns="0" bIns="0" anchor="ctr">
            <a:spAutoFit/>
          </a:bodyPr>
          <a:lstStyle/>
          <a:p>
            <a:pPr algn="ctr"/>
            <a:r>
              <a:rPr sz="1100" b="1" i="0">
                <a:solidFill>
                  <a:srgbClr val="FFFFFF"/>
                </a:solidFill>
                <a:latin typeface="Cambria"/>
              </a:rPr>
              <a:t>2</a:t>
            </a:r>
          </a:p>
        </p:txBody>
      </p:sp>
      <p:sp>
        <p:nvSpPr>
          <p:cNvPr id="13" name="TextBox 12"/>
          <p:cNvSpPr txBox="1"/>
          <p:nvPr/>
        </p:nvSpPr>
        <p:spPr>
          <a:xfrm>
            <a:off x="1188720" y="2523744"/>
            <a:ext cx="3200400" cy="621792"/>
          </a:xfrm>
          <a:prstGeom prst="rect">
            <a:avLst/>
          </a:prstGeom>
          <a:noFill/>
        </p:spPr>
        <p:txBody>
          <a:bodyPr wrap="square" lIns="0" tIns="0" rIns="0" bIns="0" anchor="ctr">
            <a:spAutoFit/>
          </a:bodyPr>
          <a:lstStyle/>
          <a:p>
            <a:pPr algn="l"/>
            <a:r>
              <a:rPr sz="1200" b="1" i="0">
                <a:solidFill>
                  <a:srgbClr val="1B2430"/>
                </a:solidFill>
                <a:latin typeface="Calibri"/>
              </a:rPr>
              <a:t>Extract the leading letter prefix</a:t>
            </a:r>
          </a:p>
        </p:txBody>
      </p:sp>
      <p:sp>
        <p:nvSpPr>
          <p:cNvPr id="14" name="TextBox 13"/>
          <p:cNvSpPr txBox="1"/>
          <p:nvPr/>
        </p:nvSpPr>
        <p:spPr>
          <a:xfrm>
            <a:off x="4526280" y="2523744"/>
            <a:ext cx="2377440" cy="621792"/>
          </a:xfrm>
          <a:prstGeom prst="rect">
            <a:avLst/>
          </a:prstGeom>
          <a:noFill/>
        </p:spPr>
        <p:txBody>
          <a:bodyPr wrap="square" lIns="0" tIns="0" rIns="0" bIns="0" anchor="ctr">
            <a:spAutoFit/>
          </a:bodyPr>
          <a:lstStyle/>
          <a:p>
            <a:pPr algn="r"/>
            <a:r>
              <a:rPr sz="1100" b="0" i="0">
                <a:solidFill>
                  <a:srgbClr val="4E5A66"/>
                </a:solidFill>
                <a:latin typeface="Calibri"/>
              </a:rPr>
              <a:t>V001.21 → V</a:t>
            </a:r>
          </a:p>
        </p:txBody>
      </p:sp>
      <p:sp>
        <p:nvSpPr>
          <p:cNvPr id="15" name="Rounded Rectangle 14"/>
          <p:cNvSpPr/>
          <p:nvPr/>
        </p:nvSpPr>
        <p:spPr>
          <a:xfrm>
            <a:off x="548640" y="3264408"/>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Oval 15"/>
          <p:cNvSpPr/>
          <p:nvPr/>
        </p:nvSpPr>
        <p:spPr>
          <a:xfrm>
            <a:off x="749808" y="3419856"/>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3419856"/>
            <a:ext cx="310896" cy="310896"/>
          </a:xfrm>
          <a:prstGeom prst="rect">
            <a:avLst/>
          </a:prstGeom>
          <a:noFill/>
        </p:spPr>
        <p:txBody>
          <a:bodyPr wrap="square" lIns="0" tIns="0" rIns="0" bIns="0" anchor="ctr">
            <a:spAutoFit/>
          </a:bodyPr>
          <a:lstStyle/>
          <a:p>
            <a:pPr algn="ctr"/>
            <a:r>
              <a:rPr sz="1100" b="1" i="0">
                <a:solidFill>
                  <a:srgbClr val="FFFFFF"/>
                </a:solidFill>
                <a:latin typeface="Cambria"/>
              </a:rPr>
              <a:t>3</a:t>
            </a:r>
          </a:p>
        </p:txBody>
      </p:sp>
      <p:sp>
        <p:nvSpPr>
          <p:cNvPr id="18" name="TextBox 17"/>
          <p:cNvSpPr txBox="1"/>
          <p:nvPr/>
        </p:nvSpPr>
        <p:spPr>
          <a:xfrm>
            <a:off x="1188720" y="3264408"/>
            <a:ext cx="3200400" cy="621792"/>
          </a:xfrm>
          <a:prstGeom prst="rect">
            <a:avLst/>
          </a:prstGeom>
          <a:noFill/>
        </p:spPr>
        <p:txBody>
          <a:bodyPr wrap="square" lIns="0" tIns="0" rIns="0" bIns="0" anchor="ctr">
            <a:spAutoFit/>
          </a:bodyPr>
          <a:lstStyle/>
          <a:p>
            <a:pPr algn="l"/>
            <a:r>
              <a:rPr sz="1200" b="1" i="0">
                <a:solidFill>
                  <a:srgbClr val="1B2430"/>
                </a:solidFill>
                <a:latin typeface="Calibri"/>
              </a:rPr>
              <a:t>Look the prefix up in the dictionary</a:t>
            </a:r>
          </a:p>
        </p:txBody>
      </p:sp>
      <p:sp>
        <p:nvSpPr>
          <p:cNvPr id="19" name="TextBox 18"/>
          <p:cNvSpPr txBox="1"/>
          <p:nvPr/>
        </p:nvSpPr>
        <p:spPr>
          <a:xfrm>
            <a:off x="4526280" y="3264408"/>
            <a:ext cx="2377440" cy="621792"/>
          </a:xfrm>
          <a:prstGeom prst="rect">
            <a:avLst/>
          </a:prstGeom>
          <a:noFill/>
        </p:spPr>
        <p:txBody>
          <a:bodyPr wrap="square" lIns="0" tIns="0" rIns="0" bIns="0" anchor="ctr">
            <a:spAutoFit/>
          </a:bodyPr>
          <a:lstStyle/>
          <a:p>
            <a:pPr algn="r"/>
            <a:r>
              <a:rPr sz="1100" b="0" i="0">
                <a:solidFill>
                  <a:srgbClr val="4E5A66"/>
                </a:solidFill>
                <a:latin typeface="Calibri"/>
              </a:rPr>
              <a:t>92 prefixes  ·  23 device types</a:t>
            </a:r>
          </a:p>
        </p:txBody>
      </p:sp>
      <p:sp>
        <p:nvSpPr>
          <p:cNvPr id="20" name="Rounded Rectangle 19"/>
          <p:cNvSpPr/>
          <p:nvPr/>
        </p:nvSpPr>
        <p:spPr>
          <a:xfrm>
            <a:off x="548640" y="4005072"/>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49808" y="4160520"/>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160520"/>
            <a:ext cx="310896" cy="310896"/>
          </a:xfrm>
          <a:prstGeom prst="rect">
            <a:avLst/>
          </a:prstGeom>
          <a:noFill/>
        </p:spPr>
        <p:txBody>
          <a:bodyPr wrap="square" lIns="0" tIns="0" rIns="0" bIns="0" anchor="ctr">
            <a:spAutoFit/>
          </a:bodyPr>
          <a:lstStyle/>
          <a:p>
            <a:pPr algn="ctr"/>
            <a:r>
              <a:rPr sz="1100" b="1" i="0">
                <a:solidFill>
                  <a:srgbClr val="FFFFFF"/>
                </a:solidFill>
                <a:latin typeface="Cambria"/>
              </a:rPr>
              <a:t>4</a:t>
            </a:r>
          </a:p>
        </p:txBody>
      </p:sp>
      <p:sp>
        <p:nvSpPr>
          <p:cNvPr id="23" name="TextBox 22"/>
          <p:cNvSpPr txBox="1"/>
          <p:nvPr/>
        </p:nvSpPr>
        <p:spPr>
          <a:xfrm>
            <a:off x="1188720" y="4005072"/>
            <a:ext cx="3200400" cy="621792"/>
          </a:xfrm>
          <a:prstGeom prst="rect">
            <a:avLst/>
          </a:prstGeom>
          <a:noFill/>
        </p:spPr>
        <p:txBody>
          <a:bodyPr wrap="square" lIns="0" tIns="0" rIns="0" bIns="0" anchor="ctr">
            <a:spAutoFit/>
          </a:bodyPr>
          <a:lstStyle/>
          <a:p>
            <a:pPr algn="l"/>
            <a:r>
              <a:rPr sz="1200" b="1" i="0">
                <a:solidFill>
                  <a:srgbClr val="1B2430"/>
                </a:solidFill>
                <a:latin typeface="Calibri"/>
              </a:rPr>
              <a:t>Prefix found</a:t>
            </a:r>
          </a:p>
        </p:txBody>
      </p:sp>
      <p:sp>
        <p:nvSpPr>
          <p:cNvPr id="24" name="TextBox 23"/>
          <p:cNvSpPr txBox="1"/>
          <p:nvPr/>
        </p:nvSpPr>
        <p:spPr>
          <a:xfrm>
            <a:off x="4526280" y="4005072"/>
            <a:ext cx="2377440" cy="621792"/>
          </a:xfrm>
          <a:prstGeom prst="rect">
            <a:avLst/>
          </a:prstGeom>
          <a:noFill/>
        </p:spPr>
        <p:txBody>
          <a:bodyPr wrap="square" lIns="0" tIns="0" rIns="0" bIns="0" anchor="ctr">
            <a:spAutoFit/>
          </a:bodyPr>
          <a:lstStyle/>
          <a:p>
            <a:pPr algn="r"/>
            <a:r>
              <a:rPr sz="1100" b="0" i="0">
                <a:solidFill>
                  <a:srgbClr val="4E5A66"/>
                </a:solidFill>
                <a:latin typeface="Calibri"/>
              </a:rPr>
              <a:t>Device type · confidence 1.00</a:t>
            </a:r>
          </a:p>
        </p:txBody>
      </p:sp>
      <p:sp>
        <p:nvSpPr>
          <p:cNvPr id="25" name="Rounded Rectangle 24"/>
          <p:cNvSpPr/>
          <p:nvPr/>
        </p:nvSpPr>
        <p:spPr>
          <a:xfrm>
            <a:off x="548640" y="4745736"/>
            <a:ext cx="6537960" cy="621792"/>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749808" y="4901184"/>
            <a:ext cx="310896" cy="310896"/>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8" y="4901184"/>
            <a:ext cx="310896" cy="310896"/>
          </a:xfrm>
          <a:prstGeom prst="rect">
            <a:avLst/>
          </a:prstGeom>
          <a:noFill/>
        </p:spPr>
        <p:txBody>
          <a:bodyPr wrap="square" lIns="0" tIns="0" rIns="0" bIns="0" anchor="ctr">
            <a:spAutoFit/>
          </a:bodyPr>
          <a:lstStyle/>
          <a:p>
            <a:pPr algn="ctr"/>
            <a:r>
              <a:rPr sz="1100" b="1" i="0">
                <a:solidFill>
                  <a:srgbClr val="FFFFFF"/>
                </a:solidFill>
                <a:latin typeface="Cambria"/>
              </a:rPr>
              <a:t>5</a:t>
            </a:r>
          </a:p>
        </p:txBody>
      </p:sp>
      <p:sp>
        <p:nvSpPr>
          <p:cNvPr id="28" name="TextBox 27"/>
          <p:cNvSpPr txBox="1"/>
          <p:nvPr/>
        </p:nvSpPr>
        <p:spPr>
          <a:xfrm>
            <a:off x="1188720" y="4745736"/>
            <a:ext cx="3200400" cy="621792"/>
          </a:xfrm>
          <a:prstGeom prst="rect">
            <a:avLst/>
          </a:prstGeom>
          <a:noFill/>
        </p:spPr>
        <p:txBody>
          <a:bodyPr wrap="square" lIns="0" tIns="0" rIns="0" bIns="0" anchor="ctr">
            <a:spAutoFit/>
          </a:bodyPr>
          <a:lstStyle/>
          <a:p>
            <a:pPr algn="l"/>
            <a:r>
              <a:rPr sz="1200" b="1" i="0">
                <a:solidFill>
                  <a:srgbClr val="C46A24"/>
                </a:solidFill>
                <a:latin typeface="Calibri"/>
              </a:rPr>
              <a:t>Prefix not found</a:t>
            </a:r>
          </a:p>
        </p:txBody>
      </p:sp>
      <p:sp>
        <p:nvSpPr>
          <p:cNvPr id="29" name="TextBox 28"/>
          <p:cNvSpPr txBox="1"/>
          <p:nvPr/>
        </p:nvSpPr>
        <p:spPr>
          <a:xfrm>
            <a:off x="4526280" y="4745736"/>
            <a:ext cx="2377440" cy="621792"/>
          </a:xfrm>
          <a:prstGeom prst="rect">
            <a:avLst/>
          </a:prstGeom>
          <a:noFill/>
        </p:spPr>
        <p:txBody>
          <a:bodyPr wrap="square" lIns="0" tIns="0" rIns="0" bIns="0" anchor="ctr">
            <a:spAutoFit/>
          </a:bodyPr>
          <a:lstStyle/>
          <a:p>
            <a:pPr algn="r"/>
            <a:r>
              <a:rPr sz="1100" b="0" i="0">
                <a:solidFill>
                  <a:srgbClr val="C46A24"/>
                </a:solidFill>
                <a:latin typeface="Calibri"/>
              </a:rPr>
              <a:t>UNKNOWN · 0.00 → review queue</a:t>
            </a:r>
          </a:p>
        </p:txBody>
      </p:sp>
      <p:grpSp>
        <p:nvGrpSpPr>
          <p:cNvPr id="42" name="Group 41">
            <a:extLst>
              <a:ext uri="{FF2B5EF4-FFF2-40B4-BE49-F238E27FC236}">
                <a16:creationId xmlns:a16="http://schemas.microsoft.com/office/drawing/2014/main" id="{F8FC4B14-1B34-03CC-F932-5E9DA95B1867}"/>
              </a:ext>
            </a:extLst>
          </p:cNvPr>
          <p:cNvGrpSpPr/>
          <p:nvPr/>
        </p:nvGrpSpPr>
        <p:grpSpPr>
          <a:xfrm>
            <a:off x="7360920" y="1783080"/>
            <a:ext cx="4279392" cy="1051560"/>
            <a:chOff x="7360920" y="3621024"/>
            <a:chExt cx="4279392" cy="1051560"/>
          </a:xfrm>
        </p:grpSpPr>
        <p:sp>
          <p:nvSpPr>
            <p:cNvPr id="34" name="Rounded Rectangle 33"/>
            <p:cNvSpPr>
              <a:spLocks/>
            </p:cNvSpPr>
            <p:nvPr/>
          </p:nvSpPr>
          <p:spPr>
            <a:xfrm>
              <a:off x="7360920" y="3621024"/>
              <a:ext cx="4279392" cy="105156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a:spLocks/>
            </p:cNvSpPr>
            <p:nvPr/>
          </p:nvSpPr>
          <p:spPr>
            <a:xfrm>
              <a:off x="7616952" y="3822191"/>
              <a:ext cx="3767328" cy="219456"/>
            </a:xfrm>
            <a:prstGeom prst="rect">
              <a:avLst/>
            </a:prstGeom>
            <a:noFill/>
          </p:spPr>
          <p:txBody>
            <a:bodyPr wrap="square" lIns="0" tIns="0" rIns="0" bIns="0" anchor="t">
              <a:spAutoFit/>
            </a:bodyPr>
            <a:lstStyle/>
            <a:p>
              <a:pPr algn="l"/>
              <a:r>
                <a:rPr sz="1050" b="1" i="0" spc="180" dirty="0">
                  <a:solidFill>
                    <a:srgbClr val="C46A24"/>
                  </a:solidFill>
                  <a:latin typeface="Calibri"/>
                </a:rPr>
                <a:t>THE WHOLE RULE</a:t>
              </a:r>
            </a:p>
          </p:txBody>
        </p:sp>
        <p:sp>
          <p:nvSpPr>
            <p:cNvPr id="36" name="TextBox 35"/>
            <p:cNvSpPr txBox="1">
              <a:spLocks/>
            </p:cNvSpPr>
            <p:nvPr/>
          </p:nvSpPr>
          <p:spPr>
            <a:xfrm>
              <a:off x="7616952" y="4114800"/>
              <a:ext cx="3767328" cy="457200"/>
            </a:xfrm>
            <a:prstGeom prst="rect">
              <a:avLst/>
            </a:prstGeom>
            <a:noFill/>
          </p:spPr>
          <p:txBody>
            <a:bodyPr wrap="square" lIns="0" tIns="0" rIns="0" bIns="0" anchor="t">
              <a:spAutoFit/>
            </a:bodyPr>
            <a:lstStyle/>
            <a:p>
              <a:pPr algn="l">
                <a:lnSpc>
                  <a:spcPts val="1500"/>
                </a:lnSpc>
              </a:pPr>
              <a:r>
                <a:rPr sz="1100" b="0" i="0">
                  <a:solidFill>
                    <a:srgbClr val="1B2430"/>
                  </a:solidFill>
                  <a:latin typeface="Consolas"/>
                </a:rPr>
                <a:t>prefix in dictionary</a:t>
              </a:r>
            </a:p>
            <a:p>
              <a:pPr algn="l">
                <a:lnSpc>
                  <a:spcPts val="1500"/>
                </a:lnSpc>
              </a:pPr>
              <a:r>
                <a:rPr sz="1100" b="0" i="0">
                  <a:solidFill>
                    <a:srgbClr val="1B2430"/>
                  </a:solidFill>
                  <a:latin typeface="Consolas"/>
                </a:rPr>
                <a:t>→ 1.00, else UNKNOWN</a:t>
              </a:r>
            </a:p>
          </p:txBody>
        </p:sp>
      </p:grpSp>
      <p:sp>
        <p:nvSpPr>
          <p:cNvPr id="40" name="TextBox 39"/>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41" name="TextBox 40"/>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04  ·  METHOD IN DETAIL</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Section and Cluster — chained XGBoost</a:t>
            </a:r>
          </a:p>
        </p:txBody>
      </p:sp>
      <p:sp>
        <p:nvSpPr>
          <p:cNvPr id="4" name="Rounded Rectangle 3"/>
          <p:cNvSpPr/>
          <p:nvPr/>
        </p:nvSpPr>
        <p:spPr>
          <a:xfrm>
            <a:off x="548640" y="1335024"/>
            <a:ext cx="1719072" cy="841248"/>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40080" y="1335024"/>
            <a:ext cx="1536192" cy="841248"/>
          </a:xfrm>
          <a:prstGeom prst="rect">
            <a:avLst/>
          </a:prstGeom>
          <a:noFill/>
        </p:spPr>
        <p:txBody>
          <a:bodyPr wrap="square" lIns="0" tIns="0" rIns="0" bIns="0" anchor="ctr">
            <a:spAutoFit/>
          </a:bodyPr>
          <a:lstStyle/>
          <a:p>
            <a:pPr algn="ctr">
              <a:lnSpc>
                <a:spcPts val="1400"/>
              </a:lnSpc>
            </a:pPr>
            <a:r>
              <a:rPr sz="1100" b="1" i="0">
                <a:solidFill>
                  <a:srgbClr val="1B2430"/>
                </a:solidFill>
                <a:latin typeface="Calibri"/>
              </a:rPr>
              <a:t>Engineered</a:t>
            </a:r>
          </a:p>
          <a:p>
            <a:pPr algn="ctr">
              <a:lnSpc>
                <a:spcPts val="1400"/>
              </a:lnSpc>
            </a:pPr>
            <a:r>
              <a:rPr sz="1100" b="1" i="0">
                <a:solidFill>
                  <a:srgbClr val="1B2430"/>
                </a:solidFill>
                <a:latin typeface="Calibri"/>
              </a:rPr>
              <a:t>features</a:t>
            </a:r>
          </a:p>
        </p:txBody>
      </p:sp>
      <p:sp>
        <p:nvSpPr>
          <p:cNvPr id="6" name="Isosceles Triangle 5"/>
          <p:cNvSpPr/>
          <p:nvPr/>
        </p:nvSpPr>
        <p:spPr>
          <a:xfrm rot="5400000">
            <a:off x="2272284"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414016" y="1335024"/>
            <a:ext cx="1719072" cy="841248"/>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2505456" y="1335024"/>
            <a:ext cx="1536192" cy="841248"/>
          </a:xfrm>
          <a:prstGeom prst="rect">
            <a:avLst/>
          </a:prstGeom>
          <a:noFill/>
        </p:spPr>
        <p:txBody>
          <a:bodyPr wrap="square" lIns="0" tIns="0" rIns="0" bIns="0" anchor="ctr">
            <a:spAutoFit/>
          </a:bodyPr>
          <a:lstStyle/>
          <a:p>
            <a:pPr algn="ctr">
              <a:lnSpc>
                <a:spcPts val="1400"/>
              </a:lnSpc>
            </a:pPr>
            <a:r>
              <a:rPr sz="1100" b="1" i="0">
                <a:solidFill>
                  <a:srgbClr val="FFFFFF"/>
                </a:solidFill>
                <a:latin typeface="Calibri"/>
              </a:rPr>
              <a:t>XGBoost</a:t>
            </a:r>
          </a:p>
          <a:p>
            <a:pPr algn="ctr">
              <a:lnSpc>
                <a:spcPts val="1400"/>
              </a:lnSpc>
            </a:pPr>
            <a:r>
              <a:rPr sz="1100" b="1" i="0">
                <a:solidFill>
                  <a:srgbClr val="FFFFFF"/>
                </a:solidFill>
                <a:latin typeface="Calibri"/>
              </a:rPr>
              <a:t>model 1</a:t>
            </a:r>
          </a:p>
        </p:txBody>
      </p:sp>
      <p:sp>
        <p:nvSpPr>
          <p:cNvPr id="9" name="Isosceles Triangle 8"/>
          <p:cNvSpPr/>
          <p:nvPr/>
        </p:nvSpPr>
        <p:spPr>
          <a:xfrm rot="5400000">
            <a:off x="4137659"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279392" y="1335024"/>
            <a:ext cx="1719072" cy="841248"/>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370831" y="1335024"/>
            <a:ext cx="1536192" cy="841248"/>
          </a:xfrm>
          <a:prstGeom prst="rect">
            <a:avLst/>
          </a:prstGeom>
          <a:noFill/>
        </p:spPr>
        <p:txBody>
          <a:bodyPr wrap="square" lIns="0" tIns="0" rIns="0" bIns="0" anchor="ctr">
            <a:spAutoFit/>
          </a:bodyPr>
          <a:lstStyle/>
          <a:p>
            <a:pPr algn="ctr">
              <a:lnSpc>
                <a:spcPts val="1400"/>
              </a:lnSpc>
            </a:pPr>
            <a:r>
              <a:rPr sz="1100" b="1" i="0">
                <a:solidFill>
                  <a:srgbClr val="2E7D63"/>
                </a:solidFill>
                <a:latin typeface="Calibri"/>
              </a:rPr>
              <a:t>Predicted</a:t>
            </a:r>
          </a:p>
          <a:p>
            <a:pPr algn="ctr">
              <a:lnSpc>
                <a:spcPts val="1400"/>
              </a:lnSpc>
            </a:pPr>
            <a:r>
              <a:rPr sz="1100" b="1" i="0">
                <a:solidFill>
                  <a:srgbClr val="2E7D63"/>
                </a:solidFill>
                <a:latin typeface="Calibri"/>
              </a:rPr>
              <a:t>SECTION</a:t>
            </a:r>
          </a:p>
        </p:txBody>
      </p:sp>
      <p:sp>
        <p:nvSpPr>
          <p:cNvPr id="12" name="Isosceles Triangle 11"/>
          <p:cNvSpPr/>
          <p:nvPr/>
        </p:nvSpPr>
        <p:spPr>
          <a:xfrm rot="5400000">
            <a:off x="6003036"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44768" y="1335024"/>
            <a:ext cx="1719072" cy="841248"/>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236207" y="1335024"/>
            <a:ext cx="1536192" cy="841248"/>
          </a:xfrm>
          <a:prstGeom prst="rect">
            <a:avLst/>
          </a:prstGeom>
          <a:noFill/>
        </p:spPr>
        <p:txBody>
          <a:bodyPr wrap="square" lIns="0" tIns="0" rIns="0" bIns="0" anchor="ctr">
            <a:spAutoFit/>
          </a:bodyPr>
          <a:lstStyle/>
          <a:p>
            <a:pPr algn="ctr">
              <a:lnSpc>
                <a:spcPts val="1400"/>
              </a:lnSpc>
            </a:pPr>
            <a:r>
              <a:rPr sz="1100" b="1" i="0">
                <a:solidFill>
                  <a:srgbClr val="1B2430"/>
                </a:solidFill>
                <a:latin typeface="Calibri"/>
              </a:rPr>
              <a:t>Features +</a:t>
            </a:r>
          </a:p>
          <a:p>
            <a:pPr algn="ctr">
              <a:lnSpc>
                <a:spcPts val="1400"/>
              </a:lnSpc>
            </a:pPr>
            <a:r>
              <a:rPr sz="1100" b="1" i="0">
                <a:solidFill>
                  <a:srgbClr val="1B2430"/>
                </a:solidFill>
                <a:latin typeface="Calibri"/>
              </a:rPr>
              <a:t>Section</a:t>
            </a:r>
          </a:p>
        </p:txBody>
      </p:sp>
      <p:sp>
        <p:nvSpPr>
          <p:cNvPr id="15" name="Isosceles Triangle 14"/>
          <p:cNvSpPr/>
          <p:nvPr/>
        </p:nvSpPr>
        <p:spPr>
          <a:xfrm rot="5400000">
            <a:off x="7868412"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10144" y="1335024"/>
            <a:ext cx="1719072" cy="841248"/>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101583" y="1335024"/>
            <a:ext cx="1536192" cy="841248"/>
          </a:xfrm>
          <a:prstGeom prst="rect">
            <a:avLst/>
          </a:prstGeom>
          <a:noFill/>
        </p:spPr>
        <p:txBody>
          <a:bodyPr wrap="square" lIns="0" tIns="0" rIns="0" bIns="0" anchor="ctr">
            <a:spAutoFit/>
          </a:bodyPr>
          <a:lstStyle/>
          <a:p>
            <a:pPr algn="ctr">
              <a:lnSpc>
                <a:spcPts val="1400"/>
              </a:lnSpc>
            </a:pPr>
            <a:r>
              <a:rPr sz="1100" b="1" i="0">
                <a:solidFill>
                  <a:srgbClr val="FFFFFF"/>
                </a:solidFill>
                <a:latin typeface="Calibri"/>
              </a:rPr>
              <a:t>XGBoost</a:t>
            </a:r>
          </a:p>
          <a:p>
            <a:pPr algn="ctr">
              <a:lnSpc>
                <a:spcPts val="1400"/>
              </a:lnSpc>
            </a:pPr>
            <a:r>
              <a:rPr sz="1100" b="1" i="0">
                <a:solidFill>
                  <a:srgbClr val="FFFFFF"/>
                </a:solidFill>
                <a:latin typeface="Calibri"/>
              </a:rPr>
              <a:t>model 2</a:t>
            </a:r>
          </a:p>
        </p:txBody>
      </p:sp>
      <p:sp>
        <p:nvSpPr>
          <p:cNvPr id="18" name="Isosceles Triangle 17"/>
          <p:cNvSpPr/>
          <p:nvPr/>
        </p:nvSpPr>
        <p:spPr>
          <a:xfrm rot="5400000">
            <a:off x="9733788"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875519" y="1335024"/>
            <a:ext cx="1719072" cy="841248"/>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9966959" y="1335024"/>
            <a:ext cx="1536192" cy="841248"/>
          </a:xfrm>
          <a:prstGeom prst="rect">
            <a:avLst/>
          </a:prstGeom>
          <a:noFill/>
        </p:spPr>
        <p:txBody>
          <a:bodyPr wrap="square" lIns="0" tIns="0" rIns="0" bIns="0" anchor="ctr">
            <a:spAutoFit/>
          </a:bodyPr>
          <a:lstStyle/>
          <a:p>
            <a:pPr algn="ctr">
              <a:lnSpc>
                <a:spcPts val="1400"/>
              </a:lnSpc>
            </a:pPr>
            <a:r>
              <a:rPr sz="1100" b="1" i="0">
                <a:solidFill>
                  <a:srgbClr val="2E7D63"/>
                </a:solidFill>
                <a:latin typeface="Calibri"/>
              </a:rPr>
              <a:t>Predicted</a:t>
            </a:r>
          </a:p>
          <a:p>
            <a:pPr algn="ctr">
              <a:lnSpc>
                <a:spcPts val="1400"/>
              </a:lnSpc>
            </a:pPr>
            <a:r>
              <a:rPr sz="1100" b="1" i="0">
                <a:solidFill>
                  <a:srgbClr val="2E7D63"/>
                </a:solidFill>
                <a:latin typeface="Calibri"/>
              </a:rPr>
              <a:t>CLUSTER</a:t>
            </a:r>
          </a:p>
        </p:txBody>
      </p:sp>
      <p:sp>
        <p:nvSpPr>
          <p:cNvPr id="21" name="TextBox 20"/>
          <p:cNvSpPr txBox="1"/>
          <p:nvPr/>
        </p:nvSpPr>
        <p:spPr>
          <a:xfrm>
            <a:off x="548640" y="2304288"/>
            <a:ext cx="11091672" cy="256032"/>
          </a:xfrm>
          <a:prstGeom prst="rect">
            <a:avLst/>
          </a:prstGeom>
          <a:noFill/>
        </p:spPr>
        <p:txBody>
          <a:bodyPr wrap="square" lIns="0" tIns="0" rIns="0" bIns="0" anchor="t">
            <a:spAutoFit/>
          </a:bodyPr>
          <a:lstStyle/>
          <a:p>
            <a:pPr algn="ctr"/>
            <a:r>
              <a:rPr sz="1100" b="0" i="1">
                <a:solidFill>
                  <a:srgbClr val="7A8792"/>
                </a:solidFill>
                <a:latin typeface="Calibri"/>
              </a:rPr>
              <a:t>The section prediction becomes an input to the cluster model — the two stages are chained, not independent.</a:t>
            </a:r>
          </a:p>
        </p:txBody>
      </p:sp>
      <p:sp>
        <p:nvSpPr>
          <p:cNvPr id="22" name="Rounded Rectangle 21"/>
          <p:cNvSpPr/>
          <p:nvPr/>
        </p:nvSpPr>
        <p:spPr>
          <a:xfrm>
            <a:off x="548640" y="3421890"/>
            <a:ext cx="3561588" cy="17830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822959" y="3641346"/>
            <a:ext cx="3017520" cy="223138"/>
          </a:xfrm>
          <a:prstGeom prst="rect">
            <a:avLst/>
          </a:prstGeom>
          <a:noFill/>
        </p:spPr>
        <p:txBody>
          <a:bodyPr wrap="square" lIns="0" tIns="0" rIns="0" bIns="0" anchor="t">
            <a:spAutoFit/>
          </a:bodyPr>
          <a:lstStyle/>
          <a:p>
            <a:pPr algn="l"/>
            <a:r>
              <a:rPr sz="1450" b="1" i="0" dirty="0">
                <a:solidFill>
                  <a:srgbClr val="1B2430"/>
                </a:solidFill>
                <a:latin typeface="Cambria"/>
              </a:rPr>
              <a:t>Out-of-distribution </a:t>
            </a:r>
            <a:r>
              <a:rPr lang="en-MY" sz="1450" b="1" dirty="0">
                <a:solidFill>
                  <a:srgbClr val="1B2430"/>
                </a:solidFill>
                <a:latin typeface="Cambria"/>
              </a:rPr>
              <a:t>(OOD) c</a:t>
            </a:r>
            <a:r>
              <a:rPr sz="1450" b="1" i="0" dirty="0">
                <a:solidFill>
                  <a:srgbClr val="1B2430"/>
                </a:solidFill>
                <a:latin typeface="Cambria"/>
              </a:rPr>
              <a:t>heck</a:t>
            </a:r>
          </a:p>
        </p:txBody>
      </p:sp>
      <p:sp>
        <p:nvSpPr>
          <p:cNvPr id="24" name="TextBox 23"/>
          <p:cNvSpPr txBox="1"/>
          <p:nvPr/>
        </p:nvSpPr>
        <p:spPr>
          <a:xfrm>
            <a:off x="822959" y="4043682"/>
            <a:ext cx="3017520" cy="960120"/>
          </a:xfrm>
          <a:prstGeom prst="rect">
            <a:avLst/>
          </a:prstGeom>
          <a:noFill/>
        </p:spPr>
        <p:txBody>
          <a:bodyPr wrap="square" lIns="0" tIns="0" rIns="0" bIns="0" anchor="t">
            <a:spAutoFit/>
          </a:bodyPr>
          <a:lstStyle/>
          <a:p>
            <a:pPr algn="l">
              <a:lnSpc>
                <a:spcPts val="1450"/>
              </a:lnSpc>
            </a:pPr>
            <a:r>
              <a:rPr sz="1100" b="0" i="0" dirty="0">
                <a:solidFill>
                  <a:srgbClr val="4E5A66"/>
                </a:solidFill>
                <a:latin typeface="Calibri"/>
              </a:rPr>
              <a:t>A k-NN distance test compares each device to the training data. The further it sits from anything seen before, the more its confidence is cut.</a:t>
            </a:r>
          </a:p>
        </p:txBody>
      </p:sp>
      <p:sp>
        <p:nvSpPr>
          <p:cNvPr id="25" name="Rounded Rectangle 24"/>
          <p:cNvSpPr/>
          <p:nvPr/>
        </p:nvSpPr>
        <p:spPr>
          <a:xfrm>
            <a:off x="4263390" y="3421890"/>
            <a:ext cx="3561588" cy="17830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4537709" y="3641346"/>
            <a:ext cx="3017520" cy="310896"/>
          </a:xfrm>
          <a:prstGeom prst="rect">
            <a:avLst/>
          </a:prstGeom>
          <a:noFill/>
        </p:spPr>
        <p:txBody>
          <a:bodyPr wrap="square" lIns="0" tIns="0" rIns="0" bIns="0" anchor="t">
            <a:spAutoFit/>
          </a:bodyPr>
          <a:lstStyle/>
          <a:p>
            <a:pPr algn="l"/>
            <a:r>
              <a:rPr sz="1450" b="1" i="0">
                <a:solidFill>
                  <a:srgbClr val="1B2430"/>
                </a:solidFill>
                <a:latin typeface="Cambria"/>
              </a:rPr>
              <a:t>Confidence chaining</a:t>
            </a:r>
          </a:p>
        </p:txBody>
      </p:sp>
      <p:sp>
        <p:nvSpPr>
          <p:cNvPr id="27" name="TextBox 26"/>
          <p:cNvSpPr txBox="1"/>
          <p:nvPr/>
        </p:nvSpPr>
        <p:spPr>
          <a:xfrm>
            <a:off x="4537709" y="4043682"/>
            <a:ext cx="3017520" cy="960120"/>
          </a:xfrm>
          <a:prstGeom prst="rect">
            <a:avLst/>
          </a:prstGeom>
          <a:noFill/>
        </p:spPr>
        <p:txBody>
          <a:bodyPr wrap="square" lIns="0" tIns="0" rIns="0" bIns="0" anchor="t">
            <a:spAutoFit/>
          </a:bodyPr>
          <a:lstStyle/>
          <a:p>
            <a:pPr algn="l">
              <a:lnSpc>
                <a:spcPts val="1450"/>
              </a:lnSpc>
            </a:pPr>
            <a:r>
              <a:rPr sz="1100" b="0" i="0" dirty="0">
                <a:solidFill>
                  <a:srgbClr val="4E5A66"/>
                </a:solidFill>
                <a:latin typeface="Calibri"/>
              </a:rPr>
              <a:t>If section confidence falls below 0.60, cluster confidence is multiplied by it. A weak section can never yield a confidently wrong cluster.</a:t>
            </a:r>
          </a:p>
        </p:txBody>
      </p:sp>
      <p:sp>
        <p:nvSpPr>
          <p:cNvPr id="28" name="Rounded Rectangle 27"/>
          <p:cNvSpPr/>
          <p:nvPr/>
        </p:nvSpPr>
        <p:spPr>
          <a:xfrm>
            <a:off x="7978140" y="3421890"/>
            <a:ext cx="3561588" cy="17830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8252460" y="3641346"/>
            <a:ext cx="3017520" cy="310896"/>
          </a:xfrm>
          <a:prstGeom prst="rect">
            <a:avLst/>
          </a:prstGeom>
          <a:noFill/>
        </p:spPr>
        <p:txBody>
          <a:bodyPr wrap="square" lIns="0" tIns="0" rIns="0" bIns="0" anchor="t">
            <a:spAutoFit/>
          </a:bodyPr>
          <a:lstStyle/>
          <a:p>
            <a:pPr algn="l"/>
            <a:r>
              <a:rPr sz="1450" b="1" i="0">
                <a:solidFill>
                  <a:srgbClr val="1B2430"/>
                </a:solidFill>
                <a:latin typeface="Cambria"/>
              </a:rPr>
              <a:t>Ranked top-3 candidates</a:t>
            </a:r>
          </a:p>
        </p:txBody>
      </p:sp>
      <p:sp>
        <p:nvSpPr>
          <p:cNvPr id="30" name="TextBox 29"/>
          <p:cNvSpPr txBox="1"/>
          <p:nvPr/>
        </p:nvSpPr>
        <p:spPr>
          <a:xfrm>
            <a:off x="8252460" y="4043682"/>
            <a:ext cx="3017520" cy="960120"/>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The model returns each device’s three best clusters with probabilities, not just the winner. Allocation uses the whole ranking.</a:t>
            </a:r>
          </a:p>
        </p:txBody>
      </p:sp>
      <p:sp>
        <p:nvSpPr>
          <p:cNvPr id="35" name="TextBox 34"/>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6" name="TextBox 35"/>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04  ·  METHOD IN DETAIL</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sz="2900" b="1" i="0" dirty="0">
                <a:solidFill>
                  <a:srgbClr val="1B2430"/>
                </a:solidFill>
                <a:latin typeface="Cambria"/>
              </a:rPr>
              <a:t>Quota allocation</a:t>
            </a:r>
          </a:p>
        </p:txBody>
      </p:sp>
      <p:sp>
        <p:nvSpPr>
          <p:cNvPr id="4" name="TextBox 3"/>
          <p:cNvSpPr txBox="1"/>
          <p:nvPr/>
        </p:nvSpPr>
        <p:spPr>
          <a:xfrm>
            <a:off x="548640" y="1261872"/>
            <a:ext cx="10881360" cy="217111"/>
          </a:xfrm>
          <a:prstGeom prst="rect">
            <a:avLst/>
          </a:prstGeom>
          <a:noFill/>
        </p:spPr>
        <p:txBody>
          <a:bodyPr wrap="square" lIns="0" tIns="0" rIns="0" bIns="0" anchor="t">
            <a:spAutoFit/>
          </a:bodyPr>
          <a:lstStyle/>
          <a:p>
            <a:pPr algn="l">
              <a:lnSpc>
                <a:spcPts val="1800"/>
              </a:lnSpc>
            </a:pPr>
            <a:r>
              <a:rPr sz="1300" b="0" i="0" dirty="0">
                <a:solidFill>
                  <a:srgbClr val="4E5A66"/>
                </a:solidFill>
                <a:latin typeface="Calibri"/>
              </a:rPr>
              <a:t>A cluster can only hold so many devices of each type. </a:t>
            </a:r>
          </a:p>
        </p:txBody>
      </p:sp>
      <p:sp>
        <p:nvSpPr>
          <p:cNvPr id="5" name="Rounded Rectangle 4"/>
          <p:cNvSpPr/>
          <p:nvPr/>
        </p:nvSpPr>
        <p:spPr>
          <a:xfrm>
            <a:off x="548640" y="1965960"/>
            <a:ext cx="3561588" cy="21488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822959" y="2203704"/>
            <a:ext cx="1024128" cy="237744"/>
          </a:xfrm>
          <a:prstGeom prst="roundRect">
            <a:avLst>
              <a:gd name="adj" fmla="val 3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22959" y="2203704"/>
            <a:ext cx="1024128" cy="237744"/>
          </a:xfrm>
          <a:prstGeom prst="rect">
            <a:avLst/>
          </a:prstGeom>
          <a:noFill/>
        </p:spPr>
        <p:txBody>
          <a:bodyPr wrap="square" lIns="0" tIns="0" rIns="0" bIns="0" anchor="ctr">
            <a:spAutoFit/>
          </a:bodyPr>
          <a:lstStyle/>
          <a:p>
            <a:pPr algn="ctr"/>
            <a:r>
              <a:rPr sz="900" b="1" i="0" spc="120">
                <a:solidFill>
                  <a:srgbClr val="FFFFFF"/>
                </a:solidFill>
                <a:latin typeface="Calibri"/>
              </a:rPr>
              <a:t>PASS 1</a:t>
            </a:r>
          </a:p>
        </p:txBody>
      </p:sp>
      <p:sp>
        <p:nvSpPr>
          <p:cNvPr id="8" name="TextBox 7"/>
          <p:cNvSpPr txBox="1"/>
          <p:nvPr/>
        </p:nvSpPr>
        <p:spPr>
          <a:xfrm>
            <a:off x="822959" y="2587752"/>
            <a:ext cx="3017520" cy="566928"/>
          </a:xfrm>
          <a:prstGeom prst="rect">
            <a:avLst/>
          </a:prstGeom>
          <a:noFill/>
        </p:spPr>
        <p:txBody>
          <a:bodyPr wrap="square" lIns="0" tIns="0" rIns="0" bIns="0" anchor="t">
            <a:spAutoFit/>
          </a:bodyPr>
          <a:lstStyle/>
          <a:p>
            <a:pPr algn="l">
              <a:lnSpc>
                <a:spcPts val="1900"/>
              </a:lnSpc>
            </a:pPr>
            <a:r>
              <a:rPr sz="1500" b="1" i="0">
                <a:solidFill>
                  <a:srgbClr val="1B2430"/>
                </a:solidFill>
                <a:latin typeface="Cambria"/>
              </a:rPr>
              <a:t>Fill to quota</a:t>
            </a:r>
          </a:p>
        </p:txBody>
      </p:sp>
      <p:sp>
        <p:nvSpPr>
          <p:cNvPr id="9" name="TextBox 8"/>
          <p:cNvSpPr txBox="1"/>
          <p:nvPr/>
        </p:nvSpPr>
        <p:spPr>
          <a:xfrm>
            <a:off x="822959" y="3227832"/>
            <a:ext cx="3017520" cy="530979"/>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Each Section–Cluster–</a:t>
            </a:r>
            <a:r>
              <a:rPr sz="1100" b="0" i="0" dirty="0" err="1">
                <a:solidFill>
                  <a:srgbClr val="4E5A66"/>
                </a:solidFill>
                <a:latin typeface="Calibri"/>
              </a:rPr>
              <a:t>DeviceType</a:t>
            </a:r>
            <a:r>
              <a:rPr sz="1100" b="0" i="0" dirty="0">
                <a:solidFill>
                  <a:srgbClr val="4E5A66"/>
                </a:solidFill>
                <a:latin typeface="Calibri"/>
              </a:rPr>
              <a:t> bucket takes its highest-scoring matching devices, up to its target count. </a:t>
            </a:r>
          </a:p>
        </p:txBody>
      </p:sp>
      <p:sp>
        <p:nvSpPr>
          <p:cNvPr id="10" name="Rounded Rectangle 9"/>
          <p:cNvSpPr/>
          <p:nvPr/>
        </p:nvSpPr>
        <p:spPr>
          <a:xfrm>
            <a:off x="4263390" y="1965960"/>
            <a:ext cx="3561588" cy="21488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4537709" y="2203704"/>
            <a:ext cx="1024128" cy="237744"/>
          </a:xfrm>
          <a:prstGeom prst="roundRect">
            <a:avLst>
              <a:gd name="adj" fmla="val 3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537709" y="2203704"/>
            <a:ext cx="1024128" cy="237744"/>
          </a:xfrm>
          <a:prstGeom prst="rect">
            <a:avLst/>
          </a:prstGeom>
          <a:noFill/>
        </p:spPr>
        <p:txBody>
          <a:bodyPr wrap="square" lIns="0" tIns="0" rIns="0" bIns="0" anchor="ctr">
            <a:spAutoFit/>
          </a:bodyPr>
          <a:lstStyle/>
          <a:p>
            <a:pPr algn="ctr"/>
            <a:r>
              <a:rPr sz="900" b="1" i="0" spc="120">
                <a:solidFill>
                  <a:srgbClr val="FFFFFF"/>
                </a:solidFill>
                <a:latin typeface="Calibri"/>
              </a:rPr>
              <a:t>PASS 2</a:t>
            </a:r>
          </a:p>
        </p:txBody>
      </p:sp>
      <p:sp>
        <p:nvSpPr>
          <p:cNvPr id="13" name="TextBox 12"/>
          <p:cNvSpPr txBox="1"/>
          <p:nvPr/>
        </p:nvSpPr>
        <p:spPr>
          <a:xfrm>
            <a:off x="4537709" y="2587752"/>
            <a:ext cx="3017520" cy="566928"/>
          </a:xfrm>
          <a:prstGeom prst="rect">
            <a:avLst/>
          </a:prstGeom>
          <a:noFill/>
        </p:spPr>
        <p:txBody>
          <a:bodyPr wrap="square" lIns="0" tIns="0" rIns="0" bIns="0" anchor="t">
            <a:spAutoFit/>
          </a:bodyPr>
          <a:lstStyle/>
          <a:p>
            <a:pPr algn="l">
              <a:lnSpc>
                <a:spcPts val="1900"/>
              </a:lnSpc>
            </a:pPr>
            <a:r>
              <a:rPr sz="1500" b="1" i="0">
                <a:solidFill>
                  <a:srgbClr val="1B2430"/>
                </a:solidFill>
                <a:latin typeface="Cambria"/>
              </a:rPr>
              <a:t>Build the floating pool</a:t>
            </a:r>
          </a:p>
        </p:txBody>
      </p:sp>
      <p:sp>
        <p:nvSpPr>
          <p:cNvPr id="14" name="TextBox 13"/>
          <p:cNvSpPr txBox="1"/>
          <p:nvPr/>
        </p:nvSpPr>
        <p:spPr>
          <a:xfrm>
            <a:off x="4537709" y="3227832"/>
            <a:ext cx="3017520" cy="530979"/>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Every device not claimed in the first pass is pooled  including confident predictions that simply found no room.</a:t>
            </a:r>
          </a:p>
        </p:txBody>
      </p:sp>
      <p:sp>
        <p:nvSpPr>
          <p:cNvPr id="15" name="Rounded Rectangle 14"/>
          <p:cNvSpPr/>
          <p:nvPr/>
        </p:nvSpPr>
        <p:spPr>
          <a:xfrm>
            <a:off x="7978140" y="1965960"/>
            <a:ext cx="3561588" cy="21488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8252460" y="2203704"/>
            <a:ext cx="1024128" cy="237744"/>
          </a:xfrm>
          <a:prstGeom prst="roundRect">
            <a:avLst>
              <a:gd name="adj" fmla="val 3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252460" y="2203704"/>
            <a:ext cx="1024128" cy="237744"/>
          </a:xfrm>
          <a:prstGeom prst="rect">
            <a:avLst/>
          </a:prstGeom>
          <a:noFill/>
        </p:spPr>
        <p:txBody>
          <a:bodyPr wrap="square" lIns="0" tIns="0" rIns="0" bIns="0" anchor="ctr">
            <a:spAutoFit/>
          </a:bodyPr>
          <a:lstStyle/>
          <a:p>
            <a:pPr algn="ctr"/>
            <a:r>
              <a:rPr sz="900" b="1" i="0" spc="120">
                <a:solidFill>
                  <a:srgbClr val="FFFFFF"/>
                </a:solidFill>
                <a:latin typeface="Calibri"/>
              </a:rPr>
              <a:t>PASS 3</a:t>
            </a:r>
          </a:p>
        </p:txBody>
      </p:sp>
      <p:sp>
        <p:nvSpPr>
          <p:cNvPr id="18" name="TextBox 17"/>
          <p:cNvSpPr txBox="1"/>
          <p:nvPr/>
        </p:nvSpPr>
        <p:spPr>
          <a:xfrm>
            <a:off x="8252460" y="2587752"/>
            <a:ext cx="3017520" cy="566928"/>
          </a:xfrm>
          <a:prstGeom prst="rect">
            <a:avLst/>
          </a:prstGeom>
          <a:noFill/>
        </p:spPr>
        <p:txBody>
          <a:bodyPr wrap="square" lIns="0" tIns="0" rIns="0" bIns="0" anchor="t">
            <a:spAutoFit/>
          </a:bodyPr>
          <a:lstStyle/>
          <a:p>
            <a:pPr algn="l">
              <a:lnSpc>
                <a:spcPts val="1900"/>
              </a:lnSpc>
            </a:pPr>
            <a:r>
              <a:rPr sz="1500" b="1" i="0">
                <a:solidFill>
                  <a:srgbClr val="1B2430"/>
                </a:solidFill>
                <a:latin typeface="Cambria"/>
              </a:rPr>
              <a:t>Reassign, device first</a:t>
            </a:r>
          </a:p>
        </p:txBody>
      </p:sp>
      <p:sp>
        <p:nvSpPr>
          <p:cNvPr id="19" name="TextBox 18"/>
          <p:cNvSpPr txBox="1"/>
          <p:nvPr/>
        </p:nvSpPr>
        <p:spPr>
          <a:xfrm>
            <a:off x="8252460" y="3227832"/>
            <a:ext cx="3017520" cy="731520"/>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Strongest device first, each one tries its own ranked cluster candidates in order and takes the first that still has space.</a:t>
            </a:r>
          </a:p>
        </p:txBody>
      </p:sp>
      <p:sp>
        <p:nvSpPr>
          <p:cNvPr id="20" name="Rounded Rectangle 19"/>
          <p:cNvSpPr/>
          <p:nvPr/>
        </p:nvSpPr>
        <p:spPr>
          <a:xfrm>
            <a:off x="548640" y="4315968"/>
            <a:ext cx="11091672" cy="1417320"/>
          </a:xfrm>
          <a:prstGeom prst="roundRect">
            <a:avLst>
              <a:gd name="adj" fmla="val 55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21" name="TextBox 20"/>
          <p:cNvSpPr txBox="1"/>
          <p:nvPr/>
        </p:nvSpPr>
        <p:spPr>
          <a:xfrm>
            <a:off x="868680" y="4498848"/>
            <a:ext cx="10424160" cy="219456"/>
          </a:xfrm>
          <a:prstGeom prst="rect">
            <a:avLst/>
          </a:prstGeom>
          <a:noFill/>
        </p:spPr>
        <p:txBody>
          <a:bodyPr wrap="square" lIns="0" tIns="0" rIns="0" bIns="0" anchor="t">
            <a:spAutoFit/>
          </a:bodyPr>
          <a:lstStyle/>
          <a:p>
            <a:pPr algn="l"/>
            <a:r>
              <a:rPr sz="1050" b="1" i="0" spc="180">
                <a:solidFill>
                  <a:srgbClr val="C46A24"/>
                </a:solidFill>
                <a:latin typeface="Calibri"/>
              </a:rPr>
              <a:t>WHAT IS LEFT OVER IS NOT FORCED ANYWHERE</a:t>
            </a:r>
          </a:p>
        </p:txBody>
      </p:sp>
      <p:sp>
        <p:nvSpPr>
          <p:cNvPr id="22" name="TextBox 21"/>
          <p:cNvSpPr txBox="1"/>
          <p:nvPr/>
        </p:nvSpPr>
        <p:spPr>
          <a:xfrm>
            <a:off x="868680" y="4791456"/>
            <a:ext cx="5029200" cy="176972"/>
          </a:xfrm>
          <a:prstGeom prst="rect">
            <a:avLst/>
          </a:prstGeom>
          <a:noFill/>
        </p:spPr>
        <p:txBody>
          <a:bodyPr wrap="square" lIns="0" tIns="0" rIns="0" bIns="0" anchor="t">
            <a:spAutoFit/>
          </a:bodyPr>
          <a:lstStyle/>
          <a:p>
            <a:pPr algn="l"/>
            <a:r>
              <a:rPr sz="1150" b="1" i="0" dirty="0">
                <a:latin typeface="Consolas"/>
              </a:rPr>
              <a:t>Category: </a:t>
            </a:r>
            <a:r>
              <a:rPr sz="1150" b="1" i="0" dirty="0" err="1">
                <a:latin typeface="Consolas"/>
              </a:rPr>
              <a:t>UnknownPrediction</a:t>
            </a:r>
            <a:endParaRPr sz="1150" b="1" i="0" dirty="0">
              <a:latin typeface="Consolas"/>
            </a:endParaRPr>
          </a:p>
        </p:txBody>
      </p:sp>
      <p:sp>
        <p:nvSpPr>
          <p:cNvPr id="23" name="TextBox 22"/>
          <p:cNvSpPr txBox="1"/>
          <p:nvPr/>
        </p:nvSpPr>
        <p:spPr>
          <a:xfrm>
            <a:off x="868680" y="5047488"/>
            <a:ext cx="5029200" cy="184666"/>
          </a:xfrm>
          <a:prstGeom prst="rect">
            <a:avLst/>
          </a:prstGeom>
          <a:noFill/>
        </p:spPr>
        <p:txBody>
          <a:bodyPr wrap="square" lIns="0" tIns="0" rIns="0" bIns="0" anchor="t">
            <a:spAutoFit/>
          </a:bodyPr>
          <a:lstStyle/>
          <a:p>
            <a:r>
              <a:rPr lang="en-MY" sz="1200" dirty="0"/>
              <a:t>Cannot identify the category.</a:t>
            </a:r>
            <a:endParaRPr sz="1150" b="0" i="0" dirty="0">
              <a:latin typeface="Calibri"/>
            </a:endParaRPr>
          </a:p>
        </p:txBody>
      </p:sp>
      <p:sp>
        <p:nvSpPr>
          <p:cNvPr id="24" name="TextBox 23"/>
          <p:cNvSpPr txBox="1"/>
          <p:nvPr/>
        </p:nvSpPr>
        <p:spPr>
          <a:xfrm>
            <a:off x="6355080" y="4791456"/>
            <a:ext cx="4937760" cy="176972"/>
          </a:xfrm>
          <a:prstGeom prst="rect">
            <a:avLst/>
          </a:prstGeom>
          <a:noFill/>
        </p:spPr>
        <p:txBody>
          <a:bodyPr wrap="square" lIns="0" tIns="0" rIns="0" bIns="0" anchor="t">
            <a:spAutoFit/>
          </a:bodyPr>
          <a:lstStyle/>
          <a:p>
            <a:pPr algn="l"/>
            <a:r>
              <a:rPr sz="1150" b="1" i="0">
                <a:latin typeface="Consolas"/>
              </a:rPr>
              <a:t>Category: Unallocated</a:t>
            </a:r>
          </a:p>
        </p:txBody>
      </p:sp>
      <p:sp>
        <p:nvSpPr>
          <p:cNvPr id="25" name="TextBox 24"/>
          <p:cNvSpPr txBox="1"/>
          <p:nvPr/>
        </p:nvSpPr>
        <p:spPr>
          <a:xfrm>
            <a:off x="6355080" y="5047488"/>
            <a:ext cx="4937760" cy="184666"/>
          </a:xfrm>
          <a:prstGeom prst="rect">
            <a:avLst/>
          </a:prstGeom>
          <a:noFill/>
        </p:spPr>
        <p:txBody>
          <a:bodyPr wrap="square" lIns="0" tIns="0" rIns="0" bIns="0" anchor="t">
            <a:spAutoFit/>
          </a:bodyPr>
          <a:lstStyle/>
          <a:p>
            <a:r>
              <a:rPr lang="en-MY" sz="1200" dirty="0"/>
              <a:t>The model found a category, but </a:t>
            </a:r>
            <a:r>
              <a:rPr lang="en-MY" sz="1200" b="1" dirty="0"/>
              <a:t>there is no available space</a:t>
            </a:r>
            <a:r>
              <a:rPr lang="en-MY" sz="1200" dirty="0"/>
              <a:t>.</a:t>
            </a:r>
            <a:endParaRPr sz="1150" b="0" i="0" dirty="0">
              <a:latin typeface="Calibri"/>
            </a:endParaRPr>
          </a:p>
        </p:txBody>
      </p:sp>
      <p:sp>
        <p:nvSpPr>
          <p:cNvPr id="26" name="TextBox 25"/>
          <p:cNvSpPr txBox="1"/>
          <p:nvPr/>
        </p:nvSpPr>
        <p:spPr>
          <a:xfrm>
            <a:off x="868680" y="5486400"/>
            <a:ext cx="10424160" cy="176972"/>
          </a:xfrm>
          <a:prstGeom prst="rect">
            <a:avLst/>
          </a:prstGeom>
          <a:noFill/>
        </p:spPr>
        <p:txBody>
          <a:bodyPr wrap="square" lIns="0" tIns="0" rIns="0" bIns="0" anchor="t">
            <a:spAutoFit/>
          </a:bodyPr>
          <a:lstStyle/>
          <a:p>
            <a:pPr algn="l"/>
            <a:r>
              <a:rPr sz="1150" b="0" i="1">
                <a:latin typeface="Calibri"/>
              </a:rPr>
              <a:t>Both are written to dbo.DeviceReviewQueue with the model’s own suggestions attached.</a:t>
            </a:r>
          </a:p>
        </p:txBody>
      </p:sp>
      <p:sp>
        <p:nvSpPr>
          <p:cNvPr id="27" name="TextBox 26"/>
          <p:cNvSpPr txBox="1"/>
          <p:nvPr/>
        </p:nvSpPr>
        <p:spPr>
          <a:xfrm>
            <a:off x="548640" y="5897880"/>
            <a:ext cx="11091672" cy="256032"/>
          </a:xfrm>
          <a:prstGeom prst="rect">
            <a:avLst/>
          </a:prstGeom>
          <a:noFill/>
        </p:spPr>
        <p:txBody>
          <a:bodyPr wrap="square" lIns="0" tIns="0" rIns="0" bIns="0" anchor="t">
            <a:spAutoFit/>
          </a:bodyPr>
          <a:lstStyle/>
          <a:p>
            <a:pPr algn="l"/>
            <a:r>
              <a:rPr sz="1100" b="0" i="1">
                <a:solidFill>
                  <a:srgbClr val="7A8792"/>
                </a:solidFill>
                <a:latin typeface="Calibri"/>
              </a:rPr>
              <a:t>Quota patterns are loaded live from dbo.PatternCluster per customer — an engineer can change target composition without a developer.</a:t>
            </a:r>
          </a:p>
        </p:txBody>
      </p:sp>
      <p:sp>
        <p:nvSpPr>
          <p:cNvPr id="28" name="TextBox 27"/>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29" name="TextBox 28"/>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06  ·  DEPLOYMENT ARCHITECTURE</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How the models reach the product</a:t>
            </a:r>
          </a:p>
        </p:txBody>
      </p:sp>
      <p:sp>
        <p:nvSpPr>
          <p:cNvPr id="4" name="Rounded Rectangle 3"/>
          <p:cNvSpPr/>
          <p:nvPr/>
        </p:nvSpPr>
        <p:spPr>
          <a:xfrm>
            <a:off x="548640" y="1463040"/>
            <a:ext cx="6035040" cy="71323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04672" y="1463040"/>
            <a:ext cx="2194560" cy="713232"/>
          </a:xfrm>
          <a:prstGeom prst="rect">
            <a:avLst/>
          </a:prstGeom>
          <a:noFill/>
        </p:spPr>
        <p:txBody>
          <a:bodyPr wrap="square" lIns="0" tIns="0" rIns="0" bIns="0" anchor="ctr">
            <a:spAutoFit/>
          </a:bodyPr>
          <a:lstStyle/>
          <a:p>
            <a:pPr algn="l"/>
            <a:r>
              <a:rPr sz="1350" b="1" i="0">
                <a:solidFill>
                  <a:srgbClr val="1B2430"/>
                </a:solidFill>
                <a:latin typeface="Cambria"/>
              </a:rPr>
              <a:t>Caller</a:t>
            </a:r>
          </a:p>
        </p:txBody>
      </p:sp>
      <p:sp>
        <p:nvSpPr>
          <p:cNvPr id="6" name="TextBox 5"/>
          <p:cNvSpPr txBox="1"/>
          <p:nvPr/>
        </p:nvSpPr>
        <p:spPr>
          <a:xfrm>
            <a:off x="3200400" y="1463040"/>
            <a:ext cx="3108960" cy="713232"/>
          </a:xfrm>
          <a:prstGeom prst="rect">
            <a:avLst/>
          </a:prstGeom>
          <a:noFill/>
        </p:spPr>
        <p:txBody>
          <a:bodyPr wrap="square" lIns="0" tIns="0" rIns="0" bIns="0" anchor="ctr">
            <a:spAutoFit/>
          </a:bodyPr>
          <a:lstStyle/>
          <a:p>
            <a:pPr algn="l">
              <a:lnSpc>
                <a:spcPts val="1400"/>
              </a:lnSpc>
            </a:pPr>
            <a:r>
              <a:rPr sz="1050" b="0" i="0">
                <a:solidFill>
                  <a:srgbClr val="4E5A66"/>
                </a:solidFill>
                <a:latin typeface="Calibri"/>
              </a:rPr>
              <a:t>Console app today; a user interface next</a:t>
            </a:r>
          </a:p>
        </p:txBody>
      </p:sp>
      <p:sp>
        <p:nvSpPr>
          <p:cNvPr id="7" name="Rounded Rectangle 6"/>
          <p:cNvSpPr/>
          <p:nvPr/>
        </p:nvSpPr>
        <p:spPr>
          <a:xfrm>
            <a:off x="548640" y="2304288"/>
            <a:ext cx="6035040" cy="713232"/>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04672" y="2304288"/>
            <a:ext cx="2194560" cy="713232"/>
          </a:xfrm>
          <a:prstGeom prst="rect">
            <a:avLst/>
          </a:prstGeom>
          <a:noFill/>
        </p:spPr>
        <p:txBody>
          <a:bodyPr wrap="square" lIns="0" tIns="0" rIns="0" bIns="0" anchor="ctr">
            <a:spAutoFit/>
          </a:bodyPr>
          <a:lstStyle/>
          <a:p>
            <a:pPr algn="l"/>
            <a:r>
              <a:rPr sz="1350" b="1" i="0">
                <a:solidFill>
                  <a:srgbClr val="1B2430"/>
                </a:solidFill>
                <a:latin typeface="Cambria"/>
              </a:rPr>
              <a:t>Logic.dll</a:t>
            </a:r>
          </a:p>
        </p:txBody>
      </p:sp>
      <p:sp>
        <p:nvSpPr>
          <p:cNvPr id="9" name="TextBox 8"/>
          <p:cNvSpPr txBox="1"/>
          <p:nvPr/>
        </p:nvSpPr>
        <p:spPr>
          <a:xfrm>
            <a:off x="3200400" y="2304288"/>
            <a:ext cx="3108960" cy="713232"/>
          </a:xfrm>
          <a:prstGeom prst="rect">
            <a:avLst/>
          </a:prstGeom>
          <a:noFill/>
        </p:spPr>
        <p:txBody>
          <a:bodyPr wrap="square" lIns="0" tIns="0" rIns="0" bIns="0" anchor="ctr">
            <a:spAutoFit/>
          </a:bodyPr>
          <a:lstStyle/>
          <a:p>
            <a:pPr algn="l">
              <a:lnSpc>
                <a:spcPts val="1400"/>
              </a:lnSpc>
            </a:pPr>
            <a:r>
              <a:rPr sz="1050" b="0" i="0">
                <a:solidFill>
                  <a:srgbClr val="4E5A66"/>
                </a:solidFill>
                <a:latin typeface="Calibri"/>
              </a:rPr>
              <a:t>Orchestration, quota allocation, placement, review queue</a:t>
            </a:r>
          </a:p>
        </p:txBody>
      </p:sp>
      <p:sp>
        <p:nvSpPr>
          <p:cNvPr id="10" name="Rounded Rectangle 9"/>
          <p:cNvSpPr/>
          <p:nvPr/>
        </p:nvSpPr>
        <p:spPr>
          <a:xfrm>
            <a:off x="548640" y="3145536"/>
            <a:ext cx="6035040" cy="713232"/>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04672" y="3145536"/>
            <a:ext cx="2194560" cy="713232"/>
          </a:xfrm>
          <a:prstGeom prst="rect">
            <a:avLst/>
          </a:prstGeom>
          <a:noFill/>
        </p:spPr>
        <p:txBody>
          <a:bodyPr wrap="square" lIns="0" tIns="0" rIns="0" bIns="0" anchor="ctr">
            <a:spAutoFit/>
          </a:bodyPr>
          <a:lstStyle/>
          <a:p>
            <a:pPr algn="l"/>
            <a:r>
              <a:rPr sz="1350" b="1" i="0">
                <a:solidFill>
                  <a:srgbClr val="1B2430"/>
                </a:solidFill>
                <a:latin typeface="Cambria"/>
              </a:rPr>
              <a:t>Model.dll</a:t>
            </a:r>
          </a:p>
        </p:txBody>
      </p:sp>
      <p:sp>
        <p:nvSpPr>
          <p:cNvPr id="12" name="TextBox 11"/>
          <p:cNvSpPr txBox="1"/>
          <p:nvPr/>
        </p:nvSpPr>
        <p:spPr>
          <a:xfrm>
            <a:off x="3200400" y="3145536"/>
            <a:ext cx="3108960" cy="713232"/>
          </a:xfrm>
          <a:prstGeom prst="rect">
            <a:avLst/>
          </a:prstGeom>
          <a:noFill/>
        </p:spPr>
        <p:txBody>
          <a:bodyPr wrap="square" lIns="0" tIns="0" rIns="0" bIns="0" anchor="ctr">
            <a:spAutoFit/>
          </a:bodyPr>
          <a:lstStyle/>
          <a:p>
            <a:pPr algn="l">
              <a:lnSpc>
                <a:spcPts val="1400"/>
              </a:lnSpc>
            </a:pPr>
            <a:r>
              <a:rPr sz="1050" b="0" i="0">
                <a:solidFill>
                  <a:srgbClr val="4E5A66"/>
                </a:solidFill>
                <a:latin typeface="Calibri"/>
              </a:rPr>
              <a:t>SQL Server access, and predictions over HTTP or via local Python</a:t>
            </a:r>
          </a:p>
        </p:txBody>
      </p:sp>
      <p:sp>
        <p:nvSpPr>
          <p:cNvPr id="13" name="Rounded Rectangle 12"/>
          <p:cNvSpPr/>
          <p:nvPr/>
        </p:nvSpPr>
        <p:spPr>
          <a:xfrm>
            <a:off x="548640" y="3986784"/>
            <a:ext cx="6035040" cy="713232"/>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04672" y="3986784"/>
            <a:ext cx="2194560" cy="713232"/>
          </a:xfrm>
          <a:prstGeom prst="rect">
            <a:avLst/>
          </a:prstGeom>
          <a:noFill/>
        </p:spPr>
        <p:txBody>
          <a:bodyPr wrap="square" lIns="0" tIns="0" rIns="0" bIns="0" anchor="ctr">
            <a:spAutoFit/>
          </a:bodyPr>
          <a:lstStyle/>
          <a:p>
            <a:pPr algn="l"/>
            <a:r>
              <a:rPr sz="1350" b="1" i="0">
                <a:solidFill>
                  <a:srgbClr val="1B2430"/>
                </a:solidFill>
                <a:latin typeface="Cambria"/>
              </a:rPr>
              <a:t>ML service</a:t>
            </a:r>
          </a:p>
        </p:txBody>
      </p:sp>
      <p:sp>
        <p:nvSpPr>
          <p:cNvPr id="15" name="TextBox 14"/>
          <p:cNvSpPr txBox="1"/>
          <p:nvPr/>
        </p:nvSpPr>
        <p:spPr>
          <a:xfrm>
            <a:off x="3200400" y="3986784"/>
            <a:ext cx="3108960" cy="713232"/>
          </a:xfrm>
          <a:prstGeom prst="rect">
            <a:avLst/>
          </a:prstGeom>
          <a:noFill/>
        </p:spPr>
        <p:txBody>
          <a:bodyPr wrap="square" lIns="0" tIns="0" rIns="0" bIns="0" anchor="ctr">
            <a:spAutoFit/>
          </a:bodyPr>
          <a:lstStyle/>
          <a:p>
            <a:pPr algn="l">
              <a:lnSpc>
                <a:spcPts val="1400"/>
              </a:lnSpc>
            </a:pPr>
            <a:r>
              <a:rPr sz="1050" b="0" i="0" dirty="0" err="1">
                <a:solidFill>
                  <a:srgbClr val="4E5A66"/>
                </a:solidFill>
                <a:latin typeface="Calibri"/>
              </a:rPr>
              <a:t>FastAPI</a:t>
            </a:r>
            <a:r>
              <a:rPr sz="1050" b="0" i="0" dirty="0">
                <a:solidFill>
                  <a:srgbClr val="4E5A66"/>
                </a:solidFill>
                <a:latin typeface="Calibri"/>
              </a:rPr>
              <a:t> on 128.100.8.213:8000 — models loaded once, held in memory</a:t>
            </a:r>
          </a:p>
        </p:txBody>
      </p:sp>
      <p:sp>
        <p:nvSpPr>
          <p:cNvPr id="16" name="Rounded Rectangle 15"/>
          <p:cNvSpPr/>
          <p:nvPr/>
        </p:nvSpPr>
        <p:spPr>
          <a:xfrm>
            <a:off x="548640" y="4828032"/>
            <a:ext cx="6035040" cy="713232"/>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04672" y="4828032"/>
            <a:ext cx="2194560" cy="713232"/>
          </a:xfrm>
          <a:prstGeom prst="rect">
            <a:avLst/>
          </a:prstGeom>
          <a:noFill/>
        </p:spPr>
        <p:txBody>
          <a:bodyPr wrap="square" lIns="0" tIns="0" rIns="0" bIns="0" anchor="ctr">
            <a:spAutoFit/>
          </a:bodyPr>
          <a:lstStyle/>
          <a:p>
            <a:pPr algn="l"/>
            <a:r>
              <a:rPr sz="1350" b="1" i="0">
                <a:solidFill>
                  <a:srgbClr val="FFFFFF"/>
                </a:solidFill>
                <a:latin typeface="Cambria"/>
              </a:rPr>
              <a:t>SQL Server</a:t>
            </a:r>
          </a:p>
        </p:txBody>
      </p:sp>
      <p:sp>
        <p:nvSpPr>
          <p:cNvPr id="18" name="TextBox 17"/>
          <p:cNvSpPr txBox="1"/>
          <p:nvPr/>
        </p:nvSpPr>
        <p:spPr>
          <a:xfrm>
            <a:off x="3200400" y="5009792"/>
            <a:ext cx="3108960" cy="349711"/>
          </a:xfrm>
          <a:prstGeom prst="rect">
            <a:avLst/>
          </a:prstGeom>
          <a:noFill/>
        </p:spPr>
        <p:txBody>
          <a:bodyPr wrap="square" lIns="0" tIns="0" rIns="0" bIns="0" anchor="ctr">
            <a:spAutoFit/>
          </a:bodyPr>
          <a:lstStyle/>
          <a:p>
            <a:pPr algn="l">
              <a:lnSpc>
                <a:spcPts val="1400"/>
              </a:lnSpc>
            </a:pPr>
            <a:r>
              <a:rPr sz="1050" b="0" i="0" dirty="0" err="1">
                <a:solidFill>
                  <a:schemeClr val="bg1"/>
                </a:solidFill>
                <a:latin typeface="Calibri"/>
              </a:rPr>
              <a:t>XenCreator</a:t>
            </a:r>
            <a:r>
              <a:rPr sz="1050" b="0" i="0" dirty="0">
                <a:solidFill>
                  <a:schemeClr val="bg1"/>
                </a:solidFill>
                <a:latin typeface="Calibri"/>
              </a:rPr>
              <a:t> — source table, quota table, two output tables</a:t>
            </a:r>
          </a:p>
        </p:txBody>
      </p:sp>
      <p:sp>
        <p:nvSpPr>
          <p:cNvPr id="19" name="TextBox 18"/>
          <p:cNvSpPr txBox="1"/>
          <p:nvPr/>
        </p:nvSpPr>
        <p:spPr>
          <a:xfrm>
            <a:off x="548640" y="5669280"/>
            <a:ext cx="6035040" cy="274320"/>
          </a:xfrm>
          <a:prstGeom prst="rect">
            <a:avLst/>
          </a:prstGeom>
          <a:noFill/>
        </p:spPr>
        <p:txBody>
          <a:bodyPr wrap="square" lIns="0" tIns="0" rIns="0" bIns="0" anchor="t">
            <a:spAutoFit/>
          </a:bodyPr>
          <a:lstStyle/>
          <a:p>
            <a:pPr algn="l"/>
            <a:r>
              <a:rPr sz="1050" b="0" i="1">
                <a:solidFill>
                  <a:srgbClr val="7A8792"/>
                </a:solidFill>
                <a:latin typeface="Calibri"/>
              </a:rPr>
              <a:t>Each layer depends only on the one beneath it.</a:t>
            </a:r>
          </a:p>
        </p:txBody>
      </p:sp>
      <p:sp>
        <p:nvSpPr>
          <p:cNvPr id="20" name="Rounded Rectangle 19"/>
          <p:cNvSpPr/>
          <p:nvPr/>
        </p:nvSpPr>
        <p:spPr>
          <a:xfrm>
            <a:off x="6858000" y="1463040"/>
            <a:ext cx="4782312" cy="1554480"/>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114032" y="1682496"/>
            <a:ext cx="4270248" cy="219456"/>
          </a:xfrm>
          <a:prstGeom prst="rect">
            <a:avLst/>
          </a:prstGeom>
          <a:noFill/>
        </p:spPr>
        <p:txBody>
          <a:bodyPr wrap="square" lIns="0" tIns="0" rIns="0" bIns="0" anchor="t">
            <a:spAutoFit/>
          </a:bodyPr>
          <a:lstStyle/>
          <a:p>
            <a:pPr algn="l"/>
            <a:r>
              <a:rPr sz="1050" b="1" i="0" spc="180">
                <a:solidFill>
                  <a:srgbClr val="C46A24"/>
                </a:solidFill>
                <a:latin typeface="Calibri"/>
              </a:rPr>
              <a:t>ONE CALL RUNS EVERYTHING</a:t>
            </a:r>
          </a:p>
        </p:txBody>
      </p:sp>
      <p:sp>
        <p:nvSpPr>
          <p:cNvPr id="22" name="TextBox 21"/>
          <p:cNvSpPr txBox="1"/>
          <p:nvPr/>
        </p:nvSpPr>
        <p:spPr>
          <a:xfrm>
            <a:off x="7114032" y="1993392"/>
            <a:ext cx="4270248" cy="822960"/>
          </a:xfrm>
          <a:prstGeom prst="rect">
            <a:avLst/>
          </a:prstGeom>
          <a:noFill/>
        </p:spPr>
        <p:txBody>
          <a:bodyPr wrap="square" lIns="0" tIns="0" rIns="0" bIns="0" anchor="t">
            <a:spAutoFit/>
          </a:bodyPr>
          <a:lstStyle/>
          <a:p>
            <a:pPr algn="l">
              <a:lnSpc>
                <a:spcPts val="1400"/>
              </a:lnSpc>
            </a:pPr>
            <a:r>
              <a:rPr sz="1050" b="0" i="0">
                <a:solidFill>
                  <a:srgbClr val="FFFFFF"/>
                </a:solidFill>
                <a:latin typeface="Consolas"/>
              </a:rPr>
              <a:t>var result = await</a:t>
            </a:r>
          </a:p>
          <a:p>
            <a:pPr algn="l">
              <a:lnSpc>
                <a:spcPts val="1400"/>
              </a:lnSpc>
            </a:pPr>
            <a:r>
              <a:rPr sz="1050" b="0" i="0">
                <a:solidFill>
                  <a:srgbClr val="FFFFFF"/>
                </a:solidFill>
                <a:latin typeface="Consolas"/>
              </a:rPr>
              <a:t>DevicePipeline.RunAsync(</a:t>
            </a:r>
          </a:p>
          <a:p>
            <a:pPr algn="l">
              <a:lnSpc>
                <a:spcPts val="1400"/>
              </a:lnSpc>
            </a:pPr>
            <a:r>
              <a:rPr sz="1050" b="0" i="0">
                <a:solidFill>
                  <a:srgbClr val="FFFFFF"/>
                </a:solidFill>
                <a:latin typeface="Consolas"/>
              </a:rPr>
              <a:t>    sqlReader, client, logic,</a:t>
            </a:r>
          </a:p>
          <a:p>
            <a:pPr algn="l">
              <a:lnSpc>
                <a:spcPts val="1400"/>
              </a:lnSpc>
            </a:pPr>
            <a:r>
              <a:rPr sz="1050" b="0" i="0">
                <a:solidFill>
                  <a:srgbClr val="FFFFFF"/>
                </a:solidFill>
                <a:latin typeface="Consolas"/>
              </a:rPr>
              <a:t>    projectCode: "A9998");</a:t>
            </a:r>
          </a:p>
        </p:txBody>
      </p:sp>
      <p:sp>
        <p:nvSpPr>
          <p:cNvPr id="23" name="Rounded Rectangle 22"/>
          <p:cNvSpPr/>
          <p:nvPr/>
        </p:nvSpPr>
        <p:spPr>
          <a:xfrm>
            <a:off x="6858000" y="3145536"/>
            <a:ext cx="4782312"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7114032" y="3346704"/>
            <a:ext cx="4270248" cy="219456"/>
          </a:xfrm>
          <a:prstGeom prst="rect">
            <a:avLst/>
          </a:prstGeom>
          <a:noFill/>
        </p:spPr>
        <p:txBody>
          <a:bodyPr wrap="square" lIns="0" tIns="0" rIns="0" bIns="0" anchor="t">
            <a:spAutoFit/>
          </a:bodyPr>
          <a:lstStyle/>
          <a:p>
            <a:pPr algn="l"/>
            <a:r>
              <a:rPr sz="1050" b="1" i="0" spc="180">
                <a:solidFill>
                  <a:srgbClr val="C46A24"/>
                </a:solidFill>
                <a:latin typeface="Calibri"/>
              </a:rPr>
              <a:t>RUNTIME REQUIREMENTS</a:t>
            </a:r>
          </a:p>
        </p:txBody>
      </p:sp>
      <p:sp>
        <p:nvSpPr>
          <p:cNvPr id="25" name="TextBox 24"/>
          <p:cNvSpPr txBox="1"/>
          <p:nvPr/>
        </p:nvSpPr>
        <p:spPr>
          <a:xfrm>
            <a:off x="7114032" y="3639312"/>
            <a:ext cx="4270248" cy="548640"/>
          </a:xfrm>
          <a:prstGeom prst="rect">
            <a:avLst/>
          </a:prstGeom>
          <a:noFill/>
        </p:spPr>
        <p:txBody>
          <a:bodyPr wrap="square" lIns="0" tIns="0" rIns="0" bIns="0" anchor="t">
            <a:spAutoFit/>
          </a:bodyPr>
          <a:lstStyle/>
          <a:p>
            <a:pPr algn="l">
              <a:lnSpc>
                <a:spcPts val="1700"/>
              </a:lnSpc>
            </a:pPr>
            <a:r>
              <a:rPr sz="1200" b="0" i="0">
                <a:solidFill>
                  <a:srgbClr val="1B2430"/>
                </a:solidFill>
                <a:latin typeface="Calibri"/>
              </a:rPr>
              <a:t>.NET 10  ·  Windows x64</a:t>
            </a:r>
          </a:p>
          <a:p>
            <a:pPr algn="l">
              <a:lnSpc>
                <a:spcPts val="1700"/>
              </a:lnSpc>
            </a:pPr>
            <a:r>
              <a:rPr sz="1200" b="0" i="0">
                <a:solidFill>
                  <a:srgbClr val="1B2430"/>
                </a:solidFill>
                <a:latin typeface="Calibri"/>
              </a:rPr>
              <a:t>SQL Server  ·  ML service reachable</a:t>
            </a:r>
          </a:p>
        </p:txBody>
      </p:sp>
      <p:sp>
        <p:nvSpPr>
          <p:cNvPr id="26" name="Rounded Rectangle 25"/>
          <p:cNvSpPr/>
          <p:nvPr/>
        </p:nvSpPr>
        <p:spPr>
          <a:xfrm>
            <a:off x="6858000" y="4507992"/>
            <a:ext cx="4782312"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7114032" y="4709160"/>
            <a:ext cx="4270248" cy="219456"/>
          </a:xfrm>
          <a:prstGeom prst="rect">
            <a:avLst/>
          </a:prstGeom>
          <a:noFill/>
        </p:spPr>
        <p:txBody>
          <a:bodyPr wrap="square" lIns="0" tIns="0" rIns="0" bIns="0" anchor="t">
            <a:spAutoFit/>
          </a:bodyPr>
          <a:lstStyle/>
          <a:p>
            <a:pPr algn="l"/>
            <a:r>
              <a:rPr sz="1050" b="1" i="0" spc="180">
                <a:solidFill>
                  <a:srgbClr val="C46A24"/>
                </a:solidFill>
                <a:latin typeface="Calibri"/>
              </a:rPr>
              <a:t>HANDOVER PACKAGE DELIVERED</a:t>
            </a:r>
          </a:p>
        </p:txBody>
      </p:sp>
      <p:sp>
        <p:nvSpPr>
          <p:cNvPr id="28" name="TextBox 27"/>
          <p:cNvSpPr txBox="1"/>
          <p:nvPr/>
        </p:nvSpPr>
        <p:spPr>
          <a:xfrm>
            <a:off x="7114032" y="5001768"/>
            <a:ext cx="4270248" cy="685800"/>
          </a:xfrm>
          <a:prstGeom prst="rect">
            <a:avLst/>
          </a:prstGeom>
          <a:noFill/>
        </p:spPr>
        <p:txBody>
          <a:bodyPr wrap="square" lIns="0" tIns="0" rIns="0" bIns="0" anchor="t">
            <a:spAutoFit/>
          </a:bodyPr>
          <a:lstStyle/>
          <a:p>
            <a:pPr algn="l">
              <a:lnSpc>
                <a:spcPts val="1600"/>
              </a:lnSpc>
            </a:pPr>
            <a:r>
              <a:rPr sz="1100" b="0" i="0">
                <a:solidFill>
                  <a:srgbClr val="4E5A66"/>
                </a:solidFill>
                <a:latin typeface="Calibri"/>
              </a:rPr>
              <a:t>2 DLLs + 22 dependencies</a:t>
            </a:r>
          </a:p>
          <a:p>
            <a:pPr algn="l">
              <a:lnSpc>
                <a:spcPts val="1600"/>
              </a:lnSpc>
            </a:pPr>
            <a:r>
              <a:rPr sz="1100" b="0" i="0">
                <a:solidFill>
                  <a:srgbClr val="4E5A66"/>
                </a:solidFill>
                <a:latin typeface="Calibri"/>
              </a:rPr>
              <a:t>Trained models and 3 SQL scripts</a:t>
            </a:r>
          </a:p>
          <a:p>
            <a:pPr algn="l">
              <a:lnSpc>
                <a:spcPts val="1600"/>
              </a:lnSpc>
            </a:pPr>
            <a:r>
              <a:rPr sz="1100" b="0" i="0">
                <a:solidFill>
                  <a:srgbClr val="4E5A66"/>
                </a:solidFill>
                <a:latin typeface="Calibri"/>
              </a:rPr>
              <a:t>API reference, quick guide, launcher</a:t>
            </a:r>
          </a:p>
        </p:txBody>
      </p:sp>
      <p:sp>
        <p:nvSpPr>
          <p:cNvPr id="29" name="TextBox 28"/>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0" name="TextBox 29"/>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07  ·  HUMAN IN THE LOOP</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dirty="0">
                <a:solidFill>
                  <a:srgbClr val="1B2430"/>
                </a:solidFill>
                <a:latin typeface="Cambria"/>
              </a:rPr>
              <a:t>The system improves as engineers correct it</a:t>
            </a:r>
          </a:p>
        </p:txBody>
      </p:sp>
      <p:sp>
        <p:nvSpPr>
          <p:cNvPr id="4" name="Rounded Rectangle 3"/>
          <p:cNvSpPr/>
          <p:nvPr/>
        </p:nvSpPr>
        <p:spPr>
          <a:xfrm>
            <a:off x="548640"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749808"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1</a:t>
            </a:r>
          </a:p>
        </p:txBody>
      </p:sp>
      <p:sp>
        <p:nvSpPr>
          <p:cNvPr id="7" name="TextBox 6"/>
          <p:cNvSpPr txBox="1"/>
          <p:nvPr/>
        </p:nvSpPr>
        <p:spPr>
          <a:xfrm>
            <a:off x="749808"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Prediction is made</a:t>
            </a:r>
          </a:p>
        </p:txBody>
      </p:sp>
      <p:sp>
        <p:nvSpPr>
          <p:cNvPr id="8" name="Isosceles Triangle 7"/>
          <p:cNvSpPr/>
          <p:nvPr/>
        </p:nvSpPr>
        <p:spPr>
          <a:xfrm rot="5400000">
            <a:off x="2633472"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07208"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3008376"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08376"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2</a:t>
            </a:r>
          </a:p>
        </p:txBody>
      </p:sp>
      <p:sp>
        <p:nvSpPr>
          <p:cNvPr id="12" name="TextBox 11"/>
          <p:cNvSpPr txBox="1"/>
          <p:nvPr/>
        </p:nvSpPr>
        <p:spPr>
          <a:xfrm>
            <a:off x="3008376"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Low confidence goes to the review queue</a:t>
            </a:r>
          </a:p>
        </p:txBody>
      </p:sp>
      <p:sp>
        <p:nvSpPr>
          <p:cNvPr id="13" name="Isosceles Triangle 12"/>
          <p:cNvSpPr/>
          <p:nvPr/>
        </p:nvSpPr>
        <p:spPr>
          <a:xfrm rot="5400000">
            <a:off x="4892040"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065776"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5266944"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66944"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3</a:t>
            </a:r>
          </a:p>
        </p:txBody>
      </p:sp>
      <p:sp>
        <p:nvSpPr>
          <p:cNvPr id="17" name="TextBox 16"/>
          <p:cNvSpPr txBox="1"/>
          <p:nvPr/>
        </p:nvSpPr>
        <p:spPr>
          <a:xfrm>
            <a:off x="5266944"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Engineer assigns the correct value</a:t>
            </a:r>
          </a:p>
        </p:txBody>
      </p:sp>
      <p:sp>
        <p:nvSpPr>
          <p:cNvPr id="18" name="Isosceles Triangle 17"/>
          <p:cNvSpPr/>
          <p:nvPr/>
        </p:nvSpPr>
        <p:spPr>
          <a:xfrm rot="5400000">
            <a:off x="7150608"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24344"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7525512"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25512"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4</a:t>
            </a:r>
          </a:p>
        </p:txBody>
      </p:sp>
      <p:sp>
        <p:nvSpPr>
          <p:cNvPr id="22" name="TextBox 21"/>
          <p:cNvSpPr txBox="1"/>
          <p:nvPr/>
        </p:nvSpPr>
        <p:spPr>
          <a:xfrm>
            <a:off x="7525512"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The dictionary is updated</a:t>
            </a:r>
          </a:p>
        </p:txBody>
      </p:sp>
      <p:sp>
        <p:nvSpPr>
          <p:cNvPr id="23" name="Isosceles Triangle 22"/>
          <p:cNvSpPr/>
          <p:nvPr/>
        </p:nvSpPr>
        <p:spPr>
          <a:xfrm rot="5400000">
            <a:off x="9409176"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582912"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9784080"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0"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5</a:t>
            </a:r>
          </a:p>
        </p:txBody>
      </p:sp>
      <p:sp>
        <p:nvSpPr>
          <p:cNvPr id="27" name="TextBox 26"/>
          <p:cNvSpPr txBox="1"/>
          <p:nvPr/>
        </p:nvSpPr>
        <p:spPr>
          <a:xfrm>
            <a:off x="9784080"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The next run already knows</a:t>
            </a:r>
          </a:p>
        </p:txBody>
      </p:sp>
      <p:sp>
        <p:nvSpPr>
          <p:cNvPr id="28" name="Rounded Rectangle 27"/>
          <p:cNvSpPr/>
          <p:nvPr/>
        </p:nvSpPr>
        <p:spPr>
          <a:xfrm>
            <a:off x="548640" y="2926080"/>
            <a:ext cx="5440680" cy="17830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822960" y="3145536"/>
            <a:ext cx="4892040" cy="161583"/>
          </a:xfrm>
          <a:prstGeom prst="rect">
            <a:avLst/>
          </a:prstGeom>
          <a:noFill/>
        </p:spPr>
        <p:txBody>
          <a:bodyPr wrap="square" lIns="0" tIns="0" rIns="0" bIns="0" anchor="t">
            <a:spAutoFit/>
          </a:bodyPr>
          <a:lstStyle/>
          <a:p>
            <a:pPr algn="l"/>
            <a:r>
              <a:rPr sz="1050" b="1" i="0" spc="180" dirty="0">
                <a:solidFill>
                  <a:srgbClr val="2E7D63"/>
                </a:solidFill>
                <a:latin typeface="Calibri"/>
              </a:rPr>
              <a:t>DEVICE TYPE </a:t>
            </a:r>
          </a:p>
        </p:txBody>
      </p:sp>
      <p:sp>
        <p:nvSpPr>
          <p:cNvPr id="30" name="TextBox 29"/>
          <p:cNvSpPr txBox="1"/>
          <p:nvPr/>
        </p:nvSpPr>
        <p:spPr>
          <a:xfrm>
            <a:off x="822960" y="3456432"/>
            <a:ext cx="4892040" cy="567912"/>
          </a:xfrm>
          <a:prstGeom prst="rect">
            <a:avLst/>
          </a:prstGeom>
          <a:noFill/>
        </p:spPr>
        <p:txBody>
          <a:bodyPr wrap="square" lIns="0" tIns="0" rIns="0" bIns="0" anchor="t">
            <a:spAutoFit/>
          </a:bodyPr>
          <a:lstStyle/>
          <a:p>
            <a:pPr algn="l">
              <a:lnSpc>
                <a:spcPts val="1500"/>
              </a:lnSpc>
            </a:pPr>
            <a:r>
              <a:rPr sz="1150" b="0" i="0" dirty="0">
                <a:solidFill>
                  <a:srgbClr val="4E5A66"/>
                </a:solidFill>
                <a:latin typeface="Calibri"/>
              </a:rPr>
              <a:t>The correction is written straight into the prefix dictionary and saved atomically with an automatic backup. The very next prediction uses it</a:t>
            </a:r>
            <a:r>
              <a:rPr lang="en-MY" sz="1150" b="0" i="0" dirty="0">
                <a:solidFill>
                  <a:srgbClr val="4E5A66"/>
                </a:solidFill>
                <a:latin typeface="Calibri"/>
              </a:rPr>
              <a:t>,</a:t>
            </a:r>
            <a:r>
              <a:rPr sz="1150" b="0" i="0" dirty="0">
                <a:solidFill>
                  <a:srgbClr val="4E5A66"/>
                </a:solidFill>
                <a:latin typeface="Calibri"/>
              </a:rPr>
              <a:t> there is no model to retrain.</a:t>
            </a:r>
          </a:p>
        </p:txBody>
      </p:sp>
      <p:sp>
        <p:nvSpPr>
          <p:cNvPr id="31" name="TextBox 30"/>
          <p:cNvSpPr txBox="1"/>
          <p:nvPr/>
        </p:nvSpPr>
        <p:spPr>
          <a:xfrm>
            <a:off x="822960" y="4261104"/>
            <a:ext cx="4892040" cy="310896"/>
          </a:xfrm>
          <a:prstGeom prst="rect">
            <a:avLst/>
          </a:prstGeom>
          <a:noFill/>
        </p:spPr>
        <p:txBody>
          <a:bodyPr wrap="square" lIns="0" tIns="0" rIns="0" bIns="0" anchor="t">
            <a:spAutoFit/>
          </a:bodyPr>
          <a:lstStyle/>
          <a:p>
            <a:pPr algn="l"/>
            <a:r>
              <a:rPr sz="1050" b="0" i="1">
                <a:solidFill>
                  <a:srgbClr val="7A8792"/>
                </a:solidFill>
                <a:latin typeface="Calibri"/>
              </a:rPr>
              <a:t>Buffered flush every 50 records; manual assignments persist at once.</a:t>
            </a:r>
          </a:p>
        </p:txBody>
      </p:sp>
      <p:sp>
        <p:nvSpPr>
          <p:cNvPr id="32" name="Rounded Rectangle 31"/>
          <p:cNvSpPr/>
          <p:nvPr/>
        </p:nvSpPr>
        <p:spPr>
          <a:xfrm>
            <a:off x="6199632" y="2926080"/>
            <a:ext cx="5440680" cy="1783080"/>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473952" y="3145536"/>
            <a:ext cx="4892040" cy="219456"/>
          </a:xfrm>
          <a:prstGeom prst="rect">
            <a:avLst/>
          </a:prstGeom>
          <a:noFill/>
        </p:spPr>
        <p:txBody>
          <a:bodyPr wrap="square" lIns="0" tIns="0" rIns="0" bIns="0" anchor="t">
            <a:spAutoFit/>
          </a:bodyPr>
          <a:lstStyle/>
          <a:p>
            <a:pPr algn="l"/>
            <a:r>
              <a:rPr sz="1050" b="1" i="0" spc="180">
                <a:solidFill>
                  <a:srgbClr val="C46A24"/>
                </a:solidFill>
                <a:latin typeface="Calibri"/>
              </a:rPr>
              <a:t>SECTION &amp; CLUSTER — QUEUED FOR RETRAINING</a:t>
            </a:r>
          </a:p>
        </p:txBody>
      </p:sp>
      <p:sp>
        <p:nvSpPr>
          <p:cNvPr id="34" name="TextBox 33"/>
          <p:cNvSpPr txBox="1"/>
          <p:nvPr/>
        </p:nvSpPr>
        <p:spPr>
          <a:xfrm>
            <a:off x="6473952" y="3456432"/>
            <a:ext cx="4892040" cy="713232"/>
          </a:xfrm>
          <a:prstGeom prst="rect">
            <a:avLst/>
          </a:prstGeom>
          <a:noFill/>
        </p:spPr>
        <p:txBody>
          <a:bodyPr wrap="square" lIns="0" tIns="0" rIns="0" bIns="0" anchor="t">
            <a:spAutoFit/>
          </a:bodyPr>
          <a:lstStyle/>
          <a:p>
            <a:pPr algn="l">
              <a:lnSpc>
                <a:spcPts val="1500"/>
              </a:lnSpc>
            </a:pPr>
            <a:r>
              <a:rPr sz="1150" b="0" i="0" dirty="0" err="1">
                <a:solidFill>
                  <a:srgbClr val="4E5A66"/>
                </a:solidFill>
                <a:latin typeface="Calibri"/>
              </a:rPr>
              <a:t>XGBoost</a:t>
            </a:r>
            <a:r>
              <a:rPr sz="1150" b="0" i="0" dirty="0">
                <a:solidFill>
                  <a:srgbClr val="4E5A66"/>
                </a:solidFill>
                <a:latin typeface="Calibri"/>
              </a:rPr>
              <a:t> cannot learn incrementally, so corrections are stored and applied at the next training cycle rather than changing the live model mid-run.</a:t>
            </a:r>
          </a:p>
        </p:txBody>
      </p:sp>
      <p:sp>
        <p:nvSpPr>
          <p:cNvPr id="35" name="TextBox 34"/>
          <p:cNvSpPr txBox="1"/>
          <p:nvPr/>
        </p:nvSpPr>
        <p:spPr>
          <a:xfrm>
            <a:off x="6473952" y="4261104"/>
            <a:ext cx="4892040" cy="310896"/>
          </a:xfrm>
          <a:prstGeom prst="rect">
            <a:avLst/>
          </a:prstGeom>
          <a:noFill/>
        </p:spPr>
        <p:txBody>
          <a:bodyPr wrap="square" lIns="0" tIns="0" rIns="0" bIns="0" anchor="t">
            <a:spAutoFit/>
          </a:bodyPr>
          <a:lstStyle/>
          <a:p>
            <a:pPr algn="l"/>
            <a:r>
              <a:rPr sz="1050" b="0" i="1">
                <a:solidFill>
                  <a:srgbClr val="7A8792"/>
                </a:solidFill>
                <a:latin typeface="Calibri"/>
              </a:rPr>
              <a:t>No silent drift: the model changes only when deliberately retrained.</a:t>
            </a:r>
          </a:p>
        </p:txBody>
      </p:sp>
      <p:sp>
        <p:nvSpPr>
          <p:cNvPr id="38" name="TextBox 37"/>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9" name="TextBox 38"/>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09  ·  STATUS DETAIL</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Component-by-component status</a:t>
            </a:r>
          </a:p>
        </p:txBody>
      </p:sp>
      <p:sp>
        <p:nvSpPr>
          <p:cNvPr id="4" name="TextBox 3"/>
          <p:cNvSpPr txBox="1"/>
          <p:nvPr/>
        </p:nvSpPr>
        <p:spPr>
          <a:xfrm>
            <a:off x="548640" y="1280160"/>
            <a:ext cx="10881360" cy="256032"/>
          </a:xfrm>
          <a:prstGeom prst="rect">
            <a:avLst/>
          </a:prstGeom>
          <a:noFill/>
        </p:spPr>
        <p:txBody>
          <a:bodyPr wrap="square" lIns="0" tIns="0" rIns="0" bIns="0" anchor="t">
            <a:spAutoFit/>
          </a:bodyPr>
          <a:lstStyle/>
          <a:p>
            <a:pPr algn="l"/>
            <a:r>
              <a:rPr sz="1250" b="0" i="0">
                <a:solidFill>
                  <a:srgbClr val="4E5A66"/>
                </a:solidFill>
                <a:latin typeface="Calibri"/>
              </a:rPr>
              <a:t>Eleven of fifteen components are complete and verified against live data and real trained models.</a:t>
            </a:r>
          </a:p>
        </p:txBody>
      </p:sp>
      <p:graphicFrame>
        <p:nvGraphicFramePr>
          <p:cNvPr id="5" name="Table 4"/>
          <p:cNvGraphicFramePr>
            <a:graphicFrameLocks noGrp="1"/>
          </p:cNvGraphicFramePr>
          <p:nvPr/>
        </p:nvGraphicFramePr>
        <p:xfrm>
          <a:off x="548640" y="1664208"/>
          <a:ext cx="11091672" cy="4389120"/>
        </p:xfrm>
        <a:graphic>
          <a:graphicData uri="http://schemas.openxmlformats.org/drawingml/2006/table">
            <a:tbl>
              <a:tblPr>
                <a:tableStyleId>{2D5ABB26-0587-4C30-8999-92F81FD0307C}</a:tableStyleId>
              </a:tblPr>
              <a:tblGrid>
                <a:gridCol w="4206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965192">
                  <a:extLst>
                    <a:ext uri="{9D8B030D-6E8A-4147-A177-3AD203B41FA5}">
                      <a16:colId xmlns:a16="http://schemas.microsoft.com/office/drawing/2014/main" val="20002"/>
                    </a:ext>
                  </a:extLst>
                </a:gridCol>
              </a:tblGrid>
              <a:tr h="274320">
                <a:tc>
                  <a:txBody>
                    <a:bodyPr/>
                    <a:lstStyle/>
                    <a:p>
                      <a:pPr algn="l"/>
                      <a:r>
                        <a:rPr sz="950" b="1">
                          <a:solidFill>
                            <a:srgbClr val="FFFFFF"/>
                          </a:solidFill>
                          <a:latin typeface="Calibri"/>
                        </a:rPr>
                        <a:t>COMPONENT</a:t>
                      </a:r>
                    </a:p>
                  </a:txBody>
                  <a:tcPr marL="128016" marT="27432" marB="27432" anchor="ctr">
                    <a:solidFill>
                      <a:srgbClr val="1B2430"/>
                    </a:solidFill>
                  </a:tcPr>
                </a:tc>
                <a:tc>
                  <a:txBody>
                    <a:bodyPr/>
                    <a:lstStyle/>
                    <a:p>
                      <a:pPr algn="l"/>
                      <a:r>
                        <a:rPr sz="950" b="1">
                          <a:solidFill>
                            <a:srgbClr val="FFFFFF"/>
                          </a:solidFill>
                          <a:latin typeface="Calibri"/>
                        </a:rPr>
                        <a:t>STATUS</a:t>
                      </a:r>
                    </a:p>
                  </a:txBody>
                  <a:tcPr marL="128016" marT="27432" marB="27432" anchor="ctr">
                    <a:solidFill>
                      <a:srgbClr val="1B2430"/>
                    </a:solidFill>
                  </a:tcPr>
                </a:tc>
                <a:tc>
                  <a:txBody>
                    <a:bodyPr/>
                    <a:lstStyle/>
                    <a:p>
                      <a:pPr algn="l"/>
                      <a:r>
                        <a:rPr sz="950" b="1">
                          <a:solidFill>
                            <a:srgbClr val="FFFFFF"/>
                          </a:solidFill>
                          <a:latin typeface="Calibri"/>
                        </a:rPr>
                        <a:t>NOTE</a:t>
                      </a:r>
                    </a:p>
                  </a:txBody>
                  <a:tcPr marL="128016" marT="27432" marB="27432" anchor="ctr">
                    <a:solidFill>
                      <a:srgbClr val="1B2430"/>
                    </a:solidFill>
                  </a:tcPr>
                </a:tc>
                <a:extLst>
                  <a:ext uri="{0D108BD9-81ED-4DB2-BD59-A6C34878D82A}">
                    <a16:rowId xmlns:a16="http://schemas.microsoft.com/office/drawing/2014/main" val="10000"/>
                  </a:ext>
                </a:extLst>
              </a:tr>
              <a:tr h="274320">
                <a:tc>
                  <a:txBody>
                    <a:bodyPr/>
                    <a:lstStyle/>
                    <a:p>
                      <a:pPr algn="l"/>
                      <a:r>
                        <a:rPr sz="1050" b="1">
                          <a:solidFill>
                            <a:srgbClr val="1B2430"/>
                          </a:solidFill>
                          <a:latin typeface="Calibri"/>
                        </a:rPr>
                        <a:t>Data extraction &amp; preparation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SQL-driven, filtered per project code</a:t>
                      </a:r>
                    </a:p>
                  </a:txBody>
                  <a:tcPr marL="128016" marT="27432" marB="27432" anchor="ctr">
                    <a:solidFill>
                      <a:srgbClr val="FFFFFF"/>
                    </a:solidFill>
                  </a:tcPr>
                </a:tc>
                <a:extLst>
                  <a:ext uri="{0D108BD9-81ED-4DB2-BD59-A6C34878D82A}">
                    <a16:rowId xmlns:a16="http://schemas.microsoft.com/office/drawing/2014/main" val="10001"/>
                  </a:ext>
                </a:extLst>
              </a:tr>
              <a:tr h="274320">
                <a:tc>
                  <a:txBody>
                    <a:bodyPr/>
                    <a:lstStyle/>
                    <a:p>
                      <a:pPr algn="l"/>
                      <a:r>
                        <a:rPr sz="1050" b="1">
                          <a:solidFill>
                            <a:srgbClr val="1B2430"/>
                          </a:solidFill>
                          <a:latin typeface="Calibri"/>
                        </a:rPr>
                        <a:t>Device type prediction</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Prefix dictionary, 23 device types</a:t>
                      </a:r>
                    </a:p>
                  </a:txBody>
                  <a:tcPr marL="128016" marT="27432" marB="27432" anchor="ctr">
                    <a:solidFill>
                      <a:srgbClr val="F7F9FA"/>
                    </a:solidFill>
                  </a:tcPr>
                </a:tc>
                <a:extLst>
                  <a:ext uri="{0D108BD9-81ED-4DB2-BD59-A6C34878D82A}">
                    <a16:rowId xmlns:a16="http://schemas.microsoft.com/office/drawing/2014/main" val="10002"/>
                  </a:ext>
                </a:extLst>
              </a:tr>
              <a:tr h="274320">
                <a:tc>
                  <a:txBody>
                    <a:bodyPr/>
                    <a:lstStyle/>
                    <a:p>
                      <a:pPr algn="l"/>
                      <a:r>
                        <a:rPr sz="1050" b="1">
                          <a:solidFill>
                            <a:srgbClr val="1B2430"/>
                          </a:solidFill>
                          <a:latin typeface="Calibri"/>
                        </a:rPr>
                        <a:t>Section prediction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XGBoost with out-of-distribution penalty</a:t>
                      </a:r>
                    </a:p>
                  </a:txBody>
                  <a:tcPr marL="128016"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050" b="1">
                          <a:solidFill>
                            <a:srgbClr val="1B2430"/>
                          </a:solidFill>
                          <a:latin typeface="Calibri"/>
                        </a:rPr>
                        <a:t>Cluster prediction</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Chained XGBoost, returns a top-3 ranking</a:t>
                      </a:r>
                    </a:p>
                  </a:txBody>
                  <a:tcPr marL="128016" marT="27432" marB="27432" anchor="ctr">
                    <a:solidFill>
                      <a:srgbClr val="F7F9FA"/>
                    </a:solidFill>
                  </a:tcPr>
                </a:tc>
                <a:extLst>
                  <a:ext uri="{0D108BD9-81ED-4DB2-BD59-A6C34878D82A}">
                    <a16:rowId xmlns:a16="http://schemas.microsoft.com/office/drawing/2014/main" val="10004"/>
                  </a:ext>
                </a:extLst>
              </a:tr>
              <a:tr h="274320">
                <a:tc>
                  <a:txBody>
                    <a:bodyPr/>
                    <a:lstStyle/>
                    <a:p>
                      <a:pPr algn="l"/>
                      <a:r>
                        <a:rPr sz="1050" b="1">
                          <a:solidFill>
                            <a:srgbClr val="1B2430"/>
                          </a:solidFill>
                          <a:latin typeface="Calibri"/>
                        </a:rPr>
                        <a:t>Quota allocation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Three passes; quotas read live from SQL</a:t>
                      </a:r>
                    </a:p>
                  </a:txBody>
                  <a:tcPr marL="128016" marT="27432" marB="27432" anchor="ctr">
                    <a:solidFill>
                      <a:srgbClr val="FFFFFF"/>
                    </a:solidFill>
                  </a:tcPr>
                </a:tc>
                <a:extLst>
                  <a:ext uri="{0D108BD9-81ED-4DB2-BD59-A6C34878D82A}">
                    <a16:rowId xmlns:a16="http://schemas.microsoft.com/office/drawing/2014/main" val="10005"/>
                  </a:ext>
                </a:extLst>
              </a:tr>
              <a:tr h="274320">
                <a:tc>
                  <a:txBody>
                    <a:bodyPr/>
                    <a:lstStyle/>
                    <a:p>
                      <a:pPr algn="l"/>
                      <a:r>
                        <a:rPr sz="1050" b="1">
                          <a:solidFill>
                            <a:srgbClr val="1B2430"/>
                          </a:solidFill>
                          <a:latin typeface="Calibri"/>
                        </a:rPr>
                        <a:t>Placement &amp; cluster grouping</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Final assignment written back to SQL</a:t>
                      </a:r>
                    </a:p>
                  </a:txBody>
                  <a:tcPr marL="128016" marT="27432" marB="27432" anchor="ctr">
                    <a:solidFill>
                      <a:srgbClr val="F7F9FA"/>
                    </a:solidFill>
                  </a:tcPr>
                </a:tc>
                <a:extLst>
                  <a:ext uri="{0D108BD9-81ED-4DB2-BD59-A6C34878D82A}">
                    <a16:rowId xmlns:a16="http://schemas.microsoft.com/office/drawing/2014/main" val="10006"/>
                  </a:ext>
                </a:extLst>
              </a:tr>
              <a:tr h="274320">
                <a:tc>
                  <a:txBody>
                    <a:bodyPr/>
                    <a:lstStyle/>
                    <a:p>
                      <a:pPr algn="l"/>
                      <a:r>
                        <a:rPr sz="1050" b="1">
                          <a:solidFill>
                            <a:srgbClr val="1B2430"/>
                          </a:solidFill>
                          <a:latin typeface="Calibri"/>
                        </a:rPr>
                        <a:t>SQL integration (read &amp; write)</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Four tables, MERGE-based upserts</a:t>
                      </a:r>
                    </a:p>
                  </a:txBody>
                  <a:tcPr marL="128016" marT="27432" marB="27432" anchor="ctr">
                    <a:solidFill>
                      <a:srgbClr val="FFFFFF"/>
                    </a:solidFill>
                  </a:tcPr>
                </a:tc>
                <a:extLst>
                  <a:ext uri="{0D108BD9-81ED-4DB2-BD59-A6C34878D82A}">
                    <a16:rowId xmlns:a16="http://schemas.microsoft.com/office/drawing/2014/main" val="10007"/>
                  </a:ext>
                </a:extLst>
              </a:tr>
              <a:tr h="274320">
                <a:tc>
                  <a:txBody>
                    <a:bodyPr/>
                    <a:lstStyle/>
                    <a:p>
                      <a:pPr algn="l"/>
                      <a:r>
                        <a:rPr sz="1050" b="1">
                          <a:solidFill>
                            <a:srgbClr val="1B2430"/>
                          </a:solidFill>
                          <a:latin typeface="Calibri"/>
                        </a:rPr>
                        <a:t>C# service integration</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Model.dll and Logic.dll, .NET 10</a:t>
                      </a:r>
                    </a:p>
                  </a:txBody>
                  <a:tcPr marL="128016" marT="27432" marB="27432" anchor="ctr">
                    <a:solidFill>
                      <a:srgbClr val="F7F9FA"/>
                    </a:solidFill>
                  </a:tcPr>
                </a:tc>
                <a:extLst>
                  <a:ext uri="{0D108BD9-81ED-4DB2-BD59-A6C34878D82A}">
                    <a16:rowId xmlns:a16="http://schemas.microsoft.com/office/drawing/2014/main" val="10008"/>
                  </a:ext>
                </a:extLst>
              </a:tr>
              <a:tr h="274320">
                <a:tc>
                  <a:txBody>
                    <a:bodyPr/>
                    <a:lstStyle/>
                    <a:p>
                      <a:pPr algn="l"/>
                      <a:r>
                        <a:rPr sz="1050" b="1">
                          <a:solidFill>
                            <a:srgbClr val="1B2430"/>
                          </a:solidFill>
                          <a:latin typeface="Calibri"/>
                        </a:rPr>
                        <a:t>Incremental learning</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Device type applies immediately</a:t>
                      </a:r>
                    </a:p>
                  </a:txBody>
                  <a:tcPr marL="128016" marT="27432" marB="27432" anchor="ctr">
                    <a:solidFill>
                      <a:srgbClr val="FFFFFF"/>
                    </a:solidFill>
                  </a:tcPr>
                </a:tc>
                <a:extLst>
                  <a:ext uri="{0D108BD9-81ED-4DB2-BD59-A6C34878D82A}">
                    <a16:rowId xmlns:a16="http://schemas.microsoft.com/office/drawing/2014/main" val="10009"/>
                  </a:ext>
                </a:extLst>
              </a:tr>
              <a:tr h="274320">
                <a:tc>
                  <a:txBody>
                    <a:bodyPr/>
                    <a:lstStyle/>
                    <a:p>
                      <a:pPr algn="l"/>
                      <a:r>
                        <a:rPr sz="1050" b="1">
                          <a:solidFill>
                            <a:srgbClr val="1B2430"/>
                          </a:solidFill>
                          <a:latin typeface="Calibri"/>
                        </a:rPr>
                        <a:t>Unattended / scheduled runs</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Headless mode, no prompts</a:t>
                      </a:r>
                    </a:p>
                  </a:txBody>
                  <a:tcPr marL="128016" marT="27432" marB="27432" anchor="ctr">
                    <a:solidFill>
                      <a:srgbClr val="F7F9FA"/>
                    </a:solidFill>
                  </a:tcPr>
                </a:tc>
                <a:extLst>
                  <a:ext uri="{0D108BD9-81ED-4DB2-BD59-A6C34878D82A}">
                    <a16:rowId xmlns:a16="http://schemas.microsoft.com/office/drawing/2014/main" val="10010"/>
                  </a:ext>
                </a:extLst>
              </a:tr>
              <a:tr h="274320">
                <a:tc>
                  <a:txBody>
                    <a:bodyPr/>
                    <a:lstStyle/>
                    <a:p>
                      <a:pPr algn="l"/>
                      <a:r>
                        <a:rPr sz="1050" b="1">
                          <a:solidFill>
                            <a:srgbClr val="1B2430"/>
                          </a:solidFill>
                          <a:latin typeface="Calibri"/>
                        </a:rPr>
                        <a:t>Handover package &amp; documentation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DLLs, models, SQL scripts, API reference</a:t>
                      </a:r>
                    </a:p>
                  </a:txBody>
                  <a:tcPr marL="128016" marT="27432" marB="27432" anchor="ctr">
                    <a:solidFill>
                      <a:srgbClr val="FFFFFF"/>
                    </a:solidFill>
                  </a:tcPr>
                </a:tc>
                <a:extLst>
                  <a:ext uri="{0D108BD9-81ED-4DB2-BD59-A6C34878D82A}">
                    <a16:rowId xmlns:a16="http://schemas.microsoft.com/office/drawing/2014/main" val="10011"/>
                  </a:ext>
                </a:extLst>
              </a:tr>
              <a:tr h="274320">
                <a:tc>
                  <a:txBody>
                    <a:bodyPr/>
                    <a:lstStyle/>
                    <a:p>
                      <a:pPr algn="l"/>
                      <a:r>
                        <a:rPr sz="1050" b="1">
                          <a:solidFill>
                            <a:srgbClr val="1B2430"/>
                          </a:solidFill>
                          <a:latin typeface="Calibri"/>
                        </a:rPr>
                        <a:t>Quota reference data</a:t>
                      </a:r>
                    </a:p>
                  </a:txBody>
                  <a:tcPr marL="128016" marT="27432" marB="27432" anchor="ctr">
                    <a:solidFill>
                      <a:srgbClr val="F7F9FA"/>
                    </a:solidFill>
                  </a:tcPr>
                </a:tc>
                <a:tc>
                  <a:txBody>
                    <a:bodyPr/>
                    <a:lstStyle/>
                    <a:p>
                      <a:pPr algn="l"/>
                      <a:r>
                        <a:rPr sz="1050" b="1">
                          <a:solidFill>
                            <a:srgbClr val="C46A24"/>
                          </a:solidFill>
                          <a:latin typeface="Calibri"/>
                        </a:rPr>
                        <a:t>Partial</a:t>
                      </a:r>
                    </a:p>
                  </a:txBody>
                  <a:tcPr marL="128016" marT="27432" marB="27432" anchor="ctr">
                    <a:solidFill>
                      <a:srgbClr val="F7F9FA"/>
                    </a:solidFill>
                  </a:tcPr>
                </a:tc>
                <a:tc>
                  <a:txBody>
                    <a:bodyPr/>
                    <a:lstStyle/>
                    <a:p>
                      <a:pPr algn="l"/>
                      <a:r>
                        <a:rPr sz="1050" b="0">
                          <a:solidFill>
                            <a:srgbClr val="4E5A66"/>
                          </a:solidFill>
                          <a:latin typeface="Calibri"/>
                        </a:rPr>
                        <a:t>Real figures for 1 of 8 sections</a:t>
                      </a:r>
                    </a:p>
                  </a:txBody>
                  <a:tcPr marL="128016" marT="27432" marB="27432" anchor="ctr">
                    <a:solidFill>
                      <a:srgbClr val="F7F9FA"/>
                    </a:solidFill>
                  </a:tcPr>
                </a:tc>
                <a:extLst>
                  <a:ext uri="{0D108BD9-81ED-4DB2-BD59-A6C34878D82A}">
                    <a16:rowId xmlns:a16="http://schemas.microsoft.com/office/drawing/2014/main" val="10012"/>
                  </a:ext>
                </a:extLst>
              </a:tr>
              <a:tr h="274320">
                <a:tc>
                  <a:txBody>
                    <a:bodyPr/>
                    <a:lstStyle/>
                    <a:p>
                      <a:pPr algn="l"/>
                      <a:r>
                        <a:rPr sz="1050" b="1">
                          <a:solidFill>
                            <a:srgbClr val="1B2430"/>
                          </a:solidFill>
                          <a:latin typeface="Calibri"/>
                        </a:rPr>
                        <a:t>Accuracy validation</a:t>
                      </a:r>
                    </a:p>
                  </a:txBody>
                  <a:tcPr marL="128016" marT="27432" marB="27432" anchor="ctr">
                    <a:solidFill>
                      <a:srgbClr val="FFFFFF"/>
                    </a:solidFill>
                  </a:tcPr>
                </a:tc>
                <a:tc>
                  <a:txBody>
                    <a:bodyPr/>
                    <a:lstStyle/>
                    <a:p>
                      <a:pPr algn="l"/>
                      <a:r>
                        <a:rPr sz="1050" b="1">
                          <a:solidFill>
                            <a:srgbClr val="7A8792"/>
                          </a:solidFill>
                          <a:latin typeface="Calibri"/>
                        </a:rPr>
                        <a:t>Not started</a:t>
                      </a:r>
                    </a:p>
                  </a:txBody>
                  <a:tcPr marL="128016" marT="27432" marB="27432" anchor="ctr">
                    <a:solidFill>
                      <a:srgbClr val="FFFFFF"/>
                    </a:solidFill>
                  </a:tcPr>
                </a:tc>
                <a:tc>
                  <a:txBody>
                    <a:bodyPr/>
                    <a:lstStyle/>
                    <a:p>
                      <a:pPr algn="l"/>
                      <a:r>
                        <a:rPr sz="1050" b="0">
                          <a:solidFill>
                            <a:srgbClr val="4E5A66"/>
                          </a:solidFill>
                          <a:latin typeface="Calibri"/>
                        </a:rPr>
                        <a:t>Needs a completed project to measure against</a:t>
                      </a:r>
                    </a:p>
                  </a:txBody>
                  <a:tcPr marL="128016" marT="27432" marB="27432" anchor="ctr">
                    <a:solidFill>
                      <a:srgbClr val="FFFFFF"/>
                    </a:solidFill>
                  </a:tcPr>
                </a:tc>
                <a:extLst>
                  <a:ext uri="{0D108BD9-81ED-4DB2-BD59-A6C34878D82A}">
                    <a16:rowId xmlns:a16="http://schemas.microsoft.com/office/drawing/2014/main" val="10013"/>
                  </a:ext>
                </a:extLst>
              </a:tr>
              <a:tr h="274320">
                <a:tc>
                  <a:txBody>
                    <a:bodyPr/>
                    <a:lstStyle/>
                    <a:p>
                      <a:pPr algn="l"/>
                      <a:r>
                        <a:rPr sz="1050" b="1">
                          <a:solidFill>
                            <a:srgbClr val="1B2430"/>
                          </a:solidFill>
                          <a:latin typeface="Calibri"/>
                        </a:rPr>
                        <a:t>Automated test suite</a:t>
                      </a:r>
                    </a:p>
                  </a:txBody>
                  <a:tcPr marL="128016" marT="27432" marB="27432" anchor="ctr">
                    <a:solidFill>
                      <a:srgbClr val="F7F9FA"/>
                    </a:solidFill>
                  </a:tcPr>
                </a:tc>
                <a:tc>
                  <a:txBody>
                    <a:bodyPr/>
                    <a:lstStyle/>
                    <a:p>
                      <a:pPr algn="l"/>
                      <a:r>
                        <a:rPr sz="1050" b="1">
                          <a:solidFill>
                            <a:srgbClr val="7A8792"/>
                          </a:solidFill>
                          <a:latin typeface="Calibri"/>
                        </a:rPr>
                        <a:t>Not started</a:t>
                      </a:r>
                    </a:p>
                  </a:txBody>
                  <a:tcPr marL="128016" marT="27432" marB="27432" anchor="ctr">
                    <a:solidFill>
                      <a:srgbClr val="F7F9FA"/>
                    </a:solidFill>
                  </a:tcPr>
                </a:tc>
                <a:tc>
                  <a:txBody>
                    <a:bodyPr/>
                    <a:lstStyle/>
                    <a:p>
                      <a:pPr algn="l"/>
                      <a:r>
                        <a:rPr sz="1050" b="0">
                          <a:solidFill>
                            <a:srgbClr val="4E5A66"/>
                          </a:solidFill>
                          <a:latin typeface="Calibri"/>
                        </a:rPr>
                        <a:t>Verification is manual live runs today</a:t>
                      </a:r>
                    </a:p>
                  </a:txBody>
                  <a:tcPr marL="128016" marT="27432" marB="27432" anchor="ctr">
                    <a:solidFill>
                      <a:srgbClr val="F7F9FA"/>
                    </a:solidFill>
                  </a:tcPr>
                </a:tc>
                <a:extLst>
                  <a:ext uri="{0D108BD9-81ED-4DB2-BD59-A6C34878D82A}">
                    <a16:rowId xmlns:a16="http://schemas.microsoft.com/office/drawing/2014/main" val="10014"/>
                  </a:ext>
                </a:extLst>
              </a:tr>
              <a:tr h="274320">
                <a:tc>
                  <a:txBody>
                    <a:bodyPr/>
                    <a:lstStyle/>
                    <a:p>
                      <a:pPr algn="l"/>
                      <a:r>
                        <a:rPr sz="1050" b="1">
                          <a:solidFill>
                            <a:srgbClr val="1B2430"/>
                          </a:solidFill>
                          <a:latin typeface="Calibri"/>
                        </a:rPr>
                        <a:t>User interface</a:t>
                      </a:r>
                    </a:p>
                  </a:txBody>
                  <a:tcPr marL="128016" marT="27432" marB="27432" anchor="ctr">
                    <a:solidFill>
                      <a:srgbClr val="FFFFFF"/>
                    </a:solidFill>
                  </a:tcPr>
                </a:tc>
                <a:tc>
                  <a:txBody>
                    <a:bodyPr/>
                    <a:lstStyle/>
                    <a:p>
                      <a:pPr algn="l"/>
                      <a:r>
                        <a:rPr sz="1050" b="1">
                          <a:solidFill>
                            <a:srgbClr val="7A8792"/>
                          </a:solidFill>
                          <a:latin typeface="Calibri"/>
                        </a:rPr>
                        <a:t>Not started</a:t>
                      </a:r>
                    </a:p>
                  </a:txBody>
                  <a:tcPr marL="128016" marT="27432" marB="27432" anchor="ctr">
                    <a:solidFill>
                      <a:srgbClr val="FFFFFF"/>
                    </a:solidFill>
                  </a:tcPr>
                </a:tc>
                <a:tc>
                  <a:txBody>
                    <a:bodyPr/>
                    <a:lstStyle/>
                    <a:p>
                      <a:pPr algn="l"/>
                      <a:r>
                        <a:rPr sz="1050" b="0">
                          <a:solidFill>
                            <a:srgbClr val="4E5A66"/>
                          </a:solidFill>
                          <a:latin typeface="Calibri"/>
                        </a:rPr>
                        <a:t>Handed to software development</a:t>
                      </a:r>
                    </a:p>
                  </a:txBody>
                  <a:tcPr marL="128016" marT="27432" marB="27432" anchor="ctr">
                    <a:solidFill>
                      <a:srgbClr val="FFFFFF"/>
                    </a:solidFill>
                  </a:tcPr>
                </a:tc>
                <a:extLst>
                  <a:ext uri="{0D108BD9-81ED-4DB2-BD59-A6C34878D82A}">
                    <a16:rowId xmlns:a16="http://schemas.microsoft.com/office/drawing/2014/main" val="10015"/>
                  </a:ext>
                </a:extLst>
              </a:tr>
            </a:tbl>
          </a:graphicData>
        </a:graphic>
      </p:graphicFrame>
      <p:sp>
        <p:nvSpPr>
          <p:cNvPr id="6" name="TextBox 5"/>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7" name="TextBox 6"/>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BEB389-9CEC-34F1-DD03-ACDB8519577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AF8E737-0264-407F-B960-B302C0A7065D}"/>
              </a:ext>
            </a:extLst>
          </p:cNvPr>
          <p:cNvPicPr>
            <a:picLocks noChangeAspect="1"/>
          </p:cNvPicPr>
          <p:nvPr/>
        </p:nvPicPr>
        <p:blipFill>
          <a:blip r:embed="rId2"/>
          <a:stretch>
            <a:fillRect/>
          </a:stretch>
        </p:blipFill>
        <p:spPr>
          <a:xfrm>
            <a:off x="1464733" y="651660"/>
            <a:ext cx="9635334" cy="5393539"/>
          </a:xfrm>
          <a:prstGeom prst="rect">
            <a:avLst/>
          </a:prstGeom>
        </p:spPr>
      </p:pic>
    </p:spTree>
    <p:extLst>
      <p:ext uri="{BB962C8B-B14F-4D97-AF65-F5344CB8AC3E}">
        <p14:creationId xmlns:p14="http://schemas.microsoft.com/office/powerpoint/2010/main" val="2095976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39375" y="342900"/>
            <a:ext cx="1533525" cy="257175"/>
          </a:xfrm>
          <a:prstGeom prst="rect">
            <a:avLst/>
          </a:prstGeom>
        </p:spPr>
      </p:pic>
      <p:pic>
        <p:nvPicPr>
          <p:cNvPr id="3" name="Picture 2" descr="image.png"/>
          <p:cNvPicPr>
            <a:picLocks noChangeAspect="1"/>
          </p:cNvPicPr>
          <p:nvPr/>
        </p:nvPicPr>
        <p:blipFill>
          <a:blip r:embed="rId3"/>
          <a:stretch>
            <a:fillRect/>
          </a:stretch>
        </p:blipFill>
        <p:spPr>
          <a:xfrm>
            <a:off x="419100" y="6134100"/>
            <a:ext cx="11353800" cy="381000"/>
          </a:xfrm>
          <a:prstGeom prst="rect">
            <a:avLst/>
          </a:prstGeom>
        </p:spPr>
      </p:pic>
      <p:sp>
        <p:nvSpPr>
          <p:cNvPr id="22" name="TextBox 21"/>
          <p:cNvSpPr txBox="1"/>
          <p:nvPr/>
        </p:nvSpPr>
        <p:spPr>
          <a:xfrm>
            <a:off x="419100" y="342900"/>
            <a:ext cx="3371850" cy="123825"/>
          </a:xfrm>
          <a:prstGeom prst="rect">
            <a:avLst/>
          </a:prstGeom>
          <a:noFill/>
        </p:spPr>
        <p:txBody>
          <a:bodyPr wrap="square" lIns="0" tIns="0" rIns="0" bIns="0" anchor="t">
            <a:spAutoFit/>
          </a:bodyPr>
          <a:lstStyle/>
          <a:p>
            <a:pPr algn="l"/>
            <a:r>
              <a:rPr sz="825" b="0" i="0" u="none">
                <a:solidFill>
                  <a:srgbClr val="0284C7"/>
                </a:solidFill>
                <a:latin typeface="Plus Jakarta Sans ExtraBold"/>
              </a:rPr>
              <a:t>OPERATING ARCHITECTURE</a:t>
            </a:r>
          </a:p>
        </p:txBody>
      </p:sp>
      <p:sp>
        <p:nvSpPr>
          <p:cNvPr id="23" name="TextBox 22"/>
          <p:cNvSpPr txBox="1"/>
          <p:nvPr/>
        </p:nvSpPr>
        <p:spPr>
          <a:xfrm>
            <a:off x="3176587" y="614862"/>
            <a:ext cx="5618776" cy="492443"/>
          </a:xfrm>
          <a:prstGeom prst="rect">
            <a:avLst/>
          </a:prstGeom>
          <a:noFill/>
        </p:spPr>
        <p:txBody>
          <a:bodyPr wrap="square" lIns="0" tIns="0" rIns="0" bIns="0" anchor="t">
            <a:spAutoFit/>
          </a:bodyPr>
          <a:lstStyle/>
          <a:p>
            <a:pPr algn="ctr"/>
            <a:r>
              <a:rPr sz="3200" b="1" i="0" u="none" dirty="0">
                <a:solidFill>
                  <a:srgbClr val="0F172A"/>
                </a:solidFill>
                <a:latin typeface="Cambria" panose="02040503050406030204" pitchFamily="18" charset="0"/>
                <a:ea typeface="Cambria" panose="02040503050406030204" pitchFamily="18" charset="0"/>
              </a:rPr>
              <a:t>System Execution Flowchart</a:t>
            </a:r>
          </a:p>
        </p:txBody>
      </p:sp>
      <p:pic>
        <p:nvPicPr>
          <p:cNvPr id="24" name="Picture 23" descr="image.png"/>
          <p:cNvPicPr>
            <a:picLocks noChangeAspect="1"/>
          </p:cNvPicPr>
          <p:nvPr/>
        </p:nvPicPr>
        <p:blipFill>
          <a:blip r:embed="rId4"/>
          <a:stretch>
            <a:fillRect/>
          </a:stretch>
        </p:blipFill>
        <p:spPr>
          <a:xfrm>
            <a:off x="10297376" y="414337"/>
            <a:ext cx="114300" cy="114300"/>
          </a:xfrm>
          <a:prstGeom prst="rect">
            <a:avLst/>
          </a:prstGeom>
        </p:spPr>
      </p:pic>
      <p:sp>
        <p:nvSpPr>
          <p:cNvPr id="25" name="TextBox 24"/>
          <p:cNvSpPr txBox="1"/>
          <p:nvPr/>
        </p:nvSpPr>
        <p:spPr>
          <a:xfrm>
            <a:off x="1708150" y="6229350"/>
            <a:ext cx="6943725" cy="190500"/>
          </a:xfrm>
          <a:prstGeom prst="rect">
            <a:avLst/>
          </a:prstGeom>
          <a:noFill/>
        </p:spPr>
        <p:txBody>
          <a:bodyPr wrap="square" lIns="0" tIns="0" rIns="0" bIns="0" anchor="ctr">
            <a:spAutoFit/>
          </a:bodyPr>
          <a:lstStyle/>
          <a:p>
            <a:pPr algn="l"/>
            <a:r>
              <a:rPr sz="900" b="0" i="0" u="none" dirty="0">
                <a:solidFill>
                  <a:srgbClr val="CBD5E1"/>
                </a:solidFill>
                <a:latin typeface="Inter"/>
              </a:rPr>
              <a:t>The system runs flexibly in 3 modes while automatically outputting clean assignments vs. review exceptions.</a:t>
            </a:r>
          </a:p>
        </p:txBody>
      </p:sp>
      <p:pic>
        <p:nvPicPr>
          <p:cNvPr id="27" name="Picture 26" descr="image.png"/>
          <p:cNvPicPr>
            <a:picLocks noChangeAspect="1"/>
          </p:cNvPicPr>
          <p:nvPr/>
        </p:nvPicPr>
        <p:blipFill>
          <a:blip r:embed="rId5"/>
          <a:stretch>
            <a:fillRect/>
          </a:stretch>
        </p:blipFill>
        <p:spPr>
          <a:xfrm>
            <a:off x="2609850" y="2790824"/>
            <a:ext cx="275272" cy="309681"/>
          </a:xfrm>
          <a:prstGeom prst="rect">
            <a:avLst/>
          </a:prstGeom>
        </p:spPr>
      </p:pic>
      <p:pic>
        <p:nvPicPr>
          <p:cNvPr id="28" name="Picture 27" descr="image.png"/>
          <p:cNvPicPr>
            <a:picLocks noChangeAspect="1"/>
          </p:cNvPicPr>
          <p:nvPr/>
        </p:nvPicPr>
        <p:blipFill>
          <a:blip r:embed="rId5"/>
          <a:stretch>
            <a:fillRect/>
          </a:stretch>
        </p:blipFill>
        <p:spPr>
          <a:xfrm>
            <a:off x="6581775" y="2804666"/>
            <a:ext cx="311150" cy="350044"/>
          </a:xfrm>
          <a:prstGeom prst="rect">
            <a:avLst/>
          </a:prstGeom>
        </p:spPr>
      </p:pic>
      <p:pic>
        <p:nvPicPr>
          <p:cNvPr id="29" name="Picture 28" descr="image.png"/>
          <p:cNvPicPr>
            <a:picLocks noChangeAspect="1"/>
          </p:cNvPicPr>
          <p:nvPr/>
        </p:nvPicPr>
        <p:blipFill>
          <a:blip r:embed="rId5"/>
          <a:stretch>
            <a:fillRect/>
          </a:stretch>
        </p:blipFill>
        <p:spPr>
          <a:xfrm rot="19673521">
            <a:off x="9250040" y="2626597"/>
            <a:ext cx="244602" cy="275177"/>
          </a:xfrm>
          <a:prstGeom prst="rect">
            <a:avLst/>
          </a:prstGeom>
        </p:spPr>
      </p:pic>
      <p:pic>
        <p:nvPicPr>
          <p:cNvPr id="30" name="Picture 29" descr="image.png"/>
          <p:cNvPicPr>
            <a:picLocks noChangeAspect="1"/>
          </p:cNvPicPr>
          <p:nvPr/>
        </p:nvPicPr>
        <p:blipFill>
          <a:blip r:embed="rId6"/>
          <a:stretch>
            <a:fillRect/>
          </a:stretch>
        </p:blipFill>
        <p:spPr>
          <a:xfrm>
            <a:off x="590550" y="6229350"/>
            <a:ext cx="1019175" cy="190500"/>
          </a:xfrm>
          <a:prstGeom prst="rect">
            <a:avLst/>
          </a:prstGeom>
        </p:spPr>
      </p:pic>
      <p:grpSp>
        <p:nvGrpSpPr>
          <p:cNvPr id="65" name="Group 64">
            <a:extLst>
              <a:ext uri="{FF2B5EF4-FFF2-40B4-BE49-F238E27FC236}">
                <a16:creationId xmlns:a16="http://schemas.microsoft.com/office/drawing/2014/main" id="{41BA4EC3-AE71-3C48-5EA7-526D186D47B9}"/>
              </a:ext>
            </a:extLst>
          </p:cNvPr>
          <p:cNvGrpSpPr/>
          <p:nvPr/>
        </p:nvGrpSpPr>
        <p:grpSpPr>
          <a:xfrm>
            <a:off x="6988175" y="2032718"/>
            <a:ext cx="2108200" cy="1753940"/>
            <a:chOff x="6629400" y="2456110"/>
            <a:chExt cx="1905000" cy="1602878"/>
          </a:xfrm>
        </p:grpSpPr>
        <p:pic>
          <p:nvPicPr>
            <p:cNvPr id="9" name="Picture 8" descr="image.png"/>
            <p:cNvPicPr>
              <a:picLocks noChangeAspect="1"/>
            </p:cNvPicPr>
            <p:nvPr/>
          </p:nvPicPr>
          <p:blipFill>
            <a:blip r:embed="rId7"/>
            <a:stretch>
              <a:fillRect/>
            </a:stretch>
          </p:blipFill>
          <p:spPr>
            <a:xfrm>
              <a:off x="6629400" y="2456110"/>
              <a:ext cx="1905000" cy="257175"/>
            </a:xfrm>
            <a:prstGeom prst="rect">
              <a:avLst/>
            </a:prstGeom>
          </p:spPr>
        </p:pic>
        <p:pic>
          <p:nvPicPr>
            <p:cNvPr id="10" name="Picture 9" descr="image.png"/>
            <p:cNvPicPr>
              <a:picLocks noChangeAspect="1"/>
            </p:cNvPicPr>
            <p:nvPr/>
          </p:nvPicPr>
          <p:blipFill>
            <a:blip r:embed="rId8"/>
            <a:stretch>
              <a:fillRect/>
            </a:stretch>
          </p:blipFill>
          <p:spPr>
            <a:xfrm>
              <a:off x="6629400" y="2865685"/>
              <a:ext cx="1905000" cy="1193303"/>
            </a:xfrm>
            <a:prstGeom prst="rect">
              <a:avLst/>
            </a:prstGeom>
          </p:spPr>
        </p:pic>
        <p:pic>
          <p:nvPicPr>
            <p:cNvPr id="40" name="Picture 39" descr="image.png"/>
            <p:cNvPicPr>
              <a:picLocks noChangeAspect="1"/>
            </p:cNvPicPr>
            <p:nvPr/>
          </p:nvPicPr>
          <p:blipFill>
            <a:blip r:embed="rId9"/>
            <a:stretch>
              <a:fillRect/>
            </a:stretch>
          </p:blipFill>
          <p:spPr>
            <a:xfrm>
              <a:off x="6724650" y="2527548"/>
              <a:ext cx="122039" cy="114300"/>
            </a:xfrm>
            <a:prstGeom prst="rect">
              <a:avLst/>
            </a:prstGeom>
          </p:spPr>
        </p:pic>
        <p:sp>
          <p:nvSpPr>
            <p:cNvPr id="41" name="TextBox 40"/>
            <p:cNvSpPr txBox="1"/>
            <p:nvPr/>
          </p:nvSpPr>
          <p:spPr>
            <a:xfrm>
              <a:off x="6800850" y="3046660"/>
              <a:ext cx="1590675" cy="154698"/>
            </a:xfrm>
            <a:prstGeom prst="rect">
              <a:avLst/>
            </a:prstGeom>
            <a:noFill/>
          </p:spPr>
          <p:txBody>
            <a:bodyPr wrap="square" lIns="0" tIns="0" rIns="0" bIns="0" anchor="t">
              <a:spAutoFit/>
            </a:bodyPr>
            <a:lstStyle/>
            <a:p>
              <a:pPr algn="l"/>
              <a:r>
                <a:rPr sz="1100" b="0" i="0" u="none" dirty="0">
                  <a:solidFill>
                    <a:srgbClr val="7C3AED"/>
                  </a:solidFill>
                  <a:latin typeface="Inter ExtraBold"/>
                </a:rPr>
                <a:t>CORE ENGINE</a:t>
              </a:r>
            </a:p>
          </p:txBody>
        </p:sp>
        <p:sp>
          <p:nvSpPr>
            <p:cNvPr id="42" name="TextBox 41"/>
            <p:cNvSpPr txBox="1"/>
            <p:nvPr/>
          </p:nvSpPr>
          <p:spPr>
            <a:xfrm>
              <a:off x="6800850" y="3202674"/>
              <a:ext cx="1590675" cy="154698"/>
            </a:xfrm>
            <a:prstGeom prst="rect">
              <a:avLst/>
            </a:prstGeom>
            <a:noFill/>
          </p:spPr>
          <p:txBody>
            <a:bodyPr wrap="square" lIns="0" tIns="0" rIns="0" bIns="0" anchor="ctr">
              <a:spAutoFit/>
            </a:bodyPr>
            <a:lstStyle/>
            <a:p>
              <a:pPr algn="l"/>
              <a:r>
                <a:rPr sz="1100" b="1" i="0" u="none" dirty="0">
                  <a:solidFill>
                    <a:srgbClr val="0F172A"/>
                  </a:solidFill>
                  <a:latin typeface="Plus Jakarta Sans"/>
                </a:rPr>
                <a:t>ML Service Prediction</a:t>
              </a:r>
            </a:p>
          </p:txBody>
        </p:sp>
        <p:sp>
          <p:nvSpPr>
            <p:cNvPr id="43" name="TextBox 42"/>
            <p:cNvSpPr txBox="1"/>
            <p:nvPr/>
          </p:nvSpPr>
          <p:spPr>
            <a:xfrm>
              <a:off x="6800850" y="3418135"/>
              <a:ext cx="1590675" cy="421903"/>
            </a:xfrm>
            <a:prstGeom prst="rect">
              <a:avLst/>
            </a:prstGeom>
            <a:noFill/>
          </p:spPr>
          <p:txBody>
            <a:bodyPr wrap="square" lIns="0" tIns="0" rIns="0" bIns="0" anchor="t">
              <a:spAutoFit/>
            </a:bodyPr>
            <a:lstStyle/>
            <a:p>
              <a:pPr algn="l">
                <a:lnSpc>
                  <a:spcPts val="1207"/>
                </a:lnSpc>
              </a:pPr>
              <a:r>
                <a:rPr sz="1100" b="0" i="0" u="none" dirty="0">
                  <a:solidFill>
                    <a:srgbClr val="475569"/>
                  </a:solidFill>
                  <a:latin typeface="Inter"/>
                </a:rPr>
                <a:t>Runs prediction model via </a:t>
              </a:r>
              <a:r>
                <a:rPr sz="1100" b="0" i="0" u="none" dirty="0">
                  <a:solidFill>
                    <a:srgbClr val="0F172A"/>
                  </a:solidFill>
                  <a:latin typeface="Inter SemiBold"/>
                </a:rPr>
                <a:t>H</a:t>
              </a:r>
              <a:r>
                <a:rPr lang="en-MY" sz="1100" b="0" i="0" u="none" dirty="0">
                  <a:solidFill>
                    <a:srgbClr val="0F172A"/>
                  </a:solidFill>
                  <a:latin typeface="Inter SemiBold"/>
                </a:rPr>
                <a:t>TTP</a:t>
              </a:r>
              <a:r>
                <a:rPr sz="1100" b="0" i="0" u="none" dirty="0" err="1">
                  <a:solidFill>
                    <a:srgbClr val="0F172A"/>
                  </a:solidFill>
                  <a:latin typeface="Inter SemiBold"/>
                </a:rPr>
                <a:t>PredictionClient</a:t>
              </a:r>
              <a:r>
                <a:rPr sz="1100" b="0" i="0" u="none" dirty="0">
                  <a:solidFill>
                    <a:srgbClr val="475569"/>
                  </a:solidFill>
                  <a:latin typeface="Inter"/>
                </a:rPr>
                <a:t> to evaluate device clusters.</a:t>
              </a:r>
            </a:p>
          </p:txBody>
        </p:sp>
      </p:grpSp>
      <p:grpSp>
        <p:nvGrpSpPr>
          <p:cNvPr id="64" name="Group 63">
            <a:extLst>
              <a:ext uri="{FF2B5EF4-FFF2-40B4-BE49-F238E27FC236}">
                <a16:creationId xmlns:a16="http://schemas.microsoft.com/office/drawing/2014/main" id="{8F557BEA-444D-1DE1-62AF-FE13290336F0}"/>
              </a:ext>
            </a:extLst>
          </p:cNvPr>
          <p:cNvGrpSpPr/>
          <p:nvPr/>
        </p:nvGrpSpPr>
        <p:grpSpPr>
          <a:xfrm>
            <a:off x="9603317" y="1683246"/>
            <a:ext cx="2000250" cy="257175"/>
            <a:chOff x="8877300" y="2064246"/>
            <a:chExt cx="2000250" cy="257175"/>
          </a:xfrm>
        </p:grpSpPr>
        <p:pic>
          <p:nvPicPr>
            <p:cNvPr id="11" name="Picture 10" descr="image.png"/>
            <p:cNvPicPr>
              <a:picLocks noChangeAspect="1"/>
            </p:cNvPicPr>
            <p:nvPr/>
          </p:nvPicPr>
          <p:blipFill>
            <a:blip r:embed="rId10"/>
            <a:stretch>
              <a:fillRect/>
            </a:stretch>
          </p:blipFill>
          <p:spPr>
            <a:xfrm>
              <a:off x="8877300" y="2064246"/>
              <a:ext cx="2000250" cy="257175"/>
            </a:xfrm>
            <a:prstGeom prst="rect">
              <a:avLst/>
            </a:prstGeom>
          </p:spPr>
        </p:pic>
        <p:pic>
          <p:nvPicPr>
            <p:cNvPr id="44" name="Picture 43" descr="image.png"/>
            <p:cNvPicPr>
              <a:picLocks noChangeAspect="1"/>
            </p:cNvPicPr>
            <p:nvPr/>
          </p:nvPicPr>
          <p:blipFill>
            <a:blip r:embed="rId11"/>
            <a:stretch>
              <a:fillRect/>
            </a:stretch>
          </p:blipFill>
          <p:spPr>
            <a:xfrm>
              <a:off x="8972550" y="2135683"/>
              <a:ext cx="112514" cy="114300"/>
            </a:xfrm>
            <a:prstGeom prst="rect">
              <a:avLst/>
            </a:prstGeom>
          </p:spPr>
        </p:pic>
      </p:grpSp>
      <p:pic>
        <p:nvPicPr>
          <p:cNvPr id="4" name="Picture 3" descr="image.png"/>
          <p:cNvPicPr>
            <a:picLocks noChangeAspect="1"/>
          </p:cNvPicPr>
          <p:nvPr/>
        </p:nvPicPr>
        <p:blipFill>
          <a:blip r:embed="rId12"/>
          <a:stretch>
            <a:fillRect/>
          </a:stretch>
        </p:blipFill>
        <p:spPr>
          <a:xfrm>
            <a:off x="342900" y="1735950"/>
            <a:ext cx="2095500" cy="257175"/>
          </a:xfrm>
          <a:prstGeom prst="rect">
            <a:avLst/>
          </a:prstGeom>
        </p:spPr>
      </p:pic>
      <p:pic>
        <p:nvPicPr>
          <p:cNvPr id="5" name="Picture 4" descr="image.png"/>
          <p:cNvPicPr>
            <a:picLocks noChangeAspect="1"/>
          </p:cNvPicPr>
          <p:nvPr/>
        </p:nvPicPr>
        <p:blipFill>
          <a:blip r:embed="rId13"/>
          <a:stretch>
            <a:fillRect/>
          </a:stretch>
        </p:blipFill>
        <p:spPr>
          <a:xfrm>
            <a:off x="342900" y="2145525"/>
            <a:ext cx="2095500" cy="906660"/>
          </a:xfrm>
          <a:prstGeom prst="rect">
            <a:avLst/>
          </a:prstGeom>
        </p:spPr>
      </p:pic>
      <p:pic>
        <p:nvPicPr>
          <p:cNvPr id="6" name="Picture 5" descr="image.png"/>
          <p:cNvPicPr>
            <a:picLocks noChangeAspect="1"/>
          </p:cNvPicPr>
          <p:nvPr/>
        </p:nvPicPr>
        <p:blipFill>
          <a:blip r:embed="rId14"/>
          <a:stretch>
            <a:fillRect/>
          </a:stretch>
        </p:blipFill>
        <p:spPr>
          <a:xfrm>
            <a:off x="342900" y="3166486"/>
            <a:ext cx="2095500" cy="1260872"/>
          </a:xfrm>
          <a:prstGeom prst="rect">
            <a:avLst/>
          </a:prstGeom>
        </p:spPr>
      </p:pic>
      <p:pic>
        <p:nvPicPr>
          <p:cNvPr id="32" name="Picture 31" descr="image.png"/>
          <p:cNvPicPr>
            <a:picLocks noChangeAspect="1"/>
          </p:cNvPicPr>
          <p:nvPr/>
        </p:nvPicPr>
        <p:blipFill>
          <a:blip r:embed="rId15"/>
          <a:stretch>
            <a:fillRect/>
          </a:stretch>
        </p:blipFill>
        <p:spPr>
          <a:xfrm>
            <a:off x="438150" y="1807388"/>
            <a:ext cx="122039" cy="114300"/>
          </a:xfrm>
          <a:prstGeom prst="rect">
            <a:avLst/>
          </a:prstGeom>
        </p:spPr>
      </p:pic>
      <p:sp>
        <p:nvSpPr>
          <p:cNvPr id="33" name="TextBox 32"/>
          <p:cNvSpPr txBox="1"/>
          <p:nvPr/>
        </p:nvSpPr>
        <p:spPr>
          <a:xfrm>
            <a:off x="485775" y="2269350"/>
            <a:ext cx="1809750" cy="169277"/>
          </a:xfrm>
          <a:prstGeom prst="rect">
            <a:avLst/>
          </a:prstGeom>
          <a:noFill/>
        </p:spPr>
        <p:txBody>
          <a:bodyPr wrap="square" lIns="0" tIns="0" rIns="0" bIns="0" anchor="t">
            <a:spAutoFit/>
          </a:bodyPr>
          <a:lstStyle/>
          <a:p>
            <a:pPr algn="l"/>
            <a:r>
              <a:rPr sz="1100" b="0" i="0" u="none">
                <a:solidFill>
                  <a:srgbClr val="64748B"/>
                </a:solidFill>
                <a:latin typeface="Inter ExtraBold"/>
              </a:rPr>
              <a:t>STEP 01</a:t>
            </a:r>
          </a:p>
        </p:txBody>
      </p:sp>
      <p:sp>
        <p:nvSpPr>
          <p:cNvPr id="34" name="TextBox 33"/>
          <p:cNvSpPr txBox="1"/>
          <p:nvPr/>
        </p:nvSpPr>
        <p:spPr>
          <a:xfrm>
            <a:off x="466725" y="2412636"/>
            <a:ext cx="1676400" cy="169277"/>
          </a:xfrm>
          <a:prstGeom prst="rect">
            <a:avLst/>
          </a:prstGeom>
          <a:noFill/>
        </p:spPr>
        <p:txBody>
          <a:bodyPr wrap="square" lIns="0" tIns="0" rIns="0" bIns="0" anchor="ctr">
            <a:spAutoFit/>
          </a:bodyPr>
          <a:lstStyle/>
          <a:p>
            <a:pPr algn="l"/>
            <a:r>
              <a:rPr sz="1100" b="1" i="0" u="none" dirty="0">
                <a:solidFill>
                  <a:srgbClr val="0F172A"/>
                </a:solidFill>
                <a:latin typeface="Plus Jakarta Sans"/>
              </a:rPr>
              <a:t>Prerequisites</a:t>
            </a:r>
          </a:p>
        </p:txBody>
      </p:sp>
      <p:sp>
        <p:nvSpPr>
          <p:cNvPr id="35" name="TextBox 34"/>
          <p:cNvSpPr txBox="1"/>
          <p:nvPr/>
        </p:nvSpPr>
        <p:spPr>
          <a:xfrm>
            <a:off x="438150" y="2625962"/>
            <a:ext cx="1809750" cy="306585"/>
          </a:xfrm>
          <a:prstGeom prst="rect">
            <a:avLst/>
          </a:prstGeom>
          <a:noFill/>
        </p:spPr>
        <p:txBody>
          <a:bodyPr wrap="square" lIns="0" tIns="0" rIns="0" bIns="0" anchor="t">
            <a:spAutoFit/>
          </a:bodyPr>
          <a:lstStyle/>
          <a:p>
            <a:pPr algn="l">
              <a:lnSpc>
                <a:spcPts val="1207"/>
              </a:lnSpc>
            </a:pPr>
            <a:r>
              <a:rPr sz="1100" b="0" i="0" u="none" dirty="0">
                <a:solidFill>
                  <a:srgbClr val="475569"/>
                </a:solidFill>
                <a:latin typeface="Inter"/>
              </a:rPr>
              <a:t>.NET 10 (Win x64), </a:t>
            </a:r>
            <a:r>
              <a:rPr sz="1100" b="0" i="0" u="none" dirty="0" err="1">
                <a:solidFill>
                  <a:srgbClr val="475569"/>
                </a:solidFill>
                <a:latin typeface="Inter"/>
              </a:rPr>
              <a:t>XenCreator</a:t>
            </a:r>
            <a:r>
              <a:rPr sz="1100" b="0" i="0" u="none" dirty="0">
                <a:solidFill>
                  <a:srgbClr val="475569"/>
                </a:solidFill>
                <a:latin typeface="Inter"/>
              </a:rPr>
              <a:t> DB &amp; ML Network Access.</a:t>
            </a:r>
          </a:p>
        </p:txBody>
      </p:sp>
      <p:sp>
        <p:nvSpPr>
          <p:cNvPr id="36" name="TextBox 35"/>
          <p:cNvSpPr txBox="1"/>
          <p:nvPr/>
        </p:nvSpPr>
        <p:spPr>
          <a:xfrm>
            <a:off x="485775" y="3290311"/>
            <a:ext cx="1809750" cy="169277"/>
          </a:xfrm>
          <a:prstGeom prst="rect">
            <a:avLst/>
          </a:prstGeom>
          <a:noFill/>
        </p:spPr>
        <p:txBody>
          <a:bodyPr wrap="square" lIns="0" tIns="0" rIns="0" bIns="0" anchor="t">
            <a:spAutoFit/>
          </a:bodyPr>
          <a:lstStyle/>
          <a:p>
            <a:pPr algn="l"/>
            <a:r>
              <a:rPr sz="1100" b="0" i="0" u="none">
                <a:solidFill>
                  <a:srgbClr val="64748B"/>
                </a:solidFill>
                <a:latin typeface="Inter ExtraBold"/>
              </a:rPr>
              <a:t>STEP 02</a:t>
            </a:r>
          </a:p>
        </p:txBody>
      </p:sp>
      <p:sp>
        <p:nvSpPr>
          <p:cNvPr id="37" name="TextBox 36"/>
          <p:cNvSpPr txBox="1"/>
          <p:nvPr/>
        </p:nvSpPr>
        <p:spPr>
          <a:xfrm>
            <a:off x="457200" y="3434272"/>
            <a:ext cx="1695450" cy="169277"/>
          </a:xfrm>
          <a:prstGeom prst="rect">
            <a:avLst/>
          </a:prstGeom>
          <a:noFill/>
        </p:spPr>
        <p:txBody>
          <a:bodyPr wrap="square" lIns="0" tIns="0" rIns="0" bIns="0" anchor="ctr">
            <a:spAutoFit/>
          </a:bodyPr>
          <a:lstStyle/>
          <a:p>
            <a:pPr algn="l"/>
            <a:r>
              <a:rPr sz="1100" b="1" i="0" u="none" dirty="0">
                <a:solidFill>
                  <a:srgbClr val="0F172A"/>
                </a:solidFill>
                <a:latin typeface="Plus Jakarta Sans"/>
              </a:rPr>
              <a:t>DB Tables Init</a:t>
            </a:r>
          </a:p>
        </p:txBody>
      </p:sp>
      <p:sp>
        <p:nvSpPr>
          <p:cNvPr id="38" name="TextBox 37"/>
          <p:cNvSpPr txBox="1"/>
          <p:nvPr/>
        </p:nvSpPr>
        <p:spPr>
          <a:xfrm>
            <a:off x="485775" y="3642736"/>
            <a:ext cx="1809750" cy="615553"/>
          </a:xfrm>
          <a:prstGeom prst="rect">
            <a:avLst/>
          </a:prstGeom>
          <a:noFill/>
        </p:spPr>
        <p:txBody>
          <a:bodyPr wrap="square" lIns="0" tIns="0" rIns="0" bIns="0" anchor="t">
            <a:spAutoFit/>
          </a:bodyPr>
          <a:lstStyle/>
          <a:p>
            <a:pPr>
              <a:lnSpc>
                <a:spcPts val="1207"/>
              </a:lnSpc>
            </a:pPr>
            <a:r>
              <a:rPr sz="1100" b="0" i="0" u="none" dirty="0">
                <a:solidFill>
                  <a:srgbClr val="475569"/>
                </a:solidFill>
                <a:latin typeface="Inter"/>
              </a:rPr>
              <a:t>Run </a:t>
            </a:r>
            <a:r>
              <a:rPr lang="en-MY" sz="1100" b="1" dirty="0" err="1">
                <a:solidFill>
                  <a:srgbClr val="4E5A66"/>
                </a:solidFill>
              </a:rPr>
              <a:t>PatternCluster.sql</a:t>
            </a:r>
            <a:r>
              <a:rPr lang="en-MY" sz="1100" dirty="0">
                <a:solidFill>
                  <a:srgbClr val="4E5A66"/>
                </a:solidFill>
              </a:rPr>
              <a:t>, </a:t>
            </a:r>
            <a:r>
              <a:rPr lang="en-MY" sz="1100" b="1" dirty="0" err="1">
                <a:solidFill>
                  <a:srgbClr val="4E5A66"/>
                </a:solidFill>
              </a:rPr>
              <a:t>DeviceReviewQueue.sql</a:t>
            </a:r>
            <a:r>
              <a:rPr lang="en-MY" sz="1100" b="1" dirty="0">
                <a:solidFill>
                  <a:srgbClr val="4E5A66"/>
                </a:solidFill>
              </a:rPr>
              <a:t> </a:t>
            </a:r>
            <a:r>
              <a:rPr lang="en-MY" sz="1100" dirty="0">
                <a:solidFill>
                  <a:srgbClr val="4E5A66"/>
                </a:solidFill>
              </a:rPr>
              <a:t>and </a:t>
            </a:r>
            <a:r>
              <a:rPr lang="en-MY" sz="1100" b="1" dirty="0" err="1">
                <a:solidFill>
                  <a:srgbClr val="4E5A66"/>
                </a:solidFill>
              </a:rPr>
              <a:t>OutputDeviceAssignment.sql</a:t>
            </a:r>
            <a:r>
              <a:rPr lang="en-MY" sz="1100" b="1" dirty="0">
                <a:solidFill>
                  <a:srgbClr val="4E5A66"/>
                </a:solidFill>
              </a:rPr>
              <a:t> </a:t>
            </a:r>
            <a:r>
              <a:rPr lang="en-MY" sz="1100" dirty="0">
                <a:solidFill>
                  <a:srgbClr val="4E5A66"/>
                </a:solidFill>
              </a:rPr>
              <a:t>once</a:t>
            </a:r>
            <a:r>
              <a:rPr sz="1100" b="0" i="0" u="none" dirty="0">
                <a:solidFill>
                  <a:srgbClr val="475569"/>
                </a:solidFill>
                <a:latin typeface="Inter"/>
              </a:rPr>
              <a:t>(Guarded &amp; Safe).</a:t>
            </a:r>
          </a:p>
        </p:txBody>
      </p:sp>
      <p:pic>
        <p:nvPicPr>
          <p:cNvPr id="49" name="Picture 48" descr="image.png"/>
          <p:cNvPicPr>
            <a:picLocks noChangeAspect="1"/>
          </p:cNvPicPr>
          <p:nvPr/>
        </p:nvPicPr>
        <p:blipFill>
          <a:blip r:embed="rId16"/>
          <a:stretch>
            <a:fillRect/>
          </a:stretch>
        </p:blipFill>
        <p:spPr>
          <a:xfrm>
            <a:off x="2162175" y="2438419"/>
            <a:ext cx="133350" cy="128587"/>
          </a:xfrm>
          <a:prstGeom prst="rect">
            <a:avLst/>
          </a:prstGeom>
        </p:spPr>
      </p:pic>
      <p:pic>
        <p:nvPicPr>
          <p:cNvPr id="50" name="Picture 49" descr="image.png"/>
          <p:cNvPicPr>
            <a:picLocks noChangeAspect="1"/>
          </p:cNvPicPr>
          <p:nvPr/>
        </p:nvPicPr>
        <p:blipFill>
          <a:blip r:embed="rId17"/>
          <a:stretch>
            <a:fillRect/>
          </a:stretch>
        </p:blipFill>
        <p:spPr>
          <a:xfrm>
            <a:off x="2181225" y="3459380"/>
            <a:ext cx="114300" cy="128587"/>
          </a:xfrm>
          <a:prstGeom prst="rect">
            <a:avLst/>
          </a:prstGeom>
        </p:spPr>
      </p:pic>
      <p:grpSp>
        <p:nvGrpSpPr>
          <p:cNvPr id="70" name="Group 69">
            <a:extLst>
              <a:ext uri="{FF2B5EF4-FFF2-40B4-BE49-F238E27FC236}">
                <a16:creationId xmlns:a16="http://schemas.microsoft.com/office/drawing/2014/main" id="{998B6EE1-6D6E-D051-E4DB-DFF29B5E07F4}"/>
              </a:ext>
            </a:extLst>
          </p:cNvPr>
          <p:cNvGrpSpPr/>
          <p:nvPr/>
        </p:nvGrpSpPr>
        <p:grpSpPr>
          <a:xfrm>
            <a:off x="3043237" y="1397598"/>
            <a:ext cx="3473450" cy="2901206"/>
            <a:chOff x="2857500" y="1810245"/>
            <a:chExt cx="3473450" cy="2901206"/>
          </a:xfrm>
        </p:grpSpPr>
        <p:pic>
          <p:nvPicPr>
            <p:cNvPr id="7" name="Picture 6" descr="image.png"/>
            <p:cNvPicPr>
              <a:picLocks noChangeAspect="1"/>
            </p:cNvPicPr>
            <p:nvPr/>
          </p:nvPicPr>
          <p:blipFill>
            <a:blip r:embed="rId18"/>
            <a:stretch>
              <a:fillRect/>
            </a:stretch>
          </p:blipFill>
          <p:spPr>
            <a:xfrm>
              <a:off x="2901950" y="1810245"/>
              <a:ext cx="3429000" cy="276225"/>
            </a:xfrm>
            <a:prstGeom prst="rect">
              <a:avLst/>
            </a:prstGeom>
          </p:spPr>
        </p:pic>
        <p:pic>
          <p:nvPicPr>
            <p:cNvPr id="8" name="Picture 7" descr="image.png"/>
            <p:cNvPicPr>
              <a:picLocks noChangeAspect="1"/>
            </p:cNvPicPr>
            <p:nvPr/>
          </p:nvPicPr>
          <p:blipFill>
            <a:blip r:embed="rId19"/>
            <a:stretch>
              <a:fillRect/>
            </a:stretch>
          </p:blipFill>
          <p:spPr>
            <a:xfrm>
              <a:off x="2857500" y="2232273"/>
              <a:ext cx="3429000" cy="2479178"/>
            </a:xfrm>
            <a:prstGeom prst="rect">
              <a:avLst/>
            </a:prstGeom>
          </p:spPr>
        </p:pic>
        <p:pic>
          <p:nvPicPr>
            <p:cNvPr id="14" name="Picture 13" descr="image.png"/>
            <p:cNvPicPr>
              <a:picLocks noChangeAspect="1"/>
            </p:cNvPicPr>
            <p:nvPr/>
          </p:nvPicPr>
          <p:blipFill>
            <a:blip r:embed="rId20"/>
            <a:stretch>
              <a:fillRect/>
            </a:stretch>
          </p:blipFill>
          <p:spPr>
            <a:xfrm>
              <a:off x="2990850" y="2365623"/>
              <a:ext cx="3162300" cy="686692"/>
            </a:xfrm>
            <a:prstGeom prst="rect">
              <a:avLst/>
            </a:prstGeom>
          </p:spPr>
        </p:pic>
        <p:pic>
          <p:nvPicPr>
            <p:cNvPr id="15" name="Picture 14" descr="image.png"/>
            <p:cNvPicPr>
              <a:picLocks noChangeAspect="1"/>
            </p:cNvPicPr>
            <p:nvPr/>
          </p:nvPicPr>
          <p:blipFill>
            <a:blip r:embed="rId21"/>
            <a:stretch>
              <a:fillRect/>
            </a:stretch>
          </p:blipFill>
          <p:spPr>
            <a:xfrm>
              <a:off x="2990850" y="3128516"/>
              <a:ext cx="3162300" cy="686692"/>
            </a:xfrm>
            <a:prstGeom prst="rect">
              <a:avLst/>
            </a:prstGeom>
          </p:spPr>
        </p:pic>
        <p:pic>
          <p:nvPicPr>
            <p:cNvPr id="16" name="Picture 15" descr="image.png"/>
            <p:cNvPicPr>
              <a:picLocks noChangeAspect="1"/>
            </p:cNvPicPr>
            <p:nvPr/>
          </p:nvPicPr>
          <p:blipFill>
            <a:blip r:embed="rId22"/>
            <a:stretch>
              <a:fillRect/>
            </a:stretch>
          </p:blipFill>
          <p:spPr>
            <a:xfrm>
              <a:off x="2990850" y="3891408"/>
              <a:ext cx="3162300" cy="686692"/>
            </a:xfrm>
            <a:prstGeom prst="rect">
              <a:avLst/>
            </a:prstGeom>
          </p:spPr>
        </p:pic>
        <p:pic>
          <p:nvPicPr>
            <p:cNvPr id="19" name="Picture 18" descr="image.png"/>
            <p:cNvPicPr>
              <a:picLocks noChangeAspect="1"/>
            </p:cNvPicPr>
            <p:nvPr/>
          </p:nvPicPr>
          <p:blipFill>
            <a:blip r:embed="rId23"/>
            <a:stretch>
              <a:fillRect/>
            </a:stretch>
          </p:blipFill>
          <p:spPr>
            <a:xfrm>
              <a:off x="3124200" y="2804666"/>
              <a:ext cx="1200447" cy="161925"/>
            </a:xfrm>
            <a:prstGeom prst="rect">
              <a:avLst/>
            </a:prstGeom>
          </p:spPr>
        </p:pic>
        <p:pic>
          <p:nvPicPr>
            <p:cNvPr id="20" name="Picture 19" descr="image.png"/>
            <p:cNvPicPr>
              <a:picLocks noChangeAspect="1"/>
            </p:cNvPicPr>
            <p:nvPr/>
          </p:nvPicPr>
          <p:blipFill>
            <a:blip r:embed="rId24"/>
            <a:stretch>
              <a:fillRect/>
            </a:stretch>
          </p:blipFill>
          <p:spPr>
            <a:xfrm>
              <a:off x="3124200" y="3567558"/>
              <a:ext cx="1028848" cy="161925"/>
            </a:xfrm>
            <a:prstGeom prst="rect">
              <a:avLst/>
            </a:prstGeom>
          </p:spPr>
        </p:pic>
        <p:pic>
          <p:nvPicPr>
            <p:cNvPr id="21" name="Picture 20" descr="image.png"/>
            <p:cNvPicPr>
              <a:picLocks noChangeAspect="1"/>
            </p:cNvPicPr>
            <p:nvPr/>
          </p:nvPicPr>
          <p:blipFill>
            <a:blip r:embed="rId25"/>
            <a:stretch>
              <a:fillRect/>
            </a:stretch>
          </p:blipFill>
          <p:spPr>
            <a:xfrm>
              <a:off x="3124200" y="4330451"/>
              <a:ext cx="1314747" cy="161925"/>
            </a:xfrm>
            <a:prstGeom prst="rect">
              <a:avLst/>
            </a:prstGeom>
          </p:spPr>
        </p:pic>
        <p:pic>
          <p:nvPicPr>
            <p:cNvPr id="39" name="Picture 38" descr="image.png"/>
            <p:cNvPicPr>
              <a:picLocks noChangeAspect="1"/>
            </p:cNvPicPr>
            <p:nvPr/>
          </p:nvPicPr>
          <p:blipFill>
            <a:blip r:embed="rId26"/>
            <a:stretch>
              <a:fillRect/>
            </a:stretch>
          </p:blipFill>
          <p:spPr>
            <a:xfrm>
              <a:off x="2962275" y="1884610"/>
              <a:ext cx="93464" cy="114300"/>
            </a:xfrm>
            <a:prstGeom prst="rect">
              <a:avLst/>
            </a:prstGeom>
          </p:spPr>
        </p:pic>
        <p:sp>
          <p:nvSpPr>
            <p:cNvPr id="51" name="TextBox 50"/>
            <p:cNvSpPr txBox="1"/>
            <p:nvPr/>
          </p:nvSpPr>
          <p:spPr>
            <a:xfrm>
              <a:off x="3124200" y="2438147"/>
              <a:ext cx="2924175" cy="169277"/>
            </a:xfrm>
            <a:prstGeom prst="rect">
              <a:avLst/>
            </a:prstGeom>
            <a:noFill/>
          </p:spPr>
          <p:txBody>
            <a:bodyPr wrap="square" lIns="0" tIns="0" rIns="0" bIns="0" anchor="ctr">
              <a:spAutoFit/>
            </a:bodyPr>
            <a:lstStyle/>
            <a:p>
              <a:pPr algn="l"/>
              <a:r>
                <a:rPr sz="1100" b="1" i="0" u="none" dirty="0">
                  <a:solidFill>
                    <a:srgbClr val="0F172A"/>
                  </a:solidFill>
                  <a:latin typeface="Inter"/>
                </a:rPr>
                <a:t>A. Interactive CLI</a:t>
              </a:r>
            </a:p>
          </p:txBody>
        </p:sp>
        <p:sp>
          <p:nvSpPr>
            <p:cNvPr id="52" name="TextBox 51"/>
            <p:cNvSpPr txBox="1"/>
            <p:nvPr/>
          </p:nvSpPr>
          <p:spPr>
            <a:xfrm>
              <a:off x="3124200" y="2594223"/>
              <a:ext cx="2924175" cy="153292"/>
            </a:xfrm>
            <a:prstGeom prst="rect">
              <a:avLst/>
            </a:prstGeom>
            <a:noFill/>
          </p:spPr>
          <p:txBody>
            <a:bodyPr wrap="square" lIns="0" tIns="0" rIns="0" bIns="0" anchor="t">
              <a:spAutoFit/>
            </a:bodyPr>
            <a:lstStyle/>
            <a:p>
              <a:pPr algn="l">
                <a:lnSpc>
                  <a:spcPts val="1207"/>
                </a:lnSpc>
              </a:pPr>
              <a:r>
                <a:rPr sz="1100" b="0" i="0" u="none" dirty="0">
                  <a:solidFill>
                    <a:srgbClr val="475569"/>
                  </a:solidFill>
                  <a:latin typeface="Inter"/>
                </a:rPr>
                <a:t>Manual prompt launcher with auto URL binding.</a:t>
              </a:r>
            </a:p>
          </p:txBody>
        </p:sp>
        <p:sp>
          <p:nvSpPr>
            <p:cNvPr id="53" name="TextBox 52"/>
            <p:cNvSpPr txBox="1"/>
            <p:nvPr/>
          </p:nvSpPr>
          <p:spPr>
            <a:xfrm>
              <a:off x="3124200" y="3201040"/>
              <a:ext cx="2924175" cy="169277"/>
            </a:xfrm>
            <a:prstGeom prst="rect">
              <a:avLst/>
            </a:prstGeom>
            <a:noFill/>
          </p:spPr>
          <p:txBody>
            <a:bodyPr wrap="square" lIns="0" tIns="0" rIns="0" bIns="0" anchor="ctr">
              <a:spAutoFit/>
            </a:bodyPr>
            <a:lstStyle/>
            <a:p>
              <a:pPr algn="l"/>
              <a:r>
                <a:rPr sz="1100" b="1" i="0" u="none">
                  <a:solidFill>
                    <a:srgbClr val="0F172A"/>
                  </a:solidFill>
                  <a:latin typeface="Inter"/>
                </a:rPr>
                <a:t>B. Headless (Unattended)</a:t>
              </a:r>
            </a:p>
          </p:txBody>
        </p:sp>
        <p:sp>
          <p:nvSpPr>
            <p:cNvPr id="54" name="TextBox 53"/>
            <p:cNvSpPr txBox="1"/>
            <p:nvPr/>
          </p:nvSpPr>
          <p:spPr>
            <a:xfrm>
              <a:off x="3124200" y="3357116"/>
              <a:ext cx="2924175" cy="153292"/>
            </a:xfrm>
            <a:prstGeom prst="rect">
              <a:avLst/>
            </a:prstGeom>
            <a:noFill/>
          </p:spPr>
          <p:txBody>
            <a:bodyPr wrap="square" lIns="0" tIns="0" rIns="0" bIns="0" anchor="t">
              <a:spAutoFit/>
            </a:bodyPr>
            <a:lstStyle/>
            <a:p>
              <a:pPr algn="l">
                <a:lnSpc>
                  <a:spcPts val="1207"/>
                </a:lnSpc>
              </a:pPr>
              <a:r>
                <a:rPr sz="1100" b="0" i="0" u="none">
                  <a:solidFill>
                    <a:srgbClr val="475569"/>
                  </a:solidFill>
                  <a:latin typeface="Inter"/>
                </a:rPr>
                <a:t>Automated batch for scheduled nightly jobs.</a:t>
              </a:r>
            </a:p>
          </p:txBody>
        </p:sp>
        <p:sp>
          <p:nvSpPr>
            <p:cNvPr id="55" name="TextBox 54"/>
            <p:cNvSpPr txBox="1"/>
            <p:nvPr/>
          </p:nvSpPr>
          <p:spPr>
            <a:xfrm>
              <a:off x="3124200" y="3963932"/>
              <a:ext cx="2924175" cy="169277"/>
            </a:xfrm>
            <a:prstGeom prst="rect">
              <a:avLst/>
            </a:prstGeom>
            <a:noFill/>
          </p:spPr>
          <p:txBody>
            <a:bodyPr wrap="square" lIns="0" tIns="0" rIns="0" bIns="0" anchor="ctr">
              <a:spAutoFit/>
            </a:bodyPr>
            <a:lstStyle/>
            <a:p>
              <a:pPr algn="l"/>
              <a:r>
                <a:rPr sz="1100" b="1" i="0" u="none">
                  <a:solidFill>
                    <a:srgbClr val="0F172A"/>
                  </a:solidFill>
                  <a:latin typeface="Inter"/>
                </a:rPr>
                <a:t>C. Custom UI / API</a:t>
              </a:r>
            </a:p>
          </p:txBody>
        </p:sp>
        <p:sp>
          <p:nvSpPr>
            <p:cNvPr id="56" name="TextBox 55"/>
            <p:cNvSpPr txBox="1"/>
            <p:nvPr/>
          </p:nvSpPr>
          <p:spPr>
            <a:xfrm>
              <a:off x="3124200" y="4120008"/>
              <a:ext cx="2924175" cy="153292"/>
            </a:xfrm>
            <a:prstGeom prst="rect">
              <a:avLst/>
            </a:prstGeom>
            <a:noFill/>
          </p:spPr>
          <p:txBody>
            <a:bodyPr wrap="square" lIns="0" tIns="0" rIns="0" bIns="0" anchor="t">
              <a:spAutoFit/>
            </a:bodyPr>
            <a:lstStyle/>
            <a:p>
              <a:pPr algn="l">
                <a:lnSpc>
                  <a:spcPts val="1207"/>
                </a:lnSpc>
              </a:pPr>
              <a:r>
                <a:rPr sz="1100" b="0" i="0" u="none">
                  <a:solidFill>
                    <a:srgbClr val="475569"/>
                  </a:solidFill>
                  <a:latin typeface="Inter"/>
                </a:rPr>
                <a:t>Programmatic integration into custom apps.</a:t>
              </a:r>
            </a:p>
          </p:txBody>
        </p:sp>
        <p:pic>
          <p:nvPicPr>
            <p:cNvPr id="57" name="Picture 56" descr="image.png"/>
            <p:cNvPicPr>
              <a:picLocks noChangeAspect="1"/>
            </p:cNvPicPr>
            <p:nvPr/>
          </p:nvPicPr>
          <p:blipFill>
            <a:blip r:embed="rId27"/>
            <a:stretch>
              <a:fillRect/>
            </a:stretch>
          </p:blipFill>
          <p:spPr>
            <a:xfrm>
              <a:off x="5915025" y="2465635"/>
              <a:ext cx="133350" cy="114300"/>
            </a:xfrm>
            <a:prstGeom prst="rect">
              <a:avLst/>
            </a:prstGeom>
          </p:spPr>
        </p:pic>
        <p:pic>
          <p:nvPicPr>
            <p:cNvPr id="58" name="Picture 57" descr="image.png"/>
            <p:cNvPicPr>
              <a:picLocks noChangeAspect="1"/>
            </p:cNvPicPr>
            <p:nvPr/>
          </p:nvPicPr>
          <p:blipFill>
            <a:blip r:embed="rId28"/>
            <a:stretch>
              <a:fillRect/>
            </a:stretch>
          </p:blipFill>
          <p:spPr>
            <a:xfrm>
              <a:off x="5934075" y="3228528"/>
              <a:ext cx="114300" cy="114300"/>
            </a:xfrm>
            <a:prstGeom prst="rect">
              <a:avLst/>
            </a:prstGeom>
          </p:spPr>
        </p:pic>
        <p:pic>
          <p:nvPicPr>
            <p:cNvPr id="59" name="Picture 58" descr="image.png"/>
            <p:cNvPicPr>
              <a:picLocks noChangeAspect="1"/>
            </p:cNvPicPr>
            <p:nvPr/>
          </p:nvPicPr>
          <p:blipFill>
            <a:blip r:embed="rId29"/>
            <a:stretch>
              <a:fillRect/>
            </a:stretch>
          </p:blipFill>
          <p:spPr>
            <a:xfrm>
              <a:off x="5905500" y="3991421"/>
              <a:ext cx="142875" cy="114300"/>
            </a:xfrm>
            <a:prstGeom prst="rect">
              <a:avLst/>
            </a:prstGeom>
          </p:spPr>
        </p:pic>
      </p:grpSp>
      <p:grpSp>
        <p:nvGrpSpPr>
          <p:cNvPr id="63" name="Group 62">
            <a:extLst>
              <a:ext uri="{FF2B5EF4-FFF2-40B4-BE49-F238E27FC236}">
                <a16:creationId xmlns:a16="http://schemas.microsoft.com/office/drawing/2014/main" id="{ACC51D4E-A2DB-C73E-3C00-0D500D1BA578}"/>
              </a:ext>
            </a:extLst>
          </p:cNvPr>
          <p:cNvGrpSpPr/>
          <p:nvPr/>
        </p:nvGrpSpPr>
        <p:grpSpPr>
          <a:xfrm>
            <a:off x="9603317" y="2102147"/>
            <a:ext cx="2000250" cy="931366"/>
            <a:chOff x="8877300" y="2473821"/>
            <a:chExt cx="2000250" cy="931366"/>
          </a:xfrm>
        </p:grpSpPr>
        <p:pic>
          <p:nvPicPr>
            <p:cNvPr id="12" name="Picture 11" descr="image.png"/>
            <p:cNvPicPr>
              <a:picLocks noChangeAspect="1"/>
            </p:cNvPicPr>
            <p:nvPr/>
          </p:nvPicPr>
          <p:blipFill>
            <a:blip r:embed="rId30"/>
            <a:stretch>
              <a:fillRect/>
            </a:stretch>
          </p:blipFill>
          <p:spPr>
            <a:xfrm>
              <a:off x="8877300" y="2473821"/>
              <a:ext cx="2000250" cy="931366"/>
            </a:xfrm>
            <a:prstGeom prst="rect">
              <a:avLst/>
            </a:prstGeom>
          </p:spPr>
        </p:pic>
        <p:pic>
          <p:nvPicPr>
            <p:cNvPr id="17" name="Picture 16" descr="image.png"/>
            <p:cNvPicPr>
              <a:picLocks noChangeAspect="1"/>
            </p:cNvPicPr>
            <p:nvPr/>
          </p:nvPicPr>
          <p:blipFill>
            <a:blip r:embed="rId31"/>
            <a:stretch>
              <a:fillRect/>
            </a:stretch>
          </p:blipFill>
          <p:spPr>
            <a:xfrm>
              <a:off x="9001125" y="3119437"/>
              <a:ext cx="1526232" cy="161925"/>
            </a:xfrm>
            <a:prstGeom prst="rect">
              <a:avLst/>
            </a:prstGeom>
          </p:spPr>
        </p:pic>
        <p:sp>
          <p:nvSpPr>
            <p:cNvPr id="45" name="TextBox 44"/>
            <p:cNvSpPr txBox="1"/>
            <p:nvPr/>
          </p:nvSpPr>
          <p:spPr>
            <a:xfrm>
              <a:off x="9220200" y="2594862"/>
              <a:ext cx="1419225" cy="169277"/>
            </a:xfrm>
            <a:prstGeom prst="rect">
              <a:avLst/>
            </a:prstGeom>
            <a:noFill/>
          </p:spPr>
          <p:txBody>
            <a:bodyPr wrap="square" lIns="0" tIns="0" rIns="0" bIns="0" anchor="ctr">
              <a:spAutoFit/>
            </a:bodyPr>
            <a:lstStyle/>
            <a:p>
              <a:pPr algn="l"/>
              <a:r>
                <a:rPr sz="1100" b="1" i="0" u="none" dirty="0">
                  <a:solidFill>
                    <a:srgbClr val="15803D"/>
                  </a:solidFill>
                  <a:latin typeface="Plus Jakarta Sans"/>
                </a:rPr>
                <a:t> Placed Devices</a:t>
              </a:r>
            </a:p>
          </p:txBody>
        </p:sp>
        <p:sp>
          <p:nvSpPr>
            <p:cNvPr id="46" name="TextBox 45"/>
            <p:cNvSpPr txBox="1"/>
            <p:nvPr/>
          </p:nvSpPr>
          <p:spPr>
            <a:xfrm>
              <a:off x="9001125" y="2788146"/>
              <a:ext cx="1752600" cy="307777"/>
            </a:xfrm>
            <a:prstGeom prst="rect">
              <a:avLst/>
            </a:prstGeom>
            <a:noFill/>
          </p:spPr>
          <p:txBody>
            <a:bodyPr wrap="square" lIns="0" tIns="0" rIns="0" bIns="0" anchor="t">
              <a:spAutoFit/>
            </a:bodyPr>
            <a:lstStyle/>
            <a:p>
              <a:pPr algn="l">
                <a:lnSpc>
                  <a:spcPts val="1155"/>
                </a:lnSpc>
              </a:pPr>
              <a:r>
                <a:rPr sz="1100" b="0" i="0" u="none" dirty="0">
                  <a:solidFill>
                    <a:srgbClr val="475569"/>
                  </a:solidFill>
                  <a:latin typeface="Inter"/>
                </a:rPr>
                <a:t>Assigned devices automatically written to:</a:t>
              </a:r>
            </a:p>
          </p:txBody>
        </p:sp>
        <p:pic>
          <p:nvPicPr>
            <p:cNvPr id="60" name="Picture 59" descr="image.png"/>
            <p:cNvPicPr>
              <a:picLocks noChangeAspect="1"/>
            </p:cNvPicPr>
            <p:nvPr/>
          </p:nvPicPr>
          <p:blipFill>
            <a:blip r:embed="rId32"/>
            <a:stretch>
              <a:fillRect/>
            </a:stretch>
          </p:blipFill>
          <p:spPr>
            <a:xfrm>
              <a:off x="9001125" y="2626221"/>
              <a:ext cx="123825" cy="119062"/>
            </a:xfrm>
            <a:prstGeom prst="rect">
              <a:avLst/>
            </a:prstGeom>
          </p:spPr>
        </p:pic>
      </p:grpSp>
      <p:grpSp>
        <p:nvGrpSpPr>
          <p:cNvPr id="62" name="Group 61">
            <a:extLst>
              <a:ext uri="{FF2B5EF4-FFF2-40B4-BE49-F238E27FC236}">
                <a16:creationId xmlns:a16="http://schemas.microsoft.com/office/drawing/2014/main" id="{F9188055-467B-C075-4E35-30D2E696F9EF}"/>
              </a:ext>
            </a:extLst>
          </p:cNvPr>
          <p:cNvGrpSpPr/>
          <p:nvPr/>
        </p:nvGrpSpPr>
        <p:grpSpPr>
          <a:xfrm>
            <a:off x="9603317" y="3268660"/>
            <a:ext cx="2000250" cy="1193302"/>
            <a:chOff x="8877300" y="3519487"/>
            <a:chExt cx="2000250" cy="931366"/>
          </a:xfrm>
        </p:grpSpPr>
        <p:pic>
          <p:nvPicPr>
            <p:cNvPr id="13" name="Picture 12" descr="image.png"/>
            <p:cNvPicPr>
              <a:picLocks noChangeAspect="1"/>
            </p:cNvPicPr>
            <p:nvPr/>
          </p:nvPicPr>
          <p:blipFill>
            <a:blip r:embed="rId33"/>
            <a:stretch>
              <a:fillRect/>
            </a:stretch>
          </p:blipFill>
          <p:spPr>
            <a:xfrm>
              <a:off x="8877300" y="3519487"/>
              <a:ext cx="2000250" cy="931366"/>
            </a:xfrm>
            <a:prstGeom prst="rect">
              <a:avLst/>
            </a:prstGeom>
          </p:spPr>
        </p:pic>
        <p:pic>
          <p:nvPicPr>
            <p:cNvPr id="18" name="Picture 17" descr="image.png"/>
            <p:cNvPicPr>
              <a:picLocks noChangeAspect="1"/>
            </p:cNvPicPr>
            <p:nvPr/>
          </p:nvPicPr>
          <p:blipFill>
            <a:blip r:embed="rId34"/>
            <a:stretch>
              <a:fillRect/>
            </a:stretch>
          </p:blipFill>
          <p:spPr>
            <a:xfrm>
              <a:off x="9001125" y="4165103"/>
              <a:ext cx="1254769" cy="161925"/>
            </a:xfrm>
            <a:prstGeom prst="rect">
              <a:avLst/>
            </a:prstGeom>
          </p:spPr>
        </p:pic>
        <p:sp>
          <p:nvSpPr>
            <p:cNvPr id="47" name="TextBox 46"/>
            <p:cNvSpPr txBox="1"/>
            <p:nvPr/>
          </p:nvSpPr>
          <p:spPr>
            <a:xfrm>
              <a:off x="9158287" y="3670120"/>
              <a:ext cx="1097607" cy="132120"/>
            </a:xfrm>
            <a:prstGeom prst="rect">
              <a:avLst/>
            </a:prstGeom>
            <a:noFill/>
          </p:spPr>
          <p:txBody>
            <a:bodyPr wrap="square" lIns="0" tIns="0" rIns="0" bIns="0" anchor="ctr">
              <a:spAutoFit/>
            </a:bodyPr>
            <a:lstStyle/>
            <a:p>
              <a:pPr algn="l"/>
              <a:r>
                <a:rPr sz="1100" b="1" i="0" u="none" dirty="0">
                  <a:solidFill>
                    <a:srgbClr val="B45309"/>
                  </a:solidFill>
                  <a:latin typeface="Plus Jakarta Sans"/>
                </a:rPr>
                <a:t> Review Queue</a:t>
              </a:r>
            </a:p>
          </p:txBody>
        </p:sp>
        <p:sp>
          <p:nvSpPr>
            <p:cNvPr id="48" name="TextBox 47"/>
            <p:cNvSpPr txBox="1"/>
            <p:nvPr/>
          </p:nvSpPr>
          <p:spPr>
            <a:xfrm>
              <a:off x="9001125" y="3833812"/>
              <a:ext cx="1752600" cy="240218"/>
            </a:xfrm>
            <a:prstGeom prst="rect">
              <a:avLst/>
            </a:prstGeom>
            <a:noFill/>
          </p:spPr>
          <p:txBody>
            <a:bodyPr wrap="square" lIns="0" tIns="0" rIns="0" bIns="0" anchor="t">
              <a:spAutoFit/>
            </a:bodyPr>
            <a:lstStyle/>
            <a:p>
              <a:pPr algn="l">
                <a:lnSpc>
                  <a:spcPts val="1155"/>
                </a:lnSpc>
              </a:pPr>
              <a:r>
                <a:rPr sz="1100" b="0" i="0" u="none" dirty="0">
                  <a:solidFill>
                    <a:srgbClr val="475569"/>
                  </a:solidFill>
                  <a:latin typeface="Inter"/>
                </a:rPr>
                <a:t>Exceptions routed for manual human review:</a:t>
              </a:r>
            </a:p>
          </p:txBody>
        </p:sp>
        <p:pic>
          <p:nvPicPr>
            <p:cNvPr id="61" name="Picture 60" descr="image.png"/>
            <p:cNvPicPr>
              <a:picLocks noChangeAspect="1"/>
            </p:cNvPicPr>
            <p:nvPr/>
          </p:nvPicPr>
          <p:blipFill>
            <a:blip r:embed="rId35"/>
            <a:stretch>
              <a:fillRect/>
            </a:stretch>
          </p:blipFill>
          <p:spPr>
            <a:xfrm>
              <a:off x="9001125" y="3671887"/>
              <a:ext cx="123825" cy="119062"/>
            </a:xfrm>
            <a:prstGeom prst="rect">
              <a:avLst/>
            </a:prstGeom>
          </p:spPr>
        </p:pic>
      </p:grpSp>
      <p:sp>
        <p:nvSpPr>
          <p:cNvPr id="72" name="TextBox 71">
            <a:extLst>
              <a:ext uri="{FF2B5EF4-FFF2-40B4-BE49-F238E27FC236}">
                <a16:creationId xmlns:a16="http://schemas.microsoft.com/office/drawing/2014/main" id="{4CDFF962-6F79-8AB3-10FE-2B3042A6810D}"/>
              </a:ext>
            </a:extLst>
          </p:cNvPr>
          <p:cNvSpPr txBox="1"/>
          <p:nvPr/>
        </p:nvSpPr>
        <p:spPr>
          <a:xfrm>
            <a:off x="9850967" y="1684277"/>
            <a:ext cx="1061094" cy="246221"/>
          </a:xfrm>
          <a:prstGeom prst="rect">
            <a:avLst/>
          </a:prstGeom>
          <a:solidFill>
            <a:srgbClr val="DCFCE7"/>
          </a:solidFill>
        </p:spPr>
        <p:txBody>
          <a:bodyPr wrap="square" rtlCol="0">
            <a:spAutoFit/>
          </a:bodyPr>
          <a:lstStyle/>
          <a:p>
            <a:r>
              <a:rPr lang="en-MY" sz="1000" dirty="0">
                <a:solidFill>
                  <a:srgbClr val="15803D"/>
                </a:solidFill>
                <a:latin typeface="Arial Black" panose="020B0A04020102020204" pitchFamily="34" charset="0"/>
                <a:ea typeface="Cambria" panose="02040503050406030204" pitchFamily="18" charset="0"/>
              </a:rPr>
              <a:t>OUTPUT</a:t>
            </a:r>
          </a:p>
        </p:txBody>
      </p:sp>
      <p:pic>
        <p:nvPicPr>
          <p:cNvPr id="74" name="Picture 73" descr="image.png">
            <a:extLst>
              <a:ext uri="{FF2B5EF4-FFF2-40B4-BE49-F238E27FC236}">
                <a16:creationId xmlns:a16="http://schemas.microsoft.com/office/drawing/2014/main" id="{957B4031-804B-1939-ADCE-AAC90EFD9F75}"/>
              </a:ext>
            </a:extLst>
          </p:cNvPr>
          <p:cNvPicPr>
            <a:picLocks noChangeAspect="1"/>
          </p:cNvPicPr>
          <p:nvPr/>
        </p:nvPicPr>
        <p:blipFill>
          <a:blip r:embed="rId5"/>
          <a:stretch>
            <a:fillRect/>
          </a:stretch>
        </p:blipFill>
        <p:spPr>
          <a:xfrm rot="1811366">
            <a:off x="9226994" y="3450378"/>
            <a:ext cx="244602" cy="275177"/>
          </a:xfrm>
          <a:prstGeom prst="rect">
            <a:avLst/>
          </a:prstGeom>
        </p:spPr>
      </p:pic>
      <p:sp>
        <p:nvSpPr>
          <p:cNvPr id="75" name="TextBox 74">
            <a:extLst>
              <a:ext uri="{FF2B5EF4-FFF2-40B4-BE49-F238E27FC236}">
                <a16:creationId xmlns:a16="http://schemas.microsoft.com/office/drawing/2014/main" id="{09F2C55B-B7AD-E4E7-7C29-47A43C9FB879}"/>
              </a:ext>
            </a:extLst>
          </p:cNvPr>
          <p:cNvSpPr txBox="1"/>
          <p:nvPr/>
        </p:nvSpPr>
        <p:spPr>
          <a:xfrm>
            <a:off x="560189" y="5308854"/>
            <a:ext cx="1478353" cy="369332"/>
          </a:xfrm>
          <a:prstGeom prst="rect">
            <a:avLst/>
          </a:prstGeom>
          <a:noFill/>
        </p:spPr>
        <p:txBody>
          <a:bodyPr wrap="none" rtlCol="0">
            <a:spAutoFit/>
          </a:bodyPr>
          <a:lstStyle/>
          <a:p>
            <a:r>
              <a:rPr lang="en-MY" dirty="0">
                <a:hlinkClick r:id="rId36"/>
              </a:rPr>
              <a:t>Flowchart.md</a:t>
            </a:r>
            <a:endParaRPr lang="en-MY"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12  ·  HANDOVER</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What the software developer needs</a:t>
            </a:r>
          </a:p>
        </p:txBody>
      </p:sp>
      <p:sp>
        <p:nvSpPr>
          <p:cNvPr id="4" name="Rounded Rectangle 3"/>
          <p:cNvSpPr/>
          <p:nvPr/>
        </p:nvSpPr>
        <p:spPr>
          <a:xfrm>
            <a:off x="5486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82295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1</a:t>
            </a:r>
          </a:p>
        </p:txBody>
      </p:sp>
      <p:sp>
        <p:nvSpPr>
          <p:cNvPr id="7" name="TextBox 6"/>
          <p:cNvSpPr txBox="1"/>
          <p:nvPr/>
        </p:nvSpPr>
        <p:spPr>
          <a:xfrm>
            <a:off x="82295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two class libraries</a:t>
            </a:r>
          </a:p>
        </p:txBody>
      </p:sp>
      <p:sp>
        <p:nvSpPr>
          <p:cNvPr id="8" name="TextBox 7"/>
          <p:cNvSpPr txBox="1"/>
          <p:nvPr/>
        </p:nvSpPr>
        <p:spPr>
          <a:xfrm>
            <a:off x="820674" y="2627479"/>
            <a:ext cx="3017520" cy="430887"/>
          </a:xfrm>
          <a:prstGeom prst="rect">
            <a:avLst/>
          </a:prstGeom>
          <a:noFill/>
        </p:spPr>
        <p:txBody>
          <a:bodyPr wrap="square" lIns="0" tIns="0" rIns="0" bIns="0" anchor="t">
            <a:spAutoFit/>
          </a:bodyPr>
          <a:lstStyle/>
          <a:p>
            <a:pPr algn="l"/>
            <a:r>
              <a:rPr sz="1400" b="1" i="0" dirty="0">
                <a:solidFill>
                  <a:srgbClr val="4E5A66"/>
                </a:solidFill>
                <a:highlight>
                  <a:srgbClr val="FFFF00"/>
                </a:highlight>
                <a:latin typeface="Calibri"/>
              </a:rPr>
              <a:t>Model.dll </a:t>
            </a:r>
            <a:r>
              <a:rPr sz="1400" b="0" i="0" dirty="0">
                <a:solidFill>
                  <a:srgbClr val="4E5A66"/>
                </a:solidFill>
                <a:latin typeface="Calibri"/>
              </a:rPr>
              <a:t>and </a:t>
            </a:r>
            <a:r>
              <a:rPr sz="1400" b="1" i="0" dirty="0">
                <a:solidFill>
                  <a:srgbClr val="4E5A66"/>
                </a:solidFill>
                <a:highlight>
                  <a:srgbClr val="FFFF00"/>
                </a:highlight>
                <a:latin typeface="Calibri"/>
              </a:rPr>
              <a:t>Logic.dll</a:t>
            </a:r>
            <a:r>
              <a:rPr sz="1400" b="0" i="0" dirty="0">
                <a:solidFill>
                  <a:srgbClr val="4E5A66"/>
                </a:solidFill>
                <a:latin typeface="Calibri"/>
              </a:rPr>
              <a:t>, .NET 10, Windows x64, plus 22 dependencies.</a:t>
            </a:r>
          </a:p>
        </p:txBody>
      </p:sp>
      <p:sp>
        <p:nvSpPr>
          <p:cNvPr id="9" name="Rounded Rectangle 8"/>
          <p:cNvSpPr/>
          <p:nvPr/>
        </p:nvSpPr>
        <p:spPr>
          <a:xfrm>
            <a:off x="426339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453770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770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2</a:t>
            </a:r>
          </a:p>
        </p:txBody>
      </p:sp>
      <p:sp>
        <p:nvSpPr>
          <p:cNvPr id="12" name="TextBox 11"/>
          <p:cNvSpPr txBox="1"/>
          <p:nvPr/>
        </p:nvSpPr>
        <p:spPr>
          <a:xfrm>
            <a:off x="453770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ML service address</a:t>
            </a:r>
          </a:p>
        </p:txBody>
      </p:sp>
      <p:sp>
        <p:nvSpPr>
          <p:cNvPr id="13" name="TextBox 12"/>
          <p:cNvSpPr txBox="1"/>
          <p:nvPr/>
        </p:nvSpPr>
        <p:spPr>
          <a:xfrm>
            <a:off x="4537709" y="2798064"/>
            <a:ext cx="3017520" cy="430887"/>
          </a:xfrm>
          <a:prstGeom prst="rect">
            <a:avLst/>
          </a:prstGeom>
          <a:noFill/>
        </p:spPr>
        <p:txBody>
          <a:bodyPr wrap="square" lIns="0" tIns="0" rIns="0" bIns="0" anchor="t">
            <a:spAutoFit/>
          </a:bodyPr>
          <a:lstStyle/>
          <a:p>
            <a:pPr algn="l"/>
            <a:r>
              <a:rPr sz="1400" b="1" i="0" dirty="0">
                <a:solidFill>
                  <a:srgbClr val="4E5A66"/>
                </a:solidFill>
                <a:highlight>
                  <a:srgbClr val="FFFF00"/>
                </a:highlight>
                <a:latin typeface="Calibri"/>
              </a:rPr>
              <a:t>http://128.100.8.213:8000</a:t>
            </a:r>
            <a:r>
              <a:rPr sz="1400" b="0" i="0" dirty="0">
                <a:solidFill>
                  <a:srgbClr val="4E5A66"/>
                </a:solidFill>
                <a:latin typeface="Calibri"/>
              </a:rPr>
              <a:t>, passed in ML_SERVICE_URL.</a:t>
            </a:r>
          </a:p>
        </p:txBody>
      </p:sp>
      <p:sp>
        <p:nvSpPr>
          <p:cNvPr id="14" name="Rounded Rectangle 13"/>
          <p:cNvSpPr/>
          <p:nvPr/>
        </p:nvSpPr>
        <p:spPr>
          <a:xfrm>
            <a:off x="79781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8252460"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2460"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3</a:t>
            </a:r>
          </a:p>
        </p:txBody>
      </p:sp>
      <p:sp>
        <p:nvSpPr>
          <p:cNvPr id="17" name="TextBox 16"/>
          <p:cNvSpPr txBox="1"/>
          <p:nvPr/>
        </p:nvSpPr>
        <p:spPr>
          <a:xfrm>
            <a:off x="8252460"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SQL access and four tables</a:t>
            </a:r>
          </a:p>
        </p:txBody>
      </p:sp>
      <p:sp>
        <p:nvSpPr>
          <p:cNvPr id="18" name="TextBox 17"/>
          <p:cNvSpPr txBox="1"/>
          <p:nvPr/>
        </p:nvSpPr>
        <p:spPr>
          <a:xfrm>
            <a:off x="8250174" y="2590340"/>
            <a:ext cx="3017520" cy="646331"/>
          </a:xfrm>
          <a:prstGeom prst="rect">
            <a:avLst/>
          </a:prstGeom>
          <a:noFill/>
        </p:spPr>
        <p:txBody>
          <a:bodyPr wrap="square" lIns="0" tIns="0" rIns="0" bIns="0" anchor="t">
            <a:spAutoFit/>
          </a:bodyPr>
          <a:lstStyle/>
          <a:p>
            <a:pPr algn="l"/>
            <a:r>
              <a:rPr sz="1400" b="1" i="0" dirty="0" err="1">
                <a:solidFill>
                  <a:srgbClr val="4E5A66"/>
                </a:solidFill>
                <a:latin typeface="Calibri"/>
              </a:rPr>
              <a:t>DummyTestingData</a:t>
            </a:r>
            <a:r>
              <a:rPr sz="1400" b="0" i="0" dirty="0">
                <a:solidFill>
                  <a:srgbClr val="4E5A66"/>
                </a:solidFill>
                <a:latin typeface="Calibri"/>
              </a:rPr>
              <a:t>, </a:t>
            </a:r>
            <a:r>
              <a:rPr sz="1400" b="1" i="0" dirty="0" err="1">
                <a:solidFill>
                  <a:srgbClr val="4E5A66"/>
                </a:solidFill>
                <a:latin typeface="Calibri"/>
              </a:rPr>
              <a:t>PatternCluster</a:t>
            </a:r>
            <a:r>
              <a:rPr sz="1400" b="0" i="0" dirty="0">
                <a:solidFill>
                  <a:srgbClr val="4E5A66"/>
                </a:solidFill>
                <a:latin typeface="Calibri"/>
              </a:rPr>
              <a:t>, </a:t>
            </a:r>
            <a:r>
              <a:rPr sz="1400" b="1" i="0" dirty="0" err="1">
                <a:solidFill>
                  <a:srgbClr val="4E5A66"/>
                </a:solidFill>
                <a:latin typeface="Calibri"/>
              </a:rPr>
              <a:t>DeviceReviewQueue</a:t>
            </a:r>
            <a:r>
              <a:rPr sz="1400" b="0" i="0" dirty="0">
                <a:solidFill>
                  <a:srgbClr val="4E5A66"/>
                </a:solidFill>
                <a:latin typeface="Calibri"/>
              </a:rPr>
              <a:t> and </a:t>
            </a:r>
            <a:r>
              <a:rPr sz="1400" b="1" i="0" dirty="0" err="1">
                <a:solidFill>
                  <a:srgbClr val="4E5A66"/>
                </a:solidFill>
                <a:latin typeface="Calibri"/>
              </a:rPr>
              <a:t>OutputDeviceAssignment</a:t>
            </a:r>
            <a:r>
              <a:rPr sz="1400" b="0" i="0" dirty="0">
                <a:solidFill>
                  <a:srgbClr val="4E5A66"/>
                </a:solidFill>
                <a:latin typeface="Calibri"/>
              </a:rPr>
              <a:t>. </a:t>
            </a:r>
          </a:p>
        </p:txBody>
      </p:sp>
      <p:sp>
        <p:nvSpPr>
          <p:cNvPr id="19" name="Rounded Rectangle 18"/>
          <p:cNvSpPr/>
          <p:nvPr/>
        </p:nvSpPr>
        <p:spPr>
          <a:xfrm>
            <a:off x="5486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2295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4</a:t>
            </a:r>
          </a:p>
        </p:txBody>
      </p:sp>
      <p:sp>
        <p:nvSpPr>
          <p:cNvPr id="22" name="TextBox 21"/>
          <p:cNvSpPr txBox="1"/>
          <p:nvPr/>
        </p:nvSpPr>
        <p:spPr>
          <a:xfrm>
            <a:off x="82295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connection string</a:t>
            </a:r>
          </a:p>
        </p:txBody>
      </p:sp>
      <p:sp>
        <p:nvSpPr>
          <p:cNvPr id="23" name="TextBox 22"/>
          <p:cNvSpPr txBox="1"/>
          <p:nvPr/>
        </p:nvSpPr>
        <p:spPr>
          <a:xfrm>
            <a:off x="820674" y="4883198"/>
            <a:ext cx="3017520" cy="861774"/>
          </a:xfrm>
          <a:prstGeom prst="rect">
            <a:avLst/>
          </a:prstGeom>
          <a:noFill/>
        </p:spPr>
        <p:txBody>
          <a:bodyPr wrap="square" lIns="0" tIns="0" rIns="0" bIns="0" anchor="t">
            <a:spAutoFit/>
          </a:bodyPr>
          <a:lstStyle/>
          <a:p>
            <a:pPr algn="l"/>
            <a:r>
              <a:rPr sz="1400" b="0" i="0" dirty="0">
                <a:solidFill>
                  <a:srgbClr val="4E5A66"/>
                </a:solidFill>
                <a:latin typeface="Calibri"/>
              </a:rPr>
              <a:t>Read from the registry at </a:t>
            </a:r>
            <a:r>
              <a:rPr sz="1400" b="1" i="0" dirty="0">
                <a:solidFill>
                  <a:srgbClr val="4E5A66"/>
                </a:solidFill>
                <a:highlight>
                  <a:srgbClr val="FFFF00"/>
                </a:highlight>
                <a:latin typeface="Calibri"/>
              </a:rPr>
              <a:t>HKEY_CURRENT_USER</a:t>
            </a:r>
            <a:r>
              <a:rPr sz="1400" b="0" i="0" dirty="0">
                <a:solidFill>
                  <a:srgbClr val="4E5A66"/>
                </a:solidFill>
                <a:latin typeface="Calibri"/>
              </a:rPr>
              <a:t>, Software, </a:t>
            </a:r>
            <a:r>
              <a:rPr sz="1400" b="0" i="0" dirty="0" err="1">
                <a:solidFill>
                  <a:srgbClr val="4E5A66"/>
                </a:solidFill>
                <a:latin typeface="Calibri"/>
              </a:rPr>
              <a:t>XenxibleIdentifier</a:t>
            </a:r>
            <a:r>
              <a:rPr sz="1400" b="0" i="0" dirty="0">
                <a:solidFill>
                  <a:srgbClr val="4E5A66"/>
                </a:solidFill>
                <a:latin typeface="Calibri"/>
              </a:rPr>
              <a:t>. It must exist on their machine or startup fails.</a:t>
            </a:r>
          </a:p>
        </p:txBody>
      </p:sp>
      <p:sp>
        <p:nvSpPr>
          <p:cNvPr id="24" name="Rounded Rectangle 23"/>
          <p:cNvSpPr/>
          <p:nvPr/>
        </p:nvSpPr>
        <p:spPr>
          <a:xfrm>
            <a:off x="426339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3770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3770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5</a:t>
            </a:r>
          </a:p>
        </p:txBody>
      </p:sp>
      <p:sp>
        <p:nvSpPr>
          <p:cNvPr id="27" name="TextBox 26"/>
          <p:cNvSpPr txBox="1"/>
          <p:nvPr/>
        </p:nvSpPr>
        <p:spPr>
          <a:xfrm>
            <a:off x="453770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entry point</a:t>
            </a:r>
          </a:p>
        </p:txBody>
      </p:sp>
      <p:sp>
        <p:nvSpPr>
          <p:cNvPr id="28" name="TextBox 27"/>
          <p:cNvSpPr txBox="1"/>
          <p:nvPr/>
        </p:nvSpPr>
        <p:spPr>
          <a:xfrm>
            <a:off x="4535424" y="4885436"/>
            <a:ext cx="3017520" cy="646331"/>
          </a:xfrm>
          <a:prstGeom prst="rect">
            <a:avLst/>
          </a:prstGeom>
          <a:noFill/>
        </p:spPr>
        <p:txBody>
          <a:bodyPr wrap="square" lIns="0" tIns="0" rIns="0" bIns="0" anchor="t">
            <a:spAutoFit/>
          </a:bodyPr>
          <a:lstStyle/>
          <a:p>
            <a:pPr algn="l"/>
            <a:r>
              <a:rPr sz="1400" b="1" i="0" dirty="0" err="1">
                <a:solidFill>
                  <a:srgbClr val="4E5A66"/>
                </a:solidFill>
                <a:highlight>
                  <a:srgbClr val="FFFF00"/>
                </a:highlight>
                <a:latin typeface="Calibri"/>
              </a:rPr>
              <a:t>DevicePipeline.RunAsync</a:t>
            </a:r>
            <a:r>
              <a:rPr sz="1400" b="1" i="0" dirty="0">
                <a:solidFill>
                  <a:srgbClr val="4E5A66"/>
                </a:solidFill>
                <a:highlight>
                  <a:srgbClr val="FFFF00"/>
                </a:highlight>
                <a:latin typeface="Calibri"/>
              </a:rPr>
              <a:t> </a:t>
            </a:r>
            <a:r>
              <a:rPr sz="1400" b="0" i="0" dirty="0">
                <a:solidFill>
                  <a:srgbClr val="4E5A66"/>
                </a:solidFill>
                <a:latin typeface="Calibri"/>
              </a:rPr>
              <a:t>runs the whole sequence in one call, against the ML service or local Python. </a:t>
            </a:r>
          </a:p>
        </p:txBody>
      </p:sp>
      <p:sp>
        <p:nvSpPr>
          <p:cNvPr id="29" name="Rounded Rectangle 28"/>
          <p:cNvSpPr/>
          <p:nvPr/>
        </p:nvSpPr>
        <p:spPr>
          <a:xfrm>
            <a:off x="79781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8252460"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460"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6</a:t>
            </a:r>
          </a:p>
        </p:txBody>
      </p:sp>
      <p:sp>
        <p:nvSpPr>
          <p:cNvPr id="32" name="TextBox 31"/>
          <p:cNvSpPr txBox="1"/>
          <p:nvPr/>
        </p:nvSpPr>
        <p:spPr>
          <a:xfrm>
            <a:off x="8252460"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documentation</a:t>
            </a:r>
          </a:p>
        </p:txBody>
      </p:sp>
      <p:sp>
        <p:nvSpPr>
          <p:cNvPr id="33" name="TextBox 32"/>
          <p:cNvSpPr txBox="1"/>
          <p:nvPr/>
        </p:nvSpPr>
        <p:spPr>
          <a:xfrm>
            <a:off x="8252460" y="4885436"/>
            <a:ext cx="3017520" cy="188770"/>
          </a:xfrm>
          <a:prstGeom prst="rect">
            <a:avLst/>
          </a:prstGeom>
          <a:noFill/>
        </p:spPr>
        <p:txBody>
          <a:bodyPr wrap="square" lIns="0" tIns="0" rIns="0" bIns="0" anchor="t">
            <a:spAutoFit/>
          </a:bodyPr>
          <a:lstStyle/>
          <a:p>
            <a:pPr algn="l">
              <a:lnSpc>
                <a:spcPts val="1400"/>
              </a:lnSpc>
            </a:pPr>
            <a:r>
              <a:rPr lang="en-MY" sz="1600" b="0" i="0" dirty="0">
                <a:solidFill>
                  <a:srgbClr val="4E5A66"/>
                </a:solidFill>
                <a:latin typeface="Calibri"/>
              </a:rPr>
              <a:t>Attached together inside the folder</a:t>
            </a:r>
            <a:r>
              <a:rPr lang="en-MY" sz="1600" dirty="0">
                <a:solidFill>
                  <a:srgbClr val="4E5A66"/>
                </a:solidFill>
                <a:latin typeface="Calibri"/>
              </a:rPr>
              <a:t>.</a:t>
            </a:r>
            <a:endParaRPr lang="en-MY" sz="1600" b="0" i="0" dirty="0">
              <a:solidFill>
                <a:srgbClr val="4E5A66"/>
              </a:solidFill>
              <a:latin typeface="Calibri"/>
            </a:endParaRP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6E03A-33C8-773D-AF5F-6F915C5AA2C0}"/>
            </a:ext>
          </a:extLst>
        </p:cNvPr>
        <p:cNvGrpSpPr/>
        <p:nvPr/>
      </p:nvGrpSpPr>
      <p:grpSpPr>
        <a:xfrm>
          <a:off x="0" y="0"/>
          <a:ext cx="0" cy="0"/>
          <a:chOff x="0" y="0"/>
          <a:chExt cx="0" cy="0"/>
        </a:xfrm>
      </p:grpSpPr>
      <p:sp>
        <p:nvSpPr>
          <p:cNvPr id="37" name="TextBox 36">
            <a:extLst>
              <a:ext uri="{FF2B5EF4-FFF2-40B4-BE49-F238E27FC236}">
                <a16:creationId xmlns:a16="http://schemas.microsoft.com/office/drawing/2014/main" id="{56E07E23-8674-F16D-EF55-0770F72ABC1E}"/>
              </a:ext>
            </a:extLst>
          </p:cNvPr>
          <p:cNvSpPr txBox="1"/>
          <p:nvPr/>
        </p:nvSpPr>
        <p:spPr>
          <a:xfrm>
            <a:off x="3874078" y="2597150"/>
            <a:ext cx="4443845" cy="1631216"/>
          </a:xfrm>
          <a:prstGeom prst="rect">
            <a:avLst/>
          </a:prstGeom>
          <a:noFill/>
        </p:spPr>
        <p:txBody>
          <a:bodyPr wrap="none" rtlCol="0">
            <a:spAutoFit/>
          </a:bodyPr>
          <a:lstStyle/>
          <a:p>
            <a:r>
              <a:rPr lang="en-MY" sz="10000" b="1" dirty="0"/>
              <a:t>The End</a:t>
            </a:r>
          </a:p>
        </p:txBody>
      </p:sp>
    </p:spTree>
    <p:extLst>
      <p:ext uri="{BB962C8B-B14F-4D97-AF65-F5344CB8AC3E}">
        <p14:creationId xmlns:p14="http://schemas.microsoft.com/office/powerpoint/2010/main" val="2447904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A44FA3-713B-E677-33DF-011DBD547D42}"/>
            </a:ext>
          </a:extLst>
        </p:cNvPr>
        <p:cNvGrpSpPr/>
        <p:nvPr/>
      </p:nvGrpSpPr>
      <p:grpSpPr>
        <a:xfrm>
          <a:off x="0" y="0"/>
          <a:ext cx="0" cy="0"/>
          <a:chOff x="0" y="0"/>
          <a:chExt cx="0" cy="0"/>
        </a:xfrm>
      </p:grpSpPr>
      <p:sp>
        <p:nvSpPr>
          <p:cNvPr id="37" name="TextBox 36">
            <a:extLst>
              <a:ext uri="{FF2B5EF4-FFF2-40B4-BE49-F238E27FC236}">
                <a16:creationId xmlns:a16="http://schemas.microsoft.com/office/drawing/2014/main" id="{D7AF4DCE-3052-B5E1-2B06-EE8776829497}"/>
              </a:ext>
            </a:extLst>
          </p:cNvPr>
          <p:cNvSpPr txBox="1"/>
          <p:nvPr/>
        </p:nvSpPr>
        <p:spPr>
          <a:xfrm>
            <a:off x="3320015" y="2560598"/>
            <a:ext cx="5551969" cy="1107996"/>
          </a:xfrm>
          <a:prstGeom prst="rect">
            <a:avLst/>
          </a:prstGeom>
          <a:noFill/>
        </p:spPr>
        <p:txBody>
          <a:bodyPr wrap="none" rtlCol="0">
            <a:spAutoFit/>
          </a:bodyPr>
          <a:lstStyle/>
          <a:p>
            <a:r>
              <a:rPr lang="en-US" sz="6600" b="1" dirty="0"/>
              <a:t>Supplementary</a:t>
            </a:r>
            <a:endParaRPr lang="en-MY" sz="6600" b="1" dirty="0"/>
          </a:p>
        </p:txBody>
      </p:sp>
    </p:spTree>
    <p:extLst>
      <p:ext uri="{BB962C8B-B14F-4D97-AF65-F5344CB8AC3E}">
        <p14:creationId xmlns:p14="http://schemas.microsoft.com/office/powerpoint/2010/main" val="4078703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08  ·  CURRENT UPDATE</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sz="2900" b="1" i="0" dirty="0">
                <a:solidFill>
                  <a:srgbClr val="1B2430"/>
                </a:solidFill>
                <a:latin typeface="Cambria"/>
              </a:rPr>
              <a:t>What changed in this cycle</a:t>
            </a:r>
            <a:r>
              <a:rPr lang="en-MY" sz="2900" b="1" i="0" dirty="0">
                <a:solidFill>
                  <a:srgbClr val="1B2430"/>
                </a:solidFill>
                <a:latin typeface="Cambria"/>
              </a:rPr>
              <a:t>      </a:t>
            </a:r>
            <a:r>
              <a:rPr lang="en-MY" sz="2000" i="0" dirty="0">
                <a:solidFill>
                  <a:srgbClr val="1B2430"/>
                </a:solidFill>
                <a:latin typeface="Cambria"/>
              </a:rPr>
              <a:t>[for personal read]</a:t>
            </a:r>
            <a:endParaRPr sz="2900" i="0" dirty="0">
              <a:solidFill>
                <a:srgbClr val="1B2430"/>
              </a:solidFill>
              <a:latin typeface="Cambria"/>
            </a:endParaRPr>
          </a:p>
        </p:txBody>
      </p:sp>
      <p:sp>
        <p:nvSpPr>
          <p:cNvPr id="4" name="TextBox 3"/>
          <p:cNvSpPr txBox="1"/>
          <p:nvPr/>
        </p:nvSpPr>
        <p:spPr>
          <a:xfrm>
            <a:off x="548640" y="1280160"/>
            <a:ext cx="10881360" cy="274320"/>
          </a:xfrm>
          <a:prstGeom prst="rect">
            <a:avLst/>
          </a:prstGeom>
          <a:noFill/>
        </p:spPr>
        <p:txBody>
          <a:bodyPr wrap="square" lIns="0" tIns="0" rIns="0" bIns="0" anchor="t">
            <a:spAutoFit/>
          </a:bodyPr>
          <a:lstStyle/>
          <a:p>
            <a:pPr algn="l"/>
            <a:r>
              <a:rPr sz="1300" b="0" i="0">
                <a:solidFill>
                  <a:srgbClr val="4E5A66"/>
                </a:solidFill>
                <a:latin typeface="Calibri"/>
              </a:rPr>
              <a:t>This cycle moved the models onto the ML server and made the codebase safe for another developer to clone, build and run.</a:t>
            </a:r>
          </a:p>
        </p:txBody>
      </p:sp>
      <p:sp>
        <p:nvSpPr>
          <p:cNvPr id="5" name="Rounded Rectangle 4"/>
          <p:cNvSpPr/>
          <p:nvPr/>
        </p:nvSpPr>
        <p:spPr>
          <a:xfrm>
            <a:off x="548640" y="1737360"/>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786384" y="1975104"/>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975104"/>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8" name="TextBox 7"/>
          <p:cNvSpPr txBox="1"/>
          <p:nvPr/>
        </p:nvSpPr>
        <p:spPr>
          <a:xfrm>
            <a:off x="1170432" y="1975104"/>
            <a:ext cx="4572000" cy="256032"/>
          </a:xfrm>
          <a:prstGeom prst="rect">
            <a:avLst/>
          </a:prstGeom>
          <a:noFill/>
        </p:spPr>
        <p:txBody>
          <a:bodyPr wrap="square" lIns="0" tIns="0" rIns="0" bIns="0" anchor="t">
            <a:spAutoFit/>
          </a:bodyPr>
          <a:lstStyle/>
          <a:p>
            <a:pPr algn="l"/>
            <a:r>
              <a:rPr sz="1300" b="1" i="0">
                <a:solidFill>
                  <a:srgbClr val="1B2430"/>
                </a:solidFill>
                <a:latin typeface="Cambria"/>
              </a:rPr>
              <a:t>Allocation rewritten to be device-centric</a:t>
            </a:r>
          </a:p>
        </p:txBody>
      </p:sp>
      <p:sp>
        <p:nvSpPr>
          <p:cNvPr id="9" name="TextBox 8"/>
          <p:cNvSpPr txBox="1"/>
          <p:nvPr/>
        </p:nvSpPr>
        <p:spPr>
          <a:xfrm>
            <a:off x="1170432" y="2304288"/>
            <a:ext cx="4572000" cy="640080"/>
          </a:xfrm>
          <a:prstGeom prst="rect">
            <a:avLst/>
          </a:prstGeom>
          <a:noFill/>
        </p:spPr>
        <p:txBody>
          <a:bodyPr wrap="square" lIns="0" tIns="0" rIns="0" bIns="0" anchor="t">
            <a:spAutoFit/>
          </a:bodyPr>
          <a:lstStyle/>
          <a:p>
            <a:pPr algn="l">
              <a:lnSpc>
                <a:spcPts val="1350"/>
              </a:lnSpc>
            </a:pPr>
            <a:r>
              <a:rPr sz="1050" b="0" i="0" dirty="0">
                <a:solidFill>
                  <a:srgbClr val="4E5A66"/>
                </a:solidFill>
                <a:latin typeface="Calibri"/>
              </a:rPr>
              <a:t>Each unplaced device now tries its own ranked cluster candidates, instead of clusters pulling in whichever device fits. This matches the approved flowchart design.</a:t>
            </a:r>
          </a:p>
        </p:txBody>
      </p:sp>
      <p:sp>
        <p:nvSpPr>
          <p:cNvPr id="10" name="Rounded Rectangle 9"/>
          <p:cNvSpPr/>
          <p:nvPr/>
        </p:nvSpPr>
        <p:spPr>
          <a:xfrm>
            <a:off x="6199631" y="1737360"/>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Oval 10"/>
          <p:cNvSpPr/>
          <p:nvPr/>
        </p:nvSpPr>
        <p:spPr>
          <a:xfrm>
            <a:off x="6437375" y="1975104"/>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37375" y="1975104"/>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13" name="TextBox 12"/>
          <p:cNvSpPr txBox="1"/>
          <p:nvPr/>
        </p:nvSpPr>
        <p:spPr>
          <a:xfrm>
            <a:off x="6821423" y="1975104"/>
            <a:ext cx="4572000" cy="256032"/>
          </a:xfrm>
          <a:prstGeom prst="rect">
            <a:avLst/>
          </a:prstGeom>
          <a:noFill/>
        </p:spPr>
        <p:txBody>
          <a:bodyPr wrap="square" lIns="0" tIns="0" rIns="0" bIns="0" anchor="t">
            <a:spAutoFit/>
          </a:bodyPr>
          <a:lstStyle/>
          <a:p>
            <a:pPr algn="l"/>
            <a:r>
              <a:rPr sz="1300" b="1" i="0">
                <a:solidFill>
                  <a:srgbClr val="1B2430"/>
                </a:solidFill>
                <a:latin typeface="Cambria"/>
              </a:rPr>
              <a:t>Output files replaced by SQL tables</a:t>
            </a:r>
          </a:p>
        </p:txBody>
      </p:sp>
      <p:sp>
        <p:nvSpPr>
          <p:cNvPr id="14" name="TextBox 13"/>
          <p:cNvSpPr txBox="1"/>
          <p:nvPr/>
        </p:nvSpPr>
        <p:spPr>
          <a:xfrm>
            <a:off x="6821423" y="2304288"/>
            <a:ext cx="4572000" cy="640080"/>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dbo.OutputDeviceAssignment and dbo.DeviceReviewQueue, upserted with MERGE, so re-running a project updates rows instead of duplicating them.</a:t>
            </a:r>
          </a:p>
        </p:txBody>
      </p:sp>
      <p:sp>
        <p:nvSpPr>
          <p:cNvPr id="15" name="Rounded Rectangle 14"/>
          <p:cNvSpPr/>
          <p:nvPr/>
        </p:nvSpPr>
        <p:spPr>
          <a:xfrm>
            <a:off x="548640" y="3172968"/>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Oval 15"/>
          <p:cNvSpPr/>
          <p:nvPr/>
        </p:nvSpPr>
        <p:spPr>
          <a:xfrm>
            <a:off x="786384" y="3410711"/>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3410711"/>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18" name="TextBox 17"/>
          <p:cNvSpPr txBox="1"/>
          <p:nvPr/>
        </p:nvSpPr>
        <p:spPr>
          <a:xfrm>
            <a:off x="1170432" y="3410711"/>
            <a:ext cx="4572000" cy="256032"/>
          </a:xfrm>
          <a:prstGeom prst="rect">
            <a:avLst/>
          </a:prstGeom>
          <a:noFill/>
        </p:spPr>
        <p:txBody>
          <a:bodyPr wrap="square" lIns="0" tIns="0" rIns="0" bIns="0" anchor="t">
            <a:spAutoFit/>
          </a:bodyPr>
          <a:lstStyle/>
          <a:p>
            <a:pPr algn="l"/>
            <a:r>
              <a:rPr sz="1300" b="1" i="0">
                <a:solidFill>
                  <a:srgbClr val="1B2430"/>
                </a:solidFill>
                <a:latin typeface="Cambria"/>
              </a:rPr>
              <a:t>Cross-table reconciliation added</a:t>
            </a:r>
          </a:p>
        </p:txBody>
      </p:sp>
      <p:sp>
        <p:nvSpPr>
          <p:cNvPr id="19" name="TextBox 18"/>
          <p:cNvSpPr txBox="1"/>
          <p:nvPr/>
        </p:nvSpPr>
        <p:spPr>
          <a:xfrm>
            <a:off x="1170432" y="3739896"/>
            <a:ext cx="4572000" cy="640080"/>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A device that changes outcome between runs is cleared from the table it left, so it can never show as assigned and unassigned at the same time.</a:t>
            </a:r>
          </a:p>
        </p:txBody>
      </p:sp>
      <p:sp>
        <p:nvSpPr>
          <p:cNvPr id="20" name="Rounded Rectangle 19"/>
          <p:cNvSpPr/>
          <p:nvPr/>
        </p:nvSpPr>
        <p:spPr>
          <a:xfrm>
            <a:off x="6199631" y="3172968"/>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6437375" y="3410711"/>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37375" y="3410711"/>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23" name="TextBox 22"/>
          <p:cNvSpPr txBox="1"/>
          <p:nvPr/>
        </p:nvSpPr>
        <p:spPr>
          <a:xfrm>
            <a:off x="6821423" y="3410711"/>
            <a:ext cx="4572000" cy="256032"/>
          </a:xfrm>
          <a:prstGeom prst="rect">
            <a:avLst/>
          </a:prstGeom>
          <a:noFill/>
        </p:spPr>
        <p:txBody>
          <a:bodyPr wrap="square" lIns="0" tIns="0" rIns="0" bIns="0" anchor="t">
            <a:spAutoFit/>
          </a:bodyPr>
          <a:lstStyle/>
          <a:p>
            <a:pPr algn="l"/>
            <a:r>
              <a:rPr sz="1300" b="1" i="0">
                <a:solidFill>
                  <a:srgbClr val="1B2430"/>
                </a:solidFill>
                <a:latin typeface="Cambria"/>
              </a:rPr>
              <a:t>Quota patterns moved out of code</a:t>
            </a:r>
          </a:p>
        </p:txBody>
      </p:sp>
      <p:sp>
        <p:nvSpPr>
          <p:cNvPr id="24" name="TextBox 23"/>
          <p:cNvSpPr txBox="1"/>
          <p:nvPr/>
        </p:nvSpPr>
        <p:spPr>
          <a:xfrm>
            <a:off x="6821423" y="3739896"/>
            <a:ext cx="4572000" cy="640080"/>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Target composition now lives in a SQL table an engineer can edit directly. Previously any rule change required a developer.</a:t>
            </a:r>
          </a:p>
        </p:txBody>
      </p:sp>
      <p:sp>
        <p:nvSpPr>
          <p:cNvPr id="25" name="Rounded Rectangle 24"/>
          <p:cNvSpPr/>
          <p:nvPr/>
        </p:nvSpPr>
        <p:spPr>
          <a:xfrm>
            <a:off x="548640" y="4608576"/>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786384" y="4846320"/>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6384" y="4846320"/>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28" name="TextBox 27"/>
          <p:cNvSpPr txBox="1"/>
          <p:nvPr/>
        </p:nvSpPr>
        <p:spPr>
          <a:xfrm>
            <a:off x="1170432" y="4846320"/>
            <a:ext cx="4572000" cy="256032"/>
          </a:xfrm>
          <a:prstGeom prst="rect">
            <a:avLst/>
          </a:prstGeom>
          <a:noFill/>
        </p:spPr>
        <p:txBody>
          <a:bodyPr wrap="square" lIns="0" tIns="0" rIns="0" bIns="0" anchor="t">
            <a:spAutoFit/>
          </a:bodyPr>
          <a:lstStyle/>
          <a:p>
            <a:pPr algn="l"/>
            <a:r>
              <a:rPr sz="1300" b="1" i="0">
                <a:solidFill>
                  <a:srgbClr val="1B2430"/>
                </a:solidFill>
                <a:latin typeface="Cambria"/>
              </a:rPr>
              <a:t>Models moved onto the ML server</a:t>
            </a:r>
          </a:p>
        </p:txBody>
      </p:sp>
      <p:sp>
        <p:nvSpPr>
          <p:cNvPr id="29" name="TextBox 28"/>
          <p:cNvSpPr txBox="1"/>
          <p:nvPr/>
        </p:nvSpPr>
        <p:spPr>
          <a:xfrm>
            <a:off x="1170432" y="5175504"/>
            <a:ext cx="4572000" cy="349711"/>
          </a:xfrm>
          <a:prstGeom prst="rect">
            <a:avLst/>
          </a:prstGeom>
          <a:noFill/>
        </p:spPr>
        <p:txBody>
          <a:bodyPr wrap="square" lIns="0" tIns="0" rIns="0" bIns="0" anchor="t">
            <a:spAutoFit/>
          </a:bodyPr>
          <a:lstStyle/>
          <a:p>
            <a:pPr algn="l">
              <a:lnSpc>
                <a:spcPts val="1350"/>
              </a:lnSpc>
            </a:pPr>
            <a:r>
              <a:rPr sz="1050" b="0" i="0" dirty="0">
                <a:solidFill>
                  <a:srgbClr val="4E5A66"/>
                </a:solidFill>
                <a:latin typeface="Calibri"/>
              </a:rPr>
              <a:t>Python and the models now run as a </a:t>
            </a:r>
            <a:r>
              <a:rPr sz="1050" b="0" i="0" dirty="0" err="1">
                <a:solidFill>
                  <a:srgbClr val="4E5A66"/>
                </a:solidFill>
                <a:latin typeface="Calibri"/>
              </a:rPr>
              <a:t>FastAPI</a:t>
            </a:r>
            <a:r>
              <a:rPr sz="1050" b="0" i="0" dirty="0">
                <a:solidFill>
                  <a:srgbClr val="4E5A66"/>
                </a:solidFill>
                <a:latin typeface="Calibri"/>
              </a:rPr>
              <a:t> service on </a:t>
            </a:r>
            <a:r>
              <a:rPr sz="1050" b="1" i="0" dirty="0">
                <a:latin typeface="Calibri"/>
              </a:rPr>
              <a:t>128.100.8.213:8000</a:t>
            </a:r>
            <a:r>
              <a:rPr sz="1050" b="0" i="0" dirty="0">
                <a:solidFill>
                  <a:srgbClr val="4E5A66"/>
                </a:solidFill>
                <a:latin typeface="Calibri"/>
              </a:rPr>
              <a:t>. The C# apps call it over HTTP, far faster than starting a process.</a:t>
            </a:r>
          </a:p>
        </p:txBody>
      </p:sp>
      <p:sp>
        <p:nvSpPr>
          <p:cNvPr id="30" name="Rounded Rectangle 29"/>
          <p:cNvSpPr/>
          <p:nvPr/>
        </p:nvSpPr>
        <p:spPr>
          <a:xfrm>
            <a:off x="6199631" y="4608576"/>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Oval 30"/>
          <p:cNvSpPr/>
          <p:nvPr/>
        </p:nvSpPr>
        <p:spPr>
          <a:xfrm>
            <a:off x="6437375" y="4846320"/>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7375" y="4846320"/>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33" name="TextBox 32"/>
          <p:cNvSpPr txBox="1"/>
          <p:nvPr/>
        </p:nvSpPr>
        <p:spPr>
          <a:xfrm>
            <a:off x="6821423" y="4846320"/>
            <a:ext cx="4572000" cy="256032"/>
          </a:xfrm>
          <a:prstGeom prst="rect">
            <a:avLst/>
          </a:prstGeom>
          <a:noFill/>
        </p:spPr>
        <p:txBody>
          <a:bodyPr wrap="square" lIns="0" tIns="0" rIns="0" bIns="0" anchor="t">
            <a:spAutoFit/>
          </a:bodyPr>
          <a:lstStyle/>
          <a:p>
            <a:pPr algn="l"/>
            <a:r>
              <a:rPr sz="1300" b="1" i="0">
                <a:solidFill>
                  <a:srgbClr val="1B2430"/>
                </a:solidFill>
                <a:latin typeface="Cambria"/>
              </a:rPr>
              <a:t>One pipeline for both apps</a:t>
            </a:r>
          </a:p>
        </p:txBody>
      </p:sp>
      <p:sp>
        <p:nvSpPr>
          <p:cNvPr id="34" name="TextBox 33"/>
          <p:cNvSpPr txBox="1"/>
          <p:nvPr/>
        </p:nvSpPr>
        <p:spPr>
          <a:xfrm>
            <a:off x="6821423" y="5175504"/>
            <a:ext cx="4572000" cy="640080"/>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The single pipeline call now works against either the ML service or local Python, so both apps share one copy of the sequence instead of two.</a:t>
            </a:r>
          </a:p>
        </p:txBody>
      </p:sp>
      <p:sp>
        <p:nvSpPr>
          <p:cNvPr id="35" name="TextBox 34"/>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6" name="TextBox 35"/>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10  ·  CONSTRAINTS</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r>
              <a:rPr sz="2900" b="1" i="0" dirty="0">
                <a:solidFill>
                  <a:srgbClr val="1B2430"/>
                </a:solidFill>
                <a:latin typeface="Cambria"/>
              </a:rPr>
              <a:t>What stands between here and production</a:t>
            </a:r>
            <a:r>
              <a:rPr lang="en-MY" sz="2900" b="1" i="0" dirty="0">
                <a:solidFill>
                  <a:srgbClr val="1B2430"/>
                </a:solidFill>
                <a:latin typeface="Cambria"/>
              </a:rPr>
              <a:t>      </a:t>
            </a:r>
            <a:r>
              <a:rPr lang="en-MY" dirty="0">
                <a:solidFill>
                  <a:srgbClr val="1B2430"/>
                </a:solidFill>
                <a:latin typeface="Cambria"/>
              </a:rPr>
              <a:t>[for personal read]</a:t>
            </a:r>
            <a:endParaRPr sz="2900" b="1" i="0" dirty="0">
              <a:solidFill>
                <a:srgbClr val="1B2430"/>
              </a:solidFill>
              <a:latin typeface="Cambria"/>
            </a:endParaRPr>
          </a:p>
        </p:txBody>
      </p:sp>
      <p:sp>
        <p:nvSpPr>
          <p:cNvPr id="4" name="Rounded Rectangle 3"/>
          <p:cNvSpPr/>
          <p:nvPr/>
        </p:nvSpPr>
        <p:spPr>
          <a:xfrm>
            <a:off x="548640" y="1280160"/>
            <a:ext cx="11091672" cy="841248"/>
          </a:xfrm>
          <a:prstGeom prst="roundRect">
            <a:avLst>
              <a:gd name="adj" fmla="val 5500"/>
            </a:avLst>
          </a:prstGeom>
          <a:solidFill>
            <a:srgbClr val="FAF1E8"/>
          </a:solidFill>
          <a:ln w="9525">
            <a:solidFill>
              <a:srgbClr val="C46A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22960" y="1444752"/>
            <a:ext cx="10543032" cy="548640"/>
          </a:xfrm>
          <a:prstGeom prst="rect">
            <a:avLst/>
          </a:prstGeom>
          <a:noFill/>
        </p:spPr>
        <p:txBody>
          <a:bodyPr wrap="square" lIns="0" tIns="0" rIns="0" bIns="0" anchor="t">
            <a:spAutoFit/>
          </a:bodyPr>
          <a:lstStyle/>
          <a:p>
            <a:pPr algn="l">
              <a:lnSpc>
                <a:spcPts val="1700"/>
              </a:lnSpc>
            </a:pPr>
            <a:r>
              <a:rPr sz="1250" b="1" i="0">
                <a:solidFill>
                  <a:srgbClr val="C46A24"/>
                </a:solidFill>
                <a:latin typeface="Calibri"/>
              </a:rPr>
              <a:t>Read this number carefully — </a:t>
            </a:r>
            <a:r>
              <a:rPr sz="1250" b="0" i="0">
                <a:solidFill>
                  <a:srgbClr val="1B2430"/>
                </a:solidFill>
                <a:latin typeface="Calibri"/>
              </a:rPr>
              <a:t>the 25% auto-assignment rate seen on project A9998 (358 devices) measures missing quota data, not model accuracy. The system cannot place a device into a cluster whose intended composition has never been defined.</a:t>
            </a:r>
          </a:p>
        </p:txBody>
      </p:sp>
      <p:sp>
        <p:nvSpPr>
          <p:cNvPr id="6" name="Rounded Rectangle 5"/>
          <p:cNvSpPr/>
          <p:nvPr/>
        </p:nvSpPr>
        <p:spPr>
          <a:xfrm>
            <a:off x="548640" y="23317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822959" y="2569463"/>
            <a:ext cx="960120" cy="237744"/>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22959" y="2569463"/>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BLOCKER</a:t>
            </a:r>
          </a:p>
        </p:txBody>
      </p:sp>
      <p:sp>
        <p:nvSpPr>
          <p:cNvPr id="9" name="TextBox 8"/>
          <p:cNvSpPr txBox="1"/>
          <p:nvPr/>
        </p:nvSpPr>
        <p:spPr>
          <a:xfrm>
            <a:off x="822959" y="2935224"/>
            <a:ext cx="4892040" cy="310896"/>
          </a:xfrm>
          <a:prstGeom prst="rect">
            <a:avLst/>
          </a:prstGeom>
          <a:noFill/>
        </p:spPr>
        <p:txBody>
          <a:bodyPr wrap="square" lIns="0" tIns="0" rIns="0" bIns="0" anchor="t">
            <a:spAutoFit/>
          </a:bodyPr>
          <a:lstStyle/>
          <a:p>
            <a:pPr algn="l"/>
            <a:r>
              <a:rPr sz="1500" b="1" i="0">
                <a:solidFill>
                  <a:srgbClr val="1B2430"/>
                </a:solidFill>
                <a:latin typeface="Cambria"/>
              </a:rPr>
              <a:t>Quota data is mostly placeholder</a:t>
            </a:r>
          </a:p>
        </p:txBody>
      </p:sp>
      <p:sp>
        <p:nvSpPr>
          <p:cNvPr id="10" name="TextBox 9"/>
          <p:cNvSpPr txBox="1"/>
          <p:nvPr/>
        </p:nvSpPr>
        <p:spPr>
          <a:xfrm>
            <a:off x="822959" y="33192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Real target composition exists for Section 2 only. Sections 1 and 3 to 8 hold invented figures, added so the pipeline could be tested end to end.</a:t>
            </a:r>
          </a:p>
        </p:txBody>
      </p:sp>
      <p:sp>
        <p:nvSpPr>
          <p:cNvPr id="11" name="Rounded Rectangle 10"/>
          <p:cNvSpPr/>
          <p:nvPr/>
        </p:nvSpPr>
        <p:spPr>
          <a:xfrm>
            <a:off x="6199631" y="23317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6473951" y="2569463"/>
            <a:ext cx="960120" cy="237744"/>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473951" y="2569463"/>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BLOCKER</a:t>
            </a:r>
          </a:p>
        </p:txBody>
      </p:sp>
      <p:sp>
        <p:nvSpPr>
          <p:cNvPr id="14" name="TextBox 13"/>
          <p:cNvSpPr txBox="1"/>
          <p:nvPr/>
        </p:nvSpPr>
        <p:spPr>
          <a:xfrm>
            <a:off x="6473951" y="2935224"/>
            <a:ext cx="4892040" cy="310896"/>
          </a:xfrm>
          <a:prstGeom prst="rect">
            <a:avLst/>
          </a:prstGeom>
          <a:noFill/>
        </p:spPr>
        <p:txBody>
          <a:bodyPr wrap="square" lIns="0" tIns="0" rIns="0" bIns="0" anchor="t">
            <a:spAutoFit/>
          </a:bodyPr>
          <a:lstStyle/>
          <a:p>
            <a:pPr algn="l"/>
            <a:r>
              <a:rPr sz="1500" b="1" i="0">
                <a:solidFill>
                  <a:srgbClr val="1B2430"/>
                </a:solidFill>
                <a:latin typeface="Cambria"/>
              </a:rPr>
              <a:t>No user interface</a:t>
            </a:r>
          </a:p>
        </p:txBody>
      </p:sp>
      <p:sp>
        <p:nvSpPr>
          <p:cNvPr id="15" name="TextBox 14"/>
          <p:cNvSpPr txBox="1"/>
          <p:nvPr/>
        </p:nvSpPr>
        <p:spPr>
          <a:xfrm>
            <a:off x="6473951" y="33192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What exists is the engine plus a console harness for testing. The screens engineers would actually use still have to be built.</a:t>
            </a:r>
          </a:p>
        </p:txBody>
      </p:sp>
      <p:sp>
        <p:nvSpPr>
          <p:cNvPr id="16" name="Rounded Rectangle 15"/>
          <p:cNvSpPr/>
          <p:nvPr/>
        </p:nvSpPr>
        <p:spPr>
          <a:xfrm>
            <a:off x="548640" y="41605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822959" y="4398264"/>
            <a:ext cx="960120" cy="237744"/>
          </a:xfrm>
          <a:prstGeom prst="roundRect">
            <a:avLst>
              <a:gd name="adj" fmla="val 35000"/>
            </a:avLst>
          </a:prstGeom>
          <a:solidFill>
            <a:srgbClr val="7A879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22959" y="4398264"/>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GAP</a:t>
            </a:r>
          </a:p>
        </p:txBody>
      </p:sp>
      <p:sp>
        <p:nvSpPr>
          <p:cNvPr id="19" name="TextBox 18"/>
          <p:cNvSpPr txBox="1"/>
          <p:nvPr/>
        </p:nvSpPr>
        <p:spPr>
          <a:xfrm>
            <a:off x="822959" y="4764024"/>
            <a:ext cx="4892040" cy="310896"/>
          </a:xfrm>
          <a:prstGeom prst="rect">
            <a:avLst/>
          </a:prstGeom>
          <a:noFill/>
        </p:spPr>
        <p:txBody>
          <a:bodyPr wrap="square" lIns="0" tIns="0" rIns="0" bIns="0" anchor="t">
            <a:spAutoFit/>
          </a:bodyPr>
          <a:lstStyle/>
          <a:p>
            <a:pPr algn="l"/>
            <a:r>
              <a:rPr sz="1500" b="1" i="0">
                <a:solidFill>
                  <a:srgbClr val="1B2430"/>
                </a:solidFill>
                <a:latin typeface="Cambria"/>
              </a:rPr>
              <a:t>No validated accuracy figure</a:t>
            </a:r>
          </a:p>
        </p:txBody>
      </p:sp>
      <p:sp>
        <p:nvSpPr>
          <p:cNvPr id="20" name="TextBox 19"/>
          <p:cNvSpPr txBox="1"/>
          <p:nvPr/>
        </p:nvSpPr>
        <p:spPr>
          <a:xfrm>
            <a:off x="822959" y="51480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Verification so far is live runs on representative data. A run against a completed project, where the answer is already known, is needed before any number is quoted.</a:t>
            </a:r>
          </a:p>
        </p:txBody>
      </p:sp>
      <p:sp>
        <p:nvSpPr>
          <p:cNvPr id="21" name="Rounded Rectangle 20"/>
          <p:cNvSpPr/>
          <p:nvPr/>
        </p:nvSpPr>
        <p:spPr>
          <a:xfrm>
            <a:off x="6199631" y="41605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6473951" y="4398264"/>
            <a:ext cx="960120" cy="237744"/>
          </a:xfrm>
          <a:prstGeom prst="roundRect">
            <a:avLst>
              <a:gd name="adj" fmla="val 35000"/>
            </a:avLst>
          </a:prstGeom>
          <a:solidFill>
            <a:srgbClr val="7A879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473951" y="4398264"/>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GAP</a:t>
            </a:r>
          </a:p>
        </p:txBody>
      </p:sp>
      <p:sp>
        <p:nvSpPr>
          <p:cNvPr id="24" name="TextBox 23"/>
          <p:cNvSpPr txBox="1"/>
          <p:nvPr/>
        </p:nvSpPr>
        <p:spPr>
          <a:xfrm>
            <a:off x="6473951" y="4764024"/>
            <a:ext cx="4892040" cy="310896"/>
          </a:xfrm>
          <a:prstGeom prst="rect">
            <a:avLst/>
          </a:prstGeom>
          <a:noFill/>
        </p:spPr>
        <p:txBody>
          <a:bodyPr wrap="square" lIns="0" tIns="0" rIns="0" bIns="0" anchor="t">
            <a:spAutoFit/>
          </a:bodyPr>
          <a:lstStyle/>
          <a:p>
            <a:pPr algn="l"/>
            <a:r>
              <a:rPr sz="1500" b="1" i="0">
                <a:solidFill>
                  <a:srgbClr val="1B2430"/>
                </a:solidFill>
                <a:latin typeface="Cambria"/>
              </a:rPr>
              <a:t>No automated test suite</a:t>
            </a:r>
          </a:p>
        </p:txBody>
      </p:sp>
      <p:sp>
        <p:nvSpPr>
          <p:cNvPr id="25" name="TextBox 24"/>
          <p:cNvSpPr txBox="1"/>
          <p:nvPr/>
        </p:nvSpPr>
        <p:spPr>
          <a:xfrm>
            <a:off x="6473951" y="51480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All checks to date are manual. Interface work needs automated coverage so a change cannot break the pipeline silently.</a:t>
            </a:r>
          </a:p>
        </p:txBody>
      </p:sp>
      <p:sp>
        <p:nvSpPr>
          <p:cNvPr id="26" name="TextBox 25"/>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27" name="TextBox 26"/>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11  ·  WHAT TO DO NEXT</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Three actions, in order of what unblocks most</a:t>
            </a:r>
          </a:p>
        </p:txBody>
      </p:sp>
      <p:sp>
        <p:nvSpPr>
          <p:cNvPr id="4" name="TextBox 3"/>
          <p:cNvSpPr txBox="1"/>
          <p:nvPr/>
        </p:nvSpPr>
        <p:spPr>
          <a:xfrm>
            <a:off x="548640" y="1280160"/>
            <a:ext cx="10881360" cy="274320"/>
          </a:xfrm>
          <a:prstGeom prst="rect">
            <a:avLst/>
          </a:prstGeom>
          <a:noFill/>
        </p:spPr>
        <p:txBody>
          <a:bodyPr wrap="square" lIns="0" tIns="0" rIns="0" bIns="0" anchor="t">
            <a:spAutoFit/>
          </a:bodyPr>
          <a:lstStyle/>
          <a:p>
            <a:pPr algn="l"/>
            <a:r>
              <a:rPr sz="1300" b="0" i="0">
                <a:solidFill>
                  <a:srgbClr val="4E5A66"/>
                </a:solidFill>
                <a:latin typeface="Calibri"/>
              </a:rPr>
              <a:t>Only one of the three is development work. The largest constraint is data that only engineering can supply.</a:t>
            </a:r>
          </a:p>
        </p:txBody>
      </p:sp>
      <p:sp>
        <p:nvSpPr>
          <p:cNvPr id="5" name="Rounded Rectangle 4"/>
          <p:cNvSpPr/>
          <p:nvPr/>
        </p:nvSpPr>
        <p:spPr>
          <a:xfrm>
            <a:off x="548640" y="1691640"/>
            <a:ext cx="11091672" cy="126187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68680" y="1691640"/>
            <a:ext cx="777240" cy="1261872"/>
          </a:xfrm>
          <a:prstGeom prst="rect">
            <a:avLst/>
          </a:prstGeom>
          <a:noFill/>
        </p:spPr>
        <p:txBody>
          <a:bodyPr wrap="square" lIns="0" tIns="0" rIns="0" bIns="0" anchor="ctr">
            <a:spAutoFit/>
          </a:bodyPr>
          <a:lstStyle/>
          <a:p>
            <a:pPr algn="ctr"/>
            <a:r>
              <a:rPr sz="3400" b="1" i="0">
                <a:solidFill>
                  <a:srgbClr val="C46A24"/>
                </a:solidFill>
                <a:latin typeface="Cambria"/>
              </a:rPr>
              <a:t>01</a:t>
            </a:r>
          </a:p>
        </p:txBody>
      </p:sp>
      <p:sp>
        <p:nvSpPr>
          <p:cNvPr id="7" name="TextBox 6"/>
          <p:cNvSpPr txBox="1"/>
          <p:nvPr/>
        </p:nvSpPr>
        <p:spPr>
          <a:xfrm>
            <a:off x="1847088" y="1911095"/>
            <a:ext cx="5852160" cy="292608"/>
          </a:xfrm>
          <a:prstGeom prst="rect">
            <a:avLst/>
          </a:prstGeom>
          <a:noFill/>
        </p:spPr>
        <p:txBody>
          <a:bodyPr wrap="square" lIns="0" tIns="0" rIns="0" bIns="0" anchor="t">
            <a:spAutoFit/>
          </a:bodyPr>
          <a:lstStyle/>
          <a:p>
            <a:pPr algn="l"/>
            <a:r>
              <a:rPr sz="1650" b="1" i="0">
                <a:solidFill>
                  <a:srgbClr val="1B2430"/>
                </a:solidFill>
                <a:latin typeface="Cambria"/>
              </a:rPr>
              <a:t>Collect the real quota patterns</a:t>
            </a:r>
          </a:p>
        </p:txBody>
      </p:sp>
      <p:sp>
        <p:nvSpPr>
          <p:cNvPr id="8" name="TextBox 7"/>
          <p:cNvSpPr txBox="1"/>
          <p:nvPr/>
        </p:nvSpPr>
        <p:spPr>
          <a:xfrm>
            <a:off x="1847088" y="2240280"/>
            <a:ext cx="5852160" cy="566928"/>
          </a:xfrm>
          <a:prstGeom prst="rect">
            <a:avLst/>
          </a:prstGeom>
          <a:noFill/>
        </p:spPr>
        <p:txBody>
          <a:bodyPr wrap="square" lIns="0" tIns="0" rIns="0" bIns="0" anchor="t">
            <a:spAutoFit/>
          </a:bodyPr>
          <a:lstStyle/>
          <a:p>
            <a:pPr algn="l">
              <a:lnSpc>
                <a:spcPts val="1500"/>
              </a:lnSpc>
            </a:pPr>
            <a:r>
              <a:rPr sz="1150" b="0" i="0">
                <a:solidFill>
                  <a:srgbClr val="4E5A66"/>
                </a:solidFill>
                <a:latin typeface="Calibri"/>
              </a:rPr>
              <a:t>Target composition for sections 1 and 3 to 8. This is domain knowledge from engineering, not development time, and it is the single biggest limit on how much the system can place automatically.</a:t>
            </a:r>
          </a:p>
        </p:txBody>
      </p:sp>
      <p:sp>
        <p:nvSpPr>
          <p:cNvPr id="9" name="TextBox 8"/>
          <p:cNvSpPr txBox="1"/>
          <p:nvPr/>
        </p:nvSpPr>
        <p:spPr>
          <a:xfrm>
            <a:off x="8183879" y="1929384"/>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OWNER</a:t>
            </a:r>
          </a:p>
        </p:txBody>
      </p:sp>
      <p:sp>
        <p:nvSpPr>
          <p:cNvPr id="10" name="TextBox 9"/>
          <p:cNvSpPr txBox="1"/>
          <p:nvPr/>
        </p:nvSpPr>
        <p:spPr>
          <a:xfrm>
            <a:off x="8183879" y="2121408"/>
            <a:ext cx="3200400" cy="237744"/>
          </a:xfrm>
          <a:prstGeom prst="rect">
            <a:avLst/>
          </a:prstGeom>
          <a:noFill/>
        </p:spPr>
        <p:txBody>
          <a:bodyPr wrap="square" lIns="0" tIns="0" rIns="0" bIns="0" anchor="t">
            <a:spAutoFit/>
          </a:bodyPr>
          <a:lstStyle/>
          <a:p>
            <a:pPr algn="l"/>
            <a:r>
              <a:rPr sz="1200" b="1" i="0">
                <a:solidFill>
                  <a:srgbClr val="1B2430"/>
                </a:solidFill>
                <a:latin typeface="Calibri"/>
              </a:rPr>
              <a:t>Engineering</a:t>
            </a:r>
          </a:p>
        </p:txBody>
      </p:sp>
      <p:sp>
        <p:nvSpPr>
          <p:cNvPr id="11" name="TextBox 10"/>
          <p:cNvSpPr txBox="1"/>
          <p:nvPr/>
        </p:nvSpPr>
        <p:spPr>
          <a:xfrm>
            <a:off x="8183879" y="2404872"/>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UNBLOCKS</a:t>
            </a:r>
          </a:p>
        </p:txBody>
      </p:sp>
      <p:sp>
        <p:nvSpPr>
          <p:cNvPr id="12" name="TextBox 11"/>
          <p:cNvSpPr txBox="1"/>
          <p:nvPr/>
        </p:nvSpPr>
        <p:spPr>
          <a:xfrm>
            <a:off x="8183879" y="2596896"/>
            <a:ext cx="3200400" cy="310896"/>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Auto-assignment across all 8 sections</a:t>
            </a:r>
          </a:p>
        </p:txBody>
      </p:sp>
      <p:sp>
        <p:nvSpPr>
          <p:cNvPr id="13" name="Rounded Rectangle 12"/>
          <p:cNvSpPr/>
          <p:nvPr/>
        </p:nvSpPr>
        <p:spPr>
          <a:xfrm>
            <a:off x="548640" y="3090672"/>
            <a:ext cx="11091672" cy="126187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68680" y="3090672"/>
            <a:ext cx="777240" cy="1261872"/>
          </a:xfrm>
          <a:prstGeom prst="rect">
            <a:avLst/>
          </a:prstGeom>
          <a:noFill/>
        </p:spPr>
        <p:txBody>
          <a:bodyPr wrap="square" lIns="0" tIns="0" rIns="0" bIns="0" anchor="ctr">
            <a:spAutoFit/>
          </a:bodyPr>
          <a:lstStyle/>
          <a:p>
            <a:pPr algn="ctr"/>
            <a:r>
              <a:rPr sz="3400" b="1" i="0">
                <a:solidFill>
                  <a:srgbClr val="C46A24"/>
                </a:solidFill>
                <a:latin typeface="Cambria"/>
              </a:rPr>
              <a:t>02</a:t>
            </a:r>
          </a:p>
        </p:txBody>
      </p:sp>
      <p:sp>
        <p:nvSpPr>
          <p:cNvPr id="15" name="TextBox 14"/>
          <p:cNvSpPr txBox="1"/>
          <p:nvPr/>
        </p:nvSpPr>
        <p:spPr>
          <a:xfrm>
            <a:off x="1847088" y="3310128"/>
            <a:ext cx="5852160" cy="292608"/>
          </a:xfrm>
          <a:prstGeom prst="rect">
            <a:avLst/>
          </a:prstGeom>
          <a:noFill/>
        </p:spPr>
        <p:txBody>
          <a:bodyPr wrap="square" lIns="0" tIns="0" rIns="0" bIns="0" anchor="t">
            <a:spAutoFit/>
          </a:bodyPr>
          <a:lstStyle/>
          <a:p>
            <a:pPr algn="l"/>
            <a:r>
              <a:rPr sz="1650" b="1" i="0">
                <a:solidFill>
                  <a:srgbClr val="1B2430"/>
                </a:solidFill>
                <a:latin typeface="Cambria"/>
              </a:rPr>
              <a:t>Build the user interface</a:t>
            </a:r>
          </a:p>
        </p:txBody>
      </p:sp>
      <p:sp>
        <p:nvSpPr>
          <p:cNvPr id="16" name="TextBox 15"/>
          <p:cNvSpPr txBox="1"/>
          <p:nvPr/>
        </p:nvSpPr>
        <p:spPr>
          <a:xfrm>
            <a:off x="1847088" y="3639312"/>
            <a:ext cx="5852160" cy="566928"/>
          </a:xfrm>
          <a:prstGeom prst="rect">
            <a:avLst/>
          </a:prstGeom>
          <a:noFill/>
        </p:spPr>
        <p:txBody>
          <a:bodyPr wrap="square" lIns="0" tIns="0" rIns="0" bIns="0" anchor="t">
            <a:spAutoFit/>
          </a:bodyPr>
          <a:lstStyle/>
          <a:p>
            <a:pPr algn="l">
              <a:lnSpc>
                <a:spcPts val="1500"/>
              </a:lnSpc>
            </a:pPr>
            <a:r>
              <a:rPr sz="1150" b="0" i="0">
                <a:solidFill>
                  <a:srgbClr val="4E5A66"/>
                </a:solidFill>
                <a:latin typeface="Calibri"/>
              </a:rPr>
              <a:t>The handover package, both DLLs and the API reference are complete and documented. Development can begin immediately with no further input from analytics.</a:t>
            </a:r>
          </a:p>
        </p:txBody>
      </p:sp>
      <p:sp>
        <p:nvSpPr>
          <p:cNvPr id="17" name="TextBox 16"/>
          <p:cNvSpPr txBox="1"/>
          <p:nvPr/>
        </p:nvSpPr>
        <p:spPr>
          <a:xfrm>
            <a:off x="8183879" y="3328415"/>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OWNER</a:t>
            </a:r>
          </a:p>
        </p:txBody>
      </p:sp>
      <p:sp>
        <p:nvSpPr>
          <p:cNvPr id="18" name="TextBox 17"/>
          <p:cNvSpPr txBox="1"/>
          <p:nvPr/>
        </p:nvSpPr>
        <p:spPr>
          <a:xfrm>
            <a:off x="8183879" y="3520439"/>
            <a:ext cx="3200400" cy="237744"/>
          </a:xfrm>
          <a:prstGeom prst="rect">
            <a:avLst/>
          </a:prstGeom>
          <a:noFill/>
        </p:spPr>
        <p:txBody>
          <a:bodyPr wrap="square" lIns="0" tIns="0" rIns="0" bIns="0" anchor="t">
            <a:spAutoFit/>
          </a:bodyPr>
          <a:lstStyle/>
          <a:p>
            <a:pPr algn="l"/>
            <a:r>
              <a:rPr sz="1200" b="1" i="0">
                <a:solidFill>
                  <a:srgbClr val="1B2430"/>
                </a:solidFill>
                <a:latin typeface="Calibri"/>
              </a:rPr>
              <a:t>Software development</a:t>
            </a:r>
          </a:p>
        </p:txBody>
      </p:sp>
      <p:sp>
        <p:nvSpPr>
          <p:cNvPr id="19" name="TextBox 18"/>
          <p:cNvSpPr txBox="1"/>
          <p:nvPr/>
        </p:nvSpPr>
        <p:spPr>
          <a:xfrm>
            <a:off x="8183879" y="3803904"/>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UNBLOCKS</a:t>
            </a:r>
          </a:p>
        </p:txBody>
      </p:sp>
      <p:sp>
        <p:nvSpPr>
          <p:cNvPr id="20" name="TextBox 19"/>
          <p:cNvSpPr txBox="1"/>
          <p:nvPr/>
        </p:nvSpPr>
        <p:spPr>
          <a:xfrm>
            <a:off x="8183879" y="3995928"/>
            <a:ext cx="3200400" cy="310896"/>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Use outside the console harness</a:t>
            </a:r>
          </a:p>
        </p:txBody>
      </p:sp>
      <p:sp>
        <p:nvSpPr>
          <p:cNvPr id="21" name="Rounded Rectangle 20"/>
          <p:cNvSpPr/>
          <p:nvPr/>
        </p:nvSpPr>
        <p:spPr>
          <a:xfrm>
            <a:off x="548640" y="4489704"/>
            <a:ext cx="11091672" cy="126187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868680" y="4489704"/>
            <a:ext cx="777240" cy="1261872"/>
          </a:xfrm>
          <a:prstGeom prst="rect">
            <a:avLst/>
          </a:prstGeom>
          <a:noFill/>
        </p:spPr>
        <p:txBody>
          <a:bodyPr wrap="square" lIns="0" tIns="0" rIns="0" bIns="0" anchor="ctr">
            <a:spAutoFit/>
          </a:bodyPr>
          <a:lstStyle/>
          <a:p>
            <a:pPr algn="ctr"/>
            <a:r>
              <a:rPr sz="3400" b="1" i="0">
                <a:solidFill>
                  <a:srgbClr val="C46A24"/>
                </a:solidFill>
                <a:latin typeface="Cambria"/>
              </a:rPr>
              <a:t>03</a:t>
            </a:r>
          </a:p>
        </p:txBody>
      </p:sp>
      <p:sp>
        <p:nvSpPr>
          <p:cNvPr id="23" name="TextBox 22"/>
          <p:cNvSpPr txBox="1"/>
          <p:nvPr/>
        </p:nvSpPr>
        <p:spPr>
          <a:xfrm>
            <a:off x="1847088" y="4709160"/>
            <a:ext cx="5852160" cy="292608"/>
          </a:xfrm>
          <a:prstGeom prst="rect">
            <a:avLst/>
          </a:prstGeom>
          <a:noFill/>
        </p:spPr>
        <p:txBody>
          <a:bodyPr wrap="square" lIns="0" tIns="0" rIns="0" bIns="0" anchor="t">
            <a:spAutoFit/>
          </a:bodyPr>
          <a:lstStyle/>
          <a:p>
            <a:pPr algn="l"/>
            <a:r>
              <a:rPr sz="1650" b="1" i="0">
                <a:solidFill>
                  <a:srgbClr val="1B2430"/>
                </a:solidFill>
                <a:latin typeface="Cambria"/>
              </a:rPr>
              <a:t>Run validation on a completed project</a:t>
            </a:r>
          </a:p>
        </p:txBody>
      </p:sp>
      <p:sp>
        <p:nvSpPr>
          <p:cNvPr id="24" name="TextBox 23"/>
          <p:cNvSpPr txBox="1"/>
          <p:nvPr/>
        </p:nvSpPr>
        <p:spPr>
          <a:xfrm>
            <a:off x="1847088" y="5038344"/>
            <a:ext cx="5852160" cy="566928"/>
          </a:xfrm>
          <a:prstGeom prst="rect">
            <a:avLst/>
          </a:prstGeom>
          <a:noFill/>
        </p:spPr>
        <p:txBody>
          <a:bodyPr wrap="square" lIns="0" tIns="0" rIns="0" bIns="0" anchor="t">
            <a:spAutoFit/>
          </a:bodyPr>
          <a:lstStyle/>
          <a:p>
            <a:pPr algn="l">
              <a:lnSpc>
                <a:spcPts val="1500"/>
              </a:lnSpc>
            </a:pPr>
            <a:r>
              <a:rPr sz="1150" b="0" i="0">
                <a:solidFill>
                  <a:srgbClr val="4E5A66"/>
                </a:solidFill>
                <a:latin typeface="Calibri"/>
              </a:rPr>
              <a:t>Compare pipeline output against a project whose correct answer is already known. This is what produces a defensible accuracy figure — which we do not have today and should not estimate.</a:t>
            </a:r>
          </a:p>
        </p:txBody>
      </p:sp>
      <p:sp>
        <p:nvSpPr>
          <p:cNvPr id="25" name="TextBox 24"/>
          <p:cNvSpPr txBox="1"/>
          <p:nvPr/>
        </p:nvSpPr>
        <p:spPr>
          <a:xfrm>
            <a:off x="8183879" y="4727448"/>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OWNER</a:t>
            </a:r>
          </a:p>
        </p:txBody>
      </p:sp>
      <p:sp>
        <p:nvSpPr>
          <p:cNvPr id="26" name="TextBox 25"/>
          <p:cNvSpPr txBox="1"/>
          <p:nvPr/>
        </p:nvSpPr>
        <p:spPr>
          <a:xfrm>
            <a:off x="8183879" y="4919472"/>
            <a:ext cx="3200400" cy="237744"/>
          </a:xfrm>
          <a:prstGeom prst="rect">
            <a:avLst/>
          </a:prstGeom>
          <a:noFill/>
        </p:spPr>
        <p:txBody>
          <a:bodyPr wrap="square" lIns="0" tIns="0" rIns="0" bIns="0" anchor="t">
            <a:spAutoFit/>
          </a:bodyPr>
          <a:lstStyle/>
          <a:p>
            <a:pPr algn="l"/>
            <a:r>
              <a:rPr sz="1200" b="1" i="0">
                <a:solidFill>
                  <a:srgbClr val="1B2430"/>
                </a:solidFill>
                <a:latin typeface="Calibri"/>
              </a:rPr>
              <a:t>Analytics + engineering</a:t>
            </a:r>
          </a:p>
        </p:txBody>
      </p:sp>
      <p:sp>
        <p:nvSpPr>
          <p:cNvPr id="27" name="TextBox 26"/>
          <p:cNvSpPr txBox="1"/>
          <p:nvPr/>
        </p:nvSpPr>
        <p:spPr>
          <a:xfrm>
            <a:off x="8183879" y="5202936"/>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UNBLOCKS</a:t>
            </a:r>
          </a:p>
        </p:txBody>
      </p:sp>
      <p:sp>
        <p:nvSpPr>
          <p:cNvPr id="28" name="TextBox 27"/>
          <p:cNvSpPr txBox="1"/>
          <p:nvPr/>
        </p:nvSpPr>
        <p:spPr>
          <a:xfrm>
            <a:off x="8183879" y="5394960"/>
            <a:ext cx="3200400" cy="310896"/>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A quotable accuracy number</a:t>
            </a:r>
          </a:p>
        </p:txBody>
      </p:sp>
      <p:sp>
        <p:nvSpPr>
          <p:cNvPr id="29" name="TextBox 28"/>
          <p:cNvSpPr txBox="1"/>
          <p:nvPr/>
        </p:nvSpPr>
        <p:spPr>
          <a:xfrm>
            <a:off x="548640" y="5925312"/>
            <a:ext cx="11091672" cy="256032"/>
          </a:xfrm>
          <a:prstGeom prst="rect">
            <a:avLst/>
          </a:prstGeom>
          <a:noFill/>
        </p:spPr>
        <p:txBody>
          <a:bodyPr wrap="square" lIns="0" tIns="0" rIns="0" bIns="0" anchor="t">
            <a:spAutoFit/>
          </a:bodyPr>
          <a:lstStyle/>
          <a:p>
            <a:pPr algn="l"/>
            <a:r>
              <a:rPr sz="1100" b="0" i="1">
                <a:solidFill>
                  <a:srgbClr val="7A8792"/>
                </a:solidFill>
                <a:latin typeface="Calibri"/>
              </a:rPr>
              <a:t>Automated tests should be written alongside the interface, not after it.</a:t>
            </a:r>
          </a:p>
        </p:txBody>
      </p:sp>
      <p:sp>
        <p:nvSpPr>
          <p:cNvPr id="30" name="TextBox 29"/>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1" name="TextBox 30"/>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13  ·  IMPORTANT</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Six things to know before building on it</a:t>
            </a:r>
          </a:p>
        </p:txBody>
      </p:sp>
      <p:sp>
        <p:nvSpPr>
          <p:cNvPr id="4" name="Rounded Rectangle 3"/>
          <p:cNvSpPr/>
          <p:nvPr/>
        </p:nvSpPr>
        <p:spPr>
          <a:xfrm>
            <a:off x="5486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82295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1</a:t>
            </a:r>
          </a:p>
        </p:txBody>
      </p:sp>
      <p:sp>
        <p:nvSpPr>
          <p:cNvPr id="7" name="TextBox 6"/>
          <p:cNvSpPr txBox="1"/>
          <p:nvPr/>
        </p:nvSpPr>
        <p:spPr>
          <a:xfrm>
            <a:off x="82295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Reboot test still outstanding</a:t>
            </a:r>
          </a:p>
        </p:txBody>
      </p:sp>
      <p:sp>
        <p:nvSpPr>
          <p:cNvPr id="8" name="TextBox 7"/>
          <p:cNvSpPr txBox="1"/>
          <p:nvPr/>
        </p:nvSpPr>
        <p:spPr>
          <a:xfrm>
            <a:off x="822959" y="2798064"/>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Now registered with NSSM and set to start at boot. The server has not restarted since, so boot-survival is configured but unproven.</a:t>
            </a:r>
          </a:p>
        </p:txBody>
      </p:sp>
      <p:sp>
        <p:nvSpPr>
          <p:cNvPr id="9" name="Rounded Rectangle 8"/>
          <p:cNvSpPr/>
          <p:nvPr/>
        </p:nvSpPr>
        <p:spPr>
          <a:xfrm>
            <a:off x="426339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453770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770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2</a:t>
            </a:r>
          </a:p>
        </p:txBody>
      </p:sp>
      <p:sp>
        <p:nvSpPr>
          <p:cNvPr id="12" name="TextBox 11"/>
          <p:cNvSpPr txBox="1"/>
          <p:nvPr/>
        </p:nvSpPr>
        <p:spPr>
          <a:xfrm>
            <a:off x="453770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One machine, two systems</a:t>
            </a:r>
          </a:p>
        </p:txBody>
      </p:sp>
      <p:sp>
        <p:nvSpPr>
          <p:cNvPr id="13" name="TextBox 12"/>
          <p:cNvSpPr txBox="1"/>
          <p:nvPr/>
        </p:nvSpPr>
        <p:spPr>
          <a:xfrm>
            <a:off x="4537709" y="2798064"/>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Azure DevOps on port 80 and the ML service on port 8000 share 128.100.8.213. Losing it loses both at once.</a:t>
            </a:r>
          </a:p>
        </p:txBody>
      </p:sp>
      <p:sp>
        <p:nvSpPr>
          <p:cNvPr id="14" name="Rounded Rectangle 13"/>
          <p:cNvSpPr/>
          <p:nvPr/>
        </p:nvSpPr>
        <p:spPr>
          <a:xfrm>
            <a:off x="79781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8252460"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2460"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3</a:t>
            </a:r>
          </a:p>
        </p:txBody>
      </p:sp>
      <p:sp>
        <p:nvSpPr>
          <p:cNvPr id="17" name="TextBox 16"/>
          <p:cNvSpPr txBox="1"/>
          <p:nvPr/>
        </p:nvSpPr>
        <p:spPr>
          <a:xfrm>
            <a:off x="8252460"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Case sensitivity half fixed</a:t>
            </a:r>
          </a:p>
        </p:txBody>
      </p:sp>
      <p:sp>
        <p:nvSpPr>
          <p:cNvPr id="18" name="TextBox 17"/>
          <p:cNvSpPr txBox="1"/>
          <p:nvPr/>
        </p:nvSpPr>
        <p:spPr>
          <a:xfrm>
            <a:off x="8252460" y="2798064"/>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Python normalises device IDs; C# still compares DeviceId and ProjectCode ordinally. V001.21 and v001.21 count as two.</a:t>
            </a:r>
          </a:p>
        </p:txBody>
      </p:sp>
      <p:sp>
        <p:nvSpPr>
          <p:cNvPr id="19" name="Rounded Rectangle 18"/>
          <p:cNvSpPr/>
          <p:nvPr/>
        </p:nvSpPr>
        <p:spPr>
          <a:xfrm>
            <a:off x="5486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2295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4</a:t>
            </a:r>
          </a:p>
        </p:txBody>
      </p:sp>
      <p:sp>
        <p:nvSpPr>
          <p:cNvPr id="22" name="TextBox 21"/>
          <p:cNvSpPr txBox="1"/>
          <p:nvPr/>
        </p:nvSpPr>
        <p:spPr>
          <a:xfrm>
            <a:off x="82295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Quota data is placeholder</a:t>
            </a:r>
          </a:p>
        </p:txBody>
      </p:sp>
      <p:sp>
        <p:nvSpPr>
          <p:cNvPr id="23" name="TextBox 22"/>
          <p:cNvSpPr txBox="1"/>
          <p:nvPr/>
        </p:nvSpPr>
        <p:spPr>
          <a:xfrm>
            <a:off x="822959"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Real composition exists for Section 2 only. The 25% auto-assignment rate measures missing data, not model accuracy.</a:t>
            </a:r>
          </a:p>
        </p:txBody>
      </p:sp>
      <p:sp>
        <p:nvSpPr>
          <p:cNvPr id="24" name="Rounded Rectangle 23"/>
          <p:cNvSpPr/>
          <p:nvPr/>
        </p:nvSpPr>
        <p:spPr>
          <a:xfrm>
            <a:off x="426339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3770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3770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5</a:t>
            </a:r>
          </a:p>
        </p:txBody>
      </p:sp>
      <p:sp>
        <p:nvSpPr>
          <p:cNvPr id="27" name="TextBox 26"/>
          <p:cNvSpPr txBox="1"/>
          <p:nvPr/>
        </p:nvSpPr>
        <p:spPr>
          <a:xfrm>
            <a:off x="453770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Nothing is covered by tests</a:t>
            </a:r>
          </a:p>
        </p:txBody>
      </p:sp>
      <p:sp>
        <p:nvSpPr>
          <p:cNvPr id="28" name="TextBox 27"/>
          <p:cNvSpPr txBox="1"/>
          <p:nvPr/>
        </p:nvSpPr>
        <p:spPr>
          <a:xfrm>
            <a:off x="4537709"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Every check so far was run by hand. Interface work needs automated coverage before a change can break it silently.</a:t>
            </a:r>
          </a:p>
        </p:txBody>
      </p:sp>
      <p:sp>
        <p:nvSpPr>
          <p:cNvPr id="29" name="Rounded Rectangle 28"/>
          <p:cNvSpPr/>
          <p:nvPr/>
        </p:nvSpPr>
        <p:spPr>
          <a:xfrm>
            <a:off x="79781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8252460"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460"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6</a:t>
            </a:r>
          </a:p>
        </p:txBody>
      </p:sp>
      <p:sp>
        <p:nvSpPr>
          <p:cNvPr id="32" name="TextBox 31"/>
          <p:cNvSpPr txBox="1"/>
          <p:nvPr/>
        </p:nvSpPr>
        <p:spPr>
          <a:xfrm>
            <a:off x="8252460"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Device type has no model</a:t>
            </a:r>
          </a:p>
        </p:txBody>
      </p:sp>
      <p:sp>
        <p:nvSpPr>
          <p:cNvPr id="33" name="TextBox 32"/>
          <p:cNvSpPr txBox="1"/>
          <p:nvPr/>
        </p:nvSpPr>
        <p:spPr>
          <a:xfrm>
            <a:off x="8252460"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It is a dictionary. An unseen prefix returns UNKNOWN by design and waits for an engineer to teach it permanently.</a:t>
            </a: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3CE1EB-D896-4DC8-6FC6-D86D610E61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756C54-D7E0-3ADF-1549-B8B909B77D4D}"/>
              </a:ext>
            </a:extLst>
          </p:cNvPr>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APPENDIX  ·  OPERATING INSTRUCTIONS</a:t>
            </a:r>
          </a:p>
        </p:txBody>
      </p:sp>
      <p:sp>
        <p:nvSpPr>
          <p:cNvPr id="3" name="TextBox 2">
            <a:extLst>
              <a:ext uri="{FF2B5EF4-FFF2-40B4-BE49-F238E27FC236}">
                <a16:creationId xmlns:a16="http://schemas.microsoft.com/office/drawing/2014/main" id="{ECA507F6-DB38-709F-0F1D-7C6E4B1DF9E1}"/>
              </a:ext>
            </a:extLst>
          </p:cNvPr>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How the system is run today</a:t>
            </a:r>
          </a:p>
        </p:txBody>
      </p:sp>
      <p:sp>
        <p:nvSpPr>
          <p:cNvPr id="4" name="Rounded Rectangle 3">
            <a:extLst>
              <a:ext uri="{FF2B5EF4-FFF2-40B4-BE49-F238E27FC236}">
                <a16:creationId xmlns:a16="http://schemas.microsoft.com/office/drawing/2014/main" id="{E680DCFE-D3C3-5631-DF96-430626FDB3D9}"/>
              </a:ext>
            </a:extLst>
          </p:cNvPr>
          <p:cNvSpPr/>
          <p:nvPr/>
        </p:nvSpPr>
        <p:spPr>
          <a:xfrm>
            <a:off x="548640" y="1389888"/>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a:extLst>
              <a:ext uri="{FF2B5EF4-FFF2-40B4-BE49-F238E27FC236}">
                <a16:creationId xmlns:a16="http://schemas.microsoft.com/office/drawing/2014/main" id="{A6BE83CF-BE5F-7C20-712B-4F0819261EFB}"/>
              </a:ext>
            </a:extLst>
          </p:cNvPr>
          <p:cNvSpPr/>
          <p:nvPr/>
        </p:nvSpPr>
        <p:spPr>
          <a:xfrm>
            <a:off x="822960" y="1600200"/>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CD74FFB-FF70-E352-1105-ECE58DC639D0}"/>
              </a:ext>
            </a:extLst>
          </p:cNvPr>
          <p:cNvSpPr txBox="1"/>
          <p:nvPr/>
        </p:nvSpPr>
        <p:spPr>
          <a:xfrm>
            <a:off x="822960" y="1600200"/>
            <a:ext cx="347472" cy="347472"/>
          </a:xfrm>
          <a:prstGeom prst="rect">
            <a:avLst/>
          </a:prstGeom>
          <a:noFill/>
        </p:spPr>
        <p:txBody>
          <a:bodyPr wrap="square" lIns="0" tIns="0" rIns="0" bIns="0" anchor="ctr">
            <a:spAutoFit/>
          </a:bodyPr>
          <a:lstStyle/>
          <a:p>
            <a:pPr algn="ctr"/>
            <a:r>
              <a:rPr sz="1200" b="1" i="0">
                <a:solidFill>
                  <a:srgbClr val="FFFFFF"/>
                </a:solidFill>
                <a:latin typeface="Cambria"/>
              </a:rPr>
              <a:t>1</a:t>
            </a:r>
          </a:p>
        </p:txBody>
      </p:sp>
      <p:sp>
        <p:nvSpPr>
          <p:cNvPr id="7" name="TextBox 6">
            <a:extLst>
              <a:ext uri="{FF2B5EF4-FFF2-40B4-BE49-F238E27FC236}">
                <a16:creationId xmlns:a16="http://schemas.microsoft.com/office/drawing/2014/main" id="{33F3F32C-2238-9BF8-E1EE-F7D717006B00}"/>
              </a:ext>
            </a:extLst>
          </p:cNvPr>
          <p:cNvSpPr txBox="1"/>
          <p:nvPr/>
        </p:nvSpPr>
        <p:spPr>
          <a:xfrm>
            <a:off x="1371600" y="1389888"/>
            <a:ext cx="3566160" cy="768096"/>
          </a:xfrm>
          <a:prstGeom prst="rect">
            <a:avLst/>
          </a:prstGeom>
          <a:noFill/>
        </p:spPr>
        <p:txBody>
          <a:bodyPr wrap="square" lIns="0" tIns="0" rIns="0" bIns="0" anchor="ctr">
            <a:spAutoFit/>
          </a:bodyPr>
          <a:lstStyle/>
          <a:p>
            <a:pPr algn="l"/>
            <a:r>
              <a:rPr sz="1350" b="1" i="0">
                <a:solidFill>
                  <a:srgbClr val="1B2430"/>
                </a:solidFill>
                <a:latin typeface="Cambria"/>
              </a:rPr>
              <a:t>Install the prerequisites</a:t>
            </a:r>
          </a:p>
        </p:txBody>
      </p:sp>
      <p:sp>
        <p:nvSpPr>
          <p:cNvPr id="8" name="TextBox 7">
            <a:extLst>
              <a:ext uri="{FF2B5EF4-FFF2-40B4-BE49-F238E27FC236}">
                <a16:creationId xmlns:a16="http://schemas.microsoft.com/office/drawing/2014/main" id="{490FC818-3B67-8161-A21B-EF7DC2B26D7E}"/>
              </a:ext>
            </a:extLst>
          </p:cNvPr>
          <p:cNvSpPr txBox="1"/>
          <p:nvPr/>
        </p:nvSpPr>
        <p:spPr>
          <a:xfrm>
            <a:off x="5120640" y="1389888"/>
            <a:ext cx="6263640" cy="768096"/>
          </a:xfrm>
          <a:prstGeom prst="rect">
            <a:avLst/>
          </a:prstGeom>
          <a:noFill/>
        </p:spPr>
        <p:txBody>
          <a:bodyPr wrap="square" lIns="0" tIns="0" rIns="0" bIns="0" anchor="ctr">
            <a:spAutoFit/>
          </a:bodyPr>
          <a:lstStyle/>
          <a:p>
            <a:pPr algn="l">
              <a:lnSpc>
                <a:spcPts val="1450"/>
              </a:lnSpc>
            </a:pPr>
            <a:r>
              <a:rPr sz="1100" b="0" i="0">
                <a:solidFill>
                  <a:srgbClr val="4E5A66"/>
                </a:solidFill>
                <a:latin typeface="Calibri"/>
              </a:rPr>
              <a:t>.NET 10 runtime, access to the XenCreator database, and network access to the ML service. Python is only needed for the local-prediction console app. Windows x64 only.</a:t>
            </a:r>
          </a:p>
        </p:txBody>
      </p:sp>
      <p:sp>
        <p:nvSpPr>
          <p:cNvPr id="9" name="Rounded Rectangle 8">
            <a:extLst>
              <a:ext uri="{FF2B5EF4-FFF2-40B4-BE49-F238E27FC236}">
                <a16:creationId xmlns:a16="http://schemas.microsoft.com/office/drawing/2014/main" id="{F1ACFCC2-EA21-3EE0-267F-E6E81042CAAB}"/>
              </a:ext>
            </a:extLst>
          </p:cNvPr>
          <p:cNvSpPr/>
          <p:nvPr/>
        </p:nvSpPr>
        <p:spPr>
          <a:xfrm>
            <a:off x="548640" y="2249424"/>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a:extLst>
              <a:ext uri="{FF2B5EF4-FFF2-40B4-BE49-F238E27FC236}">
                <a16:creationId xmlns:a16="http://schemas.microsoft.com/office/drawing/2014/main" id="{33AD8FA8-E13D-EF41-0789-4CF4E9B0F771}"/>
              </a:ext>
            </a:extLst>
          </p:cNvPr>
          <p:cNvSpPr/>
          <p:nvPr/>
        </p:nvSpPr>
        <p:spPr>
          <a:xfrm>
            <a:off x="822960" y="2459736"/>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F3F2D3C-5016-BAA3-9A1E-AA24CBCEE735}"/>
              </a:ext>
            </a:extLst>
          </p:cNvPr>
          <p:cNvSpPr txBox="1"/>
          <p:nvPr/>
        </p:nvSpPr>
        <p:spPr>
          <a:xfrm>
            <a:off x="822960" y="2459736"/>
            <a:ext cx="347472" cy="347472"/>
          </a:xfrm>
          <a:prstGeom prst="rect">
            <a:avLst/>
          </a:prstGeom>
          <a:noFill/>
        </p:spPr>
        <p:txBody>
          <a:bodyPr wrap="square" lIns="0" tIns="0" rIns="0" bIns="0" anchor="ctr">
            <a:spAutoFit/>
          </a:bodyPr>
          <a:lstStyle/>
          <a:p>
            <a:pPr algn="ctr"/>
            <a:r>
              <a:rPr sz="1200" b="1" i="0">
                <a:solidFill>
                  <a:srgbClr val="FFFFFF"/>
                </a:solidFill>
                <a:latin typeface="Cambria"/>
              </a:rPr>
              <a:t>2</a:t>
            </a:r>
          </a:p>
        </p:txBody>
      </p:sp>
      <p:sp>
        <p:nvSpPr>
          <p:cNvPr id="12" name="TextBox 11">
            <a:extLst>
              <a:ext uri="{FF2B5EF4-FFF2-40B4-BE49-F238E27FC236}">
                <a16:creationId xmlns:a16="http://schemas.microsoft.com/office/drawing/2014/main" id="{2410E9C7-CA9C-2325-CF81-5184EA749807}"/>
              </a:ext>
            </a:extLst>
          </p:cNvPr>
          <p:cNvSpPr txBox="1"/>
          <p:nvPr/>
        </p:nvSpPr>
        <p:spPr>
          <a:xfrm>
            <a:off x="1371600" y="2249424"/>
            <a:ext cx="3566160" cy="768096"/>
          </a:xfrm>
          <a:prstGeom prst="rect">
            <a:avLst/>
          </a:prstGeom>
          <a:noFill/>
        </p:spPr>
        <p:txBody>
          <a:bodyPr wrap="square" lIns="0" tIns="0" rIns="0" bIns="0" anchor="ctr">
            <a:spAutoFit/>
          </a:bodyPr>
          <a:lstStyle/>
          <a:p>
            <a:pPr algn="l"/>
            <a:r>
              <a:rPr sz="1350" b="1" i="0">
                <a:solidFill>
                  <a:srgbClr val="1B2430"/>
                </a:solidFill>
                <a:latin typeface="Cambria"/>
              </a:rPr>
              <a:t>Create the three SQL tables</a:t>
            </a:r>
          </a:p>
        </p:txBody>
      </p:sp>
      <p:sp>
        <p:nvSpPr>
          <p:cNvPr id="13" name="TextBox 12">
            <a:extLst>
              <a:ext uri="{FF2B5EF4-FFF2-40B4-BE49-F238E27FC236}">
                <a16:creationId xmlns:a16="http://schemas.microsoft.com/office/drawing/2014/main" id="{39CFEB73-874E-DC1E-8D3C-828C31F395B7}"/>
              </a:ext>
            </a:extLst>
          </p:cNvPr>
          <p:cNvSpPr txBox="1"/>
          <p:nvPr/>
        </p:nvSpPr>
        <p:spPr>
          <a:xfrm>
            <a:off x="5120640" y="2249424"/>
            <a:ext cx="6263640" cy="768096"/>
          </a:xfrm>
          <a:prstGeom prst="rect">
            <a:avLst/>
          </a:prstGeom>
          <a:noFill/>
        </p:spPr>
        <p:txBody>
          <a:bodyPr wrap="square" lIns="0" tIns="0" rIns="0" bIns="0" anchor="ctr">
            <a:spAutoFit/>
          </a:bodyPr>
          <a:lstStyle/>
          <a:p>
            <a:pPr algn="l">
              <a:lnSpc>
                <a:spcPts val="1450"/>
              </a:lnSpc>
            </a:pPr>
            <a:r>
              <a:rPr sz="1100" b="0" i="0" dirty="0">
                <a:solidFill>
                  <a:srgbClr val="4E5A66"/>
                </a:solidFill>
                <a:latin typeface="Calibri"/>
              </a:rPr>
              <a:t>Run </a:t>
            </a:r>
            <a:r>
              <a:rPr sz="1100" b="0" i="0" dirty="0" err="1">
                <a:solidFill>
                  <a:srgbClr val="4E5A66"/>
                </a:solidFill>
                <a:latin typeface="Calibri"/>
              </a:rPr>
              <a:t>PatternCluster.sql</a:t>
            </a:r>
            <a:r>
              <a:rPr sz="1100" b="0" i="0" dirty="0">
                <a:solidFill>
                  <a:srgbClr val="4E5A66"/>
                </a:solidFill>
                <a:latin typeface="Calibri"/>
              </a:rPr>
              <a:t>, </a:t>
            </a:r>
            <a:r>
              <a:rPr sz="1100" b="0" i="0" dirty="0" err="1">
                <a:solidFill>
                  <a:srgbClr val="4E5A66"/>
                </a:solidFill>
                <a:latin typeface="Calibri"/>
              </a:rPr>
              <a:t>DeviceReviewQueue.sql</a:t>
            </a:r>
            <a:r>
              <a:rPr sz="1100" b="0" i="0" dirty="0">
                <a:solidFill>
                  <a:srgbClr val="4E5A66"/>
                </a:solidFill>
                <a:latin typeface="Calibri"/>
              </a:rPr>
              <a:t> and </a:t>
            </a:r>
            <a:r>
              <a:rPr sz="1100" b="0" i="0" dirty="0" err="1">
                <a:solidFill>
                  <a:srgbClr val="4E5A66"/>
                </a:solidFill>
                <a:latin typeface="Calibri"/>
              </a:rPr>
              <a:t>OutputDeviceAssignment.sql</a:t>
            </a:r>
            <a:r>
              <a:rPr sz="1100" b="0" i="0" dirty="0">
                <a:solidFill>
                  <a:srgbClr val="4E5A66"/>
                </a:solidFill>
                <a:latin typeface="Calibri"/>
              </a:rPr>
              <a:t> once. All three are guarded, so re-running them is safe.</a:t>
            </a:r>
          </a:p>
        </p:txBody>
      </p:sp>
      <p:sp>
        <p:nvSpPr>
          <p:cNvPr id="14" name="Rounded Rectangle 13">
            <a:extLst>
              <a:ext uri="{FF2B5EF4-FFF2-40B4-BE49-F238E27FC236}">
                <a16:creationId xmlns:a16="http://schemas.microsoft.com/office/drawing/2014/main" id="{ED38F49A-27D2-7F3F-4B75-708E24F68149}"/>
              </a:ext>
            </a:extLst>
          </p:cNvPr>
          <p:cNvSpPr/>
          <p:nvPr/>
        </p:nvSpPr>
        <p:spPr>
          <a:xfrm>
            <a:off x="548640" y="3108960"/>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a:extLst>
              <a:ext uri="{FF2B5EF4-FFF2-40B4-BE49-F238E27FC236}">
                <a16:creationId xmlns:a16="http://schemas.microsoft.com/office/drawing/2014/main" id="{E4EFB443-F194-7E97-2630-20B2F820617E}"/>
              </a:ext>
            </a:extLst>
          </p:cNvPr>
          <p:cNvSpPr/>
          <p:nvPr/>
        </p:nvSpPr>
        <p:spPr>
          <a:xfrm>
            <a:off x="822960" y="3319272"/>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CBBD747-C3A0-8471-AD05-759F346163CC}"/>
              </a:ext>
            </a:extLst>
          </p:cNvPr>
          <p:cNvSpPr txBox="1"/>
          <p:nvPr/>
        </p:nvSpPr>
        <p:spPr>
          <a:xfrm>
            <a:off x="822960" y="3319272"/>
            <a:ext cx="347472" cy="347472"/>
          </a:xfrm>
          <a:prstGeom prst="rect">
            <a:avLst/>
          </a:prstGeom>
          <a:noFill/>
        </p:spPr>
        <p:txBody>
          <a:bodyPr wrap="square" lIns="0" tIns="0" rIns="0" bIns="0" anchor="ctr">
            <a:spAutoFit/>
          </a:bodyPr>
          <a:lstStyle/>
          <a:p>
            <a:pPr algn="ctr"/>
            <a:r>
              <a:rPr sz="1200" b="1" i="0">
                <a:solidFill>
                  <a:srgbClr val="FFFFFF"/>
                </a:solidFill>
                <a:latin typeface="Cambria"/>
              </a:rPr>
              <a:t>3</a:t>
            </a:r>
          </a:p>
        </p:txBody>
      </p:sp>
      <p:sp>
        <p:nvSpPr>
          <p:cNvPr id="17" name="TextBox 16">
            <a:extLst>
              <a:ext uri="{FF2B5EF4-FFF2-40B4-BE49-F238E27FC236}">
                <a16:creationId xmlns:a16="http://schemas.microsoft.com/office/drawing/2014/main" id="{8B40ADE9-85ED-8399-96A9-885D9C7A1A9A}"/>
              </a:ext>
            </a:extLst>
          </p:cNvPr>
          <p:cNvSpPr txBox="1"/>
          <p:nvPr/>
        </p:nvSpPr>
        <p:spPr>
          <a:xfrm>
            <a:off x="1371600" y="3108960"/>
            <a:ext cx="3566160" cy="768096"/>
          </a:xfrm>
          <a:prstGeom prst="rect">
            <a:avLst/>
          </a:prstGeom>
          <a:noFill/>
        </p:spPr>
        <p:txBody>
          <a:bodyPr wrap="square" lIns="0" tIns="0" rIns="0" bIns="0" anchor="ctr">
            <a:spAutoFit/>
          </a:bodyPr>
          <a:lstStyle/>
          <a:p>
            <a:pPr algn="l"/>
            <a:r>
              <a:rPr sz="1350" b="1" i="0">
                <a:solidFill>
                  <a:srgbClr val="1B2430"/>
                </a:solidFill>
                <a:latin typeface="Cambria"/>
              </a:rPr>
              <a:t>Run against the ML service</a:t>
            </a:r>
          </a:p>
        </p:txBody>
      </p:sp>
      <p:sp>
        <p:nvSpPr>
          <p:cNvPr id="18" name="TextBox 17">
            <a:extLst>
              <a:ext uri="{FF2B5EF4-FFF2-40B4-BE49-F238E27FC236}">
                <a16:creationId xmlns:a16="http://schemas.microsoft.com/office/drawing/2014/main" id="{AA237C60-118F-937D-835A-7440BE5482AB}"/>
              </a:ext>
            </a:extLst>
          </p:cNvPr>
          <p:cNvSpPr txBox="1"/>
          <p:nvPr/>
        </p:nvSpPr>
        <p:spPr>
          <a:xfrm>
            <a:off x="5120640" y="3108960"/>
            <a:ext cx="6263640" cy="768096"/>
          </a:xfrm>
          <a:prstGeom prst="rect">
            <a:avLst/>
          </a:prstGeom>
          <a:noFill/>
        </p:spPr>
        <p:txBody>
          <a:bodyPr wrap="square" lIns="0" tIns="0" rIns="0" bIns="0" anchor="ctr">
            <a:spAutoFit/>
          </a:bodyPr>
          <a:lstStyle/>
          <a:p>
            <a:pPr algn="l">
              <a:lnSpc>
                <a:spcPts val="1450"/>
              </a:lnSpc>
            </a:pPr>
            <a:r>
              <a:rPr sz="1100" b="0" i="0">
                <a:solidFill>
                  <a:srgbClr val="4E5A66"/>
                </a:solidFill>
                <a:latin typeface="Calibri"/>
              </a:rPr>
              <a:t>Double-click run-service-app.cmd, or pass a code: run-service-app.cmd A9998. The launcher sets ML_SERVICE_URL for you.</a:t>
            </a:r>
          </a:p>
        </p:txBody>
      </p:sp>
      <p:sp>
        <p:nvSpPr>
          <p:cNvPr id="19" name="Rounded Rectangle 18">
            <a:extLst>
              <a:ext uri="{FF2B5EF4-FFF2-40B4-BE49-F238E27FC236}">
                <a16:creationId xmlns:a16="http://schemas.microsoft.com/office/drawing/2014/main" id="{8D0AC3F4-340A-2343-8C76-E8A37705BC93}"/>
              </a:ext>
            </a:extLst>
          </p:cNvPr>
          <p:cNvSpPr/>
          <p:nvPr/>
        </p:nvSpPr>
        <p:spPr>
          <a:xfrm>
            <a:off x="548640" y="3968496"/>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a:extLst>
              <a:ext uri="{FF2B5EF4-FFF2-40B4-BE49-F238E27FC236}">
                <a16:creationId xmlns:a16="http://schemas.microsoft.com/office/drawing/2014/main" id="{39B8EEBE-85F9-381F-A0C2-DE64EC1D1E6E}"/>
              </a:ext>
            </a:extLst>
          </p:cNvPr>
          <p:cNvSpPr/>
          <p:nvPr/>
        </p:nvSpPr>
        <p:spPr>
          <a:xfrm>
            <a:off x="822960" y="4178808"/>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AC851D1E-37F1-E945-1FBE-BA302C7787C5}"/>
              </a:ext>
            </a:extLst>
          </p:cNvPr>
          <p:cNvSpPr txBox="1"/>
          <p:nvPr/>
        </p:nvSpPr>
        <p:spPr>
          <a:xfrm>
            <a:off x="822960" y="4178808"/>
            <a:ext cx="347472" cy="347472"/>
          </a:xfrm>
          <a:prstGeom prst="rect">
            <a:avLst/>
          </a:prstGeom>
          <a:noFill/>
        </p:spPr>
        <p:txBody>
          <a:bodyPr wrap="square" lIns="0" tIns="0" rIns="0" bIns="0" anchor="ctr">
            <a:spAutoFit/>
          </a:bodyPr>
          <a:lstStyle/>
          <a:p>
            <a:pPr algn="ctr"/>
            <a:r>
              <a:rPr sz="1200" b="1" i="0">
                <a:solidFill>
                  <a:srgbClr val="FFFFFF"/>
                </a:solidFill>
                <a:latin typeface="Cambria"/>
              </a:rPr>
              <a:t>4</a:t>
            </a:r>
          </a:p>
        </p:txBody>
      </p:sp>
      <p:sp>
        <p:nvSpPr>
          <p:cNvPr id="22" name="TextBox 21">
            <a:extLst>
              <a:ext uri="{FF2B5EF4-FFF2-40B4-BE49-F238E27FC236}">
                <a16:creationId xmlns:a16="http://schemas.microsoft.com/office/drawing/2014/main" id="{CF74B40F-2E89-9A4A-C2E3-B8909C7475EA}"/>
              </a:ext>
            </a:extLst>
          </p:cNvPr>
          <p:cNvSpPr txBox="1"/>
          <p:nvPr/>
        </p:nvSpPr>
        <p:spPr>
          <a:xfrm>
            <a:off x="1371600" y="3968496"/>
            <a:ext cx="3566160" cy="768096"/>
          </a:xfrm>
          <a:prstGeom prst="rect">
            <a:avLst/>
          </a:prstGeom>
          <a:noFill/>
        </p:spPr>
        <p:txBody>
          <a:bodyPr wrap="square" lIns="0" tIns="0" rIns="0" bIns="0" anchor="ctr">
            <a:spAutoFit/>
          </a:bodyPr>
          <a:lstStyle/>
          <a:p>
            <a:pPr algn="l"/>
            <a:r>
              <a:rPr sz="1350" b="1" i="0">
                <a:solidFill>
                  <a:srgbClr val="1B2430"/>
                </a:solidFill>
                <a:latin typeface="Cambria"/>
              </a:rPr>
              <a:t>Or run it headless</a:t>
            </a:r>
          </a:p>
        </p:txBody>
      </p:sp>
      <p:sp>
        <p:nvSpPr>
          <p:cNvPr id="23" name="TextBox 22">
            <a:extLst>
              <a:ext uri="{FF2B5EF4-FFF2-40B4-BE49-F238E27FC236}">
                <a16:creationId xmlns:a16="http://schemas.microsoft.com/office/drawing/2014/main" id="{2EE8AEAB-E2EE-6190-337D-DB86291480B7}"/>
              </a:ext>
            </a:extLst>
          </p:cNvPr>
          <p:cNvSpPr txBox="1"/>
          <p:nvPr/>
        </p:nvSpPr>
        <p:spPr>
          <a:xfrm>
            <a:off x="5120640" y="3968496"/>
            <a:ext cx="6263640" cy="768096"/>
          </a:xfrm>
          <a:prstGeom prst="rect">
            <a:avLst/>
          </a:prstGeom>
          <a:noFill/>
        </p:spPr>
        <p:txBody>
          <a:bodyPr wrap="square" lIns="0" tIns="0" rIns="0" bIns="0" anchor="ctr">
            <a:spAutoFit/>
          </a:bodyPr>
          <a:lstStyle/>
          <a:p>
            <a:pPr algn="l">
              <a:lnSpc>
                <a:spcPts val="1450"/>
              </a:lnSpc>
            </a:pPr>
            <a:r>
              <a:rPr sz="1100" b="0" i="0">
                <a:solidFill>
                  <a:srgbClr val="4E5A66"/>
                </a:solidFill>
                <a:latin typeface="Calibri"/>
              </a:rPr>
              <a:t>run-service-app.cmd A9998 --unattended skips every prompt, for scheduled or automated runs.</a:t>
            </a:r>
          </a:p>
        </p:txBody>
      </p:sp>
      <p:sp>
        <p:nvSpPr>
          <p:cNvPr id="24" name="Rounded Rectangle 23">
            <a:extLst>
              <a:ext uri="{FF2B5EF4-FFF2-40B4-BE49-F238E27FC236}">
                <a16:creationId xmlns:a16="http://schemas.microsoft.com/office/drawing/2014/main" id="{7B0A6753-6EE9-C709-CF5F-87B6D8B89670}"/>
              </a:ext>
            </a:extLst>
          </p:cNvPr>
          <p:cNvSpPr/>
          <p:nvPr/>
        </p:nvSpPr>
        <p:spPr>
          <a:xfrm>
            <a:off x="548640" y="4828031"/>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a:extLst>
              <a:ext uri="{FF2B5EF4-FFF2-40B4-BE49-F238E27FC236}">
                <a16:creationId xmlns:a16="http://schemas.microsoft.com/office/drawing/2014/main" id="{79277C4E-615B-0282-F294-5C7CBBB4C079}"/>
              </a:ext>
            </a:extLst>
          </p:cNvPr>
          <p:cNvSpPr/>
          <p:nvPr/>
        </p:nvSpPr>
        <p:spPr>
          <a:xfrm>
            <a:off x="822960" y="5038344"/>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01018FAB-BFAD-F163-AD14-1A80503CF674}"/>
              </a:ext>
            </a:extLst>
          </p:cNvPr>
          <p:cNvSpPr txBox="1"/>
          <p:nvPr/>
        </p:nvSpPr>
        <p:spPr>
          <a:xfrm>
            <a:off x="822960" y="5038344"/>
            <a:ext cx="347472" cy="347472"/>
          </a:xfrm>
          <a:prstGeom prst="rect">
            <a:avLst/>
          </a:prstGeom>
          <a:noFill/>
        </p:spPr>
        <p:txBody>
          <a:bodyPr wrap="square" lIns="0" tIns="0" rIns="0" bIns="0" anchor="ctr">
            <a:spAutoFit/>
          </a:bodyPr>
          <a:lstStyle/>
          <a:p>
            <a:pPr algn="ctr"/>
            <a:r>
              <a:rPr sz="1200" b="1" i="0">
                <a:solidFill>
                  <a:srgbClr val="FFFFFF"/>
                </a:solidFill>
                <a:latin typeface="Cambria"/>
              </a:rPr>
              <a:t>5</a:t>
            </a:r>
          </a:p>
        </p:txBody>
      </p:sp>
      <p:sp>
        <p:nvSpPr>
          <p:cNvPr id="27" name="TextBox 26">
            <a:extLst>
              <a:ext uri="{FF2B5EF4-FFF2-40B4-BE49-F238E27FC236}">
                <a16:creationId xmlns:a16="http://schemas.microsoft.com/office/drawing/2014/main" id="{B36D48CD-785B-3A6F-A4BC-4AB072D28EEB}"/>
              </a:ext>
            </a:extLst>
          </p:cNvPr>
          <p:cNvSpPr txBox="1"/>
          <p:nvPr/>
        </p:nvSpPr>
        <p:spPr>
          <a:xfrm>
            <a:off x="1371600" y="4828031"/>
            <a:ext cx="3566160" cy="768096"/>
          </a:xfrm>
          <a:prstGeom prst="rect">
            <a:avLst/>
          </a:prstGeom>
          <a:noFill/>
        </p:spPr>
        <p:txBody>
          <a:bodyPr wrap="square" lIns="0" tIns="0" rIns="0" bIns="0" anchor="ctr">
            <a:spAutoFit/>
          </a:bodyPr>
          <a:lstStyle/>
          <a:p>
            <a:pPr algn="l"/>
            <a:r>
              <a:rPr sz="1350" b="1" i="0">
                <a:solidFill>
                  <a:srgbClr val="1B2430"/>
                </a:solidFill>
                <a:latin typeface="Cambria"/>
              </a:rPr>
              <a:t>Read the results</a:t>
            </a:r>
          </a:p>
        </p:txBody>
      </p:sp>
      <p:sp>
        <p:nvSpPr>
          <p:cNvPr id="28" name="TextBox 27">
            <a:extLst>
              <a:ext uri="{FF2B5EF4-FFF2-40B4-BE49-F238E27FC236}">
                <a16:creationId xmlns:a16="http://schemas.microsoft.com/office/drawing/2014/main" id="{0AF6BAF7-663F-305D-AF97-5BE107B28A1E}"/>
              </a:ext>
            </a:extLst>
          </p:cNvPr>
          <p:cNvSpPr txBox="1"/>
          <p:nvPr/>
        </p:nvSpPr>
        <p:spPr>
          <a:xfrm>
            <a:off x="5120640" y="4828031"/>
            <a:ext cx="6263640" cy="768096"/>
          </a:xfrm>
          <a:prstGeom prst="rect">
            <a:avLst/>
          </a:prstGeom>
          <a:noFill/>
        </p:spPr>
        <p:txBody>
          <a:bodyPr wrap="square" lIns="0" tIns="0" rIns="0" bIns="0" anchor="ctr">
            <a:spAutoFit/>
          </a:bodyPr>
          <a:lstStyle/>
          <a:p>
            <a:pPr algn="l">
              <a:lnSpc>
                <a:spcPts val="1450"/>
              </a:lnSpc>
            </a:pPr>
            <a:r>
              <a:rPr sz="1100" b="0" i="0" dirty="0">
                <a:solidFill>
                  <a:srgbClr val="4E5A66"/>
                </a:solidFill>
                <a:latin typeface="Calibri"/>
              </a:rPr>
              <a:t>Query </a:t>
            </a:r>
            <a:r>
              <a:rPr sz="1100" b="0" i="0" dirty="0" err="1">
                <a:solidFill>
                  <a:srgbClr val="4E5A66"/>
                </a:solidFill>
                <a:latin typeface="Calibri"/>
              </a:rPr>
              <a:t>dbo.OutputDeviceAssignment</a:t>
            </a:r>
            <a:r>
              <a:rPr sz="1100" b="0" i="0" dirty="0">
                <a:solidFill>
                  <a:srgbClr val="4E5A66"/>
                </a:solidFill>
                <a:latin typeface="Calibri"/>
              </a:rPr>
              <a:t> for placed devices, and </a:t>
            </a:r>
            <a:r>
              <a:rPr sz="1100" b="0" i="0" dirty="0" err="1">
                <a:solidFill>
                  <a:srgbClr val="4E5A66"/>
                </a:solidFill>
                <a:latin typeface="Calibri"/>
              </a:rPr>
              <a:t>dbo.DeviceReviewQueue</a:t>
            </a:r>
            <a:r>
              <a:rPr sz="1100" b="0" i="0" dirty="0">
                <a:solidFill>
                  <a:srgbClr val="4E5A66"/>
                </a:solidFill>
                <a:latin typeface="Calibri"/>
              </a:rPr>
              <a:t> for anything awaiting review.</a:t>
            </a:r>
          </a:p>
        </p:txBody>
      </p:sp>
      <p:sp>
        <p:nvSpPr>
          <p:cNvPr id="29" name="Rounded Rectangle 28">
            <a:extLst>
              <a:ext uri="{FF2B5EF4-FFF2-40B4-BE49-F238E27FC236}">
                <a16:creationId xmlns:a16="http://schemas.microsoft.com/office/drawing/2014/main" id="{BC347DE9-D567-AA50-59D8-0F3482DE5216}"/>
              </a:ext>
            </a:extLst>
          </p:cNvPr>
          <p:cNvSpPr/>
          <p:nvPr/>
        </p:nvSpPr>
        <p:spPr>
          <a:xfrm>
            <a:off x="548640" y="5724144"/>
            <a:ext cx="11091672" cy="475488"/>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a:extLst>
              <a:ext uri="{FF2B5EF4-FFF2-40B4-BE49-F238E27FC236}">
                <a16:creationId xmlns:a16="http://schemas.microsoft.com/office/drawing/2014/main" id="{13772894-CC3F-EBF6-0A58-5753908BFA69}"/>
              </a:ext>
            </a:extLst>
          </p:cNvPr>
          <p:cNvSpPr txBox="1"/>
          <p:nvPr/>
        </p:nvSpPr>
        <p:spPr>
          <a:xfrm>
            <a:off x="868680" y="5724144"/>
            <a:ext cx="10424160" cy="475488"/>
          </a:xfrm>
          <a:prstGeom prst="rect">
            <a:avLst/>
          </a:prstGeom>
          <a:noFill/>
        </p:spPr>
        <p:txBody>
          <a:bodyPr wrap="square" lIns="0" tIns="0" rIns="0" bIns="0" anchor="ctr">
            <a:spAutoFit/>
          </a:bodyPr>
          <a:lstStyle/>
          <a:p>
            <a:pPr algn="ctr"/>
            <a:r>
              <a:rPr sz="1200" b="0" i="0">
                <a:solidFill>
                  <a:srgbClr val="FFFFFF"/>
                </a:solidFill>
                <a:latin typeface="Calibri"/>
              </a:rPr>
              <a:t>For a user interface: reference Logic.dll and call DevicePipeline.RunAsync(…), passing HttpPredictionClient to use the ML service.</a:t>
            </a:r>
          </a:p>
        </p:txBody>
      </p:sp>
      <p:sp>
        <p:nvSpPr>
          <p:cNvPr id="31" name="TextBox 30">
            <a:extLst>
              <a:ext uri="{FF2B5EF4-FFF2-40B4-BE49-F238E27FC236}">
                <a16:creationId xmlns:a16="http://schemas.microsoft.com/office/drawing/2014/main" id="{6781AD7D-6521-FCB3-26A4-657C907FECBD}"/>
              </a:ext>
            </a:extLst>
          </p:cNvPr>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2" name="TextBox 31">
            <a:extLst>
              <a:ext uri="{FF2B5EF4-FFF2-40B4-BE49-F238E27FC236}">
                <a16:creationId xmlns:a16="http://schemas.microsoft.com/office/drawing/2014/main" id="{391B2B9E-98E3-3088-1CDE-9CEA17C43DC4}"/>
              </a:ext>
            </a:extLst>
          </p:cNvPr>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17</a:t>
            </a:r>
          </a:p>
        </p:txBody>
      </p:sp>
    </p:spTree>
    <p:extLst>
      <p:ext uri="{BB962C8B-B14F-4D97-AF65-F5344CB8AC3E}">
        <p14:creationId xmlns:p14="http://schemas.microsoft.com/office/powerpoint/2010/main" val="3790167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40679E-06EE-AD39-66BD-506112145519}"/>
            </a:ext>
          </a:extLst>
        </p:cNvPr>
        <p:cNvGrpSpPr/>
        <p:nvPr/>
      </p:nvGrpSpPr>
      <p:grpSpPr>
        <a:xfrm>
          <a:off x="0" y="0"/>
          <a:ext cx="0" cy="0"/>
          <a:chOff x="0" y="0"/>
          <a:chExt cx="0" cy="0"/>
        </a:xfrm>
      </p:grpSpPr>
      <p:sp>
        <p:nvSpPr>
          <p:cNvPr id="31" name="Rounded Rectangle 30">
            <a:extLst>
              <a:ext uri="{FF2B5EF4-FFF2-40B4-BE49-F238E27FC236}">
                <a16:creationId xmlns:a16="http://schemas.microsoft.com/office/drawing/2014/main" id="{FAF4CAA1-9559-A9E4-3F14-57853F3F4CCD}"/>
              </a:ext>
            </a:extLst>
          </p:cNvPr>
          <p:cNvSpPr/>
          <p:nvPr/>
        </p:nvSpPr>
        <p:spPr>
          <a:xfrm>
            <a:off x="548640" y="4773168"/>
            <a:ext cx="11091672" cy="1298448"/>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a:extLst>
              <a:ext uri="{FF2B5EF4-FFF2-40B4-BE49-F238E27FC236}">
                <a16:creationId xmlns:a16="http://schemas.microsoft.com/office/drawing/2014/main" id="{DDBE0666-E5E0-7AC4-39E6-B1482F021871}"/>
              </a:ext>
            </a:extLst>
          </p:cNvPr>
          <p:cNvSpPr txBox="1"/>
          <p:nvPr/>
        </p:nvSpPr>
        <p:spPr>
          <a:xfrm>
            <a:off x="822960" y="4974336"/>
            <a:ext cx="10515600" cy="219456"/>
          </a:xfrm>
          <a:prstGeom prst="rect">
            <a:avLst/>
          </a:prstGeom>
          <a:noFill/>
        </p:spPr>
        <p:txBody>
          <a:bodyPr wrap="square" lIns="0" tIns="0" rIns="0" bIns="0" anchor="t">
            <a:spAutoFit/>
          </a:bodyPr>
          <a:lstStyle/>
          <a:p>
            <a:pPr algn="l"/>
            <a:r>
              <a:rPr sz="1050" b="1" i="0" spc="180">
                <a:solidFill>
                  <a:srgbClr val="C46A24"/>
                </a:solidFill>
                <a:latin typeface="Calibri"/>
              </a:rPr>
              <a:t>FEATURE ENGINEERING  ·  27+ FEATURES DERIVED FROM EACH TAG</a:t>
            </a:r>
          </a:p>
        </p:txBody>
      </p:sp>
      <p:sp>
        <p:nvSpPr>
          <p:cNvPr id="33" name="TextBox 32">
            <a:extLst>
              <a:ext uri="{FF2B5EF4-FFF2-40B4-BE49-F238E27FC236}">
                <a16:creationId xmlns:a16="http://schemas.microsoft.com/office/drawing/2014/main" id="{392727E7-A834-7609-7308-741F2C4DE349}"/>
              </a:ext>
            </a:extLst>
          </p:cNvPr>
          <p:cNvSpPr txBox="1"/>
          <p:nvPr/>
        </p:nvSpPr>
        <p:spPr>
          <a:xfrm>
            <a:off x="822960" y="5285232"/>
            <a:ext cx="5029200" cy="640080"/>
          </a:xfrm>
          <a:prstGeom prst="rect">
            <a:avLst/>
          </a:prstGeom>
          <a:noFill/>
        </p:spPr>
        <p:txBody>
          <a:bodyPr wrap="square" lIns="0" tIns="0" rIns="0" bIns="0" anchor="t">
            <a:spAutoFit/>
          </a:bodyPr>
          <a:lstStyle/>
          <a:p>
            <a:pPr algn="l">
              <a:lnSpc>
                <a:spcPts val="1600"/>
              </a:lnSpc>
            </a:pPr>
            <a:r>
              <a:rPr sz="1100" b="0" i="0">
                <a:solidFill>
                  <a:srgbClr val="4E5A66"/>
                </a:solidFill>
                <a:latin typeface="Calibri"/>
              </a:rPr>
              <a:t>Tag prefix and suffix pattern</a:t>
            </a:r>
          </a:p>
          <a:p>
            <a:pPr algn="l">
              <a:lnSpc>
                <a:spcPts val="1600"/>
              </a:lnSpc>
            </a:pPr>
            <a:r>
              <a:rPr sz="1100" b="0" i="0">
                <a:solidFill>
                  <a:srgbClr val="4E5A66"/>
                </a:solidFill>
                <a:latin typeface="Calibri"/>
              </a:rPr>
              <a:t>Numeric block width and position</a:t>
            </a:r>
          </a:p>
          <a:p>
            <a:pPr algn="l">
              <a:lnSpc>
                <a:spcPts val="1600"/>
              </a:lnSpc>
            </a:pPr>
            <a:r>
              <a:rPr sz="1100" b="0" i="0">
                <a:solidFill>
                  <a:srgbClr val="4E5A66"/>
                </a:solidFill>
                <a:latin typeface="Calibri"/>
              </a:rPr>
              <a:t>Device type carried from Stage 1</a:t>
            </a:r>
          </a:p>
        </p:txBody>
      </p:sp>
      <p:sp>
        <p:nvSpPr>
          <p:cNvPr id="34" name="TextBox 33">
            <a:extLst>
              <a:ext uri="{FF2B5EF4-FFF2-40B4-BE49-F238E27FC236}">
                <a16:creationId xmlns:a16="http://schemas.microsoft.com/office/drawing/2014/main" id="{FDB2B1A5-4B45-73CE-84C5-520BDF89E877}"/>
              </a:ext>
            </a:extLst>
          </p:cNvPr>
          <p:cNvSpPr txBox="1"/>
          <p:nvPr/>
        </p:nvSpPr>
        <p:spPr>
          <a:xfrm>
            <a:off x="6309360" y="5285232"/>
            <a:ext cx="5029200" cy="640080"/>
          </a:xfrm>
          <a:prstGeom prst="rect">
            <a:avLst/>
          </a:prstGeom>
          <a:noFill/>
        </p:spPr>
        <p:txBody>
          <a:bodyPr wrap="square" lIns="0" tIns="0" rIns="0" bIns="0" anchor="t">
            <a:spAutoFit/>
          </a:bodyPr>
          <a:lstStyle/>
          <a:p>
            <a:pPr algn="l">
              <a:lnSpc>
                <a:spcPts val="1600"/>
              </a:lnSpc>
            </a:pPr>
            <a:r>
              <a:rPr sz="1100" b="0" i="0">
                <a:solidFill>
                  <a:srgbClr val="4E5A66"/>
                </a:solidFill>
                <a:latin typeface="Calibri"/>
              </a:rPr>
              <a:t>Customer and project code</a:t>
            </a:r>
          </a:p>
          <a:p>
            <a:pPr algn="l">
              <a:lnSpc>
                <a:spcPts val="1600"/>
              </a:lnSpc>
            </a:pPr>
            <a:r>
              <a:rPr sz="1100" b="0" i="0">
                <a:solidFill>
                  <a:srgbClr val="4E5A66"/>
                </a:solidFill>
                <a:latin typeface="Calibri"/>
              </a:rPr>
              <a:t>Label-encoded categorical fields</a:t>
            </a:r>
          </a:p>
          <a:p>
            <a:pPr algn="l">
              <a:lnSpc>
                <a:spcPts val="1600"/>
              </a:lnSpc>
            </a:pPr>
            <a:r>
              <a:rPr sz="1100" b="0" i="0">
                <a:solidFill>
                  <a:srgbClr val="4E5A66"/>
                </a:solidFill>
                <a:latin typeface="Calibri"/>
              </a:rPr>
              <a:t>Character-class sequence and tag length</a:t>
            </a:r>
          </a:p>
        </p:txBody>
      </p:sp>
      <p:sp>
        <p:nvSpPr>
          <p:cNvPr id="35" name="TextBox 34">
            <a:extLst>
              <a:ext uri="{FF2B5EF4-FFF2-40B4-BE49-F238E27FC236}">
                <a16:creationId xmlns:a16="http://schemas.microsoft.com/office/drawing/2014/main" id="{AE9677A7-ED4B-FA17-9E37-E8186310F264}"/>
              </a:ext>
            </a:extLst>
          </p:cNvPr>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6" name="TextBox 35">
            <a:extLst>
              <a:ext uri="{FF2B5EF4-FFF2-40B4-BE49-F238E27FC236}">
                <a16:creationId xmlns:a16="http://schemas.microsoft.com/office/drawing/2014/main" id="{FA703907-179C-3B31-1B75-381763686734}"/>
              </a:ext>
            </a:extLst>
          </p:cNvPr>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6</a:t>
            </a:r>
          </a:p>
        </p:txBody>
      </p:sp>
    </p:spTree>
    <p:extLst>
      <p:ext uri="{BB962C8B-B14F-4D97-AF65-F5344CB8AC3E}">
        <p14:creationId xmlns:p14="http://schemas.microsoft.com/office/powerpoint/2010/main" val="322626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F89D08-67D6-CCFC-6D8B-B43E73E69572}"/>
            </a:ext>
          </a:extLst>
        </p:cNvPr>
        <p:cNvGrpSpPr/>
        <p:nvPr/>
      </p:nvGrpSpPr>
      <p:grpSpPr>
        <a:xfrm>
          <a:off x="0" y="0"/>
          <a:ext cx="0" cy="0"/>
          <a:chOff x="0" y="0"/>
          <a:chExt cx="0" cy="0"/>
        </a:xfrm>
      </p:grpSpPr>
      <p:sp>
        <p:nvSpPr>
          <p:cNvPr id="15" name="Rounded Rectangle 14">
            <a:extLst>
              <a:ext uri="{FF2B5EF4-FFF2-40B4-BE49-F238E27FC236}">
                <a16:creationId xmlns:a16="http://schemas.microsoft.com/office/drawing/2014/main" id="{4A136232-7E8D-8E3A-9030-84B796A9FA29}"/>
              </a:ext>
            </a:extLst>
          </p:cNvPr>
          <p:cNvSpPr/>
          <p:nvPr/>
        </p:nvSpPr>
        <p:spPr>
          <a:xfrm>
            <a:off x="6199632" y="1965960"/>
            <a:ext cx="5440680" cy="38404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a:extLst>
              <a:ext uri="{FF2B5EF4-FFF2-40B4-BE49-F238E27FC236}">
                <a16:creationId xmlns:a16="http://schemas.microsoft.com/office/drawing/2014/main" id="{B35E70E1-87CA-1C50-41DE-F54712258A7B}"/>
              </a:ext>
            </a:extLst>
          </p:cNvPr>
          <p:cNvSpPr txBox="1"/>
          <p:nvPr/>
        </p:nvSpPr>
        <p:spPr>
          <a:xfrm>
            <a:off x="6473952" y="2221992"/>
            <a:ext cx="4892040" cy="219456"/>
          </a:xfrm>
          <a:prstGeom prst="rect">
            <a:avLst/>
          </a:prstGeom>
          <a:noFill/>
        </p:spPr>
        <p:txBody>
          <a:bodyPr wrap="square" lIns="0" tIns="0" rIns="0" bIns="0" anchor="t">
            <a:spAutoFit/>
          </a:bodyPr>
          <a:lstStyle/>
          <a:p>
            <a:pPr algn="l"/>
            <a:r>
              <a:rPr sz="1050" b="1" i="0" spc="180">
                <a:solidFill>
                  <a:srgbClr val="7A8792"/>
                </a:solidFill>
                <a:latin typeface="Calibri"/>
              </a:rPr>
              <a:t>EVALUATED, NOT CARRIED FORWARD</a:t>
            </a:r>
          </a:p>
        </p:txBody>
      </p:sp>
      <p:sp>
        <p:nvSpPr>
          <p:cNvPr id="17" name="TextBox 16">
            <a:extLst>
              <a:ext uri="{FF2B5EF4-FFF2-40B4-BE49-F238E27FC236}">
                <a16:creationId xmlns:a16="http://schemas.microsoft.com/office/drawing/2014/main" id="{8F796243-3942-9AC7-4180-DD9AE6FE5130}"/>
              </a:ext>
            </a:extLst>
          </p:cNvPr>
          <p:cNvSpPr txBox="1"/>
          <p:nvPr/>
        </p:nvSpPr>
        <p:spPr>
          <a:xfrm>
            <a:off x="6473952" y="2587752"/>
            <a:ext cx="4892040" cy="219456"/>
          </a:xfrm>
          <a:prstGeom prst="rect">
            <a:avLst/>
          </a:prstGeom>
          <a:noFill/>
        </p:spPr>
        <p:txBody>
          <a:bodyPr wrap="square" lIns="0" tIns="0" rIns="0" bIns="0" anchor="t">
            <a:spAutoFit/>
          </a:bodyPr>
          <a:lstStyle/>
          <a:p>
            <a:pPr algn="l"/>
            <a:r>
              <a:rPr sz="1200" b="1" i="0">
                <a:solidFill>
                  <a:srgbClr val="1B2430"/>
                </a:solidFill>
                <a:latin typeface="Cambria"/>
              </a:rPr>
              <a:t>DBSCAN</a:t>
            </a:r>
          </a:p>
        </p:txBody>
      </p:sp>
      <p:sp>
        <p:nvSpPr>
          <p:cNvPr id="18" name="TextBox 17">
            <a:extLst>
              <a:ext uri="{FF2B5EF4-FFF2-40B4-BE49-F238E27FC236}">
                <a16:creationId xmlns:a16="http://schemas.microsoft.com/office/drawing/2014/main" id="{486F45DC-0AD9-2615-92DC-7365E835A3F2}"/>
              </a:ext>
            </a:extLst>
          </p:cNvPr>
          <p:cNvSpPr txBox="1"/>
          <p:nvPr/>
        </p:nvSpPr>
        <p:spPr>
          <a:xfrm>
            <a:off x="6473952" y="282549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Discovered section groupings in unlabelled data. Not used at inference.</a:t>
            </a:r>
          </a:p>
        </p:txBody>
      </p:sp>
      <p:sp>
        <p:nvSpPr>
          <p:cNvPr id="19" name="TextBox 18">
            <a:extLst>
              <a:ext uri="{FF2B5EF4-FFF2-40B4-BE49-F238E27FC236}">
                <a16:creationId xmlns:a16="http://schemas.microsoft.com/office/drawing/2014/main" id="{0B95C45E-996C-E4B9-453C-30FE241BD25A}"/>
              </a:ext>
            </a:extLst>
          </p:cNvPr>
          <p:cNvSpPr txBox="1"/>
          <p:nvPr/>
        </p:nvSpPr>
        <p:spPr>
          <a:xfrm>
            <a:off x="6473952" y="3227832"/>
            <a:ext cx="4892040" cy="219456"/>
          </a:xfrm>
          <a:prstGeom prst="rect">
            <a:avLst/>
          </a:prstGeom>
          <a:noFill/>
        </p:spPr>
        <p:txBody>
          <a:bodyPr wrap="square" lIns="0" tIns="0" rIns="0" bIns="0" anchor="t">
            <a:spAutoFit/>
          </a:bodyPr>
          <a:lstStyle/>
          <a:p>
            <a:pPr algn="l"/>
            <a:r>
              <a:rPr sz="1200" b="1" i="0">
                <a:solidFill>
                  <a:srgbClr val="1B2430"/>
                </a:solidFill>
                <a:latin typeface="Cambria"/>
              </a:rPr>
              <a:t>K-Means &amp; Agglomerative</a:t>
            </a:r>
          </a:p>
        </p:txBody>
      </p:sp>
      <p:sp>
        <p:nvSpPr>
          <p:cNvPr id="20" name="TextBox 19">
            <a:extLst>
              <a:ext uri="{FF2B5EF4-FFF2-40B4-BE49-F238E27FC236}">
                <a16:creationId xmlns:a16="http://schemas.microsoft.com/office/drawing/2014/main" id="{01DA212A-C5F3-D4B3-0303-8779C7191B9F}"/>
              </a:ext>
            </a:extLst>
          </p:cNvPr>
          <p:cNvSpPr txBox="1"/>
          <p:nvPr/>
        </p:nvSpPr>
        <p:spPr>
          <a:xfrm>
            <a:off x="6473952" y="346557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Cluster-count exploration; superseded once labels existed.</a:t>
            </a:r>
          </a:p>
        </p:txBody>
      </p:sp>
      <p:sp>
        <p:nvSpPr>
          <p:cNvPr id="21" name="TextBox 20">
            <a:extLst>
              <a:ext uri="{FF2B5EF4-FFF2-40B4-BE49-F238E27FC236}">
                <a16:creationId xmlns:a16="http://schemas.microsoft.com/office/drawing/2014/main" id="{EA68A7BA-CBEE-859F-78E6-859DE89287A6}"/>
              </a:ext>
            </a:extLst>
          </p:cNvPr>
          <p:cNvSpPr txBox="1"/>
          <p:nvPr/>
        </p:nvSpPr>
        <p:spPr>
          <a:xfrm>
            <a:off x="6473952" y="3867912"/>
            <a:ext cx="4892040" cy="219456"/>
          </a:xfrm>
          <a:prstGeom prst="rect">
            <a:avLst/>
          </a:prstGeom>
          <a:noFill/>
        </p:spPr>
        <p:txBody>
          <a:bodyPr wrap="square" lIns="0" tIns="0" rIns="0" bIns="0" anchor="t">
            <a:spAutoFit/>
          </a:bodyPr>
          <a:lstStyle/>
          <a:p>
            <a:pPr algn="l"/>
            <a:r>
              <a:rPr sz="1200" b="1" i="0">
                <a:solidFill>
                  <a:srgbClr val="1B2430"/>
                </a:solidFill>
                <a:latin typeface="Cambria"/>
              </a:rPr>
              <a:t>Decision tree rule mining</a:t>
            </a:r>
          </a:p>
        </p:txBody>
      </p:sp>
      <p:sp>
        <p:nvSpPr>
          <p:cNvPr id="22" name="TextBox 21">
            <a:extLst>
              <a:ext uri="{FF2B5EF4-FFF2-40B4-BE49-F238E27FC236}">
                <a16:creationId xmlns:a16="http://schemas.microsoft.com/office/drawing/2014/main" id="{902FAAC7-D603-AFE7-AA17-EA1FC7B8B987}"/>
              </a:ext>
            </a:extLst>
          </p:cNvPr>
          <p:cNvSpPr txBox="1"/>
          <p:nvPr/>
        </p:nvSpPr>
        <p:spPr>
          <a:xfrm>
            <a:off x="6473952" y="410565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Extracted readable tag rules used to sanity-check the models.</a:t>
            </a:r>
          </a:p>
        </p:txBody>
      </p:sp>
      <p:sp>
        <p:nvSpPr>
          <p:cNvPr id="23" name="TextBox 22">
            <a:extLst>
              <a:ext uri="{FF2B5EF4-FFF2-40B4-BE49-F238E27FC236}">
                <a16:creationId xmlns:a16="http://schemas.microsoft.com/office/drawing/2014/main" id="{AB25FBDB-845B-FA9D-A744-35AE36C4BBE7}"/>
              </a:ext>
            </a:extLst>
          </p:cNvPr>
          <p:cNvSpPr txBox="1"/>
          <p:nvPr/>
        </p:nvSpPr>
        <p:spPr>
          <a:xfrm>
            <a:off x="6473952" y="4507992"/>
            <a:ext cx="4892040" cy="219456"/>
          </a:xfrm>
          <a:prstGeom prst="rect">
            <a:avLst/>
          </a:prstGeom>
          <a:noFill/>
        </p:spPr>
        <p:txBody>
          <a:bodyPr wrap="square" lIns="0" tIns="0" rIns="0" bIns="0" anchor="t">
            <a:spAutoFit/>
          </a:bodyPr>
          <a:lstStyle/>
          <a:p>
            <a:pPr algn="l"/>
            <a:r>
              <a:rPr sz="1200" b="1" i="0">
                <a:solidFill>
                  <a:srgbClr val="1B2430"/>
                </a:solidFill>
                <a:latin typeface="Cambria"/>
              </a:rPr>
              <a:t>Random Forest</a:t>
            </a:r>
          </a:p>
        </p:txBody>
      </p:sp>
      <p:sp>
        <p:nvSpPr>
          <p:cNvPr id="24" name="TextBox 23">
            <a:extLst>
              <a:ext uri="{FF2B5EF4-FFF2-40B4-BE49-F238E27FC236}">
                <a16:creationId xmlns:a16="http://schemas.microsoft.com/office/drawing/2014/main" id="{DDFB17C4-61A5-538C-952B-A5326D501840}"/>
              </a:ext>
            </a:extLst>
          </p:cNvPr>
          <p:cNvSpPr txBox="1"/>
          <p:nvPr/>
        </p:nvSpPr>
        <p:spPr>
          <a:xfrm>
            <a:off x="6473952" y="474573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Benchmarked against XGBoost; consistently lower accuracy.</a:t>
            </a:r>
          </a:p>
        </p:txBody>
      </p:sp>
      <p:sp>
        <p:nvSpPr>
          <p:cNvPr id="25" name="TextBox 24">
            <a:extLst>
              <a:ext uri="{FF2B5EF4-FFF2-40B4-BE49-F238E27FC236}">
                <a16:creationId xmlns:a16="http://schemas.microsoft.com/office/drawing/2014/main" id="{C36274AA-8062-2C36-F9D9-19A69E90DDC9}"/>
              </a:ext>
            </a:extLst>
          </p:cNvPr>
          <p:cNvSpPr txBox="1"/>
          <p:nvPr/>
        </p:nvSpPr>
        <p:spPr>
          <a:xfrm>
            <a:off x="6473952" y="5148072"/>
            <a:ext cx="4892040" cy="219456"/>
          </a:xfrm>
          <a:prstGeom prst="rect">
            <a:avLst/>
          </a:prstGeom>
          <a:noFill/>
        </p:spPr>
        <p:txBody>
          <a:bodyPr wrap="square" lIns="0" tIns="0" rIns="0" bIns="0" anchor="t">
            <a:spAutoFit/>
          </a:bodyPr>
          <a:lstStyle/>
          <a:p>
            <a:pPr algn="l"/>
            <a:r>
              <a:rPr sz="1200" b="1" i="0">
                <a:solidFill>
                  <a:srgbClr val="1B2430"/>
                </a:solidFill>
                <a:latin typeface="Cambria"/>
              </a:rPr>
              <a:t>SGD Classifier + TF-IDF</a:t>
            </a:r>
          </a:p>
        </p:txBody>
      </p:sp>
      <p:sp>
        <p:nvSpPr>
          <p:cNvPr id="26" name="TextBox 25">
            <a:extLst>
              <a:ext uri="{FF2B5EF4-FFF2-40B4-BE49-F238E27FC236}">
                <a16:creationId xmlns:a16="http://schemas.microsoft.com/office/drawing/2014/main" id="{18ADBD14-6677-80A5-727E-FE988915FCC6}"/>
              </a:ext>
            </a:extLst>
          </p:cNvPr>
          <p:cNvSpPr txBox="1"/>
          <p:nvPr/>
        </p:nvSpPr>
        <p:spPr>
          <a:xfrm>
            <a:off x="6473952" y="538581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Ran device type until this cycle. Removed once the dictionary proved as accurate and far easier to explain.</a:t>
            </a:r>
          </a:p>
        </p:txBody>
      </p:sp>
      <p:sp>
        <p:nvSpPr>
          <p:cNvPr id="27" name="TextBox 26">
            <a:extLst>
              <a:ext uri="{FF2B5EF4-FFF2-40B4-BE49-F238E27FC236}">
                <a16:creationId xmlns:a16="http://schemas.microsoft.com/office/drawing/2014/main" id="{AB169BDA-F941-B1A1-99C1-B1652535521E}"/>
              </a:ext>
            </a:extLst>
          </p:cNvPr>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28" name="TextBox 27">
            <a:extLst>
              <a:ext uri="{FF2B5EF4-FFF2-40B4-BE49-F238E27FC236}">
                <a16:creationId xmlns:a16="http://schemas.microsoft.com/office/drawing/2014/main" id="{AA87181A-BB79-9CC0-C9C9-D7878F39E0D0}"/>
              </a:ext>
            </a:extLst>
          </p:cNvPr>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8</a:t>
            </a:r>
          </a:p>
        </p:txBody>
      </p:sp>
    </p:spTree>
    <p:extLst>
      <p:ext uri="{BB962C8B-B14F-4D97-AF65-F5344CB8AC3E}">
        <p14:creationId xmlns:p14="http://schemas.microsoft.com/office/powerpoint/2010/main" val="3157932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05  ·  METHOD SELECTION</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What was tested before committing</a:t>
            </a:r>
          </a:p>
        </p:txBody>
      </p:sp>
      <p:sp>
        <p:nvSpPr>
          <p:cNvPr id="4" name="TextBox 3"/>
          <p:cNvSpPr txBox="1"/>
          <p:nvPr/>
        </p:nvSpPr>
        <p:spPr>
          <a:xfrm>
            <a:off x="548640" y="1261872"/>
            <a:ext cx="10881360" cy="447943"/>
          </a:xfrm>
          <a:prstGeom prst="rect">
            <a:avLst/>
          </a:prstGeom>
          <a:noFill/>
        </p:spPr>
        <p:txBody>
          <a:bodyPr wrap="square" lIns="0" tIns="0" rIns="0" bIns="0" anchor="t">
            <a:spAutoFit/>
          </a:bodyPr>
          <a:lstStyle/>
          <a:p>
            <a:pPr algn="l">
              <a:lnSpc>
                <a:spcPts val="1800"/>
              </a:lnSpc>
            </a:pPr>
            <a:r>
              <a:rPr sz="1300" b="0" i="0" dirty="0">
                <a:solidFill>
                  <a:srgbClr val="4E5A66"/>
                </a:solidFill>
                <a:latin typeface="Calibri"/>
              </a:rPr>
              <a:t>The client data arrived without labels, so unsupervised methods were used first to discover structure. </a:t>
            </a:r>
            <a:endParaRPr lang="en-MY" sz="1300" b="0" i="0" dirty="0">
              <a:solidFill>
                <a:srgbClr val="4E5A66"/>
              </a:solidFill>
              <a:latin typeface="Calibri"/>
            </a:endParaRPr>
          </a:p>
          <a:p>
            <a:pPr algn="l">
              <a:lnSpc>
                <a:spcPts val="1800"/>
              </a:lnSpc>
            </a:pPr>
            <a:r>
              <a:rPr sz="1300" b="0" i="0" dirty="0">
                <a:solidFill>
                  <a:srgbClr val="4E5A66"/>
                </a:solidFill>
                <a:latin typeface="Calibri"/>
              </a:rPr>
              <a:t>Supervised models were then trained on what they revealed. Every choice below was benchmarked, not assumed.</a:t>
            </a:r>
          </a:p>
        </p:txBody>
      </p:sp>
      <p:sp>
        <p:nvSpPr>
          <p:cNvPr id="5" name="Rounded Rectangle 4"/>
          <p:cNvSpPr/>
          <p:nvPr/>
        </p:nvSpPr>
        <p:spPr>
          <a:xfrm>
            <a:off x="548640" y="1965960"/>
            <a:ext cx="5440680" cy="38404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22960" y="2221992"/>
            <a:ext cx="4892040" cy="219456"/>
          </a:xfrm>
          <a:prstGeom prst="rect">
            <a:avLst/>
          </a:prstGeom>
          <a:noFill/>
        </p:spPr>
        <p:txBody>
          <a:bodyPr wrap="square" lIns="0" tIns="0" rIns="0" bIns="0" anchor="t">
            <a:spAutoFit/>
          </a:bodyPr>
          <a:lstStyle/>
          <a:p>
            <a:pPr algn="l"/>
            <a:r>
              <a:rPr sz="1050" b="1" i="0" spc="180">
                <a:solidFill>
                  <a:srgbClr val="2E7D63"/>
                </a:solidFill>
                <a:latin typeface="Calibri"/>
              </a:rPr>
              <a:t>ADOPTED IN PRODUCTION</a:t>
            </a:r>
          </a:p>
        </p:txBody>
      </p:sp>
      <p:sp>
        <p:nvSpPr>
          <p:cNvPr id="7" name="TextBox 6"/>
          <p:cNvSpPr txBox="1"/>
          <p:nvPr/>
        </p:nvSpPr>
        <p:spPr>
          <a:xfrm>
            <a:off x="822960" y="2587752"/>
            <a:ext cx="4892040" cy="237744"/>
          </a:xfrm>
          <a:prstGeom prst="rect">
            <a:avLst/>
          </a:prstGeom>
          <a:noFill/>
        </p:spPr>
        <p:txBody>
          <a:bodyPr wrap="square" lIns="0" tIns="0" rIns="0" bIns="0" anchor="t">
            <a:spAutoFit/>
          </a:bodyPr>
          <a:lstStyle/>
          <a:p>
            <a:pPr algn="l"/>
            <a:r>
              <a:rPr sz="1300" b="1" i="0">
                <a:solidFill>
                  <a:srgbClr val="1B2430"/>
                </a:solidFill>
                <a:latin typeface="Cambria"/>
              </a:rPr>
              <a:t>Chained prediction</a:t>
            </a:r>
          </a:p>
        </p:txBody>
      </p:sp>
      <p:sp>
        <p:nvSpPr>
          <p:cNvPr id="8" name="TextBox 7"/>
          <p:cNvSpPr txBox="1"/>
          <p:nvPr/>
        </p:nvSpPr>
        <p:spPr>
          <a:xfrm>
            <a:off x="822960" y="2843784"/>
            <a:ext cx="4892040" cy="457200"/>
          </a:xfrm>
          <a:prstGeom prst="rect">
            <a:avLst/>
          </a:prstGeom>
          <a:noFill/>
        </p:spPr>
        <p:txBody>
          <a:bodyPr wrap="square" lIns="0" tIns="0" rIns="0" bIns="0" anchor="t">
            <a:spAutoFit/>
          </a:bodyPr>
          <a:lstStyle/>
          <a:p>
            <a:pPr algn="l">
              <a:lnSpc>
                <a:spcPts val="1400"/>
              </a:lnSpc>
            </a:pPr>
            <a:r>
              <a:rPr sz="1050" b="0" i="0" dirty="0">
                <a:solidFill>
                  <a:srgbClr val="4E5A66"/>
                </a:solidFill>
                <a:latin typeface="Calibri"/>
              </a:rPr>
              <a:t>Device type. Deterministic and fully readable — an engineer edits it directly and the change applies on the next run.</a:t>
            </a:r>
          </a:p>
        </p:txBody>
      </p:sp>
      <p:sp>
        <p:nvSpPr>
          <p:cNvPr id="9" name="TextBox 8"/>
          <p:cNvSpPr txBox="1"/>
          <p:nvPr/>
        </p:nvSpPr>
        <p:spPr>
          <a:xfrm>
            <a:off x="822960" y="3374136"/>
            <a:ext cx="4892040" cy="237744"/>
          </a:xfrm>
          <a:prstGeom prst="rect">
            <a:avLst/>
          </a:prstGeom>
          <a:noFill/>
        </p:spPr>
        <p:txBody>
          <a:bodyPr wrap="square" lIns="0" tIns="0" rIns="0" bIns="0" anchor="t">
            <a:spAutoFit/>
          </a:bodyPr>
          <a:lstStyle/>
          <a:p>
            <a:pPr algn="l"/>
            <a:r>
              <a:rPr sz="1300" b="1" i="0">
                <a:solidFill>
                  <a:srgbClr val="1B2430"/>
                </a:solidFill>
                <a:latin typeface="Cambria"/>
              </a:rPr>
              <a:t>XGBoost</a:t>
            </a:r>
          </a:p>
        </p:txBody>
      </p:sp>
      <p:sp>
        <p:nvSpPr>
          <p:cNvPr id="10" name="TextBox 9"/>
          <p:cNvSpPr txBox="1"/>
          <p:nvPr/>
        </p:nvSpPr>
        <p:spPr>
          <a:xfrm>
            <a:off x="822960" y="3630168"/>
            <a:ext cx="4892040" cy="457200"/>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Section and cluster. Best accuracy of everything tested on engineered tabular features.</a:t>
            </a:r>
          </a:p>
        </p:txBody>
      </p:sp>
      <p:sp>
        <p:nvSpPr>
          <p:cNvPr id="11" name="TextBox 10"/>
          <p:cNvSpPr txBox="1"/>
          <p:nvPr/>
        </p:nvSpPr>
        <p:spPr>
          <a:xfrm>
            <a:off x="822960" y="4160520"/>
            <a:ext cx="4892040" cy="237744"/>
          </a:xfrm>
          <a:prstGeom prst="rect">
            <a:avLst/>
          </a:prstGeom>
          <a:noFill/>
        </p:spPr>
        <p:txBody>
          <a:bodyPr wrap="square" lIns="0" tIns="0" rIns="0" bIns="0" anchor="t">
            <a:spAutoFit/>
          </a:bodyPr>
          <a:lstStyle/>
          <a:p>
            <a:pPr algn="l"/>
            <a:r>
              <a:rPr sz="1300" b="1" i="0">
                <a:solidFill>
                  <a:srgbClr val="1B2430"/>
                </a:solidFill>
                <a:latin typeface="Cambria"/>
              </a:rPr>
              <a:t>k-NN distance test</a:t>
            </a:r>
          </a:p>
        </p:txBody>
      </p:sp>
      <p:sp>
        <p:nvSpPr>
          <p:cNvPr id="12" name="TextBox 11"/>
          <p:cNvSpPr txBox="1"/>
          <p:nvPr/>
        </p:nvSpPr>
        <p:spPr>
          <a:xfrm>
            <a:off x="822960" y="4416552"/>
            <a:ext cx="4892040" cy="457200"/>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Out-of-distribution check that cuts section and cluster confidence for unfamiliar tags.</a:t>
            </a:r>
          </a:p>
        </p:txBody>
      </p:sp>
      <p:sp>
        <p:nvSpPr>
          <p:cNvPr id="13" name="TextBox 12"/>
          <p:cNvSpPr txBox="1"/>
          <p:nvPr/>
        </p:nvSpPr>
        <p:spPr>
          <a:xfrm>
            <a:off x="822960" y="4946904"/>
            <a:ext cx="4892040" cy="237744"/>
          </a:xfrm>
          <a:prstGeom prst="rect">
            <a:avLst/>
          </a:prstGeom>
          <a:noFill/>
        </p:spPr>
        <p:txBody>
          <a:bodyPr wrap="square" lIns="0" tIns="0" rIns="0" bIns="0" anchor="t">
            <a:spAutoFit/>
          </a:bodyPr>
          <a:lstStyle/>
          <a:p>
            <a:pPr algn="l"/>
            <a:r>
              <a:rPr sz="1300" b="1" i="0">
                <a:solidFill>
                  <a:srgbClr val="1B2430"/>
                </a:solidFill>
                <a:latin typeface="Cambria"/>
              </a:rPr>
              <a:t>Prefix dictionary</a:t>
            </a:r>
          </a:p>
        </p:txBody>
      </p:sp>
      <p:sp>
        <p:nvSpPr>
          <p:cNvPr id="14" name="TextBox 13"/>
          <p:cNvSpPr txBox="1"/>
          <p:nvPr/>
        </p:nvSpPr>
        <p:spPr>
          <a:xfrm>
            <a:off x="822960" y="5202936"/>
            <a:ext cx="4892040" cy="457200"/>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The predicted section is fed to the cluster model as an input feature rather than predicted independently.</a:t>
            </a:r>
          </a:p>
        </p:txBody>
      </p:sp>
      <p:sp>
        <p:nvSpPr>
          <p:cNvPr id="27" name="TextBox 26"/>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960120"/>
            <a:ext cx="10058400" cy="256032"/>
          </a:xfrm>
          <a:prstGeom prst="rect">
            <a:avLst/>
          </a:prstGeom>
          <a:noFill/>
        </p:spPr>
        <p:txBody>
          <a:bodyPr wrap="square" lIns="0" tIns="0" rIns="0" bIns="0" anchor="t">
            <a:spAutoFit/>
          </a:bodyPr>
          <a:lstStyle/>
          <a:p>
            <a:pPr algn="l"/>
            <a:r>
              <a:rPr sz="1100" b="1" i="0" spc="240">
                <a:solidFill>
                  <a:srgbClr val="C46A24"/>
                </a:solidFill>
                <a:latin typeface="Calibri"/>
              </a:rPr>
              <a:t>IN SUMMARY</a:t>
            </a:r>
          </a:p>
        </p:txBody>
      </p:sp>
      <p:sp>
        <p:nvSpPr>
          <p:cNvPr id="3" name="TextBox 2"/>
          <p:cNvSpPr txBox="1"/>
          <p:nvPr/>
        </p:nvSpPr>
        <p:spPr>
          <a:xfrm>
            <a:off x="548640" y="1325880"/>
            <a:ext cx="10515600" cy="1064202"/>
          </a:xfrm>
          <a:prstGeom prst="rect">
            <a:avLst/>
          </a:prstGeom>
          <a:noFill/>
        </p:spPr>
        <p:txBody>
          <a:bodyPr wrap="square" lIns="0" tIns="0" rIns="0" bIns="0" anchor="t">
            <a:spAutoFit/>
          </a:bodyPr>
          <a:lstStyle/>
          <a:p>
            <a:pPr algn="l">
              <a:lnSpc>
                <a:spcPts val="4300"/>
              </a:lnSpc>
            </a:pPr>
            <a:r>
              <a:rPr sz="3400" b="1" i="0" dirty="0">
                <a:latin typeface="Cambria"/>
              </a:rPr>
              <a:t>The engine is built and verified.</a:t>
            </a:r>
          </a:p>
          <a:p>
            <a:pPr algn="l">
              <a:lnSpc>
                <a:spcPts val="4300"/>
              </a:lnSpc>
            </a:pPr>
            <a:r>
              <a:rPr sz="3400" b="1" i="0" dirty="0">
                <a:latin typeface="Cambria"/>
              </a:rPr>
              <a:t>What remains is data, not engineering.</a:t>
            </a:r>
          </a:p>
        </p:txBody>
      </p:sp>
      <p:sp>
        <p:nvSpPr>
          <p:cNvPr id="4" name="TextBox 3"/>
          <p:cNvSpPr txBox="1"/>
          <p:nvPr/>
        </p:nvSpPr>
        <p:spPr>
          <a:xfrm>
            <a:off x="548640" y="2880360"/>
            <a:ext cx="9052560" cy="868680"/>
          </a:xfrm>
          <a:prstGeom prst="rect">
            <a:avLst/>
          </a:prstGeom>
          <a:noFill/>
        </p:spPr>
        <p:txBody>
          <a:bodyPr wrap="square" lIns="0" tIns="0" rIns="0" bIns="0" anchor="t">
            <a:spAutoFit/>
          </a:bodyPr>
          <a:lstStyle/>
          <a:p>
            <a:pPr algn="l">
              <a:lnSpc>
                <a:spcPts val="2200"/>
              </a:lnSpc>
            </a:pPr>
            <a:r>
              <a:rPr sz="1500" b="0" i="0">
                <a:solidFill>
                  <a:srgbClr val="9EA8B2"/>
                </a:solidFill>
                <a:latin typeface="Calibri"/>
              </a:rPr>
              <a:t>Five of six stages are complete. The prediction models, the allocation engine, the SQL integration and the handover package are all finished and running against live data. What stands between here and production use is reference data, an interface, and one validation run.</a:t>
            </a:r>
          </a:p>
        </p:txBody>
      </p:sp>
      <p:sp>
        <p:nvSpPr>
          <p:cNvPr id="5" name="Rounded Rectangle 4"/>
          <p:cNvSpPr/>
          <p:nvPr/>
        </p:nvSpPr>
        <p:spPr>
          <a:xfrm>
            <a:off x="548640" y="3977639"/>
            <a:ext cx="3561588" cy="1051560"/>
          </a:xfrm>
          <a:prstGeom prst="roundRect">
            <a:avLst>
              <a:gd name="adj" fmla="val 5500"/>
            </a:avLst>
          </a:prstGeom>
          <a:solidFill>
            <a:srgbClr val="2432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22959" y="4123944"/>
            <a:ext cx="3017520" cy="438912"/>
          </a:xfrm>
          <a:prstGeom prst="rect">
            <a:avLst/>
          </a:prstGeom>
          <a:noFill/>
        </p:spPr>
        <p:txBody>
          <a:bodyPr wrap="square" lIns="0" tIns="0" rIns="0" bIns="0" anchor="t">
            <a:spAutoFit/>
          </a:bodyPr>
          <a:lstStyle/>
          <a:p>
            <a:pPr algn="ctr"/>
            <a:r>
              <a:rPr sz="3000" b="1" i="0">
                <a:solidFill>
                  <a:srgbClr val="FFFFFF"/>
                </a:solidFill>
                <a:latin typeface="Cambria"/>
              </a:rPr>
              <a:t>5 of 6</a:t>
            </a:r>
          </a:p>
        </p:txBody>
      </p:sp>
      <p:sp>
        <p:nvSpPr>
          <p:cNvPr id="7" name="TextBox 6"/>
          <p:cNvSpPr txBox="1"/>
          <p:nvPr/>
        </p:nvSpPr>
        <p:spPr>
          <a:xfrm>
            <a:off x="822959" y="4626864"/>
            <a:ext cx="3017520" cy="274320"/>
          </a:xfrm>
          <a:prstGeom prst="rect">
            <a:avLst/>
          </a:prstGeom>
          <a:noFill/>
        </p:spPr>
        <p:txBody>
          <a:bodyPr wrap="square" lIns="0" tIns="0" rIns="0" bIns="0" anchor="t">
            <a:spAutoFit/>
          </a:bodyPr>
          <a:lstStyle/>
          <a:p>
            <a:pPr algn="ctr"/>
            <a:r>
              <a:rPr sz="1100" b="0" i="0">
                <a:solidFill>
                  <a:srgbClr val="9EA8B2"/>
                </a:solidFill>
                <a:latin typeface="Calibri"/>
              </a:rPr>
              <a:t>stages complete</a:t>
            </a:r>
          </a:p>
        </p:txBody>
      </p:sp>
      <p:sp>
        <p:nvSpPr>
          <p:cNvPr id="8" name="Rounded Rectangle 7"/>
          <p:cNvSpPr/>
          <p:nvPr/>
        </p:nvSpPr>
        <p:spPr>
          <a:xfrm>
            <a:off x="4263390" y="3977639"/>
            <a:ext cx="3561588" cy="1051560"/>
          </a:xfrm>
          <a:prstGeom prst="roundRect">
            <a:avLst>
              <a:gd name="adj" fmla="val 5500"/>
            </a:avLst>
          </a:prstGeom>
          <a:solidFill>
            <a:srgbClr val="2432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37709" y="4123944"/>
            <a:ext cx="3017520" cy="438912"/>
          </a:xfrm>
          <a:prstGeom prst="rect">
            <a:avLst/>
          </a:prstGeom>
          <a:noFill/>
        </p:spPr>
        <p:txBody>
          <a:bodyPr wrap="square" lIns="0" tIns="0" rIns="0" bIns="0" anchor="t">
            <a:spAutoFit/>
          </a:bodyPr>
          <a:lstStyle/>
          <a:p>
            <a:pPr algn="ctr"/>
            <a:r>
              <a:rPr sz="3000" b="1" i="0">
                <a:solidFill>
                  <a:srgbClr val="FFFFFF"/>
                </a:solidFill>
                <a:latin typeface="Cambria"/>
              </a:rPr>
              <a:t>2</a:t>
            </a:r>
          </a:p>
        </p:txBody>
      </p:sp>
      <p:sp>
        <p:nvSpPr>
          <p:cNvPr id="10" name="TextBox 9"/>
          <p:cNvSpPr txBox="1"/>
          <p:nvPr/>
        </p:nvSpPr>
        <p:spPr>
          <a:xfrm>
            <a:off x="4537709" y="4626864"/>
            <a:ext cx="3017520" cy="274320"/>
          </a:xfrm>
          <a:prstGeom prst="rect">
            <a:avLst/>
          </a:prstGeom>
          <a:noFill/>
        </p:spPr>
        <p:txBody>
          <a:bodyPr wrap="square" lIns="0" tIns="0" rIns="0" bIns="0" anchor="t">
            <a:spAutoFit/>
          </a:bodyPr>
          <a:lstStyle/>
          <a:p>
            <a:pPr algn="ctr"/>
            <a:r>
              <a:rPr sz="1100" b="0" i="0">
                <a:solidFill>
                  <a:srgbClr val="9EA8B2"/>
                </a:solidFill>
                <a:latin typeface="Calibri"/>
              </a:rPr>
              <a:t>ML models + 1 dictionary</a:t>
            </a:r>
          </a:p>
        </p:txBody>
      </p:sp>
      <p:sp>
        <p:nvSpPr>
          <p:cNvPr id="11" name="Rounded Rectangle 10"/>
          <p:cNvSpPr/>
          <p:nvPr/>
        </p:nvSpPr>
        <p:spPr>
          <a:xfrm>
            <a:off x="7978140" y="3977639"/>
            <a:ext cx="3561588" cy="1051560"/>
          </a:xfrm>
          <a:prstGeom prst="roundRect">
            <a:avLst>
              <a:gd name="adj" fmla="val 5500"/>
            </a:avLst>
          </a:prstGeom>
          <a:solidFill>
            <a:srgbClr val="2432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252460" y="4123944"/>
            <a:ext cx="3017520" cy="438912"/>
          </a:xfrm>
          <a:prstGeom prst="rect">
            <a:avLst/>
          </a:prstGeom>
          <a:noFill/>
        </p:spPr>
        <p:txBody>
          <a:bodyPr wrap="square" lIns="0" tIns="0" rIns="0" bIns="0" anchor="t">
            <a:spAutoFit/>
          </a:bodyPr>
          <a:lstStyle/>
          <a:p>
            <a:pPr algn="ctr"/>
            <a:r>
              <a:rPr sz="3000" b="1" i="0">
                <a:solidFill>
                  <a:srgbClr val="C46A24"/>
                </a:solidFill>
                <a:latin typeface="Cambria"/>
              </a:rPr>
              <a:t>1 of 8</a:t>
            </a:r>
          </a:p>
        </p:txBody>
      </p:sp>
      <p:sp>
        <p:nvSpPr>
          <p:cNvPr id="13" name="TextBox 12"/>
          <p:cNvSpPr txBox="1"/>
          <p:nvPr/>
        </p:nvSpPr>
        <p:spPr>
          <a:xfrm>
            <a:off x="8252460" y="4626864"/>
            <a:ext cx="3017520" cy="274320"/>
          </a:xfrm>
          <a:prstGeom prst="rect">
            <a:avLst/>
          </a:prstGeom>
          <a:noFill/>
        </p:spPr>
        <p:txBody>
          <a:bodyPr wrap="square" lIns="0" tIns="0" rIns="0" bIns="0" anchor="t">
            <a:spAutoFit/>
          </a:bodyPr>
          <a:lstStyle/>
          <a:p>
            <a:pPr algn="ctr"/>
            <a:r>
              <a:rPr sz="1100" b="0" i="0">
                <a:solidFill>
                  <a:srgbClr val="9EA8B2"/>
                </a:solidFill>
                <a:latin typeface="Calibri"/>
              </a:rPr>
              <a:t>sections with real quota data</a:t>
            </a:r>
          </a:p>
        </p:txBody>
      </p:sp>
      <p:sp>
        <p:nvSpPr>
          <p:cNvPr id="14" name="Rounded Rectangle 13"/>
          <p:cNvSpPr/>
          <p:nvPr/>
        </p:nvSpPr>
        <p:spPr>
          <a:xfrm>
            <a:off x="548640" y="5257800"/>
            <a:ext cx="11091672" cy="868680"/>
          </a:xfrm>
          <a:prstGeom prst="roundRect">
            <a:avLst>
              <a:gd name="adj" fmla="val 5500"/>
            </a:avLst>
          </a:prstGeom>
          <a:solidFill>
            <a:srgbClr val="1B2430"/>
          </a:solidFill>
          <a:ln w="9525">
            <a:solidFill>
              <a:srgbClr val="C46A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68680" y="5413248"/>
            <a:ext cx="10424160" cy="566928"/>
          </a:xfrm>
          <a:prstGeom prst="rect">
            <a:avLst/>
          </a:prstGeom>
          <a:noFill/>
        </p:spPr>
        <p:txBody>
          <a:bodyPr wrap="square" lIns="0" tIns="0" rIns="0" bIns="0" anchor="t">
            <a:spAutoFit/>
          </a:bodyPr>
          <a:lstStyle/>
          <a:p>
            <a:pPr algn="l">
              <a:lnSpc>
                <a:spcPts val="1900"/>
              </a:lnSpc>
            </a:pPr>
            <a:r>
              <a:rPr sz="1400" b="1" i="0">
                <a:solidFill>
                  <a:srgbClr val="C46A24"/>
                </a:solidFill>
                <a:latin typeface="Calibri"/>
              </a:rPr>
              <a:t>The most useful thing this meeting can do — </a:t>
            </a:r>
            <a:r>
              <a:rPr sz="1400" b="0" i="0">
                <a:solidFill>
                  <a:srgbClr val="FFFFFF"/>
                </a:solidFill>
                <a:latin typeface="Calibri"/>
              </a:rPr>
              <a:t>agree an owner and a date for the quota patterns for the remaining seven sections.</a:t>
            </a:r>
          </a:p>
        </p:txBody>
      </p:sp>
      <p:sp>
        <p:nvSpPr>
          <p:cNvPr id="16" name="TextBox 15"/>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5D6B78"/>
                </a:solidFill>
                <a:latin typeface="Calibri"/>
              </a:rPr>
              <a:t>Device Identifier  ·  Progress Report  ·  September 2026</a:t>
            </a:r>
          </a:p>
        </p:txBody>
      </p:sp>
      <p:sp>
        <p:nvSpPr>
          <p:cNvPr id="17" name="TextBox 16"/>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5D6B78"/>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332</TotalTime>
  <Words>2968</Words>
  <Application>Microsoft Office PowerPoint</Application>
  <PresentationFormat>Widescreen</PresentationFormat>
  <Paragraphs>470</Paragraphs>
  <Slides>25</Slides>
  <Notes>0</Notes>
  <HiddenSlides>10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Arial Black</vt:lpstr>
      <vt:lpstr>Calibri</vt:lpstr>
      <vt:lpstr>Cambria</vt:lpstr>
      <vt:lpstr>Consolas</vt:lpstr>
      <vt:lpstr>Inter</vt:lpstr>
      <vt:lpstr>Inter ExtraBold</vt:lpstr>
      <vt:lpstr>Inter SemiBold</vt:lpstr>
      <vt:lpstr>Plus Jakarta Sans</vt:lpstr>
      <vt:lpstr>Plus Jakarta Sans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Device Identifier - Progress Report</dc:title>
  <dc:subject>Machine learning device classification pipeline - status, methods and next steps</dc:subject>
  <dc:creator>Siti Syaziyah</dc:creator>
  <cp:keywords/>
  <dc:description>generated using python-pptx</dc:description>
  <cp:lastModifiedBy>Siti Syaziyah Binti Samiri</cp:lastModifiedBy>
  <cp:revision>6</cp:revision>
  <dcterms:created xsi:type="dcterms:W3CDTF">2013-01-27T09:14:16Z</dcterms:created>
  <dcterms:modified xsi:type="dcterms:W3CDTF">2026-09-02T06:14:16Z</dcterms:modified>
  <cp:category/>
</cp:coreProperties>
</file>