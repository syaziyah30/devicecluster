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72" r:id="rId3"/>
    <p:sldId id="259" r:id="rId4"/>
    <p:sldId id="260" r:id="rId5"/>
    <p:sldId id="269" r:id="rId6"/>
    <p:sldId id="416" r:id="rId7"/>
    <p:sldId id="276" r:id="rId8"/>
    <p:sldId id="262" r:id="rId9"/>
    <p:sldId id="270" r:id="rId10"/>
    <p:sldId id="257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369A2"/>
    <a:srgbClr val="E0F2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66" d="100"/>
          <a:sy n="66" d="100"/>
        </p:scale>
        <p:origin x="576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322417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Opening slide. Set expectation: this is a status briefing, ~14 minutes, and I will be direct about what is not finished.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DDA7FC-83DD-0D65-C3F5-B59DE55B0C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9BFC7B-2773-075B-9BAC-4917184EDCA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E95EE1-9206-D02C-F1F9-0D48DA397E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If pressed on "AI": this is pattern recognition trained on our own historical projects, not a general-purpose AI. It learns our conventions specifically.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DD60FE-CA16-E95B-4FA6-8ACB429E20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0143309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Be direct here. Credibility comes from naming these plainly rather than being asked.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72877B-4E1A-9522-E0DE-C7FEDC7E2D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59AA12-D324-279B-1661-8EC9728AD08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2576CC-B94E-863F-33CA-C38AE23E7A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Close on the ask, not on the technology. Then open the floor.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534CE0-243E-FB5F-6346-D872A1B539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14921263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Open on the problem, not the technology. If asked how long the manual sort takes today — we have not measured it. Worth getting that number.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01395-AC05-405C-BAB9-E5D2B9FDBB40}" type="datetimeFigureOut">
              <a:rPr lang="en-MY" smtClean="0"/>
              <a:t>2/9/2026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E928F-1B77-4E5E-9D54-2399041871C2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9036660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13" Type="http://schemas.openxmlformats.org/officeDocument/2006/relationships/image" Target="../media/image31.png"/><Relationship Id="rId18" Type="http://schemas.openxmlformats.org/officeDocument/2006/relationships/image" Target="../media/image3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12" Type="http://schemas.openxmlformats.org/officeDocument/2006/relationships/image" Target="../media/image30.png"/><Relationship Id="rId17" Type="http://schemas.openxmlformats.org/officeDocument/2006/relationships/image" Target="../media/image35.png"/><Relationship Id="rId2" Type="http://schemas.openxmlformats.org/officeDocument/2006/relationships/image" Target="../media/image20.png"/><Relationship Id="rId16" Type="http://schemas.openxmlformats.org/officeDocument/2006/relationships/image" Target="../media/image3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11" Type="http://schemas.openxmlformats.org/officeDocument/2006/relationships/image" Target="../media/image29.png"/><Relationship Id="rId5" Type="http://schemas.openxmlformats.org/officeDocument/2006/relationships/image" Target="../media/image23.png"/><Relationship Id="rId15" Type="http://schemas.openxmlformats.org/officeDocument/2006/relationships/image" Target="../media/image33.png"/><Relationship Id="rId10" Type="http://schemas.openxmlformats.org/officeDocument/2006/relationships/image" Target="../media/image28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Relationship Id="rId14" Type="http://schemas.openxmlformats.org/officeDocument/2006/relationships/image" Target="../media/image3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9.png"/><Relationship Id="rId18" Type="http://schemas.openxmlformats.org/officeDocument/2006/relationships/image" Target="../media/image54.png"/><Relationship Id="rId26" Type="http://schemas.openxmlformats.org/officeDocument/2006/relationships/image" Target="../media/image62.png"/><Relationship Id="rId3" Type="http://schemas.openxmlformats.org/officeDocument/2006/relationships/image" Target="../media/image39.png"/><Relationship Id="rId21" Type="http://schemas.openxmlformats.org/officeDocument/2006/relationships/image" Target="../media/image57.png"/><Relationship Id="rId34" Type="http://schemas.openxmlformats.org/officeDocument/2006/relationships/image" Target="../media/image70.png"/><Relationship Id="rId7" Type="http://schemas.openxmlformats.org/officeDocument/2006/relationships/image" Target="../media/image43.png"/><Relationship Id="rId12" Type="http://schemas.openxmlformats.org/officeDocument/2006/relationships/image" Target="../media/image48.png"/><Relationship Id="rId17" Type="http://schemas.openxmlformats.org/officeDocument/2006/relationships/image" Target="../media/image53.png"/><Relationship Id="rId25" Type="http://schemas.openxmlformats.org/officeDocument/2006/relationships/image" Target="../media/image61.png"/><Relationship Id="rId33" Type="http://schemas.openxmlformats.org/officeDocument/2006/relationships/image" Target="../media/image69.png"/><Relationship Id="rId2" Type="http://schemas.openxmlformats.org/officeDocument/2006/relationships/image" Target="../media/image38.png"/><Relationship Id="rId16" Type="http://schemas.openxmlformats.org/officeDocument/2006/relationships/image" Target="../media/image52.png"/><Relationship Id="rId20" Type="http://schemas.openxmlformats.org/officeDocument/2006/relationships/image" Target="../media/image56.png"/><Relationship Id="rId29" Type="http://schemas.openxmlformats.org/officeDocument/2006/relationships/image" Target="../media/image6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2.png"/><Relationship Id="rId11" Type="http://schemas.openxmlformats.org/officeDocument/2006/relationships/image" Target="../media/image47.png"/><Relationship Id="rId24" Type="http://schemas.openxmlformats.org/officeDocument/2006/relationships/image" Target="../media/image60.png"/><Relationship Id="rId32" Type="http://schemas.openxmlformats.org/officeDocument/2006/relationships/image" Target="../media/image68.png"/><Relationship Id="rId5" Type="http://schemas.openxmlformats.org/officeDocument/2006/relationships/image" Target="../media/image41.png"/><Relationship Id="rId15" Type="http://schemas.openxmlformats.org/officeDocument/2006/relationships/image" Target="../media/image51.png"/><Relationship Id="rId23" Type="http://schemas.openxmlformats.org/officeDocument/2006/relationships/image" Target="../media/image59.png"/><Relationship Id="rId28" Type="http://schemas.openxmlformats.org/officeDocument/2006/relationships/image" Target="../media/image64.png"/><Relationship Id="rId36" Type="http://schemas.openxmlformats.org/officeDocument/2006/relationships/hyperlink" Target="http://128.100.8.213/XenxibleCollection/XenProducts/_git/Xenxible%20Intelligent%20Analytic%20-%20Device%20Cluster?path=/Flowchart.md&amp;_a=preview" TargetMode="External"/><Relationship Id="rId10" Type="http://schemas.openxmlformats.org/officeDocument/2006/relationships/image" Target="../media/image46.png"/><Relationship Id="rId19" Type="http://schemas.openxmlformats.org/officeDocument/2006/relationships/image" Target="../media/image55.png"/><Relationship Id="rId31" Type="http://schemas.openxmlformats.org/officeDocument/2006/relationships/image" Target="../media/image67.png"/><Relationship Id="rId4" Type="http://schemas.openxmlformats.org/officeDocument/2006/relationships/image" Target="../media/image40.png"/><Relationship Id="rId9" Type="http://schemas.openxmlformats.org/officeDocument/2006/relationships/image" Target="../media/image45.png"/><Relationship Id="rId14" Type="http://schemas.openxmlformats.org/officeDocument/2006/relationships/image" Target="../media/image50.png"/><Relationship Id="rId22" Type="http://schemas.openxmlformats.org/officeDocument/2006/relationships/image" Target="../media/image58.png"/><Relationship Id="rId27" Type="http://schemas.openxmlformats.org/officeDocument/2006/relationships/image" Target="../media/image63.png"/><Relationship Id="rId30" Type="http://schemas.openxmlformats.org/officeDocument/2006/relationships/image" Target="../media/image66.png"/><Relationship Id="rId35" Type="http://schemas.openxmlformats.org/officeDocument/2006/relationships/image" Target="../media/image71.png"/><Relationship Id="rId8" Type="http://schemas.openxmlformats.org/officeDocument/2006/relationships/image" Target="../media/image4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95325" y="706685"/>
            <a:ext cx="1078992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MY" sz="1200" b="1" i="0" dirty="0">
                <a:solidFill>
                  <a:srgbClr val="C46A24"/>
                </a:solidFill>
                <a:latin typeface="Consolas"/>
              </a:rPr>
              <a:t>XENXIBLE CREATOR - DATA ANALYTICS</a:t>
            </a:r>
            <a:r>
              <a:rPr lang="en-US" sz="1200" b="1" i="0" dirty="0">
                <a:solidFill>
                  <a:srgbClr val="C46A24"/>
                </a:solidFill>
                <a:latin typeface="Consolas"/>
              </a:rPr>
              <a:t> </a:t>
            </a:r>
            <a:r>
              <a:rPr lang="en-MY" sz="1200" b="1" dirty="0">
                <a:solidFill>
                  <a:srgbClr val="C46A24"/>
                </a:solidFill>
                <a:latin typeface="Consolas"/>
              </a:rPr>
              <a:t>·</a:t>
            </a:r>
            <a:endParaRPr sz="1200" b="1" i="0" dirty="0">
              <a:solidFill>
                <a:srgbClr val="C46A24"/>
              </a:solidFill>
              <a:latin typeface="Consola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83920" y="2542032"/>
            <a:ext cx="10424160" cy="7362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2000"/>
              </a:lnSpc>
            </a:pPr>
            <a:r>
              <a:rPr lang="en-US" sz="5200" b="1" i="0" dirty="0">
                <a:latin typeface="Cambria"/>
              </a:rPr>
              <a:t>D</a:t>
            </a:r>
            <a:r>
              <a:rPr sz="5200" b="1" i="0" dirty="0">
                <a:latin typeface="Cambria"/>
              </a:rPr>
              <a:t>evice </a:t>
            </a:r>
            <a:r>
              <a:rPr lang="en-US" sz="5200" b="1" i="0" dirty="0">
                <a:latin typeface="Cambria"/>
              </a:rPr>
              <a:t>Identifier</a:t>
            </a:r>
            <a:endParaRPr sz="5200" b="1" i="0" dirty="0">
              <a:latin typeface="Cambria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582155B-3D28-68C3-70D6-5A66763D65B2}"/>
              </a:ext>
            </a:extLst>
          </p:cNvPr>
          <p:cNvSpPr txBox="1"/>
          <p:nvPr/>
        </p:nvSpPr>
        <p:spPr>
          <a:xfrm>
            <a:off x="1981200" y="5779008"/>
            <a:ext cx="8229600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50" b="0" i="0" dirty="0">
                <a:solidFill>
                  <a:srgbClr val="6E7C89"/>
                </a:solidFill>
                <a:latin typeface="Calibri"/>
              </a:rPr>
              <a:t>Prepared by Siti Syaziyah  ·  Data Analyst Executive  ·  </a:t>
            </a:r>
            <a:r>
              <a:rPr lang="en-US" sz="1150" b="0" i="0" dirty="0">
                <a:solidFill>
                  <a:srgbClr val="6E7C89"/>
                </a:solidFill>
                <a:latin typeface="Calibri"/>
              </a:rPr>
              <a:t>02 </a:t>
            </a:r>
            <a:r>
              <a:rPr sz="1150" b="0" i="0" dirty="0">
                <a:solidFill>
                  <a:srgbClr val="6E7C89"/>
                </a:solidFill>
                <a:latin typeface="Calibri"/>
              </a:rPr>
              <a:t>September 2026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BD33864-117D-07C8-74B8-35BF3F3B8413}"/>
              </a:ext>
            </a:extLst>
          </p:cNvPr>
          <p:cNvSpPr txBox="1"/>
          <p:nvPr/>
        </p:nvSpPr>
        <p:spPr>
          <a:xfrm>
            <a:off x="3048000" y="3290501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MY" sz="1200" b="1" i="0" dirty="0">
                <a:solidFill>
                  <a:srgbClr val="C46A24"/>
                </a:solidFill>
                <a:latin typeface="Consolas"/>
              </a:rPr>
              <a:t>PROJECT BRIEFING </a:t>
            </a:r>
            <a:endParaRPr lang="en-MY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56AE71-7346-D27C-2DB7-EC58D96191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18E4B87-F896-B8F8-B7DE-E5768A743083}"/>
              </a:ext>
            </a:extLst>
          </p:cNvPr>
          <p:cNvSpPr txBox="1"/>
          <p:nvPr/>
        </p:nvSpPr>
        <p:spPr>
          <a:xfrm>
            <a:off x="685800" y="1069848"/>
            <a:ext cx="1024128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MY" sz="3600" b="1" dirty="0">
                <a:solidFill>
                  <a:srgbClr val="C46A24"/>
                </a:solidFill>
                <a:latin typeface="Consolas"/>
              </a:rPr>
              <a:t>01 · WHAT WE BUILT</a:t>
            </a:r>
          </a:p>
        </p:txBody>
      </p:sp>
      <p:pic>
        <p:nvPicPr>
          <p:cNvPr id="6" name="Picture 5" descr="image.png">
            <a:extLst>
              <a:ext uri="{FF2B5EF4-FFF2-40B4-BE49-F238E27FC236}">
                <a16:creationId xmlns:a16="http://schemas.microsoft.com/office/drawing/2014/main" id="{2666A140-8F47-766D-F582-1E918F9812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2314575"/>
            <a:ext cx="3581400" cy="2761059"/>
          </a:xfrm>
          <a:prstGeom prst="rect">
            <a:avLst/>
          </a:prstGeom>
        </p:spPr>
      </p:pic>
      <p:pic>
        <p:nvPicPr>
          <p:cNvPr id="8" name="Picture 7" descr="image.png">
            <a:extLst>
              <a:ext uri="{FF2B5EF4-FFF2-40B4-BE49-F238E27FC236}">
                <a16:creationId xmlns:a16="http://schemas.microsoft.com/office/drawing/2014/main" id="{21D24FF8-B1CE-B2A0-6923-5C3D76C864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05300" y="2314575"/>
            <a:ext cx="3581400" cy="2761059"/>
          </a:xfrm>
          <a:prstGeom prst="rect">
            <a:avLst/>
          </a:prstGeom>
        </p:spPr>
      </p:pic>
      <p:pic>
        <p:nvPicPr>
          <p:cNvPr id="10" name="Picture 9" descr="image.png">
            <a:extLst>
              <a:ext uri="{FF2B5EF4-FFF2-40B4-BE49-F238E27FC236}">
                <a16:creationId xmlns:a16="http://schemas.microsoft.com/office/drawing/2014/main" id="{B9024BAE-5968-B552-59DE-856178227F4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77200" y="2314575"/>
            <a:ext cx="3581400" cy="2761059"/>
          </a:xfrm>
          <a:prstGeom prst="rect">
            <a:avLst/>
          </a:prstGeom>
        </p:spPr>
      </p:pic>
      <p:pic>
        <p:nvPicPr>
          <p:cNvPr id="12" name="Picture 11" descr="image.png">
            <a:extLst>
              <a:ext uri="{FF2B5EF4-FFF2-40B4-BE49-F238E27FC236}">
                <a16:creationId xmlns:a16="http://schemas.microsoft.com/office/drawing/2014/main" id="{3F14F4B6-4F50-87BD-BF64-A40E8DA515C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2475" y="3511748"/>
            <a:ext cx="1933575" cy="266700"/>
          </a:xfrm>
          <a:prstGeom prst="rect">
            <a:avLst/>
          </a:prstGeom>
        </p:spPr>
      </p:pic>
      <p:pic>
        <p:nvPicPr>
          <p:cNvPr id="15" name="Picture 14" descr="image.png">
            <a:extLst>
              <a:ext uri="{FF2B5EF4-FFF2-40B4-BE49-F238E27FC236}">
                <a16:creationId xmlns:a16="http://schemas.microsoft.com/office/drawing/2014/main" id="{20FB01B3-AD62-3DBF-8D7E-D5AEEE60F4A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24375" y="3511748"/>
            <a:ext cx="2105025" cy="266700"/>
          </a:xfrm>
          <a:prstGeom prst="rect">
            <a:avLst/>
          </a:prstGeom>
        </p:spPr>
      </p:pic>
      <p:pic>
        <p:nvPicPr>
          <p:cNvPr id="17" name="Picture 16" descr="image.png">
            <a:extLst>
              <a:ext uri="{FF2B5EF4-FFF2-40B4-BE49-F238E27FC236}">
                <a16:creationId xmlns:a16="http://schemas.microsoft.com/office/drawing/2014/main" id="{E721D0FC-A9F9-0F0B-EE23-C020E183A52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96275" y="3511748"/>
            <a:ext cx="2188368" cy="266700"/>
          </a:xfrm>
          <a:prstGeom prst="rect">
            <a:avLst/>
          </a:prstGeom>
        </p:spPr>
      </p:pic>
      <p:pic>
        <p:nvPicPr>
          <p:cNvPr id="19" name="Picture 18" descr="image.png">
            <a:extLst>
              <a:ext uri="{FF2B5EF4-FFF2-40B4-BE49-F238E27FC236}">
                <a16:creationId xmlns:a16="http://schemas.microsoft.com/office/drawing/2014/main" id="{DAA65211-EE7D-F013-DC45-5B05BE92EF2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2475" y="2571750"/>
            <a:ext cx="419100" cy="419100"/>
          </a:xfrm>
          <a:prstGeom prst="rect">
            <a:avLst/>
          </a:prstGeom>
        </p:spPr>
      </p:pic>
      <p:pic>
        <p:nvPicPr>
          <p:cNvPr id="21" name="Picture 20" descr="image.png">
            <a:extLst>
              <a:ext uri="{FF2B5EF4-FFF2-40B4-BE49-F238E27FC236}">
                <a16:creationId xmlns:a16="http://schemas.microsoft.com/office/drawing/2014/main" id="{6D0A9099-BD85-06BB-E10F-A978B0177F2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24375" y="2571750"/>
            <a:ext cx="419100" cy="419100"/>
          </a:xfrm>
          <a:prstGeom prst="rect">
            <a:avLst/>
          </a:prstGeom>
        </p:spPr>
      </p:pic>
      <p:pic>
        <p:nvPicPr>
          <p:cNvPr id="23" name="Picture 22" descr="image.png">
            <a:extLst>
              <a:ext uri="{FF2B5EF4-FFF2-40B4-BE49-F238E27FC236}">
                <a16:creationId xmlns:a16="http://schemas.microsoft.com/office/drawing/2014/main" id="{31669AB5-D836-B66B-BE51-889D0FEDD2C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296275" y="2571750"/>
            <a:ext cx="419100" cy="419100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21186A35-47DD-33E7-E3B4-3F1FAFD4C033}"/>
              </a:ext>
            </a:extLst>
          </p:cNvPr>
          <p:cNvSpPr txBox="1"/>
          <p:nvPr/>
        </p:nvSpPr>
        <p:spPr>
          <a:xfrm>
            <a:off x="752475" y="3143250"/>
            <a:ext cx="3143250" cy="2351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52"/>
              </a:lnSpc>
            </a:pPr>
            <a:r>
              <a:rPr sz="1425" b="0" i="0" u="none" dirty="0">
                <a:solidFill>
                  <a:srgbClr val="0F172A"/>
                </a:solidFill>
                <a:latin typeface="Poppins SemiBold"/>
              </a:rPr>
              <a:t>Identify Device</a:t>
            </a:r>
            <a:r>
              <a:rPr lang="en-MY" sz="1425" b="0" i="0" u="none" dirty="0">
                <a:solidFill>
                  <a:srgbClr val="0F172A"/>
                </a:solidFill>
                <a:latin typeface="Poppins SemiBold"/>
              </a:rPr>
              <a:t> Type</a:t>
            </a:r>
            <a:endParaRPr sz="1425" b="0" i="0" u="none" dirty="0">
              <a:solidFill>
                <a:srgbClr val="0F172A"/>
              </a:solidFill>
              <a:latin typeface="Poppins SemiBold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5B34A21-32C9-9BC8-3366-5CCBE240D879}"/>
              </a:ext>
            </a:extLst>
          </p:cNvPr>
          <p:cNvSpPr txBox="1"/>
          <p:nvPr/>
        </p:nvSpPr>
        <p:spPr>
          <a:xfrm>
            <a:off x="4524375" y="3143250"/>
            <a:ext cx="3143250" cy="2351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52"/>
              </a:lnSpc>
            </a:pPr>
            <a:r>
              <a:rPr sz="1425" b="0" i="0" u="none">
                <a:solidFill>
                  <a:srgbClr val="0F172A"/>
                </a:solidFill>
                <a:latin typeface="Poppins SemiBold"/>
              </a:rPr>
              <a:t>Predict Section &amp; Cluster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87DC678-4A82-CC76-8725-C5E86D25CA5A}"/>
              </a:ext>
            </a:extLst>
          </p:cNvPr>
          <p:cNvSpPr txBox="1"/>
          <p:nvPr/>
        </p:nvSpPr>
        <p:spPr>
          <a:xfrm>
            <a:off x="8296275" y="3143250"/>
            <a:ext cx="3143250" cy="2351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52"/>
              </a:lnSpc>
            </a:pPr>
            <a:r>
              <a:rPr lang="en-MY" sz="1425" b="0" i="0" u="none" dirty="0">
                <a:solidFill>
                  <a:srgbClr val="0F172A"/>
                </a:solidFill>
                <a:latin typeface="Poppins SemiBold"/>
              </a:rPr>
              <a:t>Logic </a:t>
            </a:r>
            <a:r>
              <a:rPr sz="1425" b="0" i="0" u="none" dirty="0">
                <a:solidFill>
                  <a:srgbClr val="0F172A"/>
                </a:solidFill>
                <a:latin typeface="Poppins SemiBold"/>
              </a:rPr>
              <a:t>Quota</a:t>
            </a:r>
            <a:r>
              <a:rPr lang="en-MY" sz="1425" b="0" i="0" u="none" dirty="0">
                <a:solidFill>
                  <a:srgbClr val="0F172A"/>
                </a:solidFill>
                <a:latin typeface="Poppins SemiBold"/>
              </a:rPr>
              <a:t> Allocation</a:t>
            </a:r>
            <a:endParaRPr sz="1425" b="0" i="0" u="none" dirty="0">
              <a:solidFill>
                <a:srgbClr val="0F172A"/>
              </a:solidFill>
              <a:latin typeface="Poppins SemiBold"/>
            </a:endParaRPr>
          </a:p>
        </p:txBody>
      </p:sp>
      <p:pic>
        <p:nvPicPr>
          <p:cNvPr id="31" name="Picture 30" descr="image.png">
            <a:extLst>
              <a:ext uri="{FF2B5EF4-FFF2-40B4-BE49-F238E27FC236}">
                <a16:creationId xmlns:a16="http://schemas.microsoft.com/office/drawing/2014/main" id="{F07EC619-F603-859B-7998-296211EA4BC3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8909" y="3592264"/>
            <a:ext cx="135731" cy="119062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BF04F416-FE1B-51D1-B108-F31DFC16F68C}"/>
              </a:ext>
            </a:extLst>
          </p:cNvPr>
          <p:cNvSpPr txBox="1"/>
          <p:nvPr/>
        </p:nvSpPr>
        <p:spPr>
          <a:xfrm>
            <a:off x="971550" y="3930848"/>
            <a:ext cx="2924175" cy="3866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0" i="0" u="none">
                <a:solidFill>
                  <a:srgbClr val="334155"/>
                </a:solidFill>
                <a:latin typeface="Inter"/>
              </a:rPr>
              <a:t>Parses leading tag letters instantly against standardized reference set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460B358-EAFF-A550-6B9B-6AB0780F5128}"/>
              </a:ext>
            </a:extLst>
          </p:cNvPr>
          <p:cNvSpPr txBox="1"/>
          <p:nvPr/>
        </p:nvSpPr>
        <p:spPr>
          <a:xfrm>
            <a:off x="971550" y="4431803"/>
            <a:ext cx="2924175" cy="3866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0" i="0" u="none">
                <a:solidFill>
                  <a:srgbClr val="334155"/>
                </a:solidFill>
                <a:latin typeface="Inter"/>
              </a:rPr>
              <a:t>Resolves raw tags into 23 distinct device classifications</a:t>
            </a:r>
          </a:p>
        </p:txBody>
      </p:sp>
      <p:pic>
        <p:nvPicPr>
          <p:cNvPr id="37" name="Picture 36" descr="image.png">
            <a:extLst>
              <a:ext uri="{FF2B5EF4-FFF2-40B4-BE49-F238E27FC236}">
                <a16:creationId xmlns:a16="http://schemas.microsoft.com/office/drawing/2014/main" id="{9C1E160D-B511-F26C-51D1-6C11ED449FBA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566047" y="3592264"/>
            <a:ext cx="135731" cy="119062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37348DEA-0EB3-9668-C0A2-ABB39C95E16F}"/>
              </a:ext>
            </a:extLst>
          </p:cNvPr>
          <p:cNvSpPr txBox="1"/>
          <p:nvPr/>
        </p:nvSpPr>
        <p:spPr>
          <a:xfrm>
            <a:off x="4743450" y="3930848"/>
            <a:ext cx="2924175" cy="3866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0" i="0" u="none">
                <a:solidFill>
                  <a:srgbClr val="334155"/>
                </a:solidFill>
                <a:latin typeface="Inter"/>
              </a:rPr>
              <a:t>Evaluates candidates through two linked Machine Learning models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BD9127C-5A5C-F109-6360-8005FB2A34D4}"/>
              </a:ext>
            </a:extLst>
          </p:cNvPr>
          <p:cNvSpPr txBox="1"/>
          <p:nvPr/>
        </p:nvSpPr>
        <p:spPr>
          <a:xfrm>
            <a:off x="4743450" y="4431803"/>
            <a:ext cx="2924175" cy="3866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0" i="0" u="none">
                <a:solidFill>
                  <a:srgbClr val="334155"/>
                </a:solidFill>
                <a:latin typeface="Inter"/>
              </a:rPr>
              <a:t>Outputs ranked candidate sections with real-time confidence scores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71C8AC1-45D7-4008-DE6B-8946BAAC845E}"/>
              </a:ext>
            </a:extLst>
          </p:cNvPr>
          <p:cNvSpPr txBox="1"/>
          <p:nvPr/>
        </p:nvSpPr>
        <p:spPr>
          <a:xfrm>
            <a:off x="8515350" y="3930848"/>
            <a:ext cx="2924175" cy="3866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0" i="0" u="none">
                <a:solidFill>
                  <a:srgbClr val="334155"/>
                </a:solidFill>
                <a:latin typeface="Inter"/>
              </a:rPr>
              <a:t>Applies cluster capacity limits per device category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1490DC1-816E-6266-3B70-B3275278CC83}"/>
              </a:ext>
            </a:extLst>
          </p:cNvPr>
          <p:cNvSpPr txBox="1"/>
          <p:nvPr/>
        </p:nvSpPr>
        <p:spPr>
          <a:xfrm>
            <a:off x="8515350" y="4431803"/>
            <a:ext cx="2924175" cy="3866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0" i="0" u="none">
                <a:solidFill>
                  <a:srgbClr val="334155"/>
                </a:solidFill>
                <a:latin typeface="Inter"/>
              </a:rPr>
              <a:t>Fits ML predictions into target engineering composition</a:t>
            </a:r>
          </a:p>
        </p:txBody>
      </p:sp>
      <p:pic>
        <p:nvPicPr>
          <p:cNvPr id="47" name="Picture 46" descr="image.png">
            <a:extLst>
              <a:ext uri="{FF2B5EF4-FFF2-40B4-BE49-F238E27FC236}">
                <a16:creationId xmlns:a16="http://schemas.microsoft.com/office/drawing/2014/main" id="{A579FDC0-0CA3-AA29-A9EE-DDB9734E93D4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629025" y="2647950"/>
            <a:ext cx="266700" cy="266700"/>
          </a:xfrm>
          <a:prstGeom prst="rect">
            <a:avLst/>
          </a:prstGeom>
        </p:spPr>
      </p:pic>
      <p:pic>
        <p:nvPicPr>
          <p:cNvPr id="49" name="Picture 48" descr="image.png">
            <a:extLst>
              <a:ext uri="{FF2B5EF4-FFF2-40B4-BE49-F238E27FC236}">
                <a16:creationId xmlns:a16="http://schemas.microsoft.com/office/drawing/2014/main" id="{45304862-AE72-D3FB-666D-D9577142BB0B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400925" y="2647950"/>
            <a:ext cx="266700" cy="266700"/>
          </a:xfrm>
          <a:prstGeom prst="rect">
            <a:avLst/>
          </a:prstGeom>
        </p:spPr>
      </p:pic>
      <p:pic>
        <p:nvPicPr>
          <p:cNvPr id="51" name="Picture 50" descr="image.png">
            <a:extLst>
              <a:ext uri="{FF2B5EF4-FFF2-40B4-BE49-F238E27FC236}">
                <a16:creationId xmlns:a16="http://schemas.microsoft.com/office/drawing/2014/main" id="{925F0A46-04C7-7711-AFE7-4D3EB9D42D45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1172825" y="2647950"/>
            <a:ext cx="266700" cy="266700"/>
          </a:xfrm>
          <a:prstGeom prst="rect">
            <a:avLst/>
          </a:prstGeom>
        </p:spPr>
      </p:pic>
      <p:pic>
        <p:nvPicPr>
          <p:cNvPr id="53" name="Picture 52" descr="image.png">
            <a:extLst>
              <a:ext uri="{FF2B5EF4-FFF2-40B4-BE49-F238E27FC236}">
                <a16:creationId xmlns:a16="http://schemas.microsoft.com/office/drawing/2014/main" id="{36C4E692-4887-696A-1C48-E547EE5C50AA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52475" y="3954660"/>
            <a:ext cx="123825" cy="133350"/>
          </a:xfrm>
          <a:prstGeom prst="rect">
            <a:avLst/>
          </a:prstGeom>
        </p:spPr>
      </p:pic>
      <p:pic>
        <p:nvPicPr>
          <p:cNvPr id="55" name="Picture 54" descr="image.png">
            <a:extLst>
              <a:ext uri="{FF2B5EF4-FFF2-40B4-BE49-F238E27FC236}">
                <a16:creationId xmlns:a16="http://schemas.microsoft.com/office/drawing/2014/main" id="{E25E3AB1-93B1-4660-6BE1-ACA3D84C4730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52475" y="4455616"/>
            <a:ext cx="123825" cy="133350"/>
          </a:xfrm>
          <a:prstGeom prst="rect">
            <a:avLst/>
          </a:prstGeom>
        </p:spPr>
      </p:pic>
      <p:pic>
        <p:nvPicPr>
          <p:cNvPr id="57" name="Picture 56" descr="image.png">
            <a:extLst>
              <a:ext uri="{FF2B5EF4-FFF2-40B4-BE49-F238E27FC236}">
                <a16:creationId xmlns:a16="http://schemas.microsoft.com/office/drawing/2014/main" id="{45BDF74A-F59A-99F2-0759-F1CC3F445AB4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524375" y="3954660"/>
            <a:ext cx="123825" cy="133350"/>
          </a:xfrm>
          <a:prstGeom prst="rect">
            <a:avLst/>
          </a:prstGeom>
        </p:spPr>
      </p:pic>
      <p:pic>
        <p:nvPicPr>
          <p:cNvPr id="59" name="Picture 58" descr="image.png">
            <a:extLst>
              <a:ext uri="{FF2B5EF4-FFF2-40B4-BE49-F238E27FC236}">
                <a16:creationId xmlns:a16="http://schemas.microsoft.com/office/drawing/2014/main" id="{72A3E10D-1429-E5FA-0469-3A25C14893F3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524375" y="4455616"/>
            <a:ext cx="123825" cy="133350"/>
          </a:xfrm>
          <a:prstGeom prst="rect">
            <a:avLst/>
          </a:prstGeom>
        </p:spPr>
      </p:pic>
      <p:pic>
        <p:nvPicPr>
          <p:cNvPr id="61" name="Picture 60" descr="image.png">
            <a:extLst>
              <a:ext uri="{FF2B5EF4-FFF2-40B4-BE49-F238E27FC236}">
                <a16:creationId xmlns:a16="http://schemas.microsoft.com/office/drawing/2014/main" id="{D0271B10-920E-0D17-62AD-0935E0D3B208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296275" y="3954660"/>
            <a:ext cx="123825" cy="133350"/>
          </a:xfrm>
          <a:prstGeom prst="rect">
            <a:avLst/>
          </a:prstGeom>
        </p:spPr>
      </p:pic>
      <p:pic>
        <p:nvPicPr>
          <p:cNvPr id="63" name="Picture 62" descr="image.png">
            <a:extLst>
              <a:ext uri="{FF2B5EF4-FFF2-40B4-BE49-F238E27FC236}">
                <a16:creationId xmlns:a16="http://schemas.microsoft.com/office/drawing/2014/main" id="{4F250982-551D-07E4-6A3A-F800F5E1F81E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296275" y="4455616"/>
            <a:ext cx="123825" cy="133350"/>
          </a:xfrm>
          <a:prstGeom prst="rect">
            <a:avLst/>
          </a:prstGeom>
        </p:spPr>
      </p:pic>
      <p:pic>
        <p:nvPicPr>
          <p:cNvPr id="65" name="Picture 64" descr="image.png">
            <a:extLst>
              <a:ext uri="{FF2B5EF4-FFF2-40B4-BE49-F238E27FC236}">
                <a16:creationId xmlns:a16="http://schemas.microsoft.com/office/drawing/2014/main" id="{5BFC87CA-DA55-7887-F3C6-AE8D00DB905F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019550" y="3369773"/>
            <a:ext cx="66675" cy="114300"/>
          </a:xfrm>
          <a:prstGeom prst="rect">
            <a:avLst/>
          </a:prstGeom>
        </p:spPr>
      </p:pic>
      <p:pic>
        <p:nvPicPr>
          <p:cNvPr id="67" name="Picture 66" descr="image.png">
            <a:extLst>
              <a:ext uri="{FF2B5EF4-FFF2-40B4-BE49-F238E27FC236}">
                <a16:creationId xmlns:a16="http://schemas.microsoft.com/office/drawing/2014/main" id="{B775EC00-09FE-9259-943F-4D9C32950E89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777162" y="3354143"/>
            <a:ext cx="66675" cy="114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97525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85800" y="1069848"/>
            <a:ext cx="1024128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MY" sz="3600" b="1" dirty="0">
                <a:solidFill>
                  <a:srgbClr val="C46A24"/>
                </a:solidFill>
                <a:latin typeface="Consolas"/>
              </a:rPr>
              <a:t>02 · HOW IT WORKS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148840"/>
            <a:ext cx="3401568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5D9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96696" y="2450592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C46A24"/>
                </a:solidFill>
                <a:latin typeface="Consolas"/>
              </a:rPr>
              <a:t>FIRST PASS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6696" y="2761488"/>
            <a:ext cx="2834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71A1D"/>
                </a:solidFill>
                <a:latin typeface="Cambria"/>
              </a:rPr>
              <a:t>Fill to quota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6" y="3182112"/>
            <a:ext cx="28346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67717C"/>
                </a:solidFill>
                <a:latin typeface="Calibri"/>
              </a:rPr>
              <a:t>Each cluster takes its best-matching devices, up to its target count.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0832" y="2148840"/>
            <a:ext cx="3401568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5D9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81728" y="2450592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C46A24"/>
                </a:solidFill>
                <a:latin typeface="Consolas"/>
              </a:rPr>
              <a:t>SECOND PASS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1728" y="2761488"/>
            <a:ext cx="2834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71A1D"/>
                </a:solidFill>
                <a:latin typeface="Cambria"/>
              </a:rPr>
              <a:t>Measure the gap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81728" y="3182112"/>
            <a:ext cx="28346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67717C"/>
                </a:solidFill>
                <a:latin typeface="Calibri"/>
              </a:rPr>
              <a:t>Identify which clusters are still short, and by how much.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55864" y="2148840"/>
            <a:ext cx="3401568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5D9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66760" y="2450592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C46A24"/>
                </a:solidFill>
                <a:latin typeface="Consolas"/>
              </a:rPr>
              <a:t>THIRD PASS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2761488"/>
            <a:ext cx="2834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71A1D"/>
                </a:solidFill>
                <a:latin typeface="Cambria"/>
              </a:rPr>
              <a:t>Try second choices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3182112"/>
            <a:ext cx="28346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67717C"/>
                </a:solidFill>
                <a:latin typeface="Calibri"/>
              </a:rPr>
              <a:t>Unplaced devices try their next-ranked clusters, strongest device first.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1069848"/>
            <a:ext cx="1024128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3600" b="1" dirty="0">
                <a:solidFill>
                  <a:srgbClr val="C46A24"/>
                </a:solidFill>
                <a:latin typeface="Consolas"/>
              </a:rPr>
              <a:t>03 · WHERE WE ARE NOW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057400"/>
            <a:ext cx="1051560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1600" dirty="0">
                <a:solidFill>
                  <a:srgbClr val="171A1D"/>
                </a:solidFill>
              </a:rPr>
              <a:t>The engine is complete and verified. </a:t>
            </a:r>
            <a:r>
              <a:rPr sz="1600" b="0" i="0" dirty="0">
                <a:latin typeface="Calibri"/>
              </a:rPr>
              <a:t>Tested against a live database and the real trained models</a:t>
            </a:r>
            <a:r>
              <a:rPr lang="en-US" sz="1600" b="0" i="0" dirty="0">
                <a:latin typeface="Calibri"/>
              </a:rPr>
              <a:t>. S</a:t>
            </a:r>
            <a:r>
              <a:rPr sz="1600" b="0" i="0" dirty="0">
                <a:latin typeface="Calibri"/>
              </a:rPr>
              <a:t>erver and local runs agree exactly.</a:t>
            </a:r>
            <a:r>
              <a:rPr lang="en-US" sz="1600" b="0" i="0" dirty="0">
                <a:latin typeface="Calibri"/>
              </a:rPr>
              <a:t> </a:t>
            </a:r>
            <a:endParaRPr sz="1600" b="0" i="0" dirty="0">
              <a:latin typeface="Calibri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85800" y="2697480"/>
            <a:ext cx="5285232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5D9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33272" y="2998565"/>
            <a:ext cx="402336" cy="402336"/>
          </a:xfrm>
          <a:prstGeom prst="ellipse">
            <a:avLst/>
          </a:prstGeom>
          <a:solidFill>
            <a:srgbClr val="2E7D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 dirty="0">
                <a:solidFill>
                  <a:srgbClr val="FFFFFF"/>
                </a:solidFill>
                <a:latin typeface="Consolas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18488" y="3035808"/>
            <a:ext cx="4114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 i="0">
                <a:solidFill>
                  <a:srgbClr val="171A1D"/>
                </a:solidFill>
                <a:latin typeface="Cambria"/>
              </a:rPr>
              <a:t>The whole pipeline is one function call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675887"/>
            <a:ext cx="4572000" cy="2358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 i="0" dirty="0">
                <a:solidFill>
                  <a:srgbClr val="67717C"/>
                </a:solidFill>
                <a:latin typeface="Calibri"/>
              </a:rPr>
              <a:t>The developer call one method and receive the results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697480"/>
            <a:ext cx="5285232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5D9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6510528" y="2998565"/>
            <a:ext cx="402336" cy="402336"/>
          </a:xfrm>
          <a:prstGeom prst="ellipse">
            <a:avLst/>
          </a:prstGeom>
          <a:solidFill>
            <a:srgbClr val="2E7D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 dirty="0">
                <a:solidFill>
                  <a:srgbClr val="FFFFFF"/>
                </a:solidFill>
                <a:latin typeface="Consolas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50608" y="3035808"/>
            <a:ext cx="4114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 i="0" dirty="0">
                <a:solidFill>
                  <a:srgbClr val="171A1D"/>
                </a:solidFill>
                <a:latin typeface="Cambria"/>
              </a:rPr>
              <a:t>Nothing is hardcoded any more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3675887"/>
            <a:ext cx="4572000" cy="4893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 i="0" dirty="0">
                <a:solidFill>
                  <a:srgbClr val="67717C"/>
                </a:solidFill>
                <a:latin typeface="Calibri"/>
              </a:rPr>
              <a:t>Quota patterns now live in a database table an engineer can edit directly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892040"/>
            <a:ext cx="1051560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1" dirty="0">
                <a:latin typeface="+mj-lt"/>
              </a:rPr>
              <a:t>Everything the system produces is written back to SQL Server</a:t>
            </a:r>
            <a:r>
              <a:rPr lang="en-US" sz="1600" b="0" i="1" dirty="0">
                <a:latin typeface="+mj-lt"/>
              </a:rPr>
              <a:t>. T</a:t>
            </a:r>
            <a:r>
              <a:rPr sz="1600" b="0" i="1" dirty="0">
                <a:latin typeface="+mj-lt"/>
              </a:rPr>
              <a:t>he interface reads from the database</a:t>
            </a:r>
            <a:r>
              <a:rPr lang="en-US" sz="1600" i="1" dirty="0">
                <a:latin typeface="+mj-lt"/>
              </a:rPr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50FDDD-FF5A-FB0E-3A01-00BE3F36E0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F1428F5-331C-3F29-6954-E0B87ACE4C34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4599634-AFE8-6E53-5416-27BB8E453119}"/>
              </a:ext>
            </a:extLst>
          </p:cNvPr>
          <p:cNvSpPr txBox="1"/>
          <p:nvPr/>
        </p:nvSpPr>
        <p:spPr>
          <a:xfrm>
            <a:off x="685800" y="685800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dirty="0">
                <a:solidFill>
                  <a:srgbClr val="C46A24"/>
                </a:solidFill>
                <a:latin typeface="Consolas"/>
              </a:rPr>
              <a:t>04 · WHERE IT RUNS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93535F4-10CD-A4C6-6946-81AF20FC1406}"/>
              </a:ext>
            </a:extLst>
          </p:cNvPr>
          <p:cNvSpPr txBox="1"/>
          <p:nvPr/>
        </p:nvSpPr>
        <p:spPr>
          <a:xfrm>
            <a:off x="685800" y="1069848"/>
            <a:ext cx="102412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600" b="1" i="0">
                <a:solidFill>
                  <a:srgbClr val="171A1D"/>
                </a:solidFill>
                <a:latin typeface="Cambria"/>
              </a:rPr>
              <a:t>Deployed across two servers</a:t>
            </a:r>
          </a:p>
        </p:txBody>
      </p:sp>
      <p:pic>
        <p:nvPicPr>
          <p:cNvPr id="15" name="Picture 14" descr="image.png">
            <a:extLst>
              <a:ext uri="{FF2B5EF4-FFF2-40B4-BE49-F238E27FC236}">
                <a16:creationId xmlns:a16="http://schemas.microsoft.com/office/drawing/2014/main" id="{D76FDAF3-8BA7-D59B-023D-33F4DC5AF5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2238375"/>
            <a:ext cx="3581400" cy="2438995"/>
          </a:xfrm>
          <a:prstGeom prst="rect">
            <a:avLst/>
          </a:prstGeom>
        </p:spPr>
      </p:pic>
      <p:pic>
        <p:nvPicPr>
          <p:cNvPr id="17" name="Picture 16" descr="image.png">
            <a:extLst>
              <a:ext uri="{FF2B5EF4-FFF2-40B4-BE49-F238E27FC236}">
                <a16:creationId xmlns:a16="http://schemas.microsoft.com/office/drawing/2014/main" id="{57B869B7-E40C-4138-D4E7-0964A801B3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5300" y="2238375"/>
            <a:ext cx="3581400" cy="2438995"/>
          </a:xfrm>
          <a:prstGeom prst="rect">
            <a:avLst/>
          </a:prstGeom>
        </p:spPr>
      </p:pic>
      <p:pic>
        <p:nvPicPr>
          <p:cNvPr id="19" name="Picture 18" descr="image.png">
            <a:extLst>
              <a:ext uri="{FF2B5EF4-FFF2-40B4-BE49-F238E27FC236}">
                <a16:creationId xmlns:a16="http://schemas.microsoft.com/office/drawing/2014/main" id="{20415DC1-AA11-A7C9-005D-EC12EB6256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7200" y="2238375"/>
            <a:ext cx="3581400" cy="2438995"/>
          </a:xfrm>
          <a:prstGeom prst="rect">
            <a:avLst/>
          </a:prstGeom>
        </p:spPr>
      </p:pic>
      <p:pic>
        <p:nvPicPr>
          <p:cNvPr id="21" name="Picture 20" descr="image.png">
            <a:extLst>
              <a:ext uri="{FF2B5EF4-FFF2-40B4-BE49-F238E27FC236}">
                <a16:creationId xmlns:a16="http://schemas.microsoft.com/office/drawing/2014/main" id="{B2B6026D-BE25-37CF-FA5F-F968B0FDB67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24375" y="3086100"/>
            <a:ext cx="1981200" cy="285750"/>
          </a:xfrm>
          <a:prstGeom prst="rect">
            <a:avLst/>
          </a:prstGeom>
        </p:spPr>
      </p:pic>
      <p:pic>
        <p:nvPicPr>
          <p:cNvPr id="23" name="Picture 22" descr="image.png">
            <a:extLst>
              <a:ext uri="{FF2B5EF4-FFF2-40B4-BE49-F238E27FC236}">
                <a16:creationId xmlns:a16="http://schemas.microsoft.com/office/drawing/2014/main" id="{14C7017C-4E4B-1377-CE9A-3AFE306C7EB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96275" y="3086100"/>
            <a:ext cx="1676400" cy="285750"/>
          </a:xfrm>
          <a:prstGeom prst="rect">
            <a:avLst/>
          </a:prstGeom>
        </p:spPr>
      </p:pic>
      <p:pic>
        <p:nvPicPr>
          <p:cNvPr id="25" name="Picture 24" descr="image.png">
            <a:extLst>
              <a:ext uri="{FF2B5EF4-FFF2-40B4-BE49-F238E27FC236}">
                <a16:creationId xmlns:a16="http://schemas.microsoft.com/office/drawing/2014/main" id="{0F1C41FF-608E-F2D8-91E8-33EEA0DBDC6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2475" y="2476500"/>
            <a:ext cx="457200" cy="457200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9505E298-94BD-0775-AF24-E050DE98A645}"/>
              </a:ext>
            </a:extLst>
          </p:cNvPr>
          <p:cNvSpPr txBox="1"/>
          <p:nvPr/>
        </p:nvSpPr>
        <p:spPr>
          <a:xfrm>
            <a:off x="1343025" y="2591990"/>
            <a:ext cx="2171700" cy="2262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81"/>
              </a:lnSpc>
            </a:pPr>
            <a:r>
              <a:rPr sz="1425" b="0" i="0" u="none" dirty="0">
                <a:solidFill>
                  <a:srgbClr val="0F172A"/>
                </a:solidFill>
                <a:latin typeface="Poppins SemiBold"/>
              </a:rPr>
              <a:t>Dedicated Model Server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3D5CB09-BDEE-56D9-B6B5-76C8FA19EC5A}"/>
              </a:ext>
            </a:extLst>
          </p:cNvPr>
          <p:cNvSpPr txBox="1"/>
          <p:nvPr/>
        </p:nvSpPr>
        <p:spPr>
          <a:xfrm>
            <a:off x="981075" y="3524250"/>
            <a:ext cx="2914650" cy="4003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6"/>
              </a:lnSpc>
            </a:pPr>
            <a:r>
              <a:rPr sz="1087" b="0" i="0" u="none">
                <a:solidFill>
                  <a:srgbClr val="334155"/>
                </a:solidFill>
                <a:latin typeface="Inter"/>
              </a:rPr>
              <a:t>Pre-loaded into memory once for instant API access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05EA012-D3F1-8F3A-1E63-D007387BDA68}"/>
              </a:ext>
            </a:extLst>
          </p:cNvPr>
          <p:cNvSpPr txBox="1"/>
          <p:nvPr/>
        </p:nvSpPr>
        <p:spPr>
          <a:xfrm>
            <a:off x="981075" y="4038897"/>
            <a:ext cx="2914650" cy="4003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6"/>
              </a:lnSpc>
            </a:pPr>
            <a:r>
              <a:rPr sz="1087" b="1" i="0" u="none">
                <a:solidFill>
                  <a:srgbClr val="334155"/>
                </a:solidFill>
                <a:latin typeface="Inter"/>
              </a:rPr>
              <a:t>Zero setup:</a:t>
            </a:r>
            <a:r>
              <a:rPr sz="1087" b="0" i="0" u="none">
                <a:solidFill>
                  <a:srgbClr val="334155"/>
                </a:solidFill>
                <a:latin typeface="Inter"/>
              </a:rPr>
              <a:t> No Python or model files needed on engineer laptops</a:t>
            </a:r>
          </a:p>
        </p:txBody>
      </p:sp>
      <p:pic>
        <p:nvPicPr>
          <p:cNvPr id="33" name="Picture 32" descr="image.png">
            <a:extLst>
              <a:ext uri="{FF2B5EF4-FFF2-40B4-BE49-F238E27FC236}">
                <a16:creationId xmlns:a16="http://schemas.microsoft.com/office/drawing/2014/main" id="{43CFDAF3-FE72-3454-F565-8FBCD3CA08B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24375" y="2476500"/>
            <a:ext cx="457200" cy="457200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9DBAE1C0-5D44-69DD-5BE3-C6B4CD7E6C58}"/>
              </a:ext>
            </a:extLst>
          </p:cNvPr>
          <p:cNvSpPr txBox="1"/>
          <p:nvPr/>
        </p:nvSpPr>
        <p:spPr>
          <a:xfrm>
            <a:off x="5114925" y="2591990"/>
            <a:ext cx="2000250" cy="2262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81"/>
              </a:lnSpc>
            </a:pPr>
            <a:r>
              <a:rPr sz="1425" b="0" i="0" u="none">
                <a:solidFill>
                  <a:srgbClr val="0F172A"/>
                </a:solidFill>
                <a:latin typeface="Poppins SemiBold"/>
              </a:rPr>
              <a:t>Shared SQL Database</a:t>
            </a:r>
          </a:p>
        </p:txBody>
      </p:sp>
      <p:pic>
        <p:nvPicPr>
          <p:cNvPr id="37" name="Picture 36" descr="image.png">
            <a:extLst>
              <a:ext uri="{FF2B5EF4-FFF2-40B4-BE49-F238E27FC236}">
                <a16:creationId xmlns:a16="http://schemas.microsoft.com/office/drawing/2014/main" id="{3CCBCADD-7725-A560-87F6-22A7EC80D43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86287" y="3162300"/>
            <a:ext cx="123825" cy="123825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4783DDE3-F371-50DC-237E-D9B53DA8F6DB}"/>
              </a:ext>
            </a:extLst>
          </p:cNvPr>
          <p:cNvSpPr txBox="1"/>
          <p:nvPr/>
        </p:nvSpPr>
        <p:spPr>
          <a:xfrm>
            <a:off x="4752975" y="3524250"/>
            <a:ext cx="2914650" cy="4003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6"/>
              </a:lnSpc>
            </a:pPr>
            <a:r>
              <a:rPr sz="1087" b="0" i="0" u="none">
                <a:solidFill>
                  <a:srgbClr val="334155"/>
                </a:solidFill>
                <a:latin typeface="Inter"/>
              </a:rPr>
              <a:t>All predictions write directly to central SQL Server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0FD59C9-E5B1-5623-5412-B92671E78D94}"/>
              </a:ext>
            </a:extLst>
          </p:cNvPr>
          <p:cNvSpPr txBox="1"/>
          <p:nvPr/>
        </p:nvSpPr>
        <p:spPr>
          <a:xfrm>
            <a:off x="4752975" y="4038897"/>
            <a:ext cx="2914650" cy="4003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6"/>
              </a:lnSpc>
            </a:pPr>
            <a:r>
              <a:rPr sz="1087" b="1" i="0" u="none" dirty="0">
                <a:solidFill>
                  <a:srgbClr val="334155"/>
                </a:solidFill>
                <a:latin typeface="Inter"/>
              </a:rPr>
              <a:t>No manual files:</a:t>
            </a:r>
            <a:r>
              <a:rPr sz="1087" b="0" i="0" u="none" dirty="0">
                <a:solidFill>
                  <a:srgbClr val="334155"/>
                </a:solidFill>
                <a:latin typeface="Inter"/>
              </a:rPr>
              <a:t> UI reads centralized data automatically</a:t>
            </a:r>
          </a:p>
        </p:txBody>
      </p:sp>
      <p:pic>
        <p:nvPicPr>
          <p:cNvPr id="43" name="Picture 42" descr="image.png">
            <a:extLst>
              <a:ext uri="{FF2B5EF4-FFF2-40B4-BE49-F238E27FC236}">
                <a16:creationId xmlns:a16="http://schemas.microsoft.com/office/drawing/2014/main" id="{5979CE39-3407-0DA7-D6D0-65B57BBB713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96275" y="2476500"/>
            <a:ext cx="457200" cy="457200"/>
          </a:xfrm>
          <a:prstGeom prst="rect">
            <a:avLst/>
          </a:prstGeom>
        </p:spPr>
      </p:pic>
      <p:sp>
        <p:nvSpPr>
          <p:cNvPr id="45" name="TextBox 44">
            <a:extLst>
              <a:ext uri="{FF2B5EF4-FFF2-40B4-BE49-F238E27FC236}">
                <a16:creationId xmlns:a16="http://schemas.microsoft.com/office/drawing/2014/main" id="{571D6F2D-5107-EA67-77C5-185143574A88}"/>
              </a:ext>
            </a:extLst>
          </p:cNvPr>
          <p:cNvSpPr txBox="1"/>
          <p:nvPr/>
        </p:nvSpPr>
        <p:spPr>
          <a:xfrm>
            <a:off x="8886825" y="2591990"/>
            <a:ext cx="1962150" cy="2262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81"/>
              </a:lnSpc>
            </a:pPr>
            <a:r>
              <a:rPr sz="1425" b="0" i="0" u="none">
                <a:solidFill>
                  <a:srgbClr val="0F172A"/>
                </a:solidFill>
                <a:latin typeface="Poppins SemiBold"/>
              </a:rPr>
              <a:t>Azure DevOps Source</a:t>
            </a:r>
          </a:p>
        </p:txBody>
      </p:sp>
      <p:pic>
        <p:nvPicPr>
          <p:cNvPr id="47" name="Picture 46" descr="image.png">
            <a:extLst>
              <a:ext uri="{FF2B5EF4-FFF2-40B4-BE49-F238E27FC236}">
                <a16:creationId xmlns:a16="http://schemas.microsoft.com/office/drawing/2014/main" id="{1B5217CF-8678-6DED-2CF2-00B1AC1C76C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72474" y="3162300"/>
            <a:ext cx="123825" cy="123825"/>
          </a:xfrm>
          <a:prstGeom prst="rect">
            <a:avLst/>
          </a:prstGeom>
        </p:spPr>
      </p:pic>
      <p:sp>
        <p:nvSpPr>
          <p:cNvPr id="49" name="TextBox 48">
            <a:extLst>
              <a:ext uri="{FF2B5EF4-FFF2-40B4-BE49-F238E27FC236}">
                <a16:creationId xmlns:a16="http://schemas.microsoft.com/office/drawing/2014/main" id="{25176303-C559-412B-607A-0A966A6DAE71}"/>
              </a:ext>
            </a:extLst>
          </p:cNvPr>
          <p:cNvSpPr txBox="1"/>
          <p:nvPr/>
        </p:nvSpPr>
        <p:spPr>
          <a:xfrm>
            <a:off x="8524875" y="3524250"/>
            <a:ext cx="2914650" cy="4003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6"/>
              </a:lnSpc>
            </a:pPr>
            <a:r>
              <a:rPr sz="1087" b="0" i="0" u="none">
                <a:solidFill>
                  <a:srgbClr val="334155"/>
                </a:solidFill>
                <a:latin typeface="Inter"/>
              </a:rPr>
              <a:t>Developers clone and build directly from source</a:t>
            </a:r>
          </a:p>
        </p:txBody>
      </p:sp>
      <p:pic>
        <p:nvPicPr>
          <p:cNvPr id="51" name="Picture 50" descr="image.png">
            <a:extLst>
              <a:ext uri="{FF2B5EF4-FFF2-40B4-BE49-F238E27FC236}">
                <a16:creationId xmlns:a16="http://schemas.microsoft.com/office/drawing/2014/main" id="{CC8C5B06-C61F-D685-5523-5C109A2A095F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76300" y="2600325"/>
            <a:ext cx="209550" cy="209550"/>
          </a:xfrm>
          <a:prstGeom prst="rect">
            <a:avLst/>
          </a:prstGeom>
        </p:spPr>
      </p:pic>
      <p:pic>
        <p:nvPicPr>
          <p:cNvPr id="53" name="Picture 52" descr="image.png">
            <a:extLst>
              <a:ext uri="{FF2B5EF4-FFF2-40B4-BE49-F238E27FC236}">
                <a16:creationId xmlns:a16="http://schemas.microsoft.com/office/drawing/2014/main" id="{4CB58D6E-3E3C-2131-D957-DF841E13DBAF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662487" y="2600325"/>
            <a:ext cx="180975" cy="209550"/>
          </a:xfrm>
          <a:prstGeom prst="rect">
            <a:avLst/>
          </a:prstGeom>
        </p:spPr>
      </p:pic>
      <p:pic>
        <p:nvPicPr>
          <p:cNvPr id="55" name="Picture 54" descr="image.png">
            <a:extLst>
              <a:ext uri="{FF2B5EF4-FFF2-40B4-BE49-F238E27FC236}">
                <a16:creationId xmlns:a16="http://schemas.microsoft.com/office/drawing/2014/main" id="{4A6293C4-E6B6-7B95-18B2-0C53AD8640F2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434387" y="2600325"/>
            <a:ext cx="180975" cy="209550"/>
          </a:xfrm>
          <a:prstGeom prst="rect">
            <a:avLst/>
          </a:prstGeom>
        </p:spPr>
      </p:pic>
      <p:pic>
        <p:nvPicPr>
          <p:cNvPr id="57" name="Picture 56" descr="image.png">
            <a:extLst>
              <a:ext uri="{FF2B5EF4-FFF2-40B4-BE49-F238E27FC236}">
                <a16:creationId xmlns:a16="http://schemas.microsoft.com/office/drawing/2014/main" id="{E19C0626-F6DB-DFB3-CE04-BB03DDCBDF6C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52475" y="3548062"/>
            <a:ext cx="133350" cy="142875"/>
          </a:xfrm>
          <a:prstGeom prst="rect">
            <a:avLst/>
          </a:prstGeom>
        </p:spPr>
      </p:pic>
      <p:pic>
        <p:nvPicPr>
          <p:cNvPr id="59" name="Picture 58" descr="image.png">
            <a:extLst>
              <a:ext uri="{FF2B5EF4-FFF2-40B4-BE49-F238E27FC236}">
                <a16:creationId xmlns:a16="http://schemas.microsoft.com/office/drawing/2014/main" id="{52742DEA-3794-C735-9E22-C6EC2657C112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52475" y="4062710"/>
            <a:ext cx="133350" cy="142875"/>
          </a:xfrm>
          <a:prstGeom prst="rect">
            <a:avLst/>
          </a:prstGeom>
        </p:spPr>
      </p:pic>
      <p:pic>
        <p:nvPicPr>
          <p:cNvPr id="61" name="Picture 60" descr="image.png">
            <a:extLst>
              <a:ext uri="{FF2B5EF4-FFF2-40B4-BE49-F238E27FC236}">
                <a16:creationId xmlns:a16="http://schemas.microsoft.com/office/drawing/2014/main" id="{A23C0682-9B34-4515-0A83-2BF207C796AD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524375" y="3548062"/>
            <a:ext cx="133350" cy="142875"/>
          </a:xfrm>
          <a:prstGeom prst="rect">
            <a:avLst/>
          </a:prstGeom>
        </p:spPr>
      </p:pic>
      <p:pic>
        <p:nvPicPr>
          <p:cNvPr id="63" name="Picture 62" descr="image.png">
            <a:extLst>
              <a:ext uri="{FF2B5EF4-FFF2-40B4-BE49-F238E27FC236}">
                <a16:creationId xmlns:a16="http://schemas.microsoft.com/office/drawing/2014/main" id="{5E0F2861-53C0-AFC2-A412-F809C05F1060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524375" y="4062710"/>
            <a:ext cx="133350" cy="142875"/>
          </a:xfrm>
          <a:prstGeom prst="rect">
            <a:avLst/>
          </a:prstGeom>
        </p:spPr>
      </p:pic>
      <p:pic>
        <p:nvPicPr>
          <p:cNvPr id="65" name="Picture 64" descr="image.png">
            <a:extLst>
              <a:ext uri="{FF2B5EF4-FFF2-40B4-BE49-F238E27FC236}">
                <a16:creationId xmlns:a16="http://schemas.microsoft.com/office/drawing/2014/main" id="{C9AC8470-2BCF-7CD9-DB24-D4F524FF4DF1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296275" y="3548062"/>
            <a:ext cx="133350" cy="142875"/>
          </a:xfrm>
          <a:prstGeom prst="rect">
            <a:avLst/>
          </a:prstGeom>
        </p:spPr>
      </p:pic>
      <p:sp>
        <p:nvSpPr>
          <p:cNvPr id="67" name="Rectangle: Rounded Corners 66">
            <a:extLst>
              <a:ext uri="{FF2B5EF4-FFF2-40B4-BE49-F238E27FC236}">
                <a16:creationId xmlns:a16="http://schemas.microsoft.com/office/drawing/2014/main" id="{9BCBC25E-E841-FEC3-FEF3-792EE52FF869}"/>
              </a:ext>
            </a:extLst>
          </p:cNvPr>
          <p:cNvSpPr/>
          <p:nvPr/>
        </p:nvSpPr>
        <p:spPr>
          <a:xfrm>
            <a:off x="736601" y="3076574"/>
            <a:ext cx="1882774" cy="285750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rgbClr val="0369A2"/>
                </a:solidFill>
              </a:rPr>
              <a:t>Fast Execution</a:t>
            </a:r>
            <a:endParaRPr lang="en-MY" sz="1400" b="1" dirty="0">
              <a:solidFill>
                <a:srgbClr val="0369A2"/>
              </a:solidFill>
            </a:endParaRPr>
          </a:p>
        </p:txBody>
      </p:sp>
      <p:pic>
        <p:nvPicPr>
          <p:cNvPr id="69" name="Picture 68" descr="image.png">
            <a:extLst>
              <a:ext uri="{FF2B5EF4-FFF2-40B4-BE49-F238E27FC236}">
                <a16:creationId xmlns:a16="http://schemas.microsoft.com/office/drawing/2014/main" id="{DE91250A-6BDA-B827-574E-2DA57653AEF3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85825" y="3152477"/>
            <a:ext cx="141043" cy="166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29745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4BEB389-9CEC-34F1-DD03-ACDB851957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AF8E737-0264-407F-B960-B302C0A706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4733" y="651660"/>
            <a:ext cx="9635334" cy="5393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59760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39375" y="342900"/>
            <a:ext cx="1533525" cy="257175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100" y="6134100"/>
            <a:ext cx="11353800" cy="3810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419100" y="342900"/>
            <a:ext cx="3371850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0284C7"/>
                </a:solidFill>
                <a:latin typeface="Plus Jakarta Sans ExtraBold"/>
              </a:rPr>
              <a:t>OPERATING ARCHITECTURE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76587" y="614862"/>
            <a:ext cx="5618776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200" b="1" i="0" u="none" dirty="0">
                <a:solidFill>
                  <a:srgbClr val="0F172A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System Execution Flowchart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97376" y="414337"/>
            <a:ext cx="114300" cy="1143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708150" y="6229350"/>
            <a:ext cx="6943725" cy="190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 u="none" dirty="0">
                <a:solidFill>
                  <a:srgbClr val="CBD5E1"/>
                </a:solidFill>
                <a:latin typeface="Inter"/>
              </a:rPr>
              <a:t>The system runs flexibly in 3 modes while automatically outputting clean assignments vs. review exceptions.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09850" y="2790824"/>
            <a:ext cx="275272" cy="309681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1775" y="2804666"/>
            <a:ext cx="311150" cy="350044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9673521">
            <a:off x="9250040" y="2626597"/>
            <a:ext cx="244602" cy="275177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0550" y="6229350"/>
            <a:ext cx="1019175" cy="190500"/>
          </a:xfrm>
          <a:prstGeom prst="rect">
            <a:avLst/>
          </a:prstGeom>
        </p:spPr>
      </p:pic>
      <p:grpSp>
        <p:nvGrpSpPr>
          <p:cNvPr id="65" name="Group 64">
            <a:extLst>
              <a:ext uri="{FF2B5EF4-FFF2-40B4-BE49-F238E27FC236}">
                <a16:creationId xmlns:a16="http://schemas.microsoft.com/office/drawing/2014/main" id="{41BA4EC3-AE71-3C48-5EA7-526D186D47B9}"/>
              </a:ext>
            </a:extLst>
          </p:cNvPr>
          <p:cNvGrpSpPr/>
          <p:nvPr/>
        </p:nvGrpSpPr>
        <p:grpSpPr>
          <a:xfrm>
            <a:off x="6988175" y="2032718"/>
            <a:ext cx="2108200" cy="1753940"/>
            <a:chOff x="6629400" y="2456110"/>
            <a:chExt cx="1905000" cy="1602878"/>
          </a:xfrm>
        </p:grpSpPr>
        <p:pic>
          <p:nvPicPr>
            <p:cNvPr id="9" name="Picture 8" descr="image.pn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629400" y="2456110"/>
              <a:ext cx="1905000" cy="257175"/>
            </a:xfrm>
            <a:prstGeom prst="rect">
              <a:avLst/>
            </a:prstGeom>
          </p:spPr>
        </p:pic>
        <p:pic>
          <p:nvPicPr>
            <p:cNvPr id="10" name="Picture 9" descr="image.png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6629400" y="2865685"/>
              <a:ext cx="1905000" cy="1193303"/>
            </a:xfrm>
            <a:prstGeom prst="rect">
              <a:avLst/>
            </a:prstGeom>
          </p:spPr>
        </p:pic>
        <p:pic>
          <p:nvPicPr>
            <p:cNvPr id="40" name="Picture 39" descr="image.png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6724650" y="2527548"/>
              <a:ext cx="122039" cy="114300"/>
            </a:xfrm>
            <a:prstGeom prst="rect">
              <a:avLst/>
            </a:prstGeom>
          </p:spPr>
        </p:pic>
        <p:sp>
          <p:nvSpPr>
            <p:cNvPr id="41" name="TextBox 40"/>
            <p:cNvSpPr txBox="1"/>
            <p:nvPr/>
          </p:nvSpPr>
          <p:spPr>
            <a:xfrm>
              <a:off x="6800850" y="3046660"/>
              <a:ext cx="1590675" cy="15469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100" b="0" i="0" u="none" dirty="0">
                  <a:solidFill>
                    <a:srgbClr val="7C3AED"/>
                  </a:solidFill>
                  <a:latin typeface="Inter ExtraBold"/>
                </a:rPr>
                <a:t>CORE ENGINE</a:t>
              </a: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6800850" y="3202674"/>
              <a:ext cx="1590675" cy="15469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1100" b="1" i="0" u="none" dirty="0">
                  <a:solidFill>
                    <a:srgbClr val="0F172A"/>
                  </a:solidFill>
                  <a:latin typeface="Plus Jakarta Sans"/>
                </a:rPr>
                <a:t>ML Service Prediction</a:t>
              </a: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6800850" y="3418135"/>
              <a:ext cx="1590675" cy="421903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ts val="1207"/>
                </a:lnSpc>
              </a:pPr>
              <a:r>
                <a:rPr sz="1100" b="0" i="0" u="none" dirty="0">
                  <a:solidFill>
                    <a:srgbClr val="475569"/>
                  </a:solidFill>
                  <a:latin typeface="Inter"/>
                </a:rPr>
                <a:t>Runs prediction model via </a:t>
              </a:r>
              <a:r>
                <a:rPr sz="1100" b="0" i="0" u="none" dirty="0">
                  <a:solidFill>
                    <a:srgbClr val="0F172A"/>
                  </a:solidFill>
                  <a:latin typeface="Inter SemiBold"/>
                </a:rPr>
                <a:t>H</a:t>
              </a:r>
              <a:r>
                <a:rPr lang="en-MY" sz="1100" b="0" i="0" u="none" dirty="0">
                  <a:solidFill>
                    <a:srgbClr val="0F172A"/>
                  </a:solidFill>
                  <a:latin typeface="Inter SemiBold"/>
                </a:rPr>
                <a:t>TTP</a:t>
              </a:r>
              <a:r>
                <a:rPr sz="1100" b="0" i="0" u="none" dirty="0" err="1">
                  <a:solidFill>
                    <a:srgbClr val="0F172A"/>
                  </a:solidFill>
                  <a:latin typeface="Inter SemiBold"/>
                </a:rPr>
                <a:t>PredictionClient</a:t>
              </a:r>
              <a:r>
                <a:rPr sz="1100" b="0" i="0" u="none" dirty="0">
                  <a:solidFill>
                    <a:srgbClr val="475569"/>
                  </a:solidFill>
                  <a:latin typeface="Inter"/>
                </a:rPr>
                <a:t> to evaluate device clusters.</a:t>
              </a:r>
            </a:p>
          </p:txBody>
        </p: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8F557BEA-444D-1DE1-62AF-FE13290336F0}"/>
              </a:ext>
            </a:extLst>
          </p:cNvPr>
          <p:cNvGrpSpPr/>
          <p:nvPr/>
        </p:nvGrpSpPr>
        <p:grpSpPr>
          <a:xfrm>
            <a:off x="9603317" y="1683246"/>
            <a:ext cx="2000250" cy="257175"/>
            <a:chOff x="8877300" y="2064246"/>
            <a:chExt cx="2000250" cy="257175"/>
          </a:xfrm>
        </p:grpSpPr>
        <p:pic>
          <p:nvPicPr>
            <p:cNvPr id="11" name="Picture 10" descr="image.png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8877300" y="2064246"/>
              <a:ext cx="2000250" cy="257175"/>
            </a:xfrm>
            <a:prstGeom prst="rect">
              <a:avLst/>
            </a:prstGeom>
          </p:spPr>
        </p:pic>
        <p:pic>
          <p:nvPicPr>
            <p:cNvPr id="44" name="Picture 43" descr="image.png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8972550" y="2135683"/>
              <a:ext cx="112514" cy="114300"/>
            </a:xfrm>
            <a:prstGeom prst="rect">
              <a:avLst/>
            </a:prstGeom>
          </p:spPr>
        </p:pic>
      </p:grp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42900" y="1735950"/>
            <a:ext cx="2095500" cy="2571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42900" y="2145525"/>
            <a:ext cx="2095500" cy="90666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42900" y="3166486"/>
            <a:ext cx="2095500" cy="1260872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38150" y="1807388"/>
            <a:ext cx="122039" cy="11430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485775" y="2269350"/>
            <a:ext cx="180975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 u="none">
                <a:solidFill>
                  <a:srgbClr val="64748B"/>
                </a:solidFill>
                <a:latin typeface="Inter ExtraBold"/>
              </a:rPr>
              <a:t>STEP 01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6725" y="2412636"/>
            <a:ext cx="1676400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 u="none" dirty="0">
                <a:solidFill>
                  <a:srgbClr val="0F172A"/>
                </a:solidFill>
                <a:latin typeface="Plus Jakarta Sans"/>
              </a:rPr>
              <a:t>Prerequisites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8150" y="2625962"/>
            <a:ext cx="1809750" cy="3065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07"/>
              </a:lnSpc>
            </a:pPr>
            <a:r>
              <a:rPr sz="1100" b="0" i="0" u="none" dirty="0">
                <a:solidFill>
                  <a:srgbClr val="475569"/>
                </a:solidFill>
                <a:latin typeface="Inter"/>
              </a:rPr>
              <a:t>.NET 10 (Win x64), </a:t>
            </a:r>
            <a:r>
              <a:rPr sz="1100" b="0" i="0" u="none" dirty="0" err="1">
                <a:solidFill>
                  <a:srgbClr val="475569"/>
                </a:solidFill>
                <a:latin typeface="Inter"/>
              </a:rPr>
              <a:t>XenCreator</a:t>
            </a:r>
            <a:r>
              <a:rPr sz="1100" b="0" i="0" u="none" dirty="0">
                <a:solidFill>
                  <a:srgbClr val="475569"/>
                </a:solidFill>
                <a:latin typeface="Inter"/>
              </a:rPr>
              <a:t> DB &amp; ML Network Access.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5775" y="3290311"/>
            <a:ext cx="180975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 u="none">
                <a:solidFill>
                  <a:srgbClr val="64748B"/>
                </a:solidFill>
                <a:latin typeface="Inter ExtraBold"/>
              </a:rPr>
              <a:t>STEP 02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3434272"/>
            <a:ext cx="1695450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 u="none" dirty="0">
                <a:solidFill>
                  <a:srgbClr val="0F172A"/>
                </a:solidFill>
                <a:latin typeface="Plus Jakarta Sans"/>
              </a:rPr>
              <a:t>DB Tables Init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5775" y="3642736"/>
            <a:ext cx="1809750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1207"/>
              </a:lnSpc>
            </a:pPr>
            <a:r>
              <a:rPr sz="1100" b="0" i="0" u="none" dirty="0">
                <a:solidFill>
                  <a:srgbClr val="475569"/>
                </a:solidFill>
                <a:latin typeface="Inter"/>
              </a:rPr>
              <a:t>Run </a:t>
            </a:r>
            <a:r>
              <a:rPr lang="en-MY" sz="1100" b="1" dirty="0" err="1">
                <a:solidFill>
                  <a:srgbClr val="4E5A66"/>
                </a:solidFill>
              </a:rPr>
              <a:t>PatternCluster.sql</a:t>
            </a:r>
            <a:r>
              <a:rPr lang="en-MY" sz="1100" dirty="0">
                <a:solidFill>
                  <a:srgbClr val="4E5A66"/>
                </a:solidFill>
              </a:rPr>
              <a:t>, </a:t>
            </a:r>
            <a:r>
              <a:rPr lang="en-MY" sz="1100" b="1" dirty="0" err="1">
                <a:solidFill>
                  <a:srgbClr val="4E5A66"/>
                </a:solidFill>
              </a:rPr>
              <a:t>DeviceReviewQueue.sql</a:t>
            </a:r>
            <a:r>
              <a:rPr lang="en-MY" sz="1100" b="1" dirty="0">
                <a:solidFill>
                  <a:srgbClr val="4E5A66"/>
                </a:solidFill>
              </a:rPr>
              <a:t> </a:t>
            </a:r>
            <a:r>
              <a:rPr lang="en-MY" sz="1100" dirty="0">
                <a:solidFill>
                  <a:srgbClr val="4E5A66"/>
                </a:solidFill>
              </a:rPr>
              <a:t>and </a:t>
            </a:r>
            <a:r>
              <a:rPr lang="en-MY" sz="1100" b="1" dirty="0" err="1">
                <a:solidFill>
                  <a:srgbClr val="4E5A66"/>
                </a:solidFill>
              </a:rPr>
              <a:t>OutputDeviceAssignment.sql</a:t>
            </a:r>
            <a:r>
              <a:rPr lang="en-MY" sz="1100" b="1" dirty="0">
                <a:solidFill>
                  <a:srgbClr val="4E5A66"/>
                </a:solidFill>
              </a:rPr>
              <a:t> </a:t>
            </a:r>
            <a:r>
              <a:rPr lang="en-MY" sz="1100" dirty="0">
                <a:solidFill>
                  <a:srgbClr val="4E5A66"/>
                </a:solidFill>
              </a:rPr>
              <a:t>once</a:t>
            </a:r>
            <a:r>
              <a:rPr sz="1100" b="0" i="0" u="none" dirty="0">
                <a:solidFill>
                  <a:srgbClr val="475569"/>
                </a:solidFill>
                <a:latin typeface="Inter"/>
              </a:rPr>
              <a:t>(Guarded &amp; Safe).</a:t>
            </a:r>
          </a:p>
        </p:txBody>
      </p:sp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162175" y="2438419"/>
            <a:ext cx="133350" cy="128587"/>
          </a:xfrm>
          <a:prstGeom prst="rect">
            <a:avLst/>
          </a:prstGeom>
        </p:spPr>
      </p:pic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181225" y="3459380"/>
            <a:ext cx="114300" cy="128587"/>
          </a:xfrm>
          <a:prstGeom prst="rect">
            <a:avLst/>
          </a:prstGeom>
        </p:spPr>
      </p:pic>
      <p:grpSp>
        <p:nvGrpSpPr>
          <p:cNvPr id="70" name="Group 69">
            <a:extLst>
              <a:ext uri="{FF2B5EF4-FFF2-40B4-BE49-F238E27FC236}">
                <a16:creationId xmlns:a16="http://schemas.microsoft.com/office/drawing/2014/main" id="{998B6EE1-6D6E-D051-E4DB-DFF29B5E07F4}"/>
              </a:ext>
            </a:extLst>
          </p:cNvPr>
          <p:cNvGrpSpPr/>
          <p:nvPr/>
        </p:nvGrpSpPr>
        <p:grpSpPr>
          <a:xfrm>
            <a:off x="3043237" y="1397598"/>
            <a:ext cx="3473450" cy="2901206"/>
            <a:chOff x="2857500" y="1810245"/>
            <a:chExt cx="3473450" cy="2901206"/>
          </a:xfrm>
        </p:grpSpPr>
        <p:pic>
          <p:nvPicPr>
            <p:cNvPr id="7" name="Picture 6" descr="image.png"/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2901950" y="1810245"/>
              <a:ext cx="3429000" cy="276225"/>
            </a:xfrm>
            <a:prstGeom prst="rect">
              <a:avLst/>
            </a:prstGeom>
          </p:spPr>
        </p:pic>
        <p:pic>
          <p:nvPicPr>
            <p:cNvPr id="8" name="Picture 7" descr="image.png"/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2857500" y="2232273"/>
              <a:ext cx="3429000" cy="2479178"/>
            </a:xfrm>
            <a:prstGeom prst="rect">
              <a:avLst/>
            </a:prstGeom>
          </p:spPr>
        </p:pic>
        <p:pic>
          <p:nvPicPr>
            <p:cNvPr id="14" name="Picture 13" descr="image.png"/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2990850" y="2365623"/>
              <a:ext cx="3162300" cy="686692"/>
            </a:xfrm>
            <a:prstGeom prst="rect">
              <a:avLst/>
            </a:prstGeom>
          </p:spPr>
        </p:pic>
        <p:pic>
          <p:nvPicPr>
            <p:cNvPr id="15" name="Picture 14" descr="image.png"/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2990850" y="3128516"/>
              <a:ext cx="3162300" cy="686692"/>
            </a:xfrm>
            <a:prstGeom prst="rect">
              <a:avLst/>
            </a:prstGeom>
          </p:spPr>
        </p:pic>
        <p:pic>
          <p:nvPicPr>
            <p:cNvPr id="16" name="Picture 15" descr="image.png"/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>
              <a:off x="2990850" y="3891408"/>
              <a:ext cx="3162300" cy="686692"/>
            </a:xfrm>
            <a:prstGeom prst="rect">
              <a:avLst/>
            </a:prstGeom>
          </p:spPr>
        </p:pic>
        <p:pic>
          <p:nvPicPr>
            <p:cNvPr id="19" name="Picture 18" descr="image.png"/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>
              <a:off x="3124200" y="2804666"/>
              <a:ext cx="1200447" cy="161925"/>
            </a:xfrm>
            <a:prstGeom prst="rect">
              <a:avLst/>
            </a:prstGeom>
          </p:spPr>
        </p:pic>
        <p:pic>
          <p:nvPicPr>
            <p:cNvPr id="20" name="Picture 19" descr="image.png"/>
            <p:cNvPicPr>
              <a:picLocks noChangeAspect="1"/>
            </p:cNvPicPr>
            <p:nvPr/>
          </p:nvPicPr>
          <p:blipFill>
            <a:blip r:embed="rId24"/>
            <a:stretch>
              <a:fillRect/>
            </a:stretch>
          </p:blipFill>
          <p:spPr>
            <a:xfrm>
              <a:off x="3124200" y="3567558"/>
              <a:ext cx="1028848" cy="161925"/>
            </a:xfrm>
            <a:prstGeom prst="rect">
              <a:avLst/>
            </a:prstGeom>
          </p:spPr>
        </p:pic>
        <p:pic>
          <p:nvPicPr>
            <p:cNvPr id="21" name="Picture 20" descr="image.png"/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>
              <a:off x="3124200" y="4330451"/>
              <a:ext cx="1314747" cy="161925"/>
            </a:xfrm>
            <a:prstGeom prst="rect">
              <a:avLst/>
            </a:prstGeom>
          </p:spPr>
        </p:pic>
        <p:pic>
          <p:nvPicPr>
            <p:cNvPr id="39" name="Picture 38" descr="image.png"/>
            <p:cNvPicPr>
              <a:picLocks noChangeAspect="1"/>
            </p:cNvPicPr>
            <p:nvPr/>
          </p:nvPicPr>
          <p:blipFill>
            <a:blip r:embed="rId26"/>
            <a:stretch>
              <a:fillRect/>
            </a:stretch>
          </p:blipFill>
          <p:spPr>
            <a:xfrm>
              <a:off x="2962275" y="1884610"/>
              <a:ext cx="93464" cy="114300"/>
            </a:xfrm>
            <a:prstGeom prst="rect">
              <a:avLst/>
            </a:prstGeom>
          </p:spPr>
        </p:pic>
        <p:sp>
          <p:nvSpPr>
            <p:cNvPr id="51" name="TextBox 50"/>
            <p:cNvSpPr txBox="1"/>
            <p:nvPr/>
          </p:nvSpPr>
          <p:spPr>
            <a:xfrm>
              <a:off x="3124200" y="2438147"/>
              <a:ext cx="2924175" cy="169277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1100" b="1" i="0" u="none" dirty="0">
                  <a:solidFill>
                    <a:srgbClr val="0F172A"/>
                  </a:solidFill>
                  <a:latin typeface="Inter"/>
                </a:rPr>
                <a:t>A. Interactive CLI</a:t>
              </a: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3124200" y="2594223"/>
              <a:ext cx="2924175" cy="15329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ts val="1207"/>
                </a:lnSpc>
              </a:pPr>
              <a:r>
                <a:rPr sz="1100" b="0" i="0" u="none" dirty="0">
                  <a:solidFill>
                    <a:srgbClr val="475569"/>
                  </a:solidFill>
                  <a:latin typeface="Inter"/>
                </a:rPr>
                <a:t>Manual prompt launcher with auto URL binding.</a:t>
              </a: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3124200" y="3201040"/>
              <a:ext cx="2924175" cy="169277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1100" b="1" i="0" u="none">
                  <a:solidFill>
                    <a:srgbClr val="0F172A"/>
                  </a:solidFill>
                  <a:latin typeface="Inter"/>
                </a:rPr>
                <a:t>B. Headless (Unattended)</a:t>
              </a:r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3124200" y="3357116"/>
              <a:ext cx="2924175" cy="15329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ts val="1207"/>
                </a:lnSpc>
              </a:pPr>
              <a:r>
                <a:rPr sz="1100" b="0" i="0" u="none">
                  <a:solidFill>
                    <a:srgbClr val="475569"/>
                  </a:solidFill>
                  <a:latin typeface="Inter"/>
                </a:rPr>
                <a:t>Automated batch for scheduled nightly jobs.</a:t>
              </a: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3124200" y="3963932"/>
              <a:ext cx="2924175" cy="169277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1100" b="1" i="0" u="none">
                  <a:solidFill>
                    <a:srgbClr val="0F172A"/>
                  </a:solidFill>
                  <a:latin typeface="Inter"/>
                </a:rPr>
                <a:t>C. Custom UI / API</a:t>
              </a:r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3124200" y="4120008"/>
              <a:ext cx="2924175" cy="15329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ts val="1207"/>
                </a:lnSpc>
              </a:pPr>
              <a:r>
                <a:rPr sz="1100" b="0" i="0" u="none">
                  <a:solidFill>
                    <a:srgbClr val="475569"/>
                  </a:solidFill>
                  <a:latin typeface="Inter"/>
                </a:rPr>
                <a:t>Programmatic integration into custom apps.</a:t>
              </a:r>
            </a:p>
          </p:txBody>
        </p:sp>
        <p:pic>
          <p:nvPicPr>
            <p:cNvPr id="57" name="Picture 56" descr="image.png"/>
            <p:cNvPicPr>
              <a:picLocks noChangeAspect="1"/>
            </p:cNvPicPr>
            <p:nvPr/>
          </p:nvPicPr>
          <p:blipFill>
            <a:blip r:embed="rId27"/>
            <a:stretch>
              <a:fillRect/>
            </a:stretch>
          </p:blipFill>
          <p:spPr>
            <a:xfrm>
              <a:off x="5915025" y="2465635"/>
              <a:ext cx="133350" cy="114300"/>
            </a:xfrm>
            <a:prstGeom prst="rect">
              <a:avLst/>
            </a:prstGeom>
          </p:spPr>
        </p:pic>
        <p:pic>
          <p:nvPicPr>
            <p:cNvPr id="58" name="Picture 57" descr="image.png"/>
            <p:cNvPicPr>
              <a:picLocks noChangeAspect="1"/>
            </p:cNvPicPr>
            <p:nvPr/>
          </p:nvPicPr>
          <p:blipFill>
            <a:blip r:embed="rId28"/>
            <a:stretch>
              <a:fillRect/>
            </a:stretch>
          </p:blipFill>
          <p:spPr>
            <a:xfrm>
              <a:off x="5934075" y="3228528"/>
              <a:ext cx="114300" cy="114300"/>
            </a:xfrm>
            <a:prstGeom prst="rect">
              <a:avLst/>
            </a:prstGeom>
          </p:spPr>
        </p:pic>
        <p:pic>
          <p:nvPicPr>
            <p:cNvPr id="59" name="Picture 58" descr="image.png"/>
            <p:cNvPicPr>
              <a:picLocks noChangeAspect="1"/>
            </p:cNvPicPr>
            <p:nvPr/>
          </p:nvPicPr>
          <p:blipFill>
            <a:blip r:embed="rId29"/>
            <a:stretch>
              <a:fillRect/>
            </a:stretch>
          </p:blipFill>
          <p:spPr>
            <a:xfrm>
              <a:off x="5905500" y="3991421"/>
              <a:ext cx="142875" cy="114300"/>
            </a:xfrm>
            <a:prstGeom prst="rect">
              <a:avLst/>
            </a:prstGeom>
          </p:spPr>
        </p:pic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ACC51D4E-A2DB-C73E-3C00-0D500D1BA578}"/>
              </a:ext>
            </a:extLst>
          </p:cNvPr>
          <p:cNvGrpSpPr/>
          <p:nvPr/>
        </p:nvGrpSpPr>
        <p:grpSpPr>
          <a:xfrm>
            <a:off x="9603317" y="2102147"/>
            <a:ext cx="2000250" cy="931366"/>
            <a:chOff x="8877300" y="2473821"/>
            <a:chExt cx="2000250" cy="931366"/>
          </a:xfrm>
        </p:grpSpPr>
        <p:pic>
          <p:nvPicPr>
            <p:cNvPr id="12" name="Picture 11" descr="image.png"/>
            <p:cNvPicPr>
              <a:picLocks noChangeAspect="1"/>
            </p:cNvPicPr>
            <p:nvPr/>
          </p:nvPicPr>
          <p:blipFill>
            <a:blip r:embed="rId30"/>
            <a:stretch>
              <a:fillRect/>
            </a:stretch>
          </p:blipFill>
          <p:spPr>
            <a:xfrm>
              <a:off x="8877300" y="2473821"/>
              <a:ext cx="2000250" cy="931366"/>
            </a:xfrm>
            <a:prstGeom prst="rect">
              <a:avLst/>
            </a:prstGeom>
          </p:spPr>
        </p:pic>
        <p:pic>
          <p:nvPicPr>
            <p:cNvPr id="17" name="Picture 16" descr="image.png"/>
            <p:cNvPicPr>
              <a:picLocks noChangeAspect="1"/>
            </p:cNvPicPr>
            <p:nvPr/>
          </p:nvPicPr>
          <p:blipFill>
            <a:blip r:embed="rId31"/>
            <a:stretch>
              <a:fillRect/>
            </a:stretch>
          </p:blipFill>
          <p:spPr>
            <a:xfrm>
              <a:off x="9001125" y="3119437"/>
              <a:ext cx="1526232" cy="161925"/>
            </a:xfrm>
            <a:prstGeom prst="rect">
              <a:avLst/>
            </a:prstGeom>
          </p:spPr>
        </p:pic>
        <p:sp>
          <p:nvSpPr>
            <p:cNvPr id="45" name="TextBox 44"/>
            <p:cNvSpPr txBox="1"/>
            <p:nvPr/>
          </p:nvSpPr>
          <p:spPr>
            <a:xfrm>
              <a:off x="9220200" y="2594862"/>
              <a:ext cx="1419225" cy="169277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1100" b="1" i="0" u="none" dirty="0">
                  <a:solidFill>
                    <a:srgbClr val="15803D"/>
                  </a:solidFill>
                  <a:latin typeface="Plus Jakarta Sans"/>
                </a:rPr>
                <a:t> Placed Devices</a:t>
              </a: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9001125" y="2788146"/>
              <a:ext cx="1752600" cy="307777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ts val="1155"/>
                </a:lnSpc>
              </a:pPr>
              <a:r>
                <a:rPr sz="1100" b="0" i="0" u="none" dirty="0">
                  <a:solidFill>
                    <a:srgbClr val="475569"/>
                  </a:solidFill>
                  <a:latin typeface="Inter"/>
                </a:rPr>
                <a:t>Assigned devices automatically written to:</a:t>
              </a:r>
            </a:p>
          </p:txBody>
        </p:sp>
        <p:pic>
          <p:nvPicPr>
            <p:cNvPr id="60" name="Picture 59" descr="image.png"/>
            <p:cNvPicPr>
              <a:picLocks noChangeAspect="1"/>
            </p:cNvPicPr>
            <p:nvPr/>
          </p:nvPicPr>
          <p:blipFill>
            <a:blip r:embed="rId32"/>
            <a:stretch>
              <a:fillRect/>
            </a:stretch>
          </p:blipFill>
          <p:spPr>
            <a:xfrm>
              <a:off x="9001125" y="2626221"/>
              <a:ext cx="123825" cy="119062"/>
            </a:xfrm>
            <a:prstGeom prst="rect">
              <a:avLst/>
            </a:prstGeom>
          </p:spPr>
        </p:pic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F9188055-467B-C075-4E35-30D2E696F9EF}"/>
              </a:ext>
            </a:extLst>
          </p:cNvPr>
          <p:cNvGrpSpPr/>
          <p:nvPr/>
        </p:nvGrpSpPr>
        <p:grpSpPr>
          <a:xfrm>
            <a:off x="9603317" y="3268660"/>
            <a:ext cx="2000250" cy="1193302"/>
            <a:chOff x="8877300" y="3519487"/>
            <a:chExt cx="2000250" cy="931366"/>
          </a:xfrm>
        </p:grpSpPr>
        <p:pic>
          <p:nvPicPr>
            <p:cNvPr id="13" name="Picture 12" descr="image.png"/>
            <p:cNvPicPr>
              <a:picLocks noChangeAspect="1"/>
            </p:cNvPicPr>
            <p:nvPr/>
          </p:nvPicPr>
          <p:blipFill>
            <a:blip r:embed="rId33"/>
            <a:stretch>
              <a:fillRect/>
            </a:stretch>
          </p:blipFill>
          <p:spPr>
            <a:xfrm>
              <a:off x="8877300" y="3519487"/>
              <a:ext cx="2000250" cy="931366"/>
            </a:xfrm>
            <a:prstGeom prst="rect">
              <a:avLst/>
            </a:prstGeom>
          </p:spPr>
        </p:pic>
        <p:pic>
          <p:nvPicPr>
            <p:cNvPr id="18" name="Picture 17" descr="image.png"/>
            <p:cNvPicPr>
              <a:picLocks noChangeAspect="1"/>
            </p:cNvPicPr>
            <p:nvPr/>
          </p:nvPicPr>
          <p:blipFill>
            <a:blip r:embed="rId34"/>
            <a:stretch>
              <a:fillRect/>
            </a:stretch>
          </p:blipFill>
          <p:spPr>
            <a:xfrm>
              <a:off x="9001125" y="4165103"/>
              <a:ext cx="1254769" cy="161925"/>
            </a:xfrm>
            <a:prstGeom prst="rect">
              <a:avLst/>
            </a:prstGeom>
          </p:spPr>
        </p:pic>
        <p:sp>
          <p:nvSpPr>
            <p:cNvPr id="47" name="TextBox 46"/>
            <p:cNvSpPr txBox="1"/>
            <p:nvPr/>
          </p:nvSpPr>
          <p:spPr>
            <a:xfrm>
              <a:off x="9158287" y="3670120"/>
              <a:ext cx="1097607" cy="1321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1100" b="1" i="0" u="none" dirty="0">
                  <a:solidFill>
                    <a:srgbClr val="B45309"/>
                  </a:solidFill>
                  <a:latin typeface="Plus Jakarta Sans"/>
                </a:rPr>
                <a:t> Review Queue</a:t>
              </a: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9001125" y="3833812"/>
              <a:ext cx="1752600" cy="24021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ts val="1155"/>
                </a:lnSpc>
              </a:pPr>
              <a:r>
                <a:rPr sz="1100" b="0" i="0" u="none" dirty="0">
                  <a:solidFill>
                    <a:srgbClr val="475569"/>
                  </a:solidFill>
                  <a:latin typeface="Inter"/>
                </a:rPr>
                <a:t>Exceptions routed for manual human review:</a:t>
              </a:r>
            </a:p>
          </p:txBody>
        </p:sp>
        <p:pic>
          <p:nvPicPr>
            <p:cNvPr id="61" name="Picture 60" descr="image.png"/>
            <p:cNvPicPr>
              <a:picLocks noChangeAspect="1"/>
            </p:cNvPicPr>
            <p:nvPr/>
          </p:nvPicPr>
          <p:blipFill>
            <a:blip r:embed="rId35"/>
            <a:stretch>
              <a:fillRect/>
            </a:stretch>
          </p:blipFill>
          <p:spPr>
            <a:xfrm>
              <a:off x="9001125" y="3671887"/>
              <a:ext cx="123825" cy="119062"/>
            </a:xfrm>
            <a:prstGeom prst="rect">
              <a:avLst/>
            </a:prstGeom>
          </p:spPr>
        </p:pic>
      </p:grpSp>
      <p:sp>
        <p:nvSpPr>
          <p:cNvPr id="72" name="TextBox 71">
            <a:extLst>
              <a:ext uri="{FF2B5EF4-FFF2-40B4-BE49-F238E27FC236}">
                <a16:creationId xmlns:a16="http://schemas.microsoft.com/office/drawing/2014/main" id="{4CDFF962-6F79-8AB3-10FE-2B3042A6810D}"/>
              </a:ext>
            </a:extLst>
          </p:cNvPr>
          <p:cNvSpPr txBox="1"/>
          <p:nvPr/>
        </p:nvSpPr>
        <p:spPr>
          <a:xfrm>
            <a:off x="9850967" y="1684277"/>
            <a:ext cx="1061094" cy="246221"/>
          </a:xfrm>
          <a:prstGeom prst="rect">
            <a:avLst/>
          </a:prstGeom>
          <a:solidFill>
            <a:srgbClr val="DCFCE7"/>
          </a:solidFill>
        </p:spPr>
        <p:txBody>
          <a:bodyPr wrap="square" rtlCol="0">
            <a:spAutoFit/>
          </a:bodyPr>
          <a:lstStyle/>
          <a:p>
            <a:r>
              <a:rPr lang="en-MY" sz="1000" dirty="0">
                <a:solidFill>
                  <a:srgbClr val="15803D"/>
                </a:solidFill>
                <a:latin typeface="Arial Black" panose="020B0A04020102020204" pitchFamily="34" charset="0"/>
                <a:ea typeface="Cambria" panose="02040503050406030204" pitchFamily="18" charset="0"/>
              </a:rPr>
              <a:t>OUTPUT</a:t>
            </a:r>
          </a:p>
        </p:txBody>
      </p:sp>
      <p:pic>
        <p:nvPicPr>
          <p:cNvPr id="74" name="Picture 73" descr="image.png">
            <a:extLst>
              <a:ext uri="{FF2B5EF4-FFF2-40B4-BE49-F238E27FC236}">
                <a16:creationId xmlns:a16="http://schemas.microsoft.com/office/drawing/2014/main" id="{957B4031-804B-1939-ADCE-AAC90EFD9F7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811366">
            <a:off x="9226994" y="3450378"/>
            <a:ext cx="244602" cy="275177"/>
          </a:xfrm>
          <a:prstGeom prst="rect">
            <a:avLst/>
          </a:prstGeom>
        </p:spPr>
      </p:pic>
      <p:sp>
        <p:nvSpPr>
          <p:cNvPr id="75" name="TextBox 74">
            <a:extLst>
              <a:ext uri="{FF2B5EF4-FFF2-40B4-BE49-F238E27FC236}">
                <a16:creationId xmlns:a16="http://schemas.microsoft.com/office/drawing/2014/main" id="{09F2C55B-B7AD-E4E7-7C29-47A43C9FB879}"/>
              </a:ext>
            </a:extLst>
          </p:cNvPr>
          <p:cNvSpPr txBox="1"/>
          <p:nvPr/>
        </p:nvSpPr>
        <p:spPr>
          <a:xfrm>
            <a:off x="560189" y="5308854"/>
            <a:ext cx="14783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>
                <a:hlinkClick r:id="rId36"/>
              </a:rPr>
              <a:t>Flowchart.md</a:t>
            </a:r>
            <a:endParaRPr lang="en-MY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1069848"/>
            <a:ext cx="1024128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MY" sz="3600" b="1" dirty="0">
                <a:solidFill>
                  <a:srgbClr val="C46A24"/>
                </a:solidFill>
                <a:latin typeface="Consolas"/>
              </a:rPr>
              <a:t>05 · CONSTRAINTS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148840"/>
            <a:ext cx="5285232" cy="18105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5D9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051560" y="2423160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A6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50" b="1">
                <a:solidFill>
                  <a:srgbClr val="FFFFFF"/>
                </a:solidFill>
                <a:latin typeface="Consolas"/>
              </a:rPr>
              <a:t>BLOCKER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834640"/>
            <a:ext cx="457200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 dirty="0">
                <a:solidFill>
                  <a:srgbClr val="171A1D"/>
                </a:solidFill>
                <a:latin typeface="Cambria"/>
              </a:rPr>
              <a:t>Quota patterns are </a:t>
            </a:r>
            <a:r>
              <a:rPr lang="en-US" sz="1600" b="1" i="0" dirty="0">
                <a:solidFill>
                  <a:srgbClr val="171A1D"/>
                </a:solidFill>
                <a:latin typeface="Cambria"/>
              </a:rPr>
              <a:t>dummy</a:t>
            </a:r>
            <a:endParaRPr sz="1600" b="1" i="0" dirty="0">
              <a:solidFill>
                <a:srgbClr val="171A1D"/>
              </a:solidFill>
              <a:latin typeface="Cambria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217920" y="2148840"/>
            <a:ext cx="5285232" cy="18105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5D9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583680" y="2423160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A6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50" b="1">
                <a:solidFill>
                  <a:srgbClr val="FFFFFF"/>
                </a:solidFill>
                <a:latin typeface="Consolas"/>
              </a:rPr>
              <a:t>BLOCKER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834640"/>
            <a:ext cx="457200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MY" sz="1600" b="1" dirty="0">
                <a:solidFill>
                  <a:srgbClr val="171A1D"/>
                </a:solidFill>
                <a:latin typeface="Cambria"/>
              </a:rPr>
              <a:t>Dataset are dummy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29050" y="4142232"/>
            <a:ext cx="5285232" cy="18105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5D9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4194810" y="4416552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C46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50" b="1">
                <a:solidFill>
                  <a:srgbClr val="FFFFFF"/>
                </a:solidFill>
                <a:latin typeface="Consolas"/>
              </a:rPr>
              <a:t>GAP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94810" y="4828032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71A1D"/>
                </a:solidFill>
                <a:latin typeface="Cambria"/>
              </a:rPr>
              <a:t>Validated on representative, not live, data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94810" y="5221224"/>
            <a:ext cx="45720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67717C"/>
                </a:solidFill>
                <a:latin typeface="Calibri"/>
              </a:rPr>
              <a:t>We need a run against a completed project where the answer is already known, so accuracy is measured rather than estimated.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86ABC1-84AC-C1D6-3020-B6B7B4A579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AC221A5-E89B-7CDB-57E7-88919BA17B8A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BD1BD80-4047-F136-5392-68E72ABF82F1}"/>
              </a:ext>
            </a:extLst>
          </p:cNvPr>
          <p:cNvSpPr txBox="1"/>
          <p:nvPr/>
        </p:nvSpPr>
        <p:spPr>
          <a:xfrm>
            <a:off x="4791075" y="3423225"/>
            <a:ext cx="2466975" cy="584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800" b="1" i="0" dirty="0">
                <a:solidFill>
                  <a:srgbClr val="FFFFFF"/>
                </a:solidFill>
                <a:latin typeface="Cambria"/>
              </a:rPr>
              <a:t>The </a:t>
            </a:r>
            <a:r>
              <a:rPr lang="en-US" sz="3800" b="1" i="0" dirty="0">
                <a:solidFill>
                  <a:srgbClr val="FFFFFF"/>
                </a:solidFill>
                <a:latin typeface="Cambria"/>
              </a:rPr>
              <a:t>End</a:t>
            </a:r>
            <a:endParaRPr sz="3800" b="1" i="0" dirty="0">
              <a:solidFill>
                <a:srgbClr val="FFFFFF"/>
              </a:solidFill>
              <a:latin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42256171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1069848"/>
            <a:ext cx="1024128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3600" b="1" dirty="0">
                <a:solidFill>
                  <a:srgbClr val="C46A24"/>
                </a:solidFill>
                <a:latin typeface="Consolas"/>
              </a:rPr>
              <a:t>01 · WHY THIS PROJECT EXISTS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148840"/>
            <a:ext cx="5486400" cy="225369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</a:pPr>
            <a:r>
              <a:rPr sz="1600" b="0" i="0" dirty="0">
                <a:solidFill>
                  <a:srgbClr val="171A1D"/>
                </a:solidFill>
                <a:latin typeface="Calibri"/>
              </a:rPr>
              <a:t>Each device must be identified by type, assigned to a process section and grouped into a cluster before any downstream work can begin.</a:t>
            </a:r>
          </a:p>
          <a:p>
            <a:pPr>
              <a:lnSpc>
                <a:spcPct val="130000"/>
              </a:lnSpc>
              <a:spcAft>
                <a:spcPts val="1400"/>
              </a:spcAft>
            </a:pPr>
            <a:r>
              <a:rPr sz="1600" b="1" i="0" dirty="0">
                <a:solidFill>
                  <a:srgbClr val="171A1D"/>
                </a:solidFill>
                <a:latin typeface="Calibri"/>
              </a:rPr>
              <a:t>Today an engineer does this by hand.</a:t>
            </a:r>
          </a:p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600" b="0" i="0" dirty="0">
                <a:solidFill>
                  <a:srgbClr val="67717C"/>
                </a:solidFill>
                <a:latin typeface="Calibri"/>
              </a:rPr>
              <a:t>It is slow, repetitive, and two engineers working the same list will not always produce the same answer.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766560" y="2103120"/>
            <a:ext cx="4709160" cy="3246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5D9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178040" y="2468880"/>
            <a:ext cx="3931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67717C"/>
                </a:solidFill>
                <a:latin typeface="Consolas"/>
              </a:rPr>
              <a:t>WHAT A DEVICE LIST LOOKS LIKE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78040" y="2971800"/>
            <a:ext cx="1298448" cy="292608"/>
          </a:xfrm>
          <a:prstGeom prst="roundRect">
            <a:avLst>
              <a:gd name="adj" fmla="val 50000"/>
            </a:avLst>
          </a:prstGeom>
          <a:solidFill>
            <a:srgbClr val="1B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Consolas"/>
              </a:rPr>
              <a:t>HT27PF1B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2999232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71A1D"/>
                </a:solidFill>
                <a:latin typeface="Calibri"/>
              </a:rPr>
              <a:t>Heater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78040" y="3520440"/>
            <a:ext cx="1298448" cy="292608"/>
          </a:xfrm>
          <a:prstGeom prst="roundRect">
            <a:avLst>
              <a:gd name="adj" fmla="val 50000"/>
            </a:avLst>
          </a:prstGeom>
          <a:solidFill>
            <a:srgbClr val="1B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Consolas"/>
              </a:rPr>
              <a:t>LL37PL1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3547872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71A1D"/>
                </a:solidFill>
                <a:latin typeface="Calibri"/>
              </a:rPr>
              <a:t>Low level switch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78040" y="4069080"/>
            <a:ext cx="1298448" cy="292608"/>
          </a:xfrm>
          <a:prstGeom prst="roundRect">
            <a:avLst>
              <a:gd name="adj" fmla="val 50000"/>
            </a:avLst>
          </a:prstGeom>
          <a:solidFill>
            <a:srgbClr val="1B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Consolas"/>
              </a:rPr>
              <a:t>TC37PR1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4096512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71A1D"/>
                </a:solidFill>
                <a:latin typeface="Calibri"/>
              </a:rPr>
              <a:t>Temperature transmitter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78040" y="4617720"/>
            <a:ext cx="1298448" cy="292608"/>
          </a:xfrm>
          <a:prstGeom prst="roundRect">
            <a:avLst>
              <a:gd name="adj" fmla="val 50000"/>
            </a:avLst>
          </a:prstGeom>
          <a:solidFill>
            <a:srgbClr val="1B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Consolas"/>
              </a:rPr>
              <a:t>V09CF2DA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4645152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71A1D"/>
                </a:solidFill>
                <a:latin typeface="Calibri"/>
              </a:rPr>
              <a:t>On/off valve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8040" y="4983480"/>
            <a:ext cx="3931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1">
                <a:solidFill>
                  <a:srgbClr val="67717C"/>
                </a:solidFill>
                <a:latin typeface="Calibri"/>
              </a:rPr>
              <a:t>Hundreds per project  ·  sorted by hand today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773</TotalTime>
  <Words>680</Words>
  <Application>Microsoft Office PowerPoint</Application>
  <PresentationFormat>Widescreen</PresentationFormat>
  <Paragraphs>96</Paragraphs>
  <Slides>10</Slides>
  <Notes>7</Notes>
  <HiddenSlides>1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22" baseType="lpstr">
      <vt:lpstr>Arial</vt:lpstr>
      <vt:lpstr>Arial Black</vt:lpstr>
      <vt:lpstr>Calibri</vt:lpstr>
      <vt:lpstr>Cambria</vt:lpstr>
      <vt:lpstr>Consolas</vt:lpstr>
      <vt:lpstr>Inter</vt:lpstr>
      <vt:lpstr>Inter ExtraBold</vt:lpstr>
      <vt:lpstr>Inter SemiBold</vt:lpstr>
      <vt:lpstr>Plus Jakarta Sans</vt:lpstr>
      <vt:lpstr>Plus Jakarta Sans ExtraBold</vt:lpstr>
      <vt:lpstr>Poppins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Siti Syaziyah Binti Samiri</cp:lastModifiedBy>
  <cp:revision>2</cp:revision>
  <dcterms:created xsi:type="dcterms:W3CDTF">2013-01-27T09:14:16Z</dcterms:created>
  <dcterms:modified xsi:type="dcterms:W3CDTF">2026-09-02T06:18:04Z</dcterms:modified>
  <cp:category/>
</cp:coreProperties>
</file>