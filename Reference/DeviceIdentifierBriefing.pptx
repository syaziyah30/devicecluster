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2" r:id="rId3"/>
    <p:sldId id="259" r:id="rId4"/>
    <p:sldId id="260" r:id="rId5"/>
    <p:sldId id="269" r:id="rId6"/>
    <p:sldId id="416" r:id="rId7"/>
    <p:sldId id="417" r:id="rId8"/>
    <p:sldId id="276" r:id="rId9"/>
    <p:sldId id="262" r:id="rId10"/>
    <p:sldId id="270" r:id="rId11"/>
    <p:sldId id="25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9A2"/>
    <a:srgbClr val="E0F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228" y="-3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241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 slide. Set expectation: this is a status briefing, ~14 minutes, and I will be direct about what is not finished.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DA7FC-83DD-0D65-C3F5-B59DE55B0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BFC7B-2773-075B-9BAC-4917184EDC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95EE1-9206-D02C-F1F9-0D48DA397E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pressed on "AI": this is pattern recognition trained on our own historical projects, not a general-purpose AI. It learns our conventions specifically.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D60FE-CA16-E95B-4FA6-8ACB429E2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14330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direct here. Credibility comes from naming these plainly rather than being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2877B-4E1A-9522-E0DE-C7FEDC7E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9AA12-D324-279B-1661-8EC9728AD0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576CC-B94E-863F-33CA-C38AE23E7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ask, not on the technology. Then open the floor.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34CE0-243E-FB5F-6346-D872A1B53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49212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on the problem, not the technology. If asked how long the manual sort takes today — we have not measured it. Worth getting that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18/9/2026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03666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34" Type="http://schemas.openxmlformats.org/officeDocument/2006/relationships/image" Target="../media/image70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33" Type="http://schemas.openxmlformats.org/officeDocument/2006/relationships/image" Target="../media/image69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29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32" Type="http://schemas.openxmlformats.org/officeDocument/2006/relationships/image" Target="../media/image68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36" Type="http://schemas.openxmlformats.org/officeDocument/2006/relationships/hyperlink" Target="http://128.100.8.213/XenxibleCollection/XenProducts/_git/Xenxible%20Intelligent%20Analytic%20-%20Device%20Cluster?path=/Flowchart.md&amp;_a=preview" TargetMode="External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31" Type="http://schemas.openxmlformats.org/officeDocument/2006/relationships/image" Target="../media/image67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30" Type="http://schemas.openxmlformats.org/officeDocument/2006/relationships/image" Target="../media/image66.png"/><Relationship Id="rId35" Type="http://schemas.openxmlformats.org/officeDocument/2006/relationships/image" Target="../media/image71.png"/><Relationship Id="rId8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95325" y="706685"/>
            <a:ext cx="10789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sz="1200" b="1" i="0" dirty="0">
                <a:solidFill>
                  <a:srgbClr val="C46A24"/>
                </a:solidFill>
                <a:latin typeface="Consolas"/>
              </a:rPr>
              <a:t>XENXIBLE CREATOR - DATA ANALYTICS</a:t>
            </a:r>
            <a:r>
              <a:rPr lang="en-US" sz="1200" b="1" i="0" dirty="0">
                <a:solidFill>
                  <a:srgbClr val="C46A24"/>
                </a:solidFill>
                <a:latin typeface="Consolas"/>
              </a:rPr>
              <a:t> </a:t>
            </a:r>
            <a:r>
              <a:rPr lang="en-MY" sz="1200" b="1" dirty="0">
                <a:solidFill>
                  <a:srgbClr val="C46A24"/>
                </a:solidFill>
                <a:latin typeface="Consolas"/>
              </a:rPr>
              <a:t>·</a:t>
            </a:r>
            <a:endParaRPr sz="1200" b="1" i="0" dirty="0">
              <a:solidFill>
                <a:srgbClr val="C46A24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3920" y="2542032"/>
            <a:ext cx="10424160" cy="7362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lang="en-US" sz="5200" b="1" i="0" dirty="0">
                <a:latin typeface="Cambria"/>
              </a:rPr>
              <a:t>D</a:t>
            </a:r>
            <a:r>
              <a:rPr sz="5200" b="1" i="0" dirty="0">
                <a:latin typeface="Cambria"/>
              </a:rPr>
              <a:t>evice </a:t>
            </a:r>
            <a:r>
              <a:rPr lang="en-US" sz="5200" b="1" i="0" dirty="0">
                <a:latin typeface="Cambria"/>
              </a:rPr>
              <a:t>Identifier</a:t>
            </a:r>
            <a:endParaRPr sz="5200" b="1" i="0" dirty="0">
              <a:latin typeface="Cambri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2155B-3D28-68C3-70D6-5A66763D65B2}"/>
              </a:ext>
            </a:extLst>
          </p:cNvPr>
          <p:cNvSpPr txBox="1"/>
          <p:nvPr/>
        </p:nvSpPr>
        <p:spPr>
          <a:xfrm>
            <a:off x="1981200" y="5779008"/>
            <a:ext cx="82296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 dirty="0">
                <a:solidFill>
                  <a:srgbClr val="6E7C89"/>
                </a:solidFill>
                <a:latin typeface="Calibri"/>
              </a:rPr>
              <a:t>Prepared by Siti Syaziyah  ·  Data Analyst Executive  ·  </a:t>
            </a:r>
            <a:r>
              <a:rPr lang="en-US" sz="1150" b="0" i="0" dirty="0">
                <a:solidFill>
                  <a:srgbClr val="6E7C89"/>
                </a:solidFill>
                <a:latin typeface="Calibri"/>
              </a:rPr>
              <a:t>02 </a:t>
            </a:r>
            <a:r>
              <a:rPr sz="1150" b="0" i="0" dirty="0">
                <a:solidFill>
                  <a:srgbClr val="6E7C89"/>
                </a:solidFill>
                <a:latin typeface="Calibri"/>
              </a:rPr>
              <a:t>September 2026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D33864-117D-07C8-74B8-35BF3F3B8413}"/>
              </a:ext>
            </a:extLst>
          </p:cNvPr>
          <p:cNvSpPr txBox="1"/>
          <p:nvPr/>
        </p:nvSpPr>
        <p:spPr>
          <a:xfrm>
            <a:off x="3048000" y="32905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200" b="1" i="0" dirty="0">
                <a:solidFill>
                  <a:srgbClr val="C46A24"/>
                </a:solidFill>
                <a:latin typeface="Consolas"/>
              </a:rPr>
              <a:t>PROJECT BRIEFING </a:t>
            </a:r>
            <a:endParaRPr lang="en-MY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6AE71-7346-D27C-2DB7-EC58D9619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8E4B87-F896-B8F8-B7DE-E5768A743083}"/>
              </a:ext>
            </a:extLst>
          </p:cNvPr>
          <p:cNvSpPr txBox="1"/>
          <p:nvPr/>
        </p:nvSpPr>
        <p:spPr>
          <a:xfrm>
            <a:off x="685800" y="1069848"/>
            <a:ext cx="102412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sz="3600" b="1" dirty="0">
                <a:solidFill>
                  <a:srgbClr val="C46A24"/>
                </a:solidFill>
                <a:latin typeface="Consolas"/>
              </a:rPr>
              <a:t>01 · WHAT WE BUILT</a:t>
            </a:r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2666A140-8F47-766D-F582-1E918F981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14575"/>
            <a:ext cx="3581400" cy="2761059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21D24FF8-B1CE-B2A0-6923-5C3D76C86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314575"/>
            <a:ext cx="3581400" cy="2761059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B9024BAE-5968-B552-59DE-856178227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314575"/>
            <a:ext cx="3581400" cy="2761059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3F14F4B6-4F50-87BD-BF64-A40E8DA515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511748"/>
            <a:ext cx="1933575" cy="266700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20FB01B3-AD62-3DBF-8D7E-D5AEEE60F4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4375" y="3511748"/>
            <a:ext cx="2105025" cy="266700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E721D0FC-A9F9-0F0B-EE23-C020E183A5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6275" y="3511748"/>
            <a:ext cx="2188368" cy="266700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DAA65211-EE7D-F013-DC45-5B05BE92EF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2571750"/>
            <a:ext cx="419100" cy="419100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6D0A9099-BD85-06BB-E10F-A978B0177F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4375" y="2571750"/>
            <a:ext cx="419100" cy="41910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31669AB5-D836-B66B-BE51-889D0FEDD2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6275" y="2571750"/>
            <a:ext cx="419100" cy="4191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1186A35-47DD-33E7-E3B4-3F1FAFD4C033}"/>
              </a:ext>
            </a:extLst>
          </p:cNvPr>
          <p:cNvSpPr txBox="1"/>
          <p:nvPr/>
        </p:nvSpPr>
        <p:spPr>
          <a:xfrm>
            <a:off x="752475" y="3143250"/>
            <a:ext cx="3143250" cy="235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sz="1425" b="0" i="0" u="none" dirty="0">
                <a:solidFill>
                  <a:srgbClr val="0F172A"/>
                </a:solidFill>
                <a:latin typeface="Poppins SemiBold"/>
              </a:rPr>
              <a:t>Identify Device</a:t>
            </a:r>
            <a:r>
              <a:rPr lang="en-MY" sz="1425" b="0" i="0" u="none" dirty="0">
                <a:solidFill>
                  <a:srgbClr val="0F172A"/>
                </a:solidFill>
                <a:latin typeface="Poppins SemiBold"/>
              </a:rPr>
              <a:t> Type</a:t>
            </a:r>
            <a:endParaRPr sz="1425" b="0" i="0" u="none" dirty="0">
              <a:solidFill>
                <a:srgbClr val="0F172A"/>
              </a:solidFill>
              <a:latin typeface="Poppins Semi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B34A21-32C9-9BC8-3366-5CCBE240D879}"/>
              </a:ext>
            </a:extLst>
          </p:cNvPr>
          <p:cNvSpPr txBox="1"/>
          <p:nvPr/>
        </p:nvSpPr>
        <p:spPr>
          <a:xfrm>
            <a:off x="4524375" y="3143250"/>
            <a:ext cx="3143250" cy="235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sz="1425" b="0" i="0" u="none">
                <a:solidFill>
                  <a:srgbClr val="0F172A"/>
                </a:solidFill>
                <a:latin typeface="Poppins SemiBold"/>
              </a:rPr>
              <a:t>Predict Section &amp; Cluster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7DC678-4A82-CC76-8725-C5E86D25CA5A}"/>
              </a:ext>
            </a:extLst>
          </p:cNvPr>
          <p:cNvSpPr txBox="1"/>
          <p:nvPr/>
        </p:nvSpPr>
        <p:spPr>
          <a:xfrm>
            <a:off x="8296275" y="3143250"/>
            <a:ext cx="3143250" cy="235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lang="en-MY" sz="1425" b="0" i="0" u="none" dirty="0">
                <a:solidFill>
                  <a:srgbClr val="0F172A"/>
                </a:solidFill>
                <a:latin typeface="Poppins SemiBold"/>
              </a:rPr>
              <a:t>Logic </a:t>
            </a:r>
            <a:r>
              <a:rPr sz="1425" b="0" i="0" u="none" dirty="0">
                <a:solidFill>
                  <a:srgbClr val="0F172A"/>
                </a:solidFill>
                <a:latin typeface="Poppins SemiBold"/>
              </a:rPr>
              <a:t>Quota</a:t>
            </a:r>
            <a:r>
              <a:rPr lang="en-MY" sz="1425" b="0" i="0" u="none" dirty="0">
                <a:solidFill>
                  <a:srgbClr val="0F172A"/>
                </a:solidFill>
                <a:latin typeface="Poppins SemiBold"/>
              </a:rPr>
              <a:t> Allocation</a:t>
            </a:r>
            <a:endParaRPr sz="1425" b="0" i="0" u="none" dirty="0">
              <a:solidFill>
                <a:srgbClr val="0F172A"/>
              </a:solidFill>
              <a:latin typeface="Poppins SemiBold"/>
            </a:endParaRPr>
          </a:p>
        </p:txBody>
      </p:sp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F07EC619-F603-859B-7998-296211EA4B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8909" y="3592264"/>
            <a:ext cx="135731" cy="1190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F04F416-FE1B-51D1-B108-F31DFC16F68C}"/>
              </a:ext>
            </a:extLst>
          </p:cNvPr>
          <p:cNvSpPr txBox="1"/>
          <p:nvPr/>
        </p:nvSpPr>
        <p:spPr>
          <a:xfrm>
            <a:off x="971550" y="3930848"/>
            <a:ext cx="29241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Parses leading tag letters instantly against standardized reference set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60B358-EAFF-A550-6B9B-6AB0780F5128}"/>
              </a:ext>
            </a:extLst>
          </p:cNvPr>
          <p:cNvSpPr txBox="1"/>
          <p:nvPr/>
        </p:nvSpPr>
        <p:spPr>
          <a:xfrm>
            <a:off x="971550" y="4431803"/>
            <a:ext cx="29241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Resolves raw tags into 23 distinct device classifications</a:t>
            </a:r>
          </a:p>
        </p:txBody>
      </p:sp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9C1E160D-B511-F26C-51D1-6C11ED449FB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66047" y="3592264"/>
            <a:ext cx="135731" cy="11906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7348DEA-0EB3-9668-C0A2-ABB39C95E16F}"/>
              </a:ext>
            </a:extLst>
          </p:cNvPr>
          <p:cNvSpPr txBox="1"/>
          <p:nvPr/>
        </p:nvSpPr>
        <p:spPr>
          <a:xfrm>
            <a:off x="4743450" y="3930848"/>
            <a:ext cx="29241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Evaluates candidates through two linked Machine Learning models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D9127C-5A5C-F109-6360-8005FB2A34D4}"/>
              </a:ext>
            </a:extLst>
          </p:cNvPr>
          <p:cNvSpPr txBox="1"/>
          <p:nvPr/>
        </p:nvSpPr>
        <p:spPr>
          <a:xfrm>
            <a:off x="4743450" y="4431803"/>
            <a:ext cx="29241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Outputs ranked candidate sections with real-time confidence scores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1C8AC1-45D7-4008-DE6B-8946BAAC845E}"/>
              </a:ext>
            </a:extLst>
          </p:cNvPr>
          <p:cNvSpPr txBox="1"/>
          <p:nvPr/>
        </p:nvSpPr>
        <p:spPr>
          <a:xfrm>
            <a:off x="8515350" y="3930848"/>
            <a:ext cx="29241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Applies cluster capacity limits per device category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490DC1-816E-6266-3B70-B3275278CC83}"/>
              </a:ext>
            </a:extLst>
          </p:cNvPr>
          <p:cNvSpPr txBox="1"/>
          <p:nvPr/>
        </p:nvSpPr>
        <p:spPr>
          <a:xfrm>
            <a:off x="8515350" y="4431803"/>
            <a:ext cx="29241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Fits ML predictions into target engineering composition</a:t>
            </a:r>
          </a:p>
        </p:txBody>
      </p:sp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A579FDC0-0CA3-AA29-A9EE-DDB9734E93D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29025" y="2647950"/>
            <a:ext cx="266700" cy="266700"/>
          </a:xfrm>
          <a:prstGeom prst="rect">
            <a:avLst/>
          </a:prstGeom>
        </p:spPr>
      </p:pic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45304862-AE72-D3FB-666D-D9577142BB0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00925" y="2647950"/>
            <a:ext cx="266700" cy="266700"/>
          </a:xfrm>
          <a:prstGeom prst="rect">
            <a:avLst/>
          </a:prstGeom>
        </p:spPr>
      </p:pic>
      <p:pic>
        <p:nvPicPr>
          <p:cNvPr id="51" name="Picture 50" descr="image.png">
            <a:extLst>
              <a:ext uri="{FF2B5EF4-FFF2-40B4-BE49-F238E27FC236}">
                <a16:creationId xmlns:a16="http://schemas.microsoft.com/office/drawing/2014/main" id="{925F0A46-04C7-7711-AFE7-4D3EB9D42D4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72825" y="2647950"/>
            <a:ext cx="266700" cy="266700"/>
          </a:xfrm>
          <a:prstGeom prst="rect">
            <a:avLst/>
          </a:prstGeom>
        </p:spPr>
      </p:pic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36C4E692-4887-696A-1C48-E547EE5C50A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3954660"/>
            <a:ext cx="123825" cy="133350"/>
          </a:xfrm>
          <a:prstGeom prst="rect">
            <a:avLst/>
          </a:prstGeom>
        </p:spPr>
      </p:pic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E25E3AB1-93B1-4660-6BE1-ACA3D84C473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4455616"/>
            <a:ext cx="123825" cy="133350"/>
          </a:xfrm>
          <a:prstGeom prst="rect">
            <a:avLst/>
          </a:prstGeom>
        </p:spPr>
      </p:pic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45BDF74A-F59A-99F2-0759-F1CC3F445AB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24375" y="3954660"/>
            <a:ext cx="123825" cy="133350"/>
          </a:xfrm>
          <a:prstGeom prst="rect">
            <a:avLst/>
          </a:prstGeom>
        </p:spPr>
      </p:pic>
      <p:pic>
        <p:nvPicPr>
          <p:cNvPr id="59" name="Picture 58" descr="image.png">
            <a:extLst>
              <a:ext uri="{FF2B5EF4-FFF2-40B4-BE49-F238E27FC236}">
                <a16:creationId xmlns:a16="http://schemas.microsoft.com/office/drawing/2014/main" id="{72A3E10D-1429-E5FA-0469-3A25C14893F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24375" y="4455616"/>
            <a:ext cx="123825" cy="133350"/>
          </a:xfrm>
          <a:prstGeom prst="rect">
            <a:avLst/>
          </a:prstGeom>
        </p:spPr>
      </p:pic>
      <p:pic>
        <p:nvPicPr>
          <p:cNvPr id="61" name="Picture 60" descr="image.png">
            <a:extLst>
              <a:ext uri="{FF2B5EF4-FFF2-40B4-BE49-F238E27FC236}">
                <a16:creationId xmlns:a16="http://schemas.microsoft.com/office/drawing/2014/main" id="{D0271B10-920E-0D17-62AD-0935E0D3B20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96275" y="3954660"/>
            <a:ext cx="123825" cy="133350"/>
          </a:xfrm>
          <a:prstGeom prst="rect">
            <a:avLst/>
          </a:prstGeom>
        </p:spPr>
      </p:pic>
      <p:pic>
        <p:nvPicPr>
          <p:cNvPr id="63" name="Picture 62" descr="image.png">
            <a:extLst>
              <a:ext uri="{FF2B5EF4-FFF2-40B4-BE49-F238E27FC236}">
                <a16:creationId xmlns:a16="http://schemas.microsoft.com/office/drawing/2014/main" id="{4F250982-551D-07E4-6A3A-F800F5E1F81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96275" y="4455616"/>
            <a:ext cx="123825" cy="133350"/>
          </a:xfrm>
          <a:prstGeom prst="rect">
            <a:avLst/>
          </a:prstGeom>
        </p:spPr>
      </p:pic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5BFC87CA-DA55-7887-F3C6-AE8D00DB905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19550" y="3369773"/>
            <a:ext cx="66675" cy="114300"/>
          </a:xfrm>
          <a:prstGeom prst="rect">
            <a:avLst/>
          </a:prstGeom>
        </p:spPr>
      </p:pic>
      <p:pic>
        <p:nvPicPr>
          <p:cNvPr id="67" name="Picture 66" descr="image.png">
            <a:extLst>
              <a:ext uri="{FF2B5EF4-FFF2-40B4-BE49-F238E27FC236}">
                <a16:creationId xmlns:a16="http://schemas.microsoft.com/office/drawing/2014/main" id="{B775EC00-09FE-9259-943F-4D9C32950E8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77162" y="3354143"/>
            <a:ext cx="66675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752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1069848"/>
            <a:ext cx="102412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sz="3600" b="1" dirty="0">
                <a:solidFill>
                  <a:srgbClr val="C46A24"/>
                </a:solidFill>
                <a:latin typeface="Consolas"/>
              </a:rPr>
              <a:t>02 · 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340156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" y="24505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46A24"/>
                </a:solidFill>
                <a:latin typeface="Consolas"/>
              </a:rPr>
              <a:t>FIRST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27614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71A1D"/>
                </a:solidFill>
                <a:latin typeface="Cambria"/>
              </a:rPr>
              <a:t>Fill to quota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3182112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7717C"/>
                </a:solidFill>
                <a:latin typeface="Calibri"/>
              </a:rPr>
              <a:t>Each cluster takes its best-matching devices, up to its target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40156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24505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46A24"/>
                </a:solidFill>
                <a:latin typeface="Consolas"/>
              </a:rPr>
              <a:t>SECOND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7614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71A1D"/>
                </a:solidFill>
                <a:latin typeface="Cambria"/>
              </a:rPr>
              <a:t>Measure the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182112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7717C"/>
                </a:solidFill>
                <a:latin typeface="Calibri"/>
              </a:rPr>
              <a:t>Identify which clusters are still short, and by how much.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2148840"/>
            <a:ext cx="340156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4505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46A24"/>
                </a:solidFill>
                <a:latin typeface="Consolas"/>
              </a:rPr>
              <a:t>THIRD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614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71A1D"/>
                </a:solidFill>
                <a:latin typeface="Cambria"/>
              </a:rPr>
              <a:t>Try second choices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182112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7717C"/>
                </a:solidFill>
                <a:latin typeface="Calibri"/>
              </a:rPr>
              <a:t>Unplaced devices try their next-ranked clusters, strongest device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069848"/>
            <a:ext cx="102412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C46A24"/>
                </a:solidFill>
                <a:latin typeface="Consolas"/>
              </a:rPr>
              <a:t>03 · WHERE WE ARE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515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solidFill>
                  <a:srgbClr val="171A1D"/>
                </a:solidFill>
              </a:rPr>
              <a:t>The engine is complete and verified. </a:t>
            </a:r>
            <a:r>
              <a:rPr sz="1600" b="0" i="0" dirty="0">
                <a:latin typeface="Calibri"/>
              </a:rPr>
              <a:t>Tested against a live database and the real trained models</a:t>
            </a:r>
            <a:r>
              <a:rPr lang="en-US" sz="1600" b="0" i="0" dirty="0">
                <a:latin typeface="Calibri"/>
              </a:rPr>
              <a:t>. S</a:t>
            </a:r>
            <a:r>
              <a:rPr sz="1600" b="0" i="0" dirty="0">
                <a:latin typeface="Calibri"/>
              </a:rPr>
              <a:t>erver and local runs agree exactly.</a:t>
            </a:r>
            <a:r>
              <a:rPr lang="en-US" sz="1600" b="0" i="0" dirty="0">
                <a:latin typeface="Calibri"/>
              </a:rPr>
              <a:t> </a:t>
            </a:r>
            <a:endParaRPr sz="1600" b="0" i="0" dirty="0"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2697480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3272" y="2998565"/>
            <a:ext cx="402336" cy="402336"/>
          </a:xfrm>
          <a:prstGeom prst="ellipse">
            <a:avLst/>
          </a:prstGeom>
          <a:solidFill>
            <a:srgbClr val="2E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onsola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303580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1A1D"/>
                </a:solidFill>
                <a:latin typeface="Cambria"/>
              </a:rPr>
              <a:t>The whole pipeline is one function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75887"/>
            <a:ext cx="4572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 dirty="0">
                <a:solidFill>
                  <a:srgbClr val="67717C"/>
                </a:solidFill>
                <a:latin typeface="Calibri"/>
              </a:rPr>
              <a:t>The developer call one method and receive the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97480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10528" y="2998565"/>
            <a:ext cx="402336" cy="402336"/>
          </a:xfrm>
          <a:prstGeom prst="ellipse">
            <a:avLst/>
          </a:prstGeom>
          <a:solidFill>
            <a:srgbClr val="2E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onsola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303580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 dirty="0">
                <a:solidFill>
                  <a:srgbClr val="171A1D"/>
                </a:solidFill>
                <a:latin typeface="Cambria"/>
              </a:rPr>
              <a:t>Nothing is hardcoded any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675887"/>
            <a:ext cx="4572000" cy="489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 dirty="0">
                <a:solidFill>
                  <a:srgbClr val="67717C"/>
                </a:solidFill>
                <a:latin typeface="Calibri"/>
              </a:rPr>
              <a:t>Quota patterns now live in a database table an engineer can edit directly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92040"/>
            <a:ext cx="1051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 dirty="0">
                <a:latin typeface="+mj-lt"/>
              </a:rPr>
              <a:t>Everything the system produces is written back to SQL Server</a:t>
            </a:r>
            <a:r>
              <a:rPr lang="en-US" sz="1600" b="0" i="1" dirty="0">
                <a:latin typeface="+mj-lt"/>
              </a:rPr>
              <a:t>. T</a:t>
            </a:r>
            <a:r>
              <a:rPr sz="1600" b="0" i="1" dirty="0">
                <a:latin typeface="+mj-lt"/>
              </a:rPr>
              <a:t>he interface reads from the database</a:t>
            </a:r>
            <a:r>
              <a:rPr lang="en-US" sz="1600" i="1" dirty="0"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0FDDD-FF5A-FB0E-3A01-00BE3F36E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1428F5-331C-3F29-6954-E0B87ACE4C3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99634-AFE8-6E53-5416-27BB8E453119}"/>
              </a:ext>
            </a:extLst>
          </p:cNvPr>
          <p:cNvSpPr txBox="1"/>
          <p:nvPr/>
        </p:nvSpPr>
        <p:spPr>
          <a:xfrm>
            <a:off x="685800" y="6858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>
                <a:solidFill>
                  <a:srgbClr val="C46A24"/>
                </a:solidFill>
                <a:latin typeface="Consolas"/>
              </a:rPr>
              <a:t>04 · WHERE IT RUNS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535F4-10CD-A4C6-6946-81AF20FC1406}"/>
              </a:ext>
            </a:extLst>
          </p:cNvPr>
          <p:cNvSpPr txBox="1"/>
          <p:nvPr/>
        </p:nvSpPr>
        <p:spPr>
          <a:xfrm>
            <a:off x="685800" y="1069848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171A1D"/>
                </a:solidFill>
                <a:latin typeface="Cambria"/>
              </a:rPr>
              <a:t>Deployed across two servers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D76FDAF3-8BA7-D59B-023D-33F4DC5AF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38375"/>
            <a:ext cx="3581400" cy="2438995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57B869B7-E40C-4138-D4E7-0964A801B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2238375"/>
            <a:ext cx="3581400" cy="2438995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20415DC1-AA11-A7C9-005D-EC12EB625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2238375"/>
            <a:ext cx="3581400" cy="2438995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B2B6026D-BE25-37CF-FA5F-F968B0FDB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375" y="3086100"/>
            <a:ext cx="1981200" cy="28575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14C7017C-4E4B-1377-CE9A-3AFE306C7E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6275" y="3086100"/>
            <a:ext cx="1676400" cy="28575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0F1C41FF-608E-F2D8-91E8-33EEA0DBDC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2476500"/>
            <a:ext cx="457200" cy="4572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505E298-94BD-0775-AF24-E050DE98A645}"/>
              </a:ext>
            </a:extLst>
          </p:cNvPr>
          <p:cNvSpPr txBox="1"/>
          <p:nvPr/>
        </p:nvSpPr>
        <p:spPr>
          <a:xfrm>
            <a:off x="1343025" y="2591990"/>
            <a:ext cx="2171700" cy="226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1"/>
              </a:lnSpc>
            </a:pPr>
            <a:r>
              <a:rPr sz="1425" b="0" i="0" u="none" dirty="0">
                <a:solidFill>
                  <a:srgbClr val="0F172A"/>
                </a:solidFill>
                <a:latin typeface="Poppins SemiBold"/>
              </a:rPr>
              <a:t>Dedicated Model Server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D5CB09-BDEE-56D9-B6B5-76C8FA19EC5A}"/>
              </a:ext>
            </a:extLst>
          </p:cNvPr>
          <p:cNvSpPr txBox="1"/>
          <p:nvPr/>
        </p:nvSpPr>
        <p:spPr>
          <a:xfrm>
            <a:off x="981075" y="3524250"/>
            <a:ext cx="291465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0" i="0" u="none">
                <a:solidFill>
                  <a:srgbClr val="334155"/>
                </a:solidFill>
                <a:latin typeface="Inter"/>
              </a:rPr>
              <a:t>Pre-loaded into memory once for instant API access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5EA012-D3F1-8F3A-1E63-D007387BDA68}"/>
              </a:ext>
            </a:extLst>
          </p:cNvPr>
          <p:cNvSpPr txBox="1"/>
          <p:nvPr/>
        </p:nvSpPr>
        <p:spPr>
          <a:xfrm>
            <a:off x="981075" y="4038897"/>
            <a:ext cx="291465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1" i="0" u="none">
                <a:solidFill>
                  <a:srgbClr val="334155"/>
                </a:solidFill>
                <a:latin typeface="Inter"/>
              </a:rPr>
              <a:t>Zero setup:</a:t>
            </a:r>
            <a:r>
              <a:rPr sz="1087" b="0" i="0" u="none">
                <a:solidFill>
                  <a:srgbClr val="334155"/>
                </a:solidFill>
                <a:latin typeface="Inter"/>
              </a:rPr>
              <a:t> No Python or model files needed on engineer laptops</a:t>
            </a:r>
          </a:p>
        </p:txBody>
      </p:sp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43CFDAF3-FE72-3454-F565-8FBCD3CA08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4375" y="2476500"/>
            <a:ext cx="457200" cy="4572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DBAE1C0-5D44-69DD-5BE3-C6B4CD7E6C58}"/>
              </a:ext>
            </a:extLst>
          </p:cNvPr>
          <p:cNvSpPr txBox="1"/>
          <p:nvPr/>
        </p:nvSpPr>
        <p:spPr>
          <a:xfrm>
            <a:off x="5114925" y="2591990"/>
            <a:ext cx="2000250" cy="226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1"/>
              </a:lnSpc>
            </a:pPr>
            <a:r>
              <a:rPr sz="1425" b="0" i="0" u="none">
                <a:solidFill>
                  <a:srgbClr val="0F172A"/>
                </a:solidFill>
                <a:latin typeface="Poppins SemiBold"/>
              </a:rPr>
              <a:t>Shared SQL Database</a:t>
            </a:r>
          </a:p>
        </p:txBody>
      </p:sp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3CCBCADD-7725-A560-87F6-22A7EC80D4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6287" y="3162300"/>
            <a:ext cx="123825" cy="12382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783DDE3-F371-50DC-237E-D9B53DA8F6DB}"/>
              </a:ext>
            </a:extLst>
          </p:cNvPr>
          <p:cNvSpPr txBox="1"/>
          <p:nvPr/>
        </p:nvSpPr>
        <p:spPr>
          <a:xfrm>
            <a:off x="4752975" y="3524250"/>
            <a:ext cx="291465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0" i="0" u="none">
                <a:solidFill>
                  <a:srgbClr val="334155"/>
                </a:solidFill>
                <a:latin typeface="Inter"/>
              </a:rPr>
              <a:t>All predictions write directly to central SQL Server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FD59C9-E5B1-5623-5412-B92671E78D94}"/>
              </a:ext>
            </a:extLst>
          </p:cNvPr>
          <p:cNvSpPr txBox="1"/>
          <p:nvPr/>
        </p:nvSpPr>
        <p:spPr>
          <a:xfrm>
            <a:off x="4752975" y="4038897"/>
            <a:ext cx="291465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1" i="0" u="none" dirty="0">
                <a:solidFill>
                  <a:srgbClr val="334155"/>
                </a:solidFill>
                <a:latin typeface="Inter"/>
              </a:rPr>
              <a:t>No manual files:</a:t>
            </a:r>
            <a:r>
              <a:rPr sz="1087" b="0" i="0" u="none" dirty="0">
                <a:solidFill>
                  <a:srgbClr val="334155"/>
                </a:solidFill>
                <a:latin typeface="Inter"/>
              </a:rPr>
              <a:t> UI reads centralized data automatically</a:t>
            </a:r>
          </a:p>
        </p:txBody>
      </p:sp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5979CE39-3407-0DA7-D6D0-65B57BBB71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6275" y="2476500"/>
            <a:ext cx="457200" cy="4572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571D6F2D-5107-EA67-77C5-185143574A88}"/>
              </a:ext>
            </a:extLst>
          </p:cNvPr>
          <p:cNvSpPr txBox="1"/>
          <p:nvPr/>
        </p:nvSpPr>
        <p:spPr>
          <a:xfrm>
            <a:off x="8886825" y="2591990"/>
            <a:ext cx="1962150" cy="226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1"/>
              </a:lnSpc>
            </a:pPr>
            <a:r>
              <a:rPr sz="1425" b="0" i="0" u="none">
                <a:solidFill>
                  <a:srgbClr val="0F172A"/>
                </a:solidFill>
                <a:latin typeface="Poppins SemiBold"/>
              </a:rPr>
              <a:t>Azure DevOps Source</a:t>
            </a:r>
          </a:p>
        </p:txBody>
      </p:sp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1B5217CF-8678-6DED-2CF2-00B1AC1C76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2474" y="3162300"/>
            <a:ext cx="123825" cy="12382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5176303-C559-412B-607A-0A966A6DAE71}"/>
              </a:ext>
            </a:extLst>
          </p:cNvPr>
          <p:cNvSpPr txBox="1"/>
          <p:nvPr/>
        </p:nvSpPr>
        <p:spPr>
          <a:xfrm>
            <a:off x="8524875" y="3524250"/>
            <a:ext cx="291465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0" i="0" u="none">
                <a:solidFill>
                  <a:srgbClr val="334155"/>
                </a:solidFill>
                <a:latin typeface="Inter"/>
              </a:rPr>
              <a:t>Developers clone and build directly from source</a:t>
            </a:r>
          </a:p>
        </p:txBody>
      </p:sp>
      <p:pic>
        <p:nvPicPr>
          <p:cNvPr id="51" name="Picture 50" descr="image.png">
            <a:extLst>
              <a:ext uri="{FF2B5EF4-FFF2-40B4-BE49-F238E27FC236}">
                <a16:creationId xmlns:a16="http://schemas.microsoft.com/office/drawing/2014/main" id="{CC8C5B06-C61F-D685-5523-5C109A2A09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300" y="2600325"/>
            <a:ext cx="209550" cy="209550"/>
          </a:xfrm>
          <a:prstGeom prst="rect">
            <a:avLst/>
          </a:prstGeom>
        </p:spPr>
      </p:pic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4CB58D6E-3E3C-2131-D957-DF841E13DBA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2487" y="2600325"/>
            <a:ext cx="180975" cy="209550"/>
          </a:xfrm>
          <a:prstGeom prst="rect">
            <a:avLst/>
          </a:prstGeom>
        </p:spPr>
      </p:pic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4A6293C4-E6B6-7B95-18B2-0C53AD8640F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4387" y="2600325"/>
            <a:ext cx="180975" cy="209550"/>
          </a:xfrm>
          <a:prstGeom prst="rect">
            <a:avLst/>
          </a:prstGeom>
        </p:spPr>
      </p:pic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E19C0626-F6DB-DFB3-CE04-BB03DDCBDF6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475" y="3548062"/>
            <a:ext cx="133350" cy="142875"/>
          </a:xfrm>
          <a:prstGeom prst="rect">
            <a:avLst/>
          </a:prstGeom>
        </p:spPr>
      </p:pic>
      <p:pic>
        <p:nvPicPr>
          <p:cNvPr id="59" name="Picture 58" descr="image.png">
            <a:extLst>
              <a:ext uri="{FF2B5EF4-FFF2-40B4-BE49-F238E27FC236}">
                <a16:creationId xmlns:a16="http://schemas.microsoft.com/office/drawing/2014/main" id="{52742DEA-3794-C735-9E22-C6EC2657C11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475" y="4062710"/>
            <a:ext cx="133350" cy="142875"/>
          </a:xfrm>
          <a:prstGeom prst="rect">
            <a:avLst/>
          </a:prstGeom>
        </p:spPr>
      </p:pic>
      <p:pic>
        <p:nvPicPr>
          <p:cNvPr id="61" name="Picture 60" descr="image.png">
            <a:extLst>
              <a:ext uri="{FF2B5EF4-FFF2-40B4-BE49-F238E27FC236}">
                <a16:creationId xmlns:a16="http://schemas.microsoft.com/office/drawing/2014/main" id="{A23C0682-9B34-4515-0A83-2BF207C796A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24375" y="3548062"/>
            <a:ext cx="133350" cy="142875"/>
          </a:xfrm>
          <a:prstGeom prst="rect">
            <a:avLst/>
          </a:prstGeom>
        </p:spPr>
      </p:pic>
      <p:pic>
        <p:nvPicPr>
          <p:cNvPr id="63" name="Picture 62" descr="image.png">
            <a:extLst>
              <a:ext uri="{FF2B5EF4-FFF2-40B4-BE49-F238E27FC236}">
                <a16:creationId xmlns:a16="http://schemas.microsoft.com/office/drawing/2014/main" id="{5E0F2861-53C0-AFC2-A412-F809C05F106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24375" y="4062710"/>
            <a:ext cx="133350" cy="142875"/>
          </a:xfrm>
          <a:prstGeom prst="rect">
            <a:avLst/>
          </a:prstGeom>
        </p:spPr>
      </p:pic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C9AC8470-2BCF-7CD9-DB24-D4F524FF4DF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96275" y="3548062"/>
            <a:ext cx="133350" cy="142875"/>
          </a:xfrm>
          <a:prstGeom prst="rect">
            <a:avLst/>
          </a:prstGeom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BCBC25E-E841-FEC3-FEF3-792EE52FF869}"/>
              </a:ext>
            </a:extLst>
          </p:cNvPr>
          <p:cNvSpPr/>
          <p:nvPr/>
        </p:nvSpPr>
        <p:spPr>
          <a:xfrm>
            <a:off x="736601" y="3076574"/>
            <a:ext cx="1882774" cy="2857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369A2"/>
                </a:solidFill>
              </a:rPr>
              <a:t>Fast Execution</a:t>
            </a:r>
            <a:endParaRPr lang="en-MY" sz="1400" b="1" dirty="0">
              <a:solidFill>
                <a:srgbClr val="0369A2"/>
              </a:solidFill>
            </a:endParaRPr>
          </a:p>
        </p:txBody>
      </p:sp>
      <p:pic>
        <p:nvPicPr>
          <p:cNvPr id="69" name="Picture 68" descr="image.png">
            <a:extLst>
              <a:ext uri="{FF2B5EF4-FFF2-40B4-BE49-F238E27FC236}">
                <a16:creationId xmlns:a16="http://schemas.microsoft.com/office/drawing/2014/main" id="{DE91250A-6BDA-B827-574E-2DA57653AEF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825" y="3152477"/>
            <a:ext cx="141043" cy="16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74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BEB389-9CEC-34F1-DD03-ACDB85195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F8E737-0264-407F-B960-B302C0A70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33" y="651660"/>
            <a:ext cx="9635334" cy="539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976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AC7D0-1A03-37CD-69EB-D146D5448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770E4E3-5707-9D7B-7B36-7CB21614C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33" y="651660"/>
            <a:ext cx="9635334" cy="53935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991A1D-AA1C-BBAB-93B7-76130AF17555}"/>
              </a:ext>
            </a:extLst>
          </p:cNvPr>
          <p:cNvSpPr txBox="1"/>
          <p:nvPr/>
        </p:nvSpPr>
        <p:spPr>
          <a:xfrm>
            <a:off x="103717" y="5883174"/>
            <a:ext cx="34069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XenAnalyticDevice.dll = logic.dll</a:t>
            </a:r>
          </a:p>
          <a:p>
            <a:r>
              <a:rPr lang="en-US" dirty="0"/>
              <a:t>XenAnalyticModel.dll = model.dll</a:t>
            </a:r>
          </a:p>
          <a:p>
            <a:r>
              <a:rPr lang="en-US" dirty="0"/>
              <a:t>XenAnalyticService.py = service.py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26301-9CB9-1C51-270C-9B3F521AB06B}"/>
              </a:ext>
            </a:extLst>
          </p:cNvPr>
          <p:cNvSpPr txBox="1"/>
          <p:nvPr/>
        </p:nvSpPr>
        <p:spPr>
          <a:xfrm>
            <a:off x="7962507" y="4967614"/>
            <a:ext cx="32523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Inter Process Connector (IPC)</a:t>
            </a:r>
          </a:p>
          <a:p>
            <a:r>
              <a:rPr lang="en-US" dirty="0">
                <a:highlight>
                  <a:srgbClr val="FFFF00"/>
                </a:highlight>
              </a:rPr>
              <a:t>= communicate between </a:t>
            </a:r>
            <a:r>
              <a:rPr lang="en-US" dirty="0" err="1">
                <a:highlight>
                  <a:srgbClr val="FFFF00"/>
                </a:highlight>
              </a:rPr>
              <a:t>dll</a:t>
            </a:r>
            <a:r>
              <a:rPr lang="en-US" dirty="0">
                <a:highlight>
                  <a:srgbClr val="FFFF00"/>
                </a:highlight>
              </a:rPr>
              <a:t> and 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TCP</a:t>
            </a:r>
            <a:endParaRPr lang="en-MY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7009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375" y="342900"/>
            <a:ext cx="1533525" cy="2571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134100"/>
            <a:ext cx="11353800" cy="381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9100" y="342900"/>
            <a:ext cx="33718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284C7"/>
                </a:solidFill>
                <a:latin typeface="Plus Jakarta Sans ExtraBold"/>
              </a:rPr>
              <a:t>OPERATING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6587" y="614862"/>
            <a:ext cx="561877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 u="none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 Execution Flowchart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7376" y="414337"/>
            <a:ext cx="114300" cy="1143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08150" y="6229350"/>
            <a:ext cx="69437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 dirty="0">
                <a:solidFill>
                  <a:srgbClr val="CBD5E1"/>
                </a:solidFill>
                <a:latin typeface="Inter"/>
              </a:rPr>
              <a:t>The system runs flexibly in 3 modes while automatically outputting clean assignments vs. review exceptions.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850" y="2790824"/>
            <a:ext cx="275272" cy="309681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804666"/>
            <a:ext cx="311150" cy="350044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73521">
            <a:off x="9250040" y="2626597"/>
            <a:ext cx="244602" cy="275177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6229350"/>
            <a:ext cx="1019175" cy="190500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41BA4EC3-AE71-3C48-5EA7-526D186D47B9}"/>
              </a:ext>
            </a:extLst>
          </p:cNvPr>
          <p:cNvGrpSpPr/>
          <p:nvPr/>
        </p:nvGrpSpPr>
        <p:grpSpPr>
          <a:xfrm>
            <a:off x="6988175" y="2032718"/>
            <a:ext cx="2108200" cy="1753940"/>
            <a:chOff x="6629400" y="2456110"/>
            <a:chExt cx="1905000" cy="1602878"/>
          </a:xfrm>
        </p:grpSpPr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29400" y="2456110"/>
              <a:ext cx="1905000" cy="257175"/>
            </a:xfrm>
            <a:prstGeom prst="rect">
              <a:avLst/>
            </a:prstGeom>
          </p:spPr>
        </p:pic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29400" y="2865685"/>
              <a:ext cx="1905000" cy="1193303"/>
            </a:xfrm>
            <a:prstGeom prst="rect">
              <a:avLst/>
            </a:prstGeom>
          </p:spPr>
        </p:pic>
        <p:pic>
          <p:nvPicPr>
            <p:cNvPr id="40" name="Picture 39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24650" y="2527548"/>
              <a:ext cx="122039" cy="114300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6800850" y="3046660"/>
              <a:ext cx="1590675" cy="1546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 i="0" u="none" dirty="0">
                  <a:solidFill>
                    <a:srgbClr val="7C3AED"/>
                  </a:solidFill>
                  <a:latin typeface="Inter ExtraBold"/>
                </a:rPr>
                <a:t>CORE ENGINE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800850" y="3202674"/>
              <a:ext cx="1590675" cy="15469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 u="none" dirty="0">
                  <a:solidFill>
                    <a:srgbClr val="0F172A"/>
                  </a:solidFill>
                  <a:latin typeface="Plus Jakarta Sans"/>
                </a:rPr>
                <a:t>ML Service Prediction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800850" y="3418135"/>
              <a:ext cx="1590675" cy="4219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207"/>
                </a:lnSpc>
              </a:pPr>
              <a:r>
                <a:rPr sz="1100" b="0" i="0" u="none" dirty="0">
                  <a:solidFill>
                    <a:srgbClr val="475569"/>
                  </a:solidFill>
                  <a:latin typeface="Inter"/>
                </a:rPr>
                <a:t>Runs prediction model via </a:t>
              </a:r>
              <a:r>
                <a:rPr sz="1100" b="0" i="0" u="none" dirty="0">
                  <a:solidFill>
                    <a:srgbClr val="0F172A"/>
                  </a:solidFill>
                  <a:latin typeface="Inter SemiBold"/>
                </a:rPr>
                <a:t>H</a:t>
              </a:r>
              <a:r>
                <a:rPr lang="en-MY" sz="1100" b="0" i="0" u="none" dirty="0">
                  <a:solidFill>
                    <a:srgbClr val="0F172A"/>
                  </a:solidFill>
                  <a:latin typeface="Inter SemiBold"/>
                </a:rPr>
                <a:t>TTP</a:t>
              </a:r>
              <a:r>
                <a:rPr sz="1100" b="0" i="0" u="none" dirty="0" err="1">
                  <a:solidFill>
                    <a:srgbClr val="0F172A"/>
                  </a:solidFill>
                  <a:latin typeface="Inter SemiBold"/>
                </a:rPr>
                <a:t>PredictionClient</a:t>
              </a:r>
              <a:r>
                <a:rPr sz="1100" b="0" i="0" u="none" dirty="0">
                  <a:solidFill>
                    <a:srgbClr val="475569"/>
                  </a:solidFill>
                  <a:latin typeface="Inter"/>
                </a:rPr>
                <a:t> to evaluate device clusters.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F557BEA-444D-1DE1-62AF-FE13290336F0}"/>
              </a:ext>
            </a:extLst>
          </p:cNvPr>
          <p:cNvGrpSpPr/>
          <p:nvPr/>
        </p:nvGrpSpPr>
        <p:grpSpPr>
          <a:xfrm>
            <a:off x="9603317" y="1683246"/>
            <a:ext cx="2000250" cy="257175"/>
            <a:chOff x="8877300" y="2064246"/>
            <a:chExt cx="2000250" cy="257175"/>
          </a:xfrm>
        </p:grpSpPr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877300" y="2064246"/>
              <a:ext cx="2000250" cy="257175"/>
            </a:xfrm>
            <a:prstGeom prst="rect">
              <a:avLst/>
            </a:prstGeom>
          </p:spPr>
        </p:pic>
        <p:pic>
          <p:nvPicPr>
            <p:cNvPr id="44" name="Picture 43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972550" y="2135683"/>
              <a:ext cx="112514" cy="114300"/>
            </a:xfrm>
            <a:prstGeom prst="rect">
              <a:avLst/>
            </a:prstGeom>
          </p:spPr>
        </p:pic>
      </p:grp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900" y="1735950"/>
            <a:ext cx="2095500" cy="25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900" y="2145525"/>
            <a:ext cx="2095500" cy="9066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900" y="3166486"/>
            <a:ext cx="2095500" cy="12608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8150" y="1807388"/>
            <a:ext cx="122039" cy="1143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85775" y="2269350"/>
            <a:ext cx="1809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64748B"/>
                </a:solidFill>
                <a:latin typeface="Inter ExtraBold"/>
              </a:rPr>
              <a:t>STEP 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25" y="2412636"/>
            <a:ext cx="16764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u="none" dirty="0">
                <a:solidFill>
                  <a:srgbClr val="0F172A"/>
                </a:solidFill>
                <a:latin typeface="Plus Jakarta Sans"/>
              </a:rPr>
              <a:t>Prerequisites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150" y="2625962"/>
            <a:ext cx="1809750" cy="306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sz="1100" b="0" i="0" u="none" dirty="0">
                <a:solidFill>
                  <a:srgbClr val="475569"/>
                </a:solidFill>
                <a:latin typeface="Inter"/>
              </a:rPr>
              <a:t>.NET 10 (Win x64), </a:t>
            </a:r>
            <a:r>
              <a:rPr sz="1100" b="0" i="0" u="none" dirty="0" err="1">
                <a:solidFill>
                  <a:srgbClr val="475569"/>
                </a:solidFill>
                <a:latin typeface="Inter"/>
              </a:rPr>
              <a:t>XenCreator</a:t>
            </a:r>
            <a:r>
              <a:rPr sz="1100" b="0" i="0" u="none" dirty="0">
                <a:solidFill>
                  <a:srgbClr val="475569"/>
                </a:solidFill>
                <a:latin typeface="Inter"/>
              </a:rPr>
              <a:t> DB &amp; ML Network Access.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775" y="3290311"/>
            <a:ext cx="1809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64748B"/>
                </a:solidFill>
                <a:latin typeface="Inter ExtraBold"/>
              </a:rPr>
              <a:t>STEP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434272"/>
            <a:ext cx="169545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u="none" dirty="0">
                <a:solidFill>
                  <a:srgbClr val="0F172A"/>
                </a:solidFill>
                <a:latin typeface="Plus Jakarta Sans"/>
              </a:rPr>
              <a:t>DB Tables Init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775" y="3642736"/>
            <a:ext cx="18097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207"/>
              </a:lnSpc>
            </a:pPr>
            <a:r>
              <a:rPr sz="1100" b="0" i="0" u="none" dirty="0">
                <a:solidFill>
                  <a:srgbClr val="475569"/>
                </a:solidFill>
                <a:latin typeface="Inter"/>
              </a:rPr>
              <a:t>Run </a:t>
            </a:r>
            <a:r>
              <a:rPr lang="en-MY" sz="1100" b="1" dirty="0" err="1">
                <a:solidFill>
                  <a:srgbClr val="4E5A66"/>
                </a:solidFill>
              </a:rPr>
              <a:t>PatternCluster.sql</a:t>
            </a:r>
            <a:r>
              <a:rPr lang="en-MY" sz="1100" dirty="0">
                <a:solidFill>
                  <a:srgbClr val="4E5A66"/>
                </a:solidFill>
              </a:rPr>
              <a:t>, </a:t>
            </a:r>
            <a:r>
              <a:rPr lang="en-MY" sz="1100" b="1" dirty="0" err="1">
                <a:solidFill>
                  <a:srgbClr val="4E5A66"/>
                </a:solidFill>
              </a:rPr>
              <a:t>DeviceReviewQueue.sql</a:t>
            </a:r>
            <a:r>
              <a:rPr lang="en-MY" sz="1100" b="1" dirty="0">
                <a:solidFill>
                  <a:srgbClr val="4E5A66"/>
                </a:solidFill>
              </a:rPr>
              <a:t> </a:t>
            </a:r>
            <a:r>
              <a:rPr lang="en-MY" sz="1100" dirty="0">
                <a:solidFill>
                  <a:srgbClr val="4E5A66"/>
                </a:solidFill>
              </a:rPr>
              <a:t>and </a:t>
            </a:r>
            <a:r>
              <a:rPr lang="en-MY" sz="1100" b="1" dirty="0" err="1">
                <a:solidFill>
                  <a:srgbClr val="4E5A66"/>
                </a:solidFill>
              </a:rPr>
              <a:t>OutputDeviceAssignment.sql</a:t>
            </a:r>
            <a:r>
              <a:rPr lang="en-MY" sz="1100" b="1" dirty="0">
                <a:solidFill>
                  <a:srgbClr val="4E5A66"/>
                </a:solidFill>
              </a:rPr>
              <a:t> </a:t>
            </a:r>
            <a:r>
              <a:rPr lang="en-MY" sz="1100" dirty="0">
                <a:solidFill>
                  <a:srgbClr val="4E5A66"/>
                </a:solidFill>
              </a:rPr>
              <a:t>once</a:t>
            </a:r>
            <a:r>
              <a:rPr sz="1100" b="0" i="0" u="none" dirty="0">
                <a:solidFill>
                  <a:srgbClr val="475569"/>
                </a:solidFill>
                <a:latin typeface="Inter"/>
              </a:rPr>
              <a:t>(Guarded &amp; Safe).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62175" y="2438419"/>
            <a:ext cx="133350" cy="128587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81225" y="3459380"/>
            <a:ext cx="114300" cy="128587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998B6EE1-6D6E-D051-E4DB-DFF29B5E07F4}"/>
              </a:ext>
            </a:extLst>
          </p:cNvPr>
          <p:cNvGrpSpPr/>
          <p:nvPr/>
        </p:nvGrpSpPr>
        <p:grpSpPr>
          <a:xfrm>
            <a:off x="3043237" y="1397598"/>
            <a:ext cx="3473450" cy="2901206"/>
            <a:chOff x="2857500" y="1810245"/>
            <a:chExt cx="3473450" cy="2901206"/>
          </a:xfrm>
        </p:grpSpPr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901950" y="1810245"/>
              <a:ext cx="3429000" cy="276225"/>
            </a:xfrm>
            <a:prstGeom prst="rect">
              <a:avLst/>
            </a:prstGeom>
          </p:spPr>
        </p:pic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857500" y="2232273"/>
              <a:ext cx="3429000" cy="2479178"/>
            </a:xfrm>
            <a:prstGeom prst="rect">
              <a:avLst/>
            </a:prstGeom>
          </p:spPr>
        </p:pic>
        <p:pic>
          <p:nvPicPr>
            <p:cNvPr id="14" name="Picture 13" descr="image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990850" y="2365623"/>
              <a:ext cx="3162300" cy="686692"/>
            </a:xfrm>
            <a:prstGeom prst="rect">
              <a:avLst/>
            </a:prstGeom>
          </p:spPr>
        </p:pic>
        <p:pic>
          <p:nvPicPr>
            <p:cNvPr id="15" name="Picture 14" descr="image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990850" y="3128516"/>
              <a:ext cx="3162300" cy="686692"/>
            </a:xfrm>
            <a:prstGeom prst="rect">
              <a:avLst/>
            </a:prstGeom>
          </p:spPr>
        </p:pic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2990850" y="3891408"/>
              <a:ext cx="3162300" cy="686692"/>
            </a:xfrm>
            <a:prstGeom prst="rect">
              <a:avLst/>
            </a:prstGeom>
          </p:spPr>
        </p:pic>
        <p:pic>
          <p:nvPicPr>
            <p:cNvPr id="19" name="Picture 18" descr="image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124200" y="2804666"/>
              <a:ext cx="1200447" cy="161925"/>
            </a:xfrm>
            <a:prstGeom prst="rect">
              <a:avLst/>
            </a:prstGeom>
          </p:spPr>
        </p:pic>
        <p:pic>
          <p:nvPicPr>
            <p:cNvPr id="20" name="Picture 19" descr="image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3124200" y="3567558"/>
              <a:ext cx="1028848" cy="161925"/>
            </a:xfrm>
            <a:prstGeom prst="rect">
              <a:avLst/>
            </a:prstGeom>
          </p:spPr>
        </p:pic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3124200" y="4330451"/>
              <a:ext cx="1314747" cy="161925"/>
            </a:xfrm>
            <a:prstGeom prst="rect">
              <a:avLst/>
            </a:prstGeom>
          </p:spPr>
        </p:pic>
        <p:pic>
          <p:nvPicPr>
            <p:cNvPr id="39" name="Picture 38" descr="image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2962275" y="1884610"/>
              <a:ext cx="93464" cy="11430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3124200" y="2438147"/>
              <a:ext cx="2924175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 u="none" dirty="0">
                  <a:solidFill>
                    <a:srgbClr val="0F172A"/>
                  </a:solidFill>
                  <a:latin typeface="Inter"/>
                </a:rPr>
                <a:t>A. Interactive CLI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124200" y="2594223"/>
              <a:ext cx="2924175" cy="1532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207"/>
                </a:lnSpc>
              </a:pPr>
              <a:r>
                <a:rPr sz="1100" b="0" i="0" u="none" dirty="0">
                  <a:solidFill>
                    <a:srgbClr val="475569"/>
                  </a:solidFill>
                  <a:latin typeface="Inter"/>
                </a:rPr>
                <a:t>Manual prompt launcher with auto URL binding.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124200" y="3201040"/>
              <a:ext cx="2924175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 u="none">
                  <a:solidFill>
                    <a:srgbClr val="0F172A"/>
                  </a:solidFill>
                  <a:latin typeface="Inter"/>
                </a:rPr>
                <a:t>B. Headless (Unattended)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124200" y="3357116"/>
              <a:ext cx="2924175" cy="1532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207"/>
                </a:lnSpc>
              </a:pPr>
              <a:r>
                <a:rPr sz="1100" b="0" i="0" u="none">
                  <a:solidFill>
                    <a:srgbClr val="475569"/>
                  </a:solidFill>
                  <a:latin typeface="Inter"/>
                </a:rPr>
                <a:t>Automated batch for scheduled nightly jobs.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124200" y="3963932"/>
              <a:ext cx="2924175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 u="none">
                  <a:solidFill>
                    <a:srgbClr val="0F172A"/>
                  </a:solidFill>
                  <a:latin typeface="Inter"/>
                </a:rPr>
                <a:t>C. Custom UI / API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124200" y="4120008"/>
              <a:ext cx="2924175" cy="1532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207"/>
                </a:lnSpc>
              </a:pPr>
              <a:r>
                <a:rPr sz="1100" b="0" i="0" u="none">
                  <a:solidFill>
                    <a:srgbClr val="475569"/>
                  </a:solidFill>
                  <a:latin typeface="Inter"/>
                </a:rPr>
                <a:t>Programmatic integration into custom apps.</a:t>
              </a:r>
            </a:p>
          </p:txBody>
        </p:sp>
        <p:pic>
          <p:nvPicPr>
            <p:cNvPr id="57" name="Picture 56" descr="image.pn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5915025" y="2465635"/>
              <a:ext cx="133350" cy="114300"/>
            </a:xfrm>
            <a:prstGeom prst="rect">
              <a:avLst/>
            </a:prstGeom>
          </p:spPr>
        </p:pic>
        <p:pic>
          <p:nvPicPr>
            <p:cNvPr id="58" name="Picture 57" descr="image.pn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934075" y="3228528"/>
              <a:ext cx="114300" cy="114300"/>
            </a:xfrm>
            <a:prstGeom prst="rect">
              <a:avLst/>
            </a:prstGeom>
          </p:spPr>
        </p:pic>
        <p:pic>
          <p:nvPicPr>
            <p:cNvPr id="59" name="Picture 58" descr="image.pn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905500" y="3991421"/>
              <a:ext cx="142875" cy="1143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CC51D4E-A2DB-C73E-3C00-0D500D1BA578}"/>
              </a:ext>
            </a:extLst>
          </p:cNvPr>
          <p:cNvGrpSpPr/>
          <p:nvPr/>
        </p:nvGrpSpPr>
        <p:grpSpPr>
          <a:xfrm>
            <a:off x="9603317" y="2102147"/>
            <a:ext cx="2000250" cy="931366"/>
            <a:chOff x="8877300" y="2473821"/>
            <a:chExt cx="2000250" cy="931366"/>
          </a:xfrm>
        </p:grpSpPr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8877300" y="2473821"/>
              <a:ext cx="2000250" cy="931366"/>
            </a:xfrm>
            <a:prstGeom prst="rect">
              <a:avLst/>
            </a:prstGeom>
          </p:spPr>
        </p:pic>
        <p:pic>
          <p:nvPicPr>
            <p:cNvPr id="17" name="Picture 16" descr="image.pn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9001125" y="3119437"/>
              <a:ext cx="1526232" cy="161925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9220200" y="2594862"/>
              <a:ext cx="1419225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 u="none" dirty="0">
                  <a:solidFill>
                    <a:srgbClr val="15803D"/>
                  </a:solidFill>
                  <a:latin typeface="Plus Jakarta Sans"/>
                </a:rPr>
                <a:t> Placed Devices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001125" y="2788146"/>
              <a:ext cx="1752600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155"/>
                </a:lnSpc>
              </a:pPr>
              <a:r>
                <a:rPr sz="1100" b="0" i="0" u="none" dirty="0">
                  <a:solidFill>
                    <a:srgbClr val="475569"/>
                  </a:solidFill>
                  <a:latin typeface="Inter"/>
                </a:rPr>
                <a:t>Assigned devices automatically written to:</a:t>
              </a:r>
            </a:p>
          </p:txBody>
        </p:sp>
        <p:pic>
          <p:nvPicPr>
            <p:cNvPr id="60" name="Picture 59" descr="image.pn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9001125" y="2626221"/>
              <a:ext cx="123825" cy="119062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9188055-467B-C075-4E35-30D2E696F9EF}"/>
              </a:ext>
            </a:extLst>
          </p:cNvPr>
          <p:cNvGrpSpPr/>
          <p:nvPr/>
        </p:nvGrpSpPr>
        <p:grpSpPr>
          <a:xfrm>
            <a:off x="9603317" y="3268660"/>
            <a:ext cx="2000250" cy="1193302"/>
            <a:chOff x="8877300" y="3519487"/>
            <a:chExt cx="2000250" cy="931366"/>
          </a:xfrm>
        </p:grpSpPr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8877300" y="3519487"/>
              <a:ext cx="2000250" cy="931366"/>
            </a:xfrm>
            <a:prstGeom prst="rect">
              <a:avLst/>
            </a:prstGeom>
          </p:spPr>
        </p:pic>
        <p:pic>
          <p:nvPicPr>
            <p:cNvPr id="18" name="Picture 17" descr="image.pn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9001125" y="4165103"/>
              <a:ext cx="1254769" cy="161925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9158287" y="3670120"/>
              <a:ext cx="1097607" cy="1321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 u="none" dirty="0">
                  <a:solidFill>
                    <a:srgbClr val="B45309"/>
                  </a:solidFill>
                  <a:latin typeface="Plus Jakarta Sans"/>
                </a:rPr>
                <a:t> Review Queue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001125" y="3833812"/>
              <a:ext cx="1752600" cy="2402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155"/>
                </a:lnSpc>
              </a:pPr>
              <a:r>
                <a:rPr sz="1100" b="0" i="0" u="none" dirty="0">
                  <a:solidFill>
                    <a:srgbClr val="475569"/>
                  </a:solidFill>
                  <a:latin typeface="Inter"/>
                </a:rPr>
                <a:t>Exceptions routed for manual human review:</a:t>
              </a:r>
            </a:p>
          </p:txBody>
        </p:sp>
        <p:pic>
          <p:nvPicPr>
            <p:cNvPr id="61" name="Picture 60" descr="image.pn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001125" y="3671887"/>
              <a:ext cx="123825" cy="119062"/>
            </a:xfrm>
            <a:prstGeom prst="rect">
              <a:avLst/>
            </a:prstGeom>
          </p:spPr>
        </p:pic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CDFF962-6F79-8AB3-10FE-2B3042A6810D}"/>
              </a:ext>
            </a:extLst>
          </p:cNvPr>
          <p:cNvSpPr txBox="1"/>
          <p:nvPr/>
        </p:nvSpPr>
        <p:spPr>
          <a:xfrm>
            <a:off x="9850967" y="1684277"/>
            <a:ext cx="1061094" cy="246221"/>
          </a:xfrm>
          <a:prstGeom prst="rect">
            <a:avLst/>
          </a:prstGeom>
          <a:solidFill>
            <a:srgbClr val="DCFCE7"/>
          </a:solidFill>
        </p:spPr>
        <p:txBody>
          <a:bodyPr wrap="square" rtlCol="0">
            <a:spAutoFit/>
          </a:bodyPr>
          <a:lstStyle/>
          <a:p>
            <a:r>
              <a:rPr lang="en-MY" sz="1000" dirty="0">
                <a:solidFill>
                  <a:srgbClr val="15803D"/>
                </a:solidFill>
                <a:latin typeface="Arial Black" panose="020B0A04020102020204" pitchFamily="34" charset="0"/>
                <a:ea typeface="Cambria" panose="02040503050406030204" pitchFamily="18" charset="0"/>
              </a:rPr>
              <a:t>OUTPUT</a:t>
            </a:r>
          </a:p>
        </p:txBody>
      </p:sp>
      <p:pic>
        <p:nvPicPr>
          <p:cNvPr id="74" name="Picture 73" descr="image.png">
            <a:extLst>
              <a:ext uri="{FF2B5EF4-FFF2-40B4-BE49-F238E27FC236}">
                <a16:creationId xmlns:a16="http://schemas.microsoft.com/office/drawing/2014/main" id="{957B4031-804B-1939-ADCE-AAC90EFD9F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11366">
            <a:off x="9226994" y="3450378"/>
            <a:ext cx="244602" cy="275177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09F2C55B-B7AD-E4E7-7C29-47A43C9FB879}"/>
              </a:ext>
            </a:extLst>
          </p:cNvPr>
          <p:cNvSpPr txBox="1"/>
          <p:nvPr/>
        </p:nvSpPr>
        <p:spPr>
          <a:xfrm>
            <a:off x="560189" y="5308854"/>
            <a:ext cx="147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hlinkClick r:id="rId36"/>
              </a:rPr>
              <a:t>Flowchart.md</a:t>
            </a:r>
            <a:endParaRPr lang="en-MY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069848"/>
            <a:ext cx="102412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sz="3600" b="1" dirty="0">
                <a:solidFill>
                  <a:srgbClr val="C46A24"/>
                </a:solidFill>
                <a:latin typeface="Consolas"/>
              </a:rPr>
              <a:t>05 ·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5285232" cy="1810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" y="24231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A6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BLOCKER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34640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171A1D"/>
                </a:solidFill>
                <a:latin typeface="Cambria"/>
              </a:rPr>
              <a:t>Quota patterns are </a:t>
            </a:r>
            <a:r>
              <a:rPr lang="en-US" sz="1600" b="1" i="0" dirty="0">
                <a:solidFill>
                  <a:srgbClr val="171A1D"/>
                </a:solidFill>
                <a:latin typeface="Cambria"/>
              </a:rPr>
              <a:t>dummy</a:t>
            </a:r>
            <a:endParaRPr sz="1600" b="1" i="0" dirty="0">
              <a:solidFill>
                <a:srgbClr val="171A1D"/>
              </a:solidFill>
              <a:latin typeface="Cambri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5285232" cy="1810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0" y="24231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A6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BLOCKER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sz="1600" b="1" dirty="0">
                <a:solidFill>
                  <a:srgbClr val="171A1D"/>
                </a:solidFill>
                <a:latin typeface="Cambria"/>
              </a:rPr>
              <a:t>Dataset are dummy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29050" y="4142232"/>
            <a:ext cx="5285232" cy="1810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94810" y="441655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C46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onsolas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4810" y="482803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71A1D"/>
                </a:solidFill>
                <a:latin typeface="Cambria"/>
              </a:rPr>
              <a:t>Validated on representative, not live,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4810" y="5221224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7717C"/>
                </a:solidFill>
                <a:latin typeface="Calibri"/>
              </a:rPr>
              <a:t>We need a run against a completed project where the answer is already known, so accuracy is measured rather than estimated.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6ABC1-84AC-C1D6-3020-B6B7B4A5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21A5-E89B-7CDB-57E7-88919BA17B8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D1BD80-4047-F136-5392-68E72ABF82F1}"/>
              </a:ext>
            </a:extLst>
          </p:cNvPr>
          <p:cNvSpPr txBox="1"/>
          <p:nvPr/>
        </p:nvSpPr>
        <p:spPr>
          <a:xfrm>
            <a:off x="4791075" y="3423225"/>
            <a:ext cx="2466975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 dirty="0">
                <a:solidFill>
                  <a:srgbClr val="FFFFFF"/>
                </a:solidFill>
                <a:latin typeface="Cambria"/>
              </a:rPr>
              <a:t>The </a:t>
            </a:r>
            <a:r>
              <a:rPr lang="en-US" sz="3800" b="1" i="0" dirty="0">
                <a:solidFill>
                  <a:srgbClr val="FFFFFF"/>
                </a:solidFill>
                <a:latin typeface="Cambria"/>
              </a:rPr>
              <a:t>End</a:t>
            </a:r>
            <a:endParaRPr sz="3800" b="1" i="0" dirty="0">
              <a:solidFill>
                <a:srgbClr val="FFFFFF"/>
              </a:solidFill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225617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069848"/>
            <a:ext cx="102412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C46A24"/>
                </a:solidFill>
                <a:latin typeface="Consolas"/>
              </a:rPr>
              <a:t>01 · WHY THIS PROJECT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5486400" cy="22536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600" b="0" i="0" dirty="0">
                <a:solidFill>
                  <a:srgbClr val="171A1D"/>
                </a:solidFill>
                <a:latin typeface="Calibri"/>
              </a:rPr>
              <a:t>Each device must be identified by type, assigned to a process section and grouped into a cluster before any downstream work can begin.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600" b="1" i="0" dirty="0">
                <a:solidFill>
                  <a:srgbClr val="171A1D"/>
                </a:solidFill>
                <a:latin typeface="Calibri"/>
              </a:rPr>
              <a:t>Today an engineer does this by hand.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00" b="0" i="0" dirty="0">
                <a:solidFill>
                  <a:srgbClr val="67717C"/>
                </a:solidFill>
                <a:latin typeface="Calibri"/>
              </a:rPr>
              <a:t>It is slow, repetitive, and two engineers working the same list will not always produce the same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103120"/>
            <a:ext cx="47091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78040" y="24688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7717C"/>
                </a:solidFill>
                <a:latin typeface="Consolas"/>
              </a:rPr>
              <a:t>WHAT A DEVICE LIST LOOKS LIKE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297180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HT27PF1B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99923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71A1D"/>
                </a:solidFill>
                <a:latin typeface="Calibri"/>
              </a:rPr>
              <a:t>Heater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352044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LL37PL1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54787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71A1D"/>
                </a:solidFill>
                <a:latin typeface="Calibri"/>
              </a:rPr>
              <a:t>Low level switch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406908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TC37PR1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09651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71A1D"/>
                </a:solidFill>
                <a:latin typeface="Calibri"/>
              </a:rPr>
              <a:t>Temperature transmitter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461772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V09CF2DA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64515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71A1D"/>
                </a:solidFill>
                <a:latin typeface="Calibri"/>
              </a:rPr>
              <a:t>On/off valve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9834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7717C"/>
                </a:solidFill>
                <a:latin typeface="Calibri"/>
              </a:rPr>
              <a:t>Hundreds per project  ·  sorted by hand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1208</TotalTime>
  <Words>713</Words>
  <Application>Microsoft Office PowerPoint</Application>
  <PresentationFormat>Widescreen</PresentationFormat>
  <Paragraphs>103</Paragraphs>
  <Slides>11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Arial Black</vt:lpstr>
      <vt:lpstr>Calibri</vt:lpstr>
      <vt:lpstr>Cambria</vt:lpstr>
      <vt:lpstr>Consolas</vt:lpstr>
      <vt:lpstr>Inter</vt:lpstr>
      <vt:lpstr>Inter ExtraBold</vt:lpstr>
      <vt:lpstr>Inter SemiBold</vt:lpstr>
      <vt:lpstr>Plus Jakarta Sans</vt:lpstr>
      <vt:lpstr>Plus Jakarta Sans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Siti Syaziyah Binti Samiri</cp:lastModifiedBy>
  <cp:revision>3</cp:revision>
  <dcterms:created xsi:type="dcterms:W3CDTF">2013-01-27T09:14:16Z</dcterms:created>
  <dcterms:modified xsi:type="dcterms:W3CDTF">2026-09-18T09:07:51Z</dcterms:modified>
  <cp:category/>
</cp:coreProperties>
</file>