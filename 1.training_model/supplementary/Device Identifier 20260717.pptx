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85"/>
  </p:notesMasterIdLst>
  <p:sldIdLst>
    <p:sldId id="256" r:id="rId2"/>
    <p:sldId id="401" r:id="rId3"/>
    <p:sldId id="402" r:id="rId4"/>
    <p:sldId id="315" r:id="rId5"/>
    <p:sldId id="348" r:id="rId6"/>
    <p:sldId id="395" r:id="rId7"/>
    <p:sldId id="396" r:id="rId8"/>
    <p:sldId id="398" r:id="rId9"/>
    <p:sldId id="403" r:id="rId10"/>
    <p:sldId id="409" r:id="rId11"/>
    <p:sldId id="410" r:id="rId12"/>
    <p:sldId id="415" r:id="rId13"/>
    <p:sldId id="411" r:id="rId14"/>
    <p:sldId id="414" r:id="rId15"/>
    <p:sldId id="412" r:id="rId16"/>
    <p:sldId id="413" r:id="rId17"/>
    <p:sldId id="408" r:id="rId18"/>
    <p:sldId id="406" r:id="rId19"/>
    <p:sldId id="407" r:id="rId20"/>
    <p:sldId id="397" r:id="rId21"/>
    <p:sldId id="404" r:id="rId22"/>
    <p:sldId id="400" r:id="rId23"/>
    <p:sldId id="392" r:id="rId24"/>
    <p:sldId id="393" r:id="rId25"/>
    <p:sldId id="391" r:id="rId26"/>
    <p:sldId id="389" r:id="rId27"/>
    <p:sldId id="390" r:id="rId28"/>
    <p:sldId id="399" r:id="rId29"/>
    <p:sldId id="382" r:id="rId30"/>
    <p:sldId id="375" r:id="rId31"/>
    <p:sldId id="380" r:id="rId32"/>
    <p:sldId id="381" r:id="rId33"/>
    <p:sldId id="386" r:id="rId34"/>
    <p:sldId id="383" r:id="rId35"/>
    <p:sldId id="384" r:id="rId36"/>
    <p:sldId id="376" r:id="rId37"/>
    <p:sldId id="347" r:id="rId38"/>
    <p:sldId id="378" r:id="rId39"/>
    <p:sldId id="362" r:id="rId40"/>
    <p:sldId id="363" r:id="rId41"/>
    <p:sldId id="387" r:id="rId42"/>
    <p:sldId id="366" r:id="rId43"/>
    <p:sldId id="385" r:id="rId44"/>
    <p:sldId id="373" r:id="rId45"/>
    <p:sldId id="374" r:id="rId46"/>
    <p:sldId id="369" r:id="rId47"/>
    <p:sldId id="370" r:id="rId48"/>
    <p:sldId id="372" r:id="rId49"/>
    <p:sldId id="367" r:id="rId50"/>
    <p:sldId id="352" r:id="rId51"/>
    <p:sldId id="388" r:id="rId52"/>
    <p:sldId id="351" r:id="rId53"/>
    <p:sldId id="377" r:id="rId54"/>
    <p:sldId id="371" r:id="rId55"/>
    <p:sldId id="356" r:id="rId56"/>
    <p:sldId id="355" r:id="rId57"/>
    <p:sldId id="346" r:id="rId58"/>
    <p:sldId id="349" r:id="rId59"/>
    <p:sldId id="350" r:id="rId60"/>
    <p:sldId id="353" r:id="rId61"/>
    <p:sldId id="354" r:id="rId62"/>
    <p:sldId id="357" r:id="rId63"/>
    <p:sldId id="358" r:id="rId64"/>
    <p:sldId id="360" r:id="rId65"/>
    <p:sldId id="361" r:id="rId66"/>
    <p:sldId id="365" r:id="rId67"/>
    <p:sldId id="379" r:id="rId68"/>
    <p:sldId id="325" r:id="rId69"/>
    <p:sldId id="292" r:id="rId70"/>
    <p:sldId id="328" r:id="rId71"/>
    <p:sldId id="329" r:id="rId72"/>
    <p:sldId id="330" r:id="rId73"/>
    <p:sldId id="331" r:id="rId74"/>
    <p:sldId id="332" r:id="rId75"/>
    <p:sldId id="334" r:id="rId76"/>
    <p:sldId id="335" r:id="rId77"/>
    <p:sldId id="336" r:id="rId78"/>
    <p:sldId id="323" r:id="rId79"/>
    <p:sldId id="333" r:id="rId80"/>
    <p:sldId id="327" r:id="rId81"/>
    <p:sldId id="337" r:id="rId82"/>
    <p:sldId id="338" r:id="rId83"/>
    <p:sldId id="345" r:id="rId8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CDF6F9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86" autoAdjust="0"/>
    <p:restoredTop sz="94404" autoAdjust="0"/>
  </p:normalViewPr>
  <p:slideViewPr>
    <p:cSldViewPr snapToGrid="0">
      <p:cViewPr varScale="1">
        <p:scale>
          <a:sx n="107" d="100"/>
          <a:sy n="107" d="100"/>
        </p:scale>
        <p:origin x="480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DF297-4C4A-460D-D5C6-1052BAE03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B6DC2-8593-AC5C-68B3-4219E8F0D8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BB3D06-BAB0-C40F-6AFF-6F3B3C2BA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88249-10B4-C9F0-56E2-A300D2002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1971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../../Prediction_service/DeviceClusterServiceApp/run-service-app.cmd" TargetMode="External"/><Relationship Id="rId3" Type="http://schemas.openxmlformats.org/officeDocument/2006/relationships/hyperlink" Target="../../Prediction_service/DeviceClusterServiceApp/bin/Debug/net10.0-windows/win-x64/DeviceClusterServiceApp.exe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1.%20Flowchart%20ML%20development.xlsx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png"/><Relationship Id="rId4" Type="http://schemas.openxmlformats.org/officeDocument/2006/relationships/image" Target="../media/image29.png"/><Relationship Id="rId5" Type="http://schemas.openxmlformats.org/officeDocument/2006/relationships/image" Target="../media/image1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Relationship Id="rId3" Type="http://schemas.openxmlformats.org/officeDocument/2006/relationships/image" Target="../media/image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Relationship Id="rId3" Type="http://schemas.openxmlformats.org/officeDocument/2006/relationships/image" Target="../media/image3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6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2557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564E01-BAA1-3A89-DFDE-C6F7EABF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DBE3FE-6883-A227-C95A-B32903D311D5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D2779F-9925-E325-FD88-915EA0A5D0CD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732A7E-BA3B-19E7-859F-398584523842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8FCEA9-F455-6C16-BB8C-382255BE9894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690BB-103E-7C11-F8EB-CB4FE85DE712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0C556A-6B3D-D4B1-78B9-6C841EAFB988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EDB00B-031B-3558-188F-1B669068451F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01B2585-DD4F-3D4E-50BA-E8FFF493CA24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56FC65-EC4A-F4C3-1F0B-8600C821E9A3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3BE331-0BED-83CF-CF1D-87ACB76C2168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645B15-6F0B-6044-7386-8E89F162D29E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E9E6D6B-4ED8-1A25-F0A2-3C19373F09A8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0AB3AE-E39A-368D-FB9D-83C2C861DB2F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2A7B0DA-C509-7765-1F33-5207CD1D1245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DDA82C7-6A79-0834-F36D-29F4D6E7F1DD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4F79B6-40C9-023A-07D5-066E844897F7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0086AB6-6520-9248-985A-10E16372D3A3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73FA1BA-16B6-28C7-5B08-E0BAED39A806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BE64327-A594-A0F9-48EE-AA8619A6F8A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E5BD1BD-5875-2B33-B60D-A218A3069F3D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133E43C-356A-5352-D8C3-A2937C629299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E9559C-A8DD-7924-369A-4F9D2B5100A2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A45D876-29DD-ADBB-A514-B337E73BD17F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DF429FB-317C-A832-F169-749B844BBDB8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3B1C0D6-006B-1509-41E2-1A8A5DB4876E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45A4A9C-F38C-B936-9507-8477A826CD37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B601146-C144-E99D-306E-58E1A32A5C69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F6E48D5-461B-7674-CB2D-7511BCDD475B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503350-D559-ED07-9550-A4DA89247889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50F6575-8D14-BD88-0EDB-A1125532BE4A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D2373B1-E611-C850-DC58-D34188C6A52A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17BB654-31A9-9DA1-013B-55718E83DB1D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514C51B-723B-B72A-BF4E-6D5BBA83199D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09169AF-E4E6-DB2D-A6ED-C259FEEE4471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44D5271-77C4-A1AC-4D57-C76A08FF9854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0BE8E226-C0D9-AB17-D117-9DA0B9C24248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B8FBA6-85B0-906E-1C53-A1A2A2A14FA0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781810-DEC4-76B2-2724-39A10B68A4D9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152324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445" y="1801640"/>
            <a:ext cx="7049475" cy="429098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2270791" y="156793"/>
            <a:ext cx="737612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 – USING IN TRAINING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6079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UPDATE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5338406" y="147579"/>
            <a:ext cx="1967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UPDATE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807611"/>
              </p:ext>
            </p:extLst>
          </p:nvPr>
        </p:nvGraphicFramePr>
        <p:xfrm>
          <a:off x="385482" y="1095529"/>
          <a:ext cx="11506151" cy="31271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072824541"/>
                    </a:ext>
                  </a:extLst>
                </a:gridCol>
                <a:gridCol w="4229075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31/07/26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</a:t>
                      </a:r>
                      <a:r>
                        <a:rPr lang="en-US" sz="2000" b="1" dirty="0"/>
                        <a:t>Movement of dataset [UDPATE 04/08/26]</a:t>
                      </a:r>
                      <a:r>
                        <a:rPr lang="en-US" sz="2000" dirty="0"/>
                        <a:t>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Synch with </a:t>
                      </a:r>
                      <a:r>
                        <a:rPr lang="en-US" sz="2000" dirty="0" err="1"/>
                        <a:t>devops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72594"/>
              </p:ext>
            </p:extLst>
          </p:nvPr>
        </p:nvGraphicFramePr>
        <p:xfrm>
          <a:off x="396558" y="1078903"/>
          <a:ext cx="11398884" cy="50951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32242">
                  <a:extLst>
                    <a:ext uri="{9D8B030D-6E8A-4147-A177-3AD203B41FA5}">
                      <a16:colId xmlns:a16="http://schemas.microsoft.com/office/drawing/2014/main" val="401461631"/>
                    </a:ext>
                  </a:extLst>
                </a:gridCol>
                <a:gridCol w="487707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9620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1933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On drafting </a:t>
                      </a:r>
                      <a:r>
                        <a:rPr lang="en-US" sz="2000" dirty="0"/>
                        <a:t>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6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  <a:p>
                      <a:endParaRPr lang="en-MY" sz="2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XG Boost: </a:t>
                      </a:r>
                    </a:p>
                    <a:p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Wilmar, </a:t>
                      </a:r>
                      <a:r>
                        <a:rPr lang="en-MY" sz="2000" b="1" dirty="0" err="1">
                          <a:highlight>
                            <a:srgbClr val="FFFF00"/>
                          </a:highlight>
                        </a:rPr>
                        <a:t>Oiltek</a:t>
                      </a:r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, UGS (edit!!)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264295"/>
              </p:ext>
            </p:extLst>
          </p:nvPr>
        </p:nvGraphicFramePr>
        <p:xfrm>
          <a:off x="396558" y="1078903"/>
          <a:ext cx="11398884" cy="30835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42595">
                  <a:extLst>
                    <a:ext uri="{9D8B030D-6E8A-4147-A177-3AD203B41FA5}">
                      <a16:colId xmlns:a16="http://schemas.microsoft.com/office/drawing/2014/main" val="2131101823"/>
                    </a:ext>
                  </a:extLst>
                </a:gridCol>
                <a:gridCol w="691792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5146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6237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05/08/26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05/08/26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18CEF4-4974-5CA2-F4D2-846E2325C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E9AEDC-0371-CF15-7F99-40589C3D4E1D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17/08/26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DBCB02-C780-88E3-7338-F97D8CCD24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888777"/>
              </p:ext>
            </p:extLst>
          </p:nvPr>
        </p:nvGraphicFramePr>
        <p:xfrm>
          <a:off x="396558" y="1078903"/>
          <a:ext cx="11398884" cy="52171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 rowSpan="2"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17/08/26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Build up new pipeline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US" sz="2000" dirty="0"/>
                        <a:t>EQUIPMENT TYPE = Logic function – no model involve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Script “predict_equipment.py”</a:t>
                      </a:r>
                    </a:p>
                    <a:p>
                      <a:r>
                        <a:rPr lang="en-MY" sz="2000" dirty="0"/>
                        <a:t>Integrated inside C#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 vMerge="1"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US" sz="2000" dirty="0"/>
                        <a:t>Section and Cluster = </a:t>
                      </a:r>
                      <a:r>
                        <a:rPr lang="en-US" sz="2000" dirty="0" err="1"/>
                        <a:t>XGBoost</a:t>
                      </a:r>
                      <a:r>
                        <a:rPr lang="en-US" sz="2000" dirty="0"/>
                        <a:t> Model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Proceed as previous model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= Name based on the project from SQL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unallocated_device_ids.json</a:t>
                      </a:r>
                      <a:r>
                        <a:rPr lang="en-MY" dirty="0"/>
                        <a:t> 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</a:t>
                      </a:r>
                      <a:r>
                        <a:rPr lang="en-MY" dirty="0"/>
                        <a:t>Single file, Dedupe key and unique (</a:t>
                      </a:r>
                      <a:r>
                        <a:rPr lang="en-MY" dirty="0" err="1"/>
                        <a:t>DeviceId</a:t>
                      </a:r>
                      <a:r>
                        <a:rPr lang="en-MY" dirty="0"/>
                        <a:t> + </a:t>
                      </a:r>
                      <a:r>
                        <a:rPr lang="en-MY" dirty="0" err="1"/>
                        <a:t>ProjectCode</a:t>
                      </a:r>
                      <a:r>
                        <a:rPr lang="en-MY" dirty="0"/>
                        <a:t>), Status lifecycle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floating_deviceid.json</a:t>
                      </a:r>
                      <a:r>
                        <a:rPr lang="en-MY" dirty="0"/>
                        <a:t> = Used in quota allocation, contain percentage prediction of cluster, Single file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20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20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              = model.dll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unallocated_device_ids.json</a:t>
                      </a:r>
                      <a:r>
                        <a:rPr lang="en-MY" sz="2000" dirty="0"/>
                        <a:t> </a:t>
                      </a: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logic.dll</a:t>
                      </a:r>
                      <a:endParaRPr lang="en-MY" sz="2000" dirty="0"/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floating_deviceid.json</a:t>
                      </a:r>
                      <a:r>
                        <a:rPr lang="en-MY" sz="2000" dirty="0"/>
                        <a:t>          = logic.dll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7881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AB38A-E6EB-1AA3-D409-6ACA93095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01485D-69BC-608C-5D06-ED83988F2B2E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19/08/26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727185F-046E-311D-0BC1-FED8DBA8B8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653658"/>
              </p:ext>
            </p:extLst>
          </p:nvPr>
        </p:nvGraphicFramePr>
        <p:xfrm>
          <a:off x="253122" y="1105797"/>
          <a:ext cx="11398884" cy="47050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Change dbo.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DummySection2OiltekA9998 into </a:t>
                      </a:r>
                      <a:r>
                        <a:rPr lang="en-MY" sz="18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dbo.DummyTestingData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(1 project)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 change for all related path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class function in </a:t>
                      </a:r>
                      <a:r>
                        <a:rPr lang="en-US" sz="2000" dirty="0" err="1"/>
                        <a:t>PythonSQL</a:t>
                      </a:r>
                      <a:r>
                        <a:rPr lang="en-US" sz="2000" dirty="0"/>
                        <a:t> [</a:t>
                      </a:r>
                      <a:r>
                        <a:rPr lang="en-US" sz="2000" dirty="0" err="1"/>
                        <a:t>LoadProjectDataAsync</a:t>
                      </a:r>
                      <a:r>
                        <a:rPr lang="en-US" sz="2000" dirty="0"/>
                        <a:t>]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Add multiple project with many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25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  <a:endParaRPr kumimoji="0" lang="en-MY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Check </a:t>
                      </a:r>
                      <a:r>
                        <a:rPr lang="en-US" sz="2000" dirty="0" err="1"/>
                        <a:t>json</a:t>
                      </a:r>
                      <a:r>
                        <a:rPr lang="en-US" sz="2000" dirty="0"/>
                        <a:t> make sure unique for 1 entry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unallocated_device_ids.json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floating_deviceid.json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1946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Pattern hardcoded in assign cluster –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GetDraftQuotas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PROBLEM : current example only applicable for SCETION 2 only.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ACTION : need to create dummy pattern for cluster quota allocation for ALL the section = by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CustomerCode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 FILE : SQL [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dbo.PatternCluster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811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8323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EE936E-7DB2-ED25-8B50-F5EE90D6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9C0D96-2408-2461-3DCC-2FE24422B204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20/08/26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0351EC3-0C0E-52AB-92B5-838E5ACF56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299377"/>
              </p:ext>
            </p:extLst>
          </p:nvPr>
        </p:nvGraphicFramePr>
        <p:xfrm>
          <a:off x="253122" y="1105797"/>
          <a:ext cx="11398884" cy="50147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the output console aps for fulfilled and vacant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559121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 </a:t>
                      </a:r>
                      <a:r>
                        <a:rPr lang="en-US" sz="2000" dirty="0" err="1"/>
                        <a:t>mindmap</a:t>
                      </a:r>
                      <a:r>
                        <a:rPr lang="en-US" sz="2000" dirty="0"/>
                        <a:t> and coding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15696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</a:t>
                      </a:r>
                      <a:r>
                        <a:rPr lang="en-US" sz="2000" dirty="0" err="1"/>
                        <a:t>dbo.DeviceReviewQueue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684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output </a:t>
                      </a:r>
                      <a:r>
                        <a:rPr lang="en-US" sz="2000" dirty="0" err="1"/>
                        <a:t>dbo</a:t>
                      </a:r>
                      <a:r>
                        <a:rPr lang="en-US" sz="2000" dirty="0"/>
                        <a:t> in SQL – </a:t>
                      </a:r>
                      <a:r>
                        <a:rPr lang="en-US" sz="2000" dirty="0" err="1"/>
                        <a:t>dbo.OutputDeviceAssignment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96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Output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SQL return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377886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26/08/26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Question : Should I save in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json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or SQL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inside JSON, how the UI can detect and relate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Suggestion = save in SQL so that easier to map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296128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26/08/26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Using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Nuget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andover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the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dll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library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23025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Documentation of function class library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5091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27/08/26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Draft system architecture of ML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542238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28/08/26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Create flowchart.md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22287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4071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E3F0BD-C1A5-47FF-D239-F18BB0C5C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6BF3E9-51AC-8DEB-2D9A-4B99F3CC0225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01/09/26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23C4FE1-EEBB-6A51-2ADC-60EE6DAE4E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83464"/>
              </p:ext>
            </p:extLst>
          </p:nvPr>
        </p:nvGraphicFramePr>
        <p:xfrm>
          <a:off x="253122" y="1105797"/>
          <a:ext cx="11398884" cy="49427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7593107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057834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r>
                        <a:rPr lang="en-MY" sz="2000" dirty="0"/>
                        <a:t>01/09/26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CMD files 1 click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600" dirty="0">
                          <a:hlinkClick r:id="rId2" action="ppaction://hlinkfile"/>
                        </a:rPr>
                        <a:t>"C:\Users\sitisyaziyah\source\repos\DeviceCluster\Prediction_service\DeviceClusterServiceApp\</a:t>
                      </a:r>
                      <a:r>
                        <a:rPr lang="en-US" sz="1600" b="1" dirty="0">
                          <a:highlight>
                            <a:srgbClr val="000080"/>
                          </a:highlight>
                          <a:hlinkClick r:id="rId2" action="ppaction://hlinkfile"/>
                        </a:rPr>
                        <a:t>run-service-app.cmd</a:t>
                      </a:r>
                      <a:r>
                        <a:rPr lang="en-US" sz="1600" dirty="0"/>
                        <a:t>“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Exe files : </a:t>
                      </a:r>
                    </a:p>
                    <a:p>
                      <a:r>
                        <a:rPr lang="en-MY" sz="1600" dirty="0">
                          <a:solidFill>
                            <a:srgbClr val="ED87A6"/>
                          </a:solidFill>
                          <a:hlinkClick r:id="rId3" action="ppaction://hlink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"C:\Users\sitisyaziyah\source\repos\DeviceCluster\Prediction_service\DeviceClusterServiceApp\bin\Debug\net10.0-windows\win-x64\</a:t>
                      </a:r>
                      <a:r>
                        <a:rPr lang="en-MY" sz="1600" b="1" dirty="0">
                          <a:solidFill>
                            <a:schemeClr val="tx2"/>
                          </a:solidFill>
                          <a:highlight>
                            <a:srgbClr val="FF00FF"/>
                          </a:highlight>
                          <a:hlinkClick r:id="rId3" action="ppaction://hlink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DeviceClusterServiceApp.exe</a:t>
                      </a:r>
                      <a:r>
                        <a:rPr lang="en-MY" sz="1600" dirty="0">
                          <a:highlight>
                            <a:srgbClr val="FF00FF"/>
                          </a:highlight>
                        </a:rPr>
                        <a:t>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559121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01/09/26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Server </a:t>
                      </a:r>
                      <a:r>
                        <a:rPr lang="en-MY" sz="2000" dirty="0"/>
                        <a:t>: </a:t>
                      </a:r>
                      <a:r>
                        <a:rPr lang="en-MY" sz="2000" b="1" dirty="0"/>
                        <a:t>128.100.8.213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/>
                        <a:t>Port : 80 </a:t>
                      </a:r>
                      <a:r>
                        <a:rPr lang="en-MY" sz="2000" dirty="0"/>
                        <a:t>[Azure </a:t>
                      </a:r>
                      <a:r>
                        <a:rPr lang="en-MY" sz="2000" dirty="0" err="1"/>
                        <a:t>Devops</a:t>
                      </a:r>
                      <a:r>
                        <a:rPr lang="en-MY" sz="2000" dirty="0"/>
                        <a:t>] </a:t>
                      </a:r>
                      <a:endParaRPr lang="en-MY" sz="2000" b="1" dirty="0"/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MY" sz="2000" b="1" dirty="0"/>
                        <a:t>Port : 8000 </a:t>
                      </a:r>
                      <a:r>
                        <a:rPr lang="en-MY" sz="2000" dirty="0"/>
                        <a:t>[ML_SERVICE_URL] </a:t>
                      </a:r>
                      <a:r>
                        <a:rPr lang="en-MY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Service : http://</a:t>
                      </a:r>
                      <a:r>
                        <a:rPr lang="en-MY" sz="2000" b="1" kern="12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128.100.8.213:8000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MY" sz="1600" dirty="0"/>
                        <a:t>Python 3.13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MY" sz="1600" dirty="0"/>
                        <a:t>ML package - </a:t>
                      </a:r>
                      <a:r>
                        <a:rPr lang="en-MY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scikit-learn</a:t>
                      </a:r>
                      <a:r>
                        <a:rPr lang="en-MY" sz="1600" dirty="0"/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xgboost</a:t>
                      </a:r>
                      <a:r>
                        <a:rPr lang="en-MY" sz="1600" dirty="0"/>
                        <a:t>, </a:t>
                      </a:r>
                      <a:r>
                        <a:rPr lang="en-MY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pandas</a:t>
                      </a:r>
                      <a:r>
                        <a:rPr lang="en-MY" sz="1600" dirty="0"/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numpy</a:t>
                      </a:r>
                      <a:r>
                        <a:rPr lang="en-MY" sz="1600" dirty="0"/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scipy</a:t>
                      </a:r>
                      <a:r>
                        <a:rPr lang="en-MY" sz="1600" dirty="0"/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joblib</a:t>
                      </a:r>
                      <a:r>
                        <a:rPr lang="en-MY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fastapi</a:t>
                      </a:r>
                      <a:r>
                        <a:rPr lang="en-MY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uvicorn</a:t>
                      </a:r>
                      <a:endParaRPr lang="en-MY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15696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Finalize DeviceIdentiferProgress.pptx</a:t>
                      </a:r>
                    </a:p>
                    <a:p>
                      <a:r>
                        <a:rPr lang="en-MY" sz="2000" dirty="0" err="1"/>
                        <a:t>Filepath</a:t>
                      </a:r>
                      <a:r>
                        <a:rPr lang="en-MY" sz="2000" dirty="0"/>
                        <a:t> : </a:t>
                      </a:r>
                      <a:r>
                        <a:rPr lang="en-MY" sz="1400" dirty="0"/>
                        <a:t>"C:\Users\sitisyaziyah\source\repos\DeviceCluster\handoff\</a:t>
                      </a:r>
                      <a:r>
                        <a:rPr lang="en-MY" sz="1400" b="1" dirty="0">
                          <a:highlight>
                            <a:srgbClr val="FFFF00"/>
                          </a:highlight>
                        </a:rPr>
                        <a:t>DeviceIdentifierProgress.pptx</a:t>
                      </a:r>
                      <a:r>
                        <a:rPr lang="en-MY" sz="1400" dirty="0"/>
                        <a:t>"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684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968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9012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74516-6CC0-6962-F4FB-B6AF3A65E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21DEBC-6CE4-50BB-ED04-2005E53AA1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445" r="13134"/>
          <a:stretch>
            <a:fillRect/>
          </a:stretch>
        </p:blipFill>
        <p:spPr>
          <a:xfrm>
            <a:off x="2458459" y="304800"/>
            <a:ext cx="7456506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3811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3ACEC7-1349-9900-B0D4-A0A1D340C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1D7F591-04F1-3D97-D8B5-F95EDFB11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4741" y="321048"/>
            <a:ext cx="7960562" cy="571388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85A694B-3B23-5085-1EDA-5FCF76C89B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428812" y="4056596"/>
            <a:ext cx="3836894" cy="16870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B3DF90-554C-D4CA-7B59-B6C9385D8287}"/>
              </a:ext>
            </a:extLst>
          </p:cNvPr>
          <p:cNvSpPr/>
          <p:nvPr/>
        </p:nvSpPr>
        <p:spPr>
          <a:xfrm>
            <a:off x="3788876" y="3934878"/>
            <a:ext cx="1294111" cy="338554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ML service</a:t>
            </a:r>
            <a:endParaRPr lang="en-US" sz="1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1C682-793F-395F-2D00-5451BB5A4F39}"/>
              </a:ext>
            </a:extLst>
          </p:cNvPr>
          <p:cNvSpPr/>
          <p:nvPr/>
        </p:nvSpPr>
        <p:spPr>
          <a:xfrm>
            <a:off x="2961233" y="1577787"/>
            <a:ext cx="4551192" cy="41954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BDF99D-BEF2-B31E-668B-36355C2433E2}"/>
              </a:ext>
            </a:extLst>
          </p:cNvPr>
          <p:cNvSpPr/>
          <p:nvPr/>
        </p:nvSpPr>
        <p:spPr>
          <a:xfrm>
            <a:off x="3797842" y="1750597"/>
            <a:ext cx="2514600" cy="338554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API service  ·  PLANNED</a:t>
            </a:r>
            <a:endParaRPr lang="en-US" sz="1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9D60D6-0DA1-65C7-DF57-57D4157ADCDE}"/>
              </a:ext>
            </a:extLst>
          </p:cNvPr>
          <p:cNvSpPr/>
          <p:nvPr/>
        </p:nvSpPr>
        <p:spPr>
          <a:xfrm>
            <a:off x="7763435" y="1325096"/>
            <a:ext cx="2402541" cy="25918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7DE6BD-0033-3677-FB94-41B79BDA5198}"/>
              </a:ext>
            </a:extLst>
          </p:cNvPr>
          <p:cNvSpPr txBox="1"/>
          <p:nvPr/>
        </p:nvSpPr>
        <p:spPr>
          <a:xfrm>
            <a:off x="8127724" y="1063438"/>
            <a:ext cx="16505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MY" b="1" dirty="0"/>
              <a:t>Neptune Server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1DD557-EB55-6258-C96F-3A383005E99F}"/>
              </a:ext>
            </a:extLst>
          </p:cNvPr>
          <p:cNvSpPr txBox="1"/>
          <p:nvPr/>
        </p:nvSpPr>
        <p:spPr>
          <a:xfrm>
            <a:off x="2682637" y="1294860"/>
            <a:ext cx="181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MY" b="1" dirty="0"/>
              <a:t>SSSBPD01 Server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3784" y="6053328"/>
            <a:ext cx="79644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85042"/>
                </a:solidFill>
                <a:latin typeface="Calibri"/>
              </a:rPr>
              <a:t>PLANNED  </a:t>
            </a:r>
            <a:r>
              <a:rPr sz="1000">
                <a:solidFill>
                  <a:srgbClr val="5A646F"/>
                </a:solidFill>
                <a:latin typeface="Calibri"/>
              </a:rPr>
              <a:t>XenAPI does not exist yet — it is the handover work. Today Logic.dll and Model.dll run inside a console app on a developer PC, not on SSSBPD01. Port 80 there is already taken by Azure DevOps, so XenAPI will need its own port. Everything else shown is live: the ML service on SSSBPD01:8000, and the four tables on Neptune.</a:t>
            </a:r>
          </a:p>
        </p:txBody>
      </p:sp>
    </p:spTree>
    <p:extLst>
      <p:ext uri="{BB962C8B-B14F-4D97-AF65-F5344CB8AC3E}">
        <p14:creationId xmlns:p14="http://schemas.microsoft.com/office/powerpoint/2010/main" val="2910209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A86A1-E797-4C32-71BD-3485E4069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609802-65A4-2942-3E3A-860EC4ECA2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892" y="2833206"/>
            <a:ext cx="9608215" cy="344208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5D3251-3E05-0B49-FC33-A6E9D388D6B3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dbo.OutputDeviceAssignment</a:t>
            </a:r>
            <a:endParaRPr lang="en-MY" sz="3600" dirty="0"/>
          </a:p>
        </p:txBody>
      </p:sp>
    </p:spTree>
    <p:extLst>
      <p:ext uri="{BB962C8B-B14F-4D97-AF65-F5344CB8AC3E}">
        <p14:creationId xmlns:p14="http://schemas.microsoft.com/office/powerpoint/2010/main" val="36624168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FA872F-E69A-2D92-F627-6B0BDCF92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98DF7DE-50DE-1F0B-DFAE-878F7CB8100C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dbo.DeviceReviewQueue</a:t>
            </a:r>
            <a:endParaRPr lang="en-MY" sz="3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0674F0-DA47-4400-515D-D32A78450A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7299"/>
          <a:stretch>
            <a:fillRect/>
          </a:stretch>
        </p:blipFill>
        <p:spPr>
          <a:xfrm>
            <a:off x="1284186" y="2099615"/>
            <a:ext cx="9479402" cy="3841799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653041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B83E33-3A33-201B-7189-951E3CBB8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5A449B-8EB3-DDD5-58A4-5BB43CB57EE9}"/>
              </a:ext>
            </a:extLst>
          </p:cNvPr>
          <p:cNvSpPr txBox="1"/>
          <p:nvPr/>
        </p:nvSpPr>
        <p:spPr>
          <a:xfrm>
            <a:off x="2904566" y="262161"/>
            <a:ext cx="57778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JSON file</a:t>
            </a:r>
          </a:p>
          <a:p>
            <a:pPr algn="ctr"/>
            <a:r>
              <a:rPr lang="en-US" sz="1200" dirty="0"/>
              <a:t>** has been removed from the script since and change into SQL </a:t>
            </a:r>
            <a:r>
              <a:rPr lang="en-US" sz="1200" dirty="0" err="1"/>
              <a:t>dbo</a:t>
            </a:r>
            <a:r>
              <a:rPr lang="en-US" sz="1200" dirty="0"/>
              <a:t> table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43F34C5-78E3-A69E-A1CD-7613D5F36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31062"/>
              </p:ext>
            </p:extLst>
          </p:nvPr>
        </p:nvGraphicFramePr>
        <p:xfrm>
          <a:off x="333375" y="1174746"/>
          <a:ext cx="11525249" cy="46857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3133">
                  <a:extLst>
                    <a:ext uri="{9D8B030D-6E8A-4147-A177-3AD203B41FA5}">
                      <a16:colId xmlns:a16="http://schemas.microsoft.com/office/drawing/2014/main" val="3269983278"/>
                    </a:ext>
                  </a:extLst>
                </a:gridCol>
                <a:gridCol w="4483709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4138407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MY" sz="1400" dirty="0"/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unallocated_device_ids.json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floating_deviceid.json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 dirty="0"/>
                        <a:t>Trigger condition</a:t>
                      </a:r>
                      <a:endParaRPr lang="en-MY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Known prediction (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all valid) but no quota bucket had room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Any of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is </a:t>
                      </a:r>
                      <a:r>
                        <a:rPr lang="en-MY" sz="14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UNKNOWN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0005915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Timing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AllocationResult.Floating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AllocationResult.Floating) — same moment as left, not a different stage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3388533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Percentage / confidence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entry has no Score/Confidence field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same, no Score/Confidence field either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4563702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File scope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389555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Dedupe key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29556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Status lifecycle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→ "assigned" (via MarkAsAssigned, once a human manually places it)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only — nothing in the code ever updates 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272679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Assembly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72134"/>
                  </a:ext>
                </a:extLst>
              </a:tr>
              <a:tr h="4974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Write method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LogicAssignment.DumpUnallocated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LogicAssignment.DumpFloating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826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34272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FC284B-2AA5-0753-672D-DCAD5C8F6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2FB6B-0110-F956-4CA1-53BB47DCDBED}"/>
              </a:ext>
            </a:extLst>
          </p:cNvPr>
          <p:cNvSpPr txBox="1"/>
          <p:nvPr/>
        </p:nvSpPr>
        <p:spPr>
          <a:xfrm>
            <a:off x="1571624" y="681262"/>
            <a:ext cx="9229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How the </a:t>
            </a:r>
            <a:r>
              <a:rPr lang="en-US" sz="3600" dirty="0" err="1"/>
              <a:t>cluster_floating_device_ids.json</a:t>
            </a:r>
            <a:r>
              <a:rPr lang="en-US" sz="3600" dirty="0"/>
              <a:t> obtain?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D2531-41AF-5362-6F80-BF0315594145}"/>
              </a:ext>
            </a:extLst>
          </p:cNvPr>
          <p:cNvSpPr txBox="1"/>
          <p:nvPr/>
        </p:nvSpPr>
        <p:spPr>
          <a:xfrm>
            <a:off x="857249" y="2287191"/>
            <a:ext cx="1019174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MY" b="1" dirty="0"/>
              <a:t>2. The quota allocator already tried — it doesn't retry from the file</a:t>
            </a:r>
            <a:endParaRPr lang="en-MY" dirty="0"/>
          </a:p>
          <a:p>
            <a:pPr rtl="0">
              <a:buNone/>
            </a:pPr>
            <a:r>
              <a:rPr lang="en-MY" dirty="0"/>
              <a:t>The allocator isn't a queue that keeps attempting to place floating devices later. It runs its own internal two-pass process </a:t>
            </a:r>
            <a:r>
              <a:rPr lang="en-MY" i="1" dirty="0"/>
              <a:t>before</a:t>
            </a:r>
            <a:r>
              <a:rPr lang="en-MY" dirty="0"/>
              <a:t> anything is written to </a:t>
            </a:r>
            <a:r>
              <a:rPr lang="en-MY" dirty="0" err="1">
                <a:latin typeface="Courier New" panose="02070309020205020404" pitchFamily="49" charset="0"/>
              </a:rPr>
              <a:t>floating_deviceid.json</a:t>
            </a:r>
            <a:r>
              <a:rPr lang="en-MY" dirty="0"/>
              <a:t>: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1</a:t>
            </a:r>
            <a:r>
              <a:rPr lang="en-MY" dirty="0"/>
              <a:t> (lines 116-162): direct match on </a:t>
            </a:r>
            <a:r>
              <a:rPr lang="en-MY" dirty="0">
                <a:latin typeface="Courier New" panose="02070309020205020404" pitchFamily="49" charset="0"/>
              </a:rPr>
              <a:t>Section + Cluster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, top-N by score.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2</a:t>
            </a:r>
            <a:r>
              <a:rPr lang="en-MY" dirty="0"/>
              <a:t> (lines 164-170): whatever's left becomes the internal "floating pool" for that section.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3</a:t>
            </a:r>
            <a:r>
              <a:rPr lang="en-MY" dirty="0"/>
              <a:t> (lines 172-214): backfill — pulls from that same floating pool to fill remaining deficits, matched loosely by </a:t>
            </a:r>
            <a:r>
              <a:rPr lang="en-MY" dirty="0">
                <a:latin typeface="Courier New" panose="02070309020205020404" pitchFamily="49" charset="0"/>
              </a:rPr>
              <a:t>Section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 (ignoring the originally predicted cluster).</a:t>
            </a:r>
          </a:p>
        </p:txBody>
      </p:sp>
    </p:spTree>
    <p:extLst>
      <p:ext uri="{BB962C8B-B14F-4D97-AF65-F5344CB8AC3E}">
        <p14:creationId xmlns:p14="http://schemas.microsoft.com/office/powerpoint/2010/main" val="16311984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9432CB-B4CC-04E1-DEBD-C71D7F85B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9A62446-AFEE-0946-2114-DA4F091B5DA6}"/>
              </a:ext>
            </a:extLst>
          </p:cNvPr>
          <p:cNvSpPr txBox="1"/>
          <p:nvPr/>
        </p:nvSpPr>
        <p:spPr>
          <a:xfrm>
            <a:off x="1000125" y="1694497"/>
            <a:ext cx="1019174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floating_deviceid.json</a:t>
            </a:r>
            <a:r>
              <a:rPr lang="en-MY" dirty="0"/>
              <a:t> ← devices where </a:t>
            </a:r>
            <a:r>
              <a:rPr lang="en-MY" dirty="0" err="1"/>
              <a:t>DeviceType</a:t>
            </a:r>
            <a:r>
              <a:rPr lang="en-MY" dirty="0"/>
              <a:t> == "UNKNOWN" </a:t>
            </a:r>
            <a:r>
              <a:rPr lang="en-MY" b="1" dirty="0"/>
              <a:t>or</a:t>
            </a:r>
            <a:r>
              <a:rPr lang="en-MY" dirty="0"/>
              <a:t> Section == "UNKNOWN" </a:t>
            </a:r>
            <a:r>
              <a:rPr lang="en-MY" b="1" dirty="0"/>
              <a:t>or</a:t>
            </a:r>
            <a:r>
              <a:rPr lang="en-MY" dirty="0"/>
              <a:t> Cluster == "UNKNOWN“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unallocated_device_ids.json</a:t>
            </a:r>
            <a:r>
              <a:rPr lang="en-MY" dirty="0"/>
              <a:t> ← devices where </a:t>
            </a:r>
            <a:r>
              <a:rPr lang="en-MY" b="1" dirty="0"/>
              <a:t>all three are valid/known</a:t>
            </a:r>
            <a:r>
              <a:rPr lang="en-MY" dirty="0"/>
              <a:t>, but still didn't get claimed by any quota bucket (capacity full, or no bucket exists for that combo)</a:t>
            </a:r>
          </a:p>
        </p:txBody>
      </p:sp>
    </p:spTree>
    <p:extLst>
      <p:ext uri="{BB962C8B-B14F-4D97-AF65-F5344CB8AC3E}">
        <p14:creationId xmlns:p14="http://schemas.microsoft.com/office/powerpoint/2010/main" val="2261729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116A72-918E-0144-C1C0-6BE3686A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AA1AF1-B921-6E24-D7B1-C4B5D36D637B}"/>
              </a:ext>
            </a:extLst>
          </p:cNvPr>
          <p:cNvSpPr txBox="1"/>
          <p:nvPr/>
        </p:nvSpPr>
        <p:spPr>
          <a:xfrm>
            <a:off x="2922496" y="274781"/>
            <a:ext cx="7326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Full Flowchart DLL Library Model (18/082026)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CBB67C-16B6-D6DE-3710-AFCFDB7079AF}"/>
              </a:ext>
            </a:extLst>
          </p:cNvPr>
          <p:cNvSpPr txBox="1"/>
          <p:nvPr/>
        </p:nvSpPr>
        <p:spPr>
          <a:xfrm>
            <a:off x="360617" y="1289608"/>
            <a:ext cx="36947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SQL Database</a:t>
            </a:r>
          </a:p>
          <a:p>
            <a:pPr algn="ctr"/>
            <a:r>
              <a:rPr lang="en-US" dirty="0"/>
              <a:t>{</a:t>
            </a:r>
            <a:r>
              <a:rPr lang="en-US" dirty="0" err="1"/>
              <a:t>ProjectCode</a:t>
            </a:r>
            <a:r>
              <a:rPr lang="en-US" dirty="0"/>
              <a:t>, </a:t>
            </a:r>
            <a:r>
              <a:rPr lang="en-US" dirty="0" err="1"/>
              <a:t>CustomerCode</a:t>
            </a:r>
            <a:r>
              <a:rPr lang="en-US" dirty="0"/>
              <a:t>, </a:t>
            </a:r>
            <a:r>
              <a:rPr lang="en-US" dirty="0" err="1"/>
              <a:t>DataIds</a:t>
            </a:r>
            <a:r>
              <a:rPr lang="en-US" dirty="0"/>
              <a:t>}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15916D2-7E87-B0A7-4264-E75A9840B2D5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055416" y="1612774"/>
            <a:ext cx="15208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33E434E-45E2-361F-72D2-E33FCF4BBF72}"/>
              </a:ext>
            </a:extLst>
          </p:cNvPr>
          <p:cNvSpPr txBox="1"/>
          <p:nvPr/>
        </p:nvSpPr>
        <p:spPr>
          <a:xfrm>
            <a:off x="5576220" y="1289608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JSON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5EC90D-6F35-4996-8241-0A94CBFED27D}"/>
              </a:ext>
            </a:extLst>
          </p:cNvPr>
          <p:cNvSpPr/>
          <p:nvPr/>
        </p:nvSpPr>
        <p:spPr>
          <a:xfrm>
            <a:off x="677644" y="2944063"/>
            <a:ext cx="4489704" cy="29726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r>
              <a:rPr lang="en-MY" dirty="0"/>
              <a:t>[Source SQL </a:t>
            </a:r>
            <a:r>
              <a:rPr lang="en-MY" dirty="0" err="1"/>
              <a:t>db</a:t>
            </a:r>
            <a:r>
              <a:rPr lang="en-MY" dirty="0"/>
              <a:t> = A9998]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</p:spTree>
    <p:extLst>
      <p:ext uri="{BB962C8B-B14F-4D97-AF65-F5344CB8AC3E}">
        <p14:creationId xmlns:p14="http://schemas.microsoft.com/office/powerpoint/2010/main" val="2234319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993CD-ABA8-D564-1015-9B87B010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4344B5-4C40-2B46-55DB-B267BCB71AB1}"/>
              </a:ext>
            </a:extLst>
          </p:cNvPr>
          <p:cNvSpPr txBox="1"/>
          <p:nvPr/>
        </p:nvSpPr>
        <p:spPr>
          <a:xfrm>
            <a:off x="3284484" y="2555575"/>
            <a:ext cx="645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Full flowchart</a:t>
            </a:r>
          </a:p>
          <a:p>
            <a:r>
              <a:rPr lang="en-US" sz="2800" dirty="0">
                <a:solidFill>
                  <a:schemeClr val="accent1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Flowchart ML development.xlsx</a:t>
            </a:r>
            <a:endParaRPr lang="en-MY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1623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5533F-1B89-B99B-0D65-01371B3D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2DA0EB-4492-1CBD-9585-FFC415099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523" y="231006"/>
            <a:ext cx="4043626" cy="63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233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3788228" y="2621617"/>
            <a:ext cx="53884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 = PROBLEM SOLVED ✅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26238</TotalTime>
  <Words>3932</Words>
  <Application>Microsoft Office PowerPoint</Application>
  <PresentationFormat>Widescreen</PresentationFormat>
  <Paragraphs>985</Paragraphs>
  <Slides>83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91" baseType="lpstr">
      <vt:lpstr>Aptos</vt:lpstr>
      <vt:lpstr>Aptos Narrow</vt:lpstr>
      <vt:lpstr>Arial</vt:lpstr>
      <vt:lpstr>Calibri</vt:lpstr>
      <vt:lpstr>Courier New</vt:lpstr>
      <vt:lpstr>Tw Cen MT</vt:lpstr>
      <vt:lpstr>Wingdings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126</cp:revision>
  <dcterms:created xsi:type="dcterms:W3CDTF">2025-11-18T06:28:25Z</dcterms:created>
  <dcterms:modified xsi:type="dcterms:W3CDTF">2026-09-01T06:56:19Z</dcterms:modified>
</cp:coreProperties>
</file>