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3"/>
  </p:notesMasterIdLst>
  <p:sldIdLst>
    <p:sldId id="256" r:id="rId2"/>
    <p:sldId id="401" r:id="rId3"/>
    <p:sldId id="402" r:id="rId4"/>
    <p:sldId id="315" r:id="rId5"/>
    <p:sldId id="348" r:id="rId6"/>
    <p:sldId id="395" r:id="rId7"/>
    <p:sldId id="396" r:id="rId8"/>
    <p:sldId id="398" r:id="rId9"/>
    <p:sldId id="397" r:id="rId10"/>
    <p:sldId id="400" r:id="rId11"/>
    <p:sldId id="392" r:id="rId12"/>
    <p:sldId id="393" r:id="rId13"/>
    <p:sldId id="391" r:id="rId14"/>
    <p:sldId id="389" r:id="rId15"/>
    <p:sldId id="390" r:id="rId16"/>
    <p:sldId id="399" r:id="rId17"/>
    <p:sldId id="382" r:id="rId18"/>
    <p:sldId id="375" r:id="rId19"/>
    <p:sldId id="380" r:id="rId20"/>
    <p:sldId id="381" r:id="rId21"/>
    <p:sldId id="386" r:id="rId22"/>
    <p:sldId id="383" r:id="rId23"/>
    <p:sldId id="384" r:id="rId24"/>
    <p:sldId id="376" r:id="rId25"/>
    <p:sldId id="347" r:id="rId26"/>
    <p:sldId id="378" r:id="rId27"/>
    <p:sldId id="362" r:id="rId28"/>
    <p:sldId id="363" r:id="rId29"/>
    <p:sldId id="387" r:id="rId30"/>
    <p:sldId id="366" r:id="rId31"/>
    <p:sldId id="385" r:id="rId32"/>
    <p:sldId id="373" r:id="rId33"/>
    <p:sldId id="374" r:id="rId34"/>
    <p:sldId id="369" r:id="rId35"/>
    <p:sldId id="370" r:id="rId36"/>
    <p:sldId id="372" r:id="rId37"/>
    <p:sldId id="367" r:id="rId38"/>
    <p:sldId id="352" r:id="rId39"/>
    <p:sldId id="388" r:id="rId40"/>
    <p:sldId id="351" r:id="rId41"/>
    <p:sldId id="377" r:id="rId42"/>
    <p:sldId id="371" r:id="rId43"/>
    <p:sldId id="356" r:id="rId44"/>
    <p:sldId id="355" r:id="rId45"/>
    <p:sldId id="346" r:id="rId46"/>
    <p:sldId id="349" r:id="rId47"/>
    <p:sldId id="350" r:id="rId48"/>
    <p:sldId id="353" r:id="rId49"/>
    <p:sldId id="354" r:id="rId50"/>
    <p:sldId id="357" r:id="rId51"/>
    <p:sldId id="358" r:id="rId52"/>
    <p:sldId id="360" r:id="rId53"/>
    <p:sldId id="361" r:id="rId54"/>
    <p:sldId id="365" r:id="rId55"/>
    <p:sldId id="379" r:id="rId56"/>
    <p:sldId id="325" r:id="rId57"/>
    <p:sldId id="292" r:id="rId58"/>
    <p:sldId id="328" r:id="rId59"/>
    <p:sldId id="329" r:id="rId60"/>
    <p:sldId id="330" r:id="rId61"/>
    <p:sldId id="331" r:id="rId62"/>
    <p:sldId id="332" r:id="rId63"/>
    <p:sldId id="334" r:id="rId64"/>
    <p:sldId id="335" r:id="rId65"/>
    <p:sldId id="336" r:id="rId66"/>
    <p:sldId id="323" r:id="rId67"/>
    <p:sldId id="333" r:id="rId68"/>
    <p:sldId id="327" r:id="rId69"/>
    <p:sldId id="337" r:id="rId70"/>
    <p:sldId id="338" r:id="rId71"/>
    <p:sldId id="345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EE8"/>
    <a:srgbClr val="CDF6F9"/>
    <a:srgbClr val="FFFFAF"/>
    <a:srgbClr val="CAF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404" autoAdjust="0"/>
  </p:normalViewPr>
  <p:slideViewPr>
    <p:cSldViewPr snapToGrid="0">
      <p:cViewPr varScale="1">
        <p:scale>
          <a:sx n="71" d="100"/>
          <a:sy n="71" d="100"/>
        </p:scale>
        <p:origin x="28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8B80A-F233-4240-BDAF-6537AE249829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833E0-5E66-4D1D-89F5-BD860FDD8F7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126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F297-4C4A-460D-D5C6-1052BAE0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B6DC2-8593-AC5C-68B3-4219E8F0D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B3D06-BAB0-C40F-6AFF-6F3B3C2BA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88249-10B4-C9F0-56E2-A300D2002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71971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4BB0E-3305-ACF4-B9DB-3771A05F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5AB61-A186-C05A-CE87-0AAC4CACF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39EA4-5C53-1F6E-2F8C-EEDBDF608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186D5-1C82-55C9-9C81-848494B23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8155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5143E-6EB1-5AEC-EA65-B16DDB48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3B66A-4E53-E454-043D-1F742FA80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DA1B7-2DD3-6DC0-1B24-8C9FE80A3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D7023-7DB9-431E-C43C-056860850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9535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95A4-8B16-B4B8-1099-6E539E5D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684E3-26DB-0ADA-43FE-B80A3F39D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E0129-6FBE-0B2B-9D73-CC36EE257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4E83B-BDDD-B3EF-8DA1-F84C83040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36509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9EAB-62F0-E599-5812-26AD2183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B937A-9DAD-0B78-4CD8-0D97CDB5F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5E1C6-9041-C876-2B23-13DCDED4D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E2EA1-56C0-8D6F-684C-1E193E31B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2852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DC8C-C1CE-AEAF-F776-94186C64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A1635-2431-E971-60CA-A32225934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DF767-2C08-D1EB-D1DD-B13C80968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B96FA-C83A-B919-DDEA-0F847B528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8974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4EAA-B7AE-9E60-5EB9-6AFB0BD3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B19DC-2B3C-15C0-DD43-54206C7AB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F5C09-6822-05DF-2439-FF6D014C5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0F096-58D1-CB43-671C-D7239AB89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8816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C424-EA8E-B269-C46D-00275BE9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46DAA-526B-158A-AF11-A6E8E0261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416B5-7816-4E82-F077-819D37FC8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1C30F-B0AC-ECC3-3987-420208BBA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46487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ED8ED-6CFC-FBAA-4EFD-1C5BB386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C3310-EC70-E0FE-5DD7-877D11981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70EC9-4B38-2BC1-363D-7239079AE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83D9A-856A-21D7-1903-E21D07E07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1360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805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AA44F-F577-055C-BA0F-DA69FF41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A680F-3263-365C-2593-51B8B9082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E51E4-620F-C57E-0B01-71CD148A8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7C7F0-6139-43B1-3A78-E075945FD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24309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138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89241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2F5B-9682-C56D-62BF-8071879B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E01A1-97BB-90ED-A57B-A0DE34735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E4691-FDF2-E81F-DF8B-5645BDA44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2A4DE-690F-08F1-663C-4442E6F48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347933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454B8-8657-C20F-58A7-8F453E4C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914B0-D763-1ACA-2A67-D6D7E2421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E6674-47D8-50B1-8B70-FE3AFFD5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10E1C-A6AC-0A8B-FF26-0580D6C5E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4040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1655-1C27-90A4-71E8-FBD974FD2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2A174-83FD-E504-803C-F9C8933AD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1B9EE-8786-6B4F-F0DD-1A24E61F0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6B27-D333-CB81-027E-D188F9EAB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91547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6A45-5345-C119-2077-2724690A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56EFF-512F-DCC6-60FB-9B500E0FE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DE9F1-36AD-FE8F-9117-24D636617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4BF3F-9B0A-ED03-3308-B1B55354E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43684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51A4-DF0B-FDE9-7E77-505DF096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F12C7-7B82-5718-D799-1E0BDF7D0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14063-9072-7B10-13CD-D1718588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3D2FF-9922-1F5C-63D9-3AD351D3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90544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A910-8722-BE0D-ECC6-AE331ECAD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1B51-0D4E-F4D9-C462-F4905C8AA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BCF9F-3AF4-EF24-64C9-01366B660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CF6CA-73F6-4CE7-341F-2286B37A0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22489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B1C6-08A7-B48E-D8A5-6541AA44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9EC7-6617-C98F-730D-7917E77BE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67383-9CFA-16F3-F36C-F09AD5664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DC4DE-87B6-AD78-A525-5872D2BF7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02211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D43E-08A9-9AD5-17D1-61004101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26B85-DB9B-3A16-2A31-AFA633013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4AFCF-8283-A79C-8CA0-9CF7E0E30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E8708-6453-57D5-13DA-E78CAD060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4188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23BA2-7F7E-D5BA-743C-2EE91E241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14E0F-D08A-F797-D9AA-057E867C1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F6581-196D-E8E3-B171-D11FAD414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A6234-8F53-E551-DA84-100BCDA6B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05166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267B-B82B-1EDC-363F-2C9961D70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7EDB8-B816-FA3D-09DD-5351C110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9C20B-29BD-CFE3-AAB6-D25BDE1AD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6E11-1359-6B01-777F-A6EC056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34084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A8A5-B833-7343-7209-908FCBD7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F2406-0A14-1D35-AADE-48E362C8D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63FA9-DD4D-5EC8-EE1A-889D4CEAB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20576-8B22-42DB-81CB-9C7399995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852050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B1E2-2CB1-5021-75E5-CF6CCD57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00753-6D9B-7CA5-2453-C84095351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44659-0B80-A575-79ED-8829A738D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108B5-6282-34C4-DE56-EADE45190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7372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50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98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9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006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77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645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680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546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7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8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461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675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0709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6895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76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39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061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1.%20Flowchart%20ML%20development.xlsx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A8BF-74AE-1522-7BD3-7F764B4CF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Update </a:t>
            </a:r>
            <a:r>
              <a:rPr lang="en-MY" dirty="0" err="1"/>
              <a:t>Xenxible</a:t>
            </a:r>
            <a:r>
              <a:rPr lang="en-MY" dirty="0"/>
              <a:t> Project Device Identifier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6E070-33C3-873C-ADD2-09B7AAE3E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Syaziyah</a:t>
            </a:r>
          </a:p>
        </p:txBody>
      </p:sp>
    </p:spTree>
    <p:extLst>
      <p:ext uri="{BB962C8B-B14F-4D97-AF65-F5344CB8AC3E}">
        <p14:creationId xmlns:p14="http://schemas.microsoft.com/office/powerpoint/2010/main" val="151686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27996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34474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80494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880494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834474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55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64E01-BAA1-3A89-DFDE-C6F7EABF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DBE3FE-6883-A227-C95A-B32903D311D5}"/>
              </a:ext>
            </a:extLst>
          </p:cNvPr>
          <p:cNvSpPr/>
          <p:nvPr/>
        </p:nvSpPr>
        <p:spPr>
          <a:xfrm>
            <a:off x="5165025" y="247650"/>
            <a:ext cx="1861951" cy="492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/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/>
              <a:t>(Customer, Project, Device ID</a:t>
            </a:r>
            <a:r>
              <a:rPr lang="en-MY" sz="1400" b="1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D2779F-9925-E325-FD88-915EA0A5D0CD}"/>
              </a:ext>
            </a:extLst>
          </p:cNvPr>
          <p:cNvSpPr/>
          <p:nvPr/>
        </p:nvSpPr>
        <p:spPr>
          <a:xfrm>
            <a:off x="4741548" y="4728283"/>
            <a:ext cx="3186725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RESULT OUTPUT</a:t>
            </a:r>
          </a:p>
          <a:p>
            <a:pPr algn="ctr"/>
            <a:r>
              <a:rPr lang="en-MY" sz="1100" dirty="0"/>
              <a:t>(Customer, Project, Device ID, Device Type, Section)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732A7E-BA3B-19E7-859F-398584523842}"/>
              </a:ext>
            </a:extLst>
          </p:cNvPr>
          <p:cNvSpPr/>
          <p:nvPr/>
        </p:nvSpPr>
        <p:spPr>
          <a:xfrm>
            <a:off x="3467858" y="2438352"/>
            <a:ext cx="1292938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r>
              <a:rPr lang="en-MY" dirty="0"/>
              <a:t>REFIX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8FCEA9-F455-6C16-BB8C-382255BE9894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CREATE ON (18.03.2026)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B690BB-103E-7C11-F8EB-CB4FE85DE712}"/>
              </a:ext>
            </a:extLst>
          </p:cNvPr>
          <p:cNvSpPr/>
          <p:nvPr/>
        </p:nvSpPr>
        <p:spPr>
          <a:xfrm>
            <a:off x="1557482" y="4760255"/>
            <a:ext cx="1610264" cy="4825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UNKNOWN</a:t>
            </a:r>
          </a:p>
          <a:p>
            <a:pPr algn="ctr"/>
            <a:r>
              <a:rPr lang="en-MY" sz="1400" dirty="0"/>
              <a:t>= Assign by User</a:t>
            </a:r>
            <a:endParaRPr lang="en-MY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0C556A-6B3D-D4B1-78B9-6C841EAFB988}"/>
              </a:ext>
            </a:extLst>
          </p:cNvPr>
          <p:cNvSpPr/>
          <p:nvPr/>
        </p:nvSpPr>
        <p:spPr>
          <a:xfrm>
            <a:off x="294568" y="1463374"/>
            <a:ext cx="1419280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NEW LIST EQUIPMENT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DB00B-031B-3558-188F-1B669068451F}"/>
              </a:ext>
            </a:extLst>
          </p:cNvPr>
          <p:cNvSpPr/>
          <p:nvPr/>
        </p:nvSpPr>
        <p:spPr>
          <a:xfrm>
            <a:off x="9950620" y="1463374"/>
            <a:ext cx="1734622" cy="643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1B2585-DD4F-3D4E-50BA-E8FFF493CA24}"/>
              </a:ext>
            </a:extLst>
          </p:cNvPr>
          <p:cNvSpPr/>
          <p:nvPr/>
        </p:nvSpPr>
        <p:spPr>
          <a:xfrm>
            <a:off x="6935647" y="2487111"/>
            <a:ext cx="1095037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MY" dirty="0"/>
              <a:t>UFFIX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56FC65-EC4A-F4C3-1F0B-8600C821E9A3}"/>
              </a:ext>
            </a:extLst>
          </p:cNvPr>
          <p:cNvSpPr/>
          <p:nvPr/>
        </p:nvSpPr>
        <p:spPr>
          <a:xfrm>
            <a:off x="3490801" y="3928843"/>
            <a:ext cx="1383224" cy="2936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Device Type</a:t>
            </a:r>
            <a:endParaRPr lang="en-MY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3BE331-0BED-83CF-CF1D-87ACB76C2168}"/>
              </a:ext>
            </a:extLst>
          </p:cNvPr>
          <p:cNvSpPr/>
          <p:nvPr/>
        </p:nvSpPr>
        <p:spPr>
          <a:xfrm>
            <a:off x="586501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Section</a:t>
            </a:r>
            <a:endParaRPr lang="en-MY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645B15-6F0B-6044-7386-8E89F162D29E}"/>
              </a:ext>
            </a:extLst>
          </p:cNvPr>
          <p:cNvSpPr/>
          <p:nvPr/>
        </p:nvSpPr>
        <p:spPr>
          <a:xfrm>
            <a:off x="2428252" y="3053537"/>
            <a:ext cx="2991706" cy="686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SGD Classifier Hybrid Model </a:t>
            </a:r>
          </a:p>
          <a:p>
            <a:pPr algn="ctr"/>
            <a:r>
              <a:rPr lang="en-US" sz="1100" dirty="0"/>
              <a:t>- SGD Classifier </a:t>
            </a:r>
          </a:p>
          <a:p>
            <a:pPr algn="ctr"/>
            <a:r>
              <a:rPr lang="en-US" sz="1100" dirty="0"/>
              <a:t>- Composite Similarity</a:t>
            </a:r>
            <a:endParaRPr lang="en-MY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9E6D6B-4ED8-1A25-F0A2-3C19373F09A8}"/>
              </a:ext>
            </a:extLst>
          </p:cNvPr>
          <p:cNvSpPr/>
          <p:nvPr/>
        </p:nvSpPr>
        <p:spPr>
          <a:xfrm>
            <a:off x="5726456" y="3011355"/>
            <a:ext cx="1197522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0AB3AE-E39A-368D-FB9D-83C2C861DB2F}"/>
              </a:ext>
            </a:extLst>
          </p:cNvPr>
          <p:cNvSpPr/>
          <p:nvPr/>
        </p:nvSpPr>
        <p:spPr>
          <a:xfrm>
            <a:off x="2316480" y="1909006"/>
            <a:ext cx="7195820" cy="257675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A7B0DA-C509-7765-1F33-5207CD1D1245}"/>
              </a:ext>
            </a:extLst>
          </p:cNvPr>
          <p:cNvCxnSpPr>
            <a:cxnSpLocks/>
            <a:stCxn id="48" idx="2"/>
            <a:endCxn id="12" idx="0"/>
          </p:cNvCxnSpPr>
          <p:nvPr/>
        </p:nvCxnSpPr>
        <p:spPr>
          <a:xfrm flipH="1">
            <a:off x="4114327" y="2019592"/>
            <a:ext cx="1995049" cy="41876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DDA82C7-6A79-0834-F36D-29F4D6E7F1DD}"/>
              </a:ext>
            </a:extLst>
          </p:cNvPr>
          <p:cNvCxnSpPr>
            <a:cxnSpLocks/>
            <a:stCxn id="48" idx="2"/>
            <a:endCxn id="28" idx="0"/>
          </p:cNvCxnSpPr>
          <p:nvPr/>
        </p:nvCxnSpPr>
        <p:spPr>
          <a:xfrm>
            <a:off x="6109376" y="2019592"/>
            <a:ext cx="1373790" cy="4675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74F79B6-40C9-023A-07D5-066E844897F7}"/>
              </a:ext>
            </a:extLst>
          </p:cNvPr>
          <p:cNvCxnSpPr>
            <a:cxnSpLocks/>
          </p:cNvCxnSpPr>
          <p:nvPr/>
        </p:nvCxnSpPr>
        <p:spPr>
          <a:xfrm>
            <a:off x="4126392" y="2685576"/>
            <a:ext cx="0" cy="36796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086AB6-6520-9248-985A-10E16372D3A3}"/>
              </a:ext>
            </a:extLst>
          </p:cNvPr>
          <p:cNvCxnSpPr>
            <a:cxnSpLocks/>
          </p:cNvCxnSpPr>
          <p:nvPr/>
        </p:nvCxnSpPr>
        <p:spPr>
          <a:xfrm>
            <a:off x="4156249" y="3740057"/>
            <a:ext cx="0" cy="17771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73FA1BA-16B6-28C7-5B08-E0BAED39A806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334911" y="2723137"/>
            <a:ext cx="1148255" cy="28743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BE64327-A594-A0F9-48EE-AA8619A6F8A2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>
            <a:off x="6325217" y="3279332"/>
            <a:ext cx="0" cy="7351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E5BD1BD-5875-2B33-B60D-A218A3069F3D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713848" y="1780905"/>
            <a:ext cx="3719486" cy="8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133E43C-356A-5352-D8C3-A2937C629299}"/>
              </a:ext>
            </a:extLst>
          </p:cNvPr>
          <p:cNvCxnSpPr>
            <a:cxnSpLocks/>
            <a:stCxn id="48" idx="3"/>
            <a:endCxn id="5" idx="1"/>
          </p:cNvCxnSpPr>
          <p:nvPr/>
        </p:nvCxnSpPr>
        <p:spPr>
          <a:xfrm flipV="1">
            <a:off x="6785417" y="1784995"/>
            <a:ext cx="3165203" cy="44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E9559C-A8DD-7924-369A-4F9D2B5100A2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>
            <a:off x="6096001" y="740321"/>
            <a:ext cx="13375" cy="8190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A45D876-29DD-ADBB-A514-B337E73BD17F}"/>
              </a:ext>
            </a:extLst>
          </p:cNvPr>
          <p:cNvSpPr/>
          <p:nvPr/>
        </p:nvSpPr>
        <p:spPr>
          <a:xfrm>
            <a:off x="8078855" y="2992364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DF429FB-317C-A832-F169-749B844BBDB8}"/>
              </a:ext>
            </a:extLst>
          </p:cNvPr>
          <p:cNvCxnSpPr>
            <a:cxnSpLocks/>
            <a:stCxn id="28" idx="2"/>
            <a:endCxn id="104" idx="0"/>
          </p:cNvCxnSpPr>
          <p:nvPr/>
        </p:nvCxnSpPr>
        <p:spPr>
          <a:xfrm>
            <a:off x="7483166" y="2723137"/>
            <a:ext cx="1120672" cy="2692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3B1C0D6-006B-1509-41E2-1A8A5DB4876E}"/>
              </a:ext>
            </a:extLst>
          </p:cNvPr>
          <p:cNvSpPr/>
          <p:nvPr/>
        </p:nvSpPr>
        <p:spPr>
          <a:xfrm>
            <a:off x="814363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Cluster</a:t>
            </a:r>
            <a:endParaRPr lang="en-MY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45A4A9C-F38C-B936-9507-8477A826CD37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603837" y="3260341"/>
            <a:ext cx="1" cy="7541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B601146-C144-E99D-306E-58E1A32A5C69}"/>
              </a:ext>
            </a:extLst>
          </p:cNvPr>
          <p:cNvCxnSpPr>
            <a:cxnSpLocks/>
            <a:stCxn id="113" idx="2"/>
            <a:endCxn id="11" idx="0"/>
          </p:cNvCxnSpPr>
          <p:nvPr/>
        </p:nvCxnSpPr>
        <p:spPr>
          <a:xfrm flipH="1">
            <a:off x="6334911" y="4252054"/>
            <a:ext cx="2268926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6E48D5-461B-7674-CB2D-7511BCDD475B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6325217" y="4252054"/>
            <a:ext cx="9694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5503350-D559-ED07-9550-A4DA89247889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>
            <a:off x="4182413" y="4222463"/>
            <a:ext cx="2152498" cy="5058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50F6575-8D14-BD88-0EDB-A1125532BE4A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167746" y="5001553"/>
            <a:ext cx="1573802" cy="254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D2373B1-E611-C850-DC58-D34188C6A52A}"/>
              </a:ext>
            </a:extLst>
          </p:cNvPr>
          <p:cNvSpPr/>
          <p:nvPr/>
        </p:nvSpPr>
        <p:spPr>
          <a:xfrm>
            <a:off x="5063967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17BB654-31A9-9DA1-013B-55718E83DB1D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 flipH="1">
            <a:off x="6334910" y="5325789"/>
            <a:ext cx="1" cy="4602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514C51B-723B-B72A-BF4E-6D5BBA83199D}"/>
              </a:ext>
            </a:extLst>
          </p:cNvPr>
          <p:cNvGrpSpPr/>
          <p:nvPr/>
        </p:nvGrpSpPr>
        <p:grpSpPr>
          <a:xfrm>
            <a:off x="972920" y="2098436"/>
            <a:ext cx="584562" cy="2928602"/>
            <a:chOff x="972920" y="2098436"/>
            <a:chExt cx="584562" cy="2928602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309169AF-E4E6-DB2D-A6ED-C259FEEE4471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998294" y="2098436"/>
              <a:ext cx="5914" cy="29286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44D5271-77C4-A1AC-4D57-C76A08FF9854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972920" y="5001552"/>
              <a:ext cx="584562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0BE8E226-C0D9-AB17-D117-9DA0B9C24248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EB8FBA6-85B0-906E-1C53-A1A2A2A14FA0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ML MODEL</a:t>
            </a:r>
            <a:endParaRPr lang="en-MY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781810-DEC4-76B2-2724-39A10B68A4D9}"/>
              </a:ext>
            </a:extLst>
          </p:cNvPr>
          <p:cNvSpPr/>
          <p:nvPr/>
        </p:nvSpPr>
        <p:spPr>
          <a:xfrm>
            <a:off x="-16887" y="73003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(20.0.2026)</a:t>
            </a:r>
          </a:p>
        </p:txBody>
      </p:sp>
    </p:spTree>
    <p:extLst>
      <p:ext uri="{BB962C8B-B14F-4D97-AF65-F5344CB8AC3E}">
        <p14:creationId xmlns:p14="http://schemas.microsoft.com/office/powerpoint/2010/main" val="152324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F50E8-C2B0-9D88-2CE4-13199422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FAA6D5-A483-F1D3-F473-4EB5FF643CAF}"/>
              </a:ext>
            </a:extLst>
          </p:cNvPr>
          <p:cNvSpPr txBox="1"/>
          <p:nvPr/>
        </p:nvSpPr>
        <p:spPr>
          <a:xfrm>
            <a:off x="295275" y="6446936"/>
            <a:ext cx="792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 err="1"/>
              <a:t>Filepath</a:t>
            </a:r>
            <a:r>
              <a:rPr lang="en-MY" sz="1200" dirty="0"/>
              <a:t>  : "C:\Users\sitisyaziyah\Documents\Device_Identifier\Dummy data\</a:t>
            </a:r>
            <a:r>
              <a:rPr lang="en-MY" sz="1200" dirty="0" err="1"/>
              <a:t>Oiltek</a:t>
            </a:r>
            <a:r>
              <a:rPr lang="en-MY" sz="1200" dirty="0"/>
              <a:t> - structured data.xlsx“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3CBDE-1BA2-B6EE-EF7D-4C4EAB60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445" y="1801640"/>
            <a:ext cx="7049475" cy="429098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5E45FF-768C-F053-BFFD-3176BF216B90}"/>
              </a:ext>
            </a:extLst>
          </p:cNvPr>
          <p:cNvSpPr/>
          <p:nvPr/>
        </p:nvSpPr>
        <p:spPr>
          <a:xfrm>
            <a:off x="4498993" y="966447"/>
            <a:ext cx="2369561" cy="733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P</a:t>
            </a:r>
            <a:r>
              <a:rPr lang="en-MY" sz="1400" dirty="0"/>
              <a:t>ROJECT 		: A1706</a:t>
            </a:r>
          </a:p>
          <a:p>
            <a:r>
              <a:rPr lang="en-MY" sz="1400" dirty="0"/>
              <a:t>CUSTOMER 		: </a:t>
            </a:r>
            <a:r>
              <a:rPr lang="en-MY" sz="1400" b="1" dirty="0"/>
              <a:t>OILTEK</a:t>
            </a:r>
          </a:p>
          <a:p>
            <a:r>
              <a:rPr lang="en-MY" sz="1400" dirty="0"/>
              <a:t>TOTAL DEVICE 	: 130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873DC8-6958-BDE3-BB2B-08C22786164B}"/>
              </a:ext>
            </a:extLst>
          </p:cNvPr>
          <p:cNvSpPr/>
          <p:nvPr/>
        </p:nvSpPr>
        <p:spPr>
          <a:xfrm>
            <a:off x="2270791" y="156793"/>
            <a:ext cx="737612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OILTEK – USING IN TRAINING</a:t>
            </a:r>
          </a:p>
        </p:txBody>
      </p:sp>
    </p:spTree>
    <p:extLst>
      <p:ext uri="{BB962C8B-B14F-4D97-AF65-F5344CB8AC3E}">
        <p14:creationId xmlns:p14="http://schemas.microsoft.com/office/powerpoint/2010/main" val="355558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14F27-55BB-84B5-7057-34EE7C3A1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1C56C2-738D-4F87-75F6-C287081A0B04}"/>
              </a:ext>
            </a:extLst>
          </p:cNvPr>
          <p:cNvSpPr txBox="1"/>
          <p:nvPr/>
        </p:nvSpPr>
        <p:spPr>
          <a:xfrm>
            <a:off x="3310526" y="3013502"/>
            <a:ext cx="5570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UDPATE 31/07/2026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432325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C113C-B87D-CD4B-1931-679B6E55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4D15BE-FBEA-3EF9-2626-521D3F2BAD5A}"/>
              </a:ext>
            </a:extLst>
          </p:cNvPr>
          <p:cNvSpPr txBox="1"/>
          <p:nvPr/>
        </p:nvSpPr>
        <p:spPr>
          <a:xfrm>
            <a:off x="640899" y="228261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UDPATE 31/07/2026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011B46-21E8-AB21-3693-8E49ED9C5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754214"/>
              </p:ext>
            </p:extLst>
          </p:nvPr>
        </p:nvGraphicFramePr>
        <p:xfrm>
          <a:off x="1155744" y="1334814"/>
          <a:ext cx="10484877" cy="43159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94959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3494959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3494959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70711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r>
                        <a:rPr lang="en-US" sz="2000" dirty="0"/>
                        <a:t>1. Draft flowchart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Stage 1- Stage 3  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Pending on Stanley review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780377">
                <a:tc>
                  <a:txBody>
                    <a:bodyPr/>
                    <a:lstStyle/>
                    <a:p>
                      <a:r>
                        <a:rPr lang="en-US" sz="2000" dirty="0"/>
                        <a:t>2. Using Dummy data for logic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Refer to the slide “</a:t>
                      </a:r>
                      <a:r>
                        <a:rPr lang="en-US" sz="2000" b="1" dirty="0"/>
                        <a:t>Movement of dataset [UDPATE 04/08/26]</a:t>
                      </a:r>
                      <a:r>
                        <a:rPr lang="en-US" sz="2000" dirty="0"/>
                        <a:t>”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Completed </a:t>
                      </a:r>
                      <a:r>
                        <a:rPr lang="en-MY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r>
                        <a:rPr lang="en-MY" sz="2000" dirty="0"/>
                        <a:t>3. </a:t>
                      </a:r>
                      <a:r>
                        <a:rPr lang="en-MY" sz="2000"/>
                        <a:t>Cleaning README.md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Synch with </a:t>
                      </a:r>
                      <a:r>
                        <a:rPr lang="en-US" sz="2000" dirty="0" err="1"/>
                        <a:t>devops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Completed </a:t>
                      </a:r>
                      <a:r>
                        <a:rPr lang="en-MY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endParaRPr lang="en-MY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39389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endParaRPr lang="en-MY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850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06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B7289-C22B-CEC8-2E59-1F5B5CBD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E185B-50E1-542E-A641-62A2876DAA51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UDPATE 04/08/26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A3272E-DC3E-A661-9364-C0EE26E9F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263172"/>
              </p:ext>
            </p:extLst>
          </p:nvPr>
        </p:nvGraphicFramePr>
        <p:xfrm>
          <a:off x="396558" y="1078903"/>
          <a:ext cx="11398884" cy="45693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1793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4004441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3032650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en-US" sz="2000" dirty="0"/>
                        <a:t>Update full flowchart ML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/>
                        <a:t>Source : flowchart ML developmemt.xlsx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Model development</a:t>
                      </a:r>
                    </a:p>
                    <a:p>
                      <a:r>
                        <a:rPr lang="en-US" sz="2000" dirty="0"/>
                        <a:t>Model application</a:t>
                      </a:r>
                    </a:p>
                    <a:p>
                      <a:r>
                        <a:rPr lang="en-US" sz="2000" dirty="0"/>
                        <a:t>Result of model evaluation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 drafting – preparation for training</a:t>
                      </a:r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r>
                        <a:rPr lang="en-US" sz="2000" dirty="0"/>
                        <a:t>2. Draft flowchart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Stage 1- Stage 3  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Pending on Stanley review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r>
                        <a:rPr lang="en-US" sz="2000" dirty="0"/>
                        <a:t>Source dataset for </a:t>
                      </a:r>
                      <a:r>
                        <a:rPr lang="en-US" sz="2000" b="1" dirty="0"/>
                        <a:t>TRAINING MODEL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b="1" dirty="0"/>
                        <a:t>SGD Classifier :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600" dirty="0"/>
                        <a:t>C:\Users\sitisyaziyah\Documents\Device_Identifier_MainFolder\Dataset\output\masterfile.csv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MY" sz="2000" b="1" dirty="0" err="1"/>
                        <a:t>XGBoost</a:t>
                      </a:r>
                      <a:endParaRPr lang="en-MY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C:</a:t>
                      </a:r>
                      <a:r>
                        <a:rPr lang="en-MY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MY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Users\sitisyaziyah\source</a:t>
                      </a:r>
                      <a:r>
                        <a:rPr lang="en-MY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\r</a:t>
                      </a:r>
                      <a:r>
                        <a:rPr lang="en-MY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epos\DeviceCluster\1.training_model\dummy_data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SGD Classifier : </a:t>
                      </a:r>
                    </a:p>
                    <a:p>
                      <a:r>
                        <a:rPr lang="en-MY" sz="2000" dirty="0"/>
                        <a:t>Wilmar, </a:t>
                      </a:r>
                      <a:r>
                        <a:rPr lang="en-MY" sz="2000" dirty="0" err="1"/>
                        <a:t>Oiltek</a:t>
                      </a:r>
                      <a:r>
                        <a:rPr lang="en-MY" sz="2000" dirty="0"/>
                        <a:t>, UGS</a:t>
                      </a:r>
                    </a:p>
                    <a:p>
                      <a:endParaRPr lang="en-MY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XG Boost: </a:t>
                      </a:r>
                    </a:p>
                    <a:p>
                      <a:r>
                        <a:rPr lang="en-MY" sz="2000" b="1" dirty="0">
                          <a:highlight>
                            <a:srgbClr val="FFFF00"/>
                          </a:highlight>
                        </a:rPr>
                        <a:t>Wilmar, </a:t>
                      </a:r>
                      <a:r>
                        <a:rPr lang="en-MY" sz="2000" b="1" dirty="0" err="1">
                          <a:highlight>
                            <a:srgbClr val="FFFF00"/>
                          </a:highlight>
                        </a:rPr>
                        <a:t>Oiltek</a:t>
                      </a:r>
                      <a:r>
                        <a:rPr lang="en-MY" sz="2000" b="1" dirty="0">
                          <a:highlight>
                            <a:srgbClr val="FFFF00"/>
                          </a:highlight>
                        </a:rPr>
                        <a:t>, UGS (edit!!)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Completed </a:t>
                      </a:r>
                      <a:r>
                        <a:rPr lang="en-MY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r>
                        <a:rPr lang="en-US" sz="2000" dirty="0"/>
                        <a:t>3. Logic </a:t>
                      </a:r>
                      <a:r>
                        <a:rPr lang="en-US" sz="2000" dirty="0" err="1"/>
                        <a:t>dll</a:t>
                      </a:r>
                      <a:r>
                        <a:rPr lang="en-US" sz="2000" dirty="0"/>
                        <a:t> development in visual studio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In progressing </a:t>
                      </a:r>
                    </a:p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(start : 5/8/2026)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39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43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A6E28-33C1-A980-D209-65EA9C32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F361D5-9992-2F6E-C922-35F2C5ED6E39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UDPATE 05/08/26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2EF32A-22DD-A218-B782-6C041282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107154"/>
              </p:ext>
            </p:extLst>
          </p:nvPr>
        </p:nvGraphicFramePr>
        <p:xfrm>
          <a:off x="396558" y="1078903"/>
          <a:ext cx="11398884" cy="36610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7208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375337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2546339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8087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Decision of 2 </a:t>
                      </a:r>
                      <a:r>
                        <a:rPr lang="en-US" sz="2000" dirty="0" err="1"/>
                        <a:t>methode</a:t>
                      </a:r>
                      <a:r>
                        <a:rPr lang="en-US" sz="2000" dirty="0"/>
                        <a:t> in cluster logic :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dirty="0"/>
                        <a:t>Max (highest predicted cluster) choose it independently 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dirty="0"/>
                        <a:t>Constraint based similarity (consider the percentage first then select the most fit 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planning </a:t>
                      </a:r>
                    </a:p>
                    <a:p>
                      <a:r>
                        <a:rPr lang="en-US" dirty="0"/>
                        <a:t>Not execute in coding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r>
                        <a:rPr lang="en-US" sz="2000" dirty="0"/>
                        <a:t>3. Logic </a:t>
                      </a:r>
                      <a:r>
                        <a:rPr lang="en-US" sz="2000" dirty="0" err="1"/>
                        <a:t>dll</a:t>
                      </a:r>
                      <a:r>
                        <a:rPr lang="en-US" sz="2000" dirty="0"/>
                        <a:t> development in visual studio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In progressing </a:t>
                      </a:r>
                    </a:p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(start : 5/8/2026)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39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450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0C0EF-E2BF-BE1F-D4D9-5672A004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F12169-012C-035B-0B37-20D16F503AE3}"/>
              </a:ext>
            </a:extLst>
          </p:cNvPr>
          <p:cNvSpPr txBox="1"/>
          <p:nvPr/>
        </p:nvSpPr>
        <p:spPr>
          <a:xfrm>
            <a:off x="3132084" y="283182"/>
            <a:ext cx="6453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Movement of dataset [UDPATE 04/08/26]</a:t>
            </a:r>
            <a:endParaRPr lang="en-MY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41492-3967-A06F-AB84-3D8C5AD6A74A}"/>
              </a:ext>
            </a:extLst>
          </p:cNvPr>
          <p:cNvSpPr txBox="1"/>
          <p:nvPr/>
        </p:nvSpPr>
        <p:spPr>
          <a:xfrm>
            <a:off x="360618" y="1289608"/>
            <a:ext cx="2077798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Received 8 RAW excel files in zip files </a:t>
            </a:r>
            <a:r>
              <a:rPr lang="en-US" sz="1400" dirty="0"/>
              <a:t>[Dataset/1. </a:t>
            </a:r>
            <a:r>
              <a:rPr lang="en-US" sz="1400" dirty="0" err="1"/>
              <a:t>raw_data</a:t>
            </a:r>
            <a:r>
              <a:rPr lang="en-US" sz="1400" dirty="0"/>
              <a:t>]</a:t>
            </a:r>
            <a:endParaRPr lang="en-MY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797A3C-DB22-E459-74BB-FD071866140F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438416" y="1735884"/>
            <a:ext cx="295914" cy="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EA222D-3A46-A016-C00C-B155E496A76E}"/>
              </a:ext>
            </a:extLst>
          </p:cNvPr>
          <p:cNvSpPr txBox="1"/>
          <p:nvPr/>
        </p:nvSpPr>
        <p:spPr>
          <a:xfrm>
            <a:off x="2734330" y="1443974"/>
            <a:ext cx="249662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Clean each excel file</a:t>
            </a:r>
          </a:p>
          <a:p>
            <a:pPr algn="ctr"/>
            <a:r>
              <a:rPr lang="en-US" sz="1400" dirty="0"/>
              <a:t>[Dataset/2. </a:t>
            </a:r>
            <a:r>
              <a:rPr lang="en-US" sz="1400" dirty="0" err="1"/>
              <a:t>clean_data</a:t>
            </a:r>
            <a:r>
              <a:rPr lang="en-US" sz="1400" dirty="0"/>
              <a:t>]</a:t>
            </a:r>
            <a:endParaRPr lang="en-MY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9F7BA4-573B-A1B5-8482-BAEB834E4566}"/>
              </a:ext>
            </a:extLst>
          </p:cNvPr>
          <p:cNvSpPr txBox="1"/>
          <p:nvPr/>
        </p:nvSpPr>
        <p:spPr>
          <a:xfrm>
            <a:off x="5526864" y="1428107"/>
            <a:ext cx="241093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Merge into 1 csv files</a:t>
            </a:r>
          </a:p>
          <a:p>
            <a:pPr algn="ctr"/>
            <a:r>
              <a:rPr lang="en-US" sz="1400" dirty="0"/>
              <a:t>[</a:t>
            </a:r>
            <a:r>
              <a:rPr lang="en-MY" sz="1400" dirty="0"/>
              <a:t>Dataset</a:t>
            </a:r>
            <a:r>
              <a:rPr lang="en-MY" sz="1400" b="1" dirty="0"/>
              <a:t>\o</a:t>
            </a:r>
            <a:r>
              <a:rPr lang="en-MY" sz="1400" dirty="0"/>
              <a:t>utput</a:t>
            </a:r>
            <a:r>
              <a:rPr lang="en-MY" sz="1400" b="1" dirty="0"/>
              <a:t>\m</a:t>
            </a:r>
            <a:r>
              <a:rPr lang="en-MY" sz="1400" dirty="0"/>
              <a:t>asterfile.csv</a:t>
            </a:r>
            <a:r>
              <a:rPr lang="en-US" sz="1400" dirty="0"/>
              <a:t>]</a:t>
            </a:r>
            <a:endParaRPr lang="en-MY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462315-5951-5C82-315D-1E18348CCE52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5230950" y="1720495"/>
            <a:ext cx="295914" cy="15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0C47FB-1DBC-FAEE-73F0-DC0738C173BE}"/>
              </a:ext>
            </a:extLst>
          </p:cNvPr>
          <p:cNvSpPr txBox="1"/>
          <p:nvPr/>
        </p:nvSpPr>
        <p:spPr>
          <a:xfrm>
            <a:off x="8319398" y="1266763"/>
            <a:ext cx="147144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Used for training SGD model</a:t>
            </a:r>
            <a:endParaRPr lang="en-MY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569126-C902-EF93-4306-2A3D8A166E7A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>
            <a:off x="7937798" y="1720495"/>
            <a:ext cx="381600" cy="7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B41A58E-824F-5CCF-E4A0-A05129B4789B}"/>
              </a:ext>
            </a:extLst>
          </p:cNvPr>
          <p:cNvSpPr txBox="1"/>
          <p:nvPr/>
        </p:nvSpPr>
        <p:spPr>
          <a:xfrm>
            <a:off x="10290522" y="1551218"/>
            <a:ext cx="14714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master_df.pkl</a:t>
            </a:r>
            <a:endParaRPr lang="en-MY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554F045-501E-A964-9EF5-BA54A176CBA6}"/>
              </a:ext>
            </a:extLst>
          </p:cNvPr>
          <p:cNvCxnSpPr>
            <a:cxnSpLocks/>
            <a:stCxn id="20" idx="3"/>
            <a:endCxn id="47" idx="1"/>
          </p:cNvCxnSpPr>
          <p:nvPr/>
        </p:nvCxnSpPr>
        <p:spPr>
          <a:xfrm>
            <a:off x="9790845" y="1728428"/>
            <a:ext cx="499677" cy="7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DBCF579-EC25-F117-F193-EE0FCD1E0E4F}"/>
              </a:ext>
            </a:extLst>
          </p:cNvPr>
          <p:cNvSpPr txBox="1"/>
          <p:nvPr/>
        </p:nvSpPr>
        <p:spPr>
          <a:xfrm>
            <a:off x="360618" y="806402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1"/>
              <a:t>SGD Classifier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D05E5B-D5E8-52FB-2D7D-8A861382E0FC}"/>
              </a:ext>
            </a:extLst>
          </p:cNvPr>
          <p:cNvSpPr txBox="1"/>
          <p:nvPr/>
        </p:nvSpPr>
        <p:spPr>
          <a:xfrm>
            <a:off x="360618" y="3244334"/>
            <a:ext cx="100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1"/>
              <a:t>XGBoost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FF2471-CD09-F631-B61E-8BB6B05F210F}"/>
              </a:ext>
            </a:extLst>
          </p:cNvPr>
          <p:cNvSpPr txBox="1"/>
          <p:nvPr/>
        </p:nvSpPr>
        <p:spPr>
          <a:xfrm>
            <a:off x="277215" y="3875620"/>
            <a:ext cx="2771466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Dummy data</a:t>
            </a:r>
          </a:p>
          <a:p>
            <a:pPr algn="ctr"/>
            <a:r>
              <a:rPr lang="en-US" sz="1400" dirty="0"/>
              <a:t>[</a:t>
            </a:r>
            <a:r>
              <a:rPr lang="en-MY" sz="1400" b="1" dirty="0"/>
              <a:t>r</a:t>
            </a:r>
            <a:r>
              <a:rPr lang="en-MY" sz="1400" dirty="0"/>
              <a:t>epos\</a:t>
            </a:r>
            <a:r>
              <a:rPr lang="en-MY" sz="1400" dirty="0" err="1"/>
              <a:t>DeviceCluster</a:t>
            </a:r>
            <a:r>
              <a:rPr lang="en-MY" sz="1400" dirty="0"/>
              <a:t>\1.training_model\</a:t>
            </a:r>
            <a:r>
              <a:rPr lang="en-MY" sz="1400" dirty="0" err="1"/>
              <a:t>dummy_data</a:t>
            </a:r>
            <a:r>
              <a:rPr lang="en-US" sz="1400" dirty="0"/>
              <a:t>]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UGS (A1706-A1995)</a:t>
            </a:r>
          </a:p>
          <a:p>
            <a:pPr algn="ctr"/>
            <a:r>
              <a:rPr lang="en-MY" sz="1400" dirty="0" err="1"/>
              <a:t>Oiltek</a:t>
            </a:r>
            <a:r>
              <a:rPr lang="en-MY" sz="1400" dirty="0"/>
              <a:t> (A2027-A8885)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412BAF-F98B-43A4-BA69-C23842C63EA5}"/>
              </a:ext>
            </a:extLst>
          </p:cNvPr>
          <p:cNvSpPr txBox="1"/>
          <p:nvPr/>
        </p:nvSpPr>
        <p:spPr>
          <a:xfrm>
            <a:off x="3982640" y="4275729"/>
            <a:ext cx="183882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Used for training XGB model</a:t>
            </a:r>
            <a:endParaRPr lang="en-MY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6D47BF-E73D-21FF-E411-9256D55B60EE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3048681" y="4598895"/>
            <a:ext cx="9339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160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993CD-ABA8-D564-1015-9B87B010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4344B5-4C40-2B46-55DB-B267BCB71AB1}"/>
              </a:ext>
            </a:extLst>
          </p:cNvPr>
          <p:cNvSpPr txBox="1"/>
          <p:nvPr/>
        </p:nvSpPr>
        <p:spPr>
          <a:xfrm>
            <a:off x="3284484" y="2555575"/>
            <a:ext cx="6453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Full flowchart</a:t>
            </a:r>
          </a:p>
          <a:p>
            <a:r>
              <a:rPr lang="en-US" sz="2800" dirty="0">
                <a:solidFill>
                  <a:schemeClr val="accent1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Flowchart ML development.xlsx</a:t>
            </a:r>
            <a:endParaRPr lang="en-MY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162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17279-FFF0-6BF9-FE2D-8E9D18E2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F77FC3-E448-268A-CA5D-899EBF724E73}"/>
              </a:ext>
            </a:extLst>
          </p:cNvPr>
          <p:cNvSpPr txBox="1"/>
          <p:nvPr/>
        </p:nvSpPr>
        <p:spPr>
          <a:xfrm>
            <a:off x="669194" y="2419505"/>
            <a:ext cx="111216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 err="1"/>
              <a:t>clu_proba_raw</a:t>
            </a:r>
            <a:r>
              <a:rPr lang="en-MY" b="1" dirty="0"/>
              <a:t>           = </a:t>
            </a:r>
            <a:r>
              <a:rPr lang="en-MY" b="1" dirty="0" err="1"/>
              <a:t>model_cluster.predict_proba</a:t>
            </a:r>
            <a:r>
              <a:rPr lang="en-MY" b="1" dirty="0"/>
              <a:t>(</a:t>
            </a:r>
            <a:r>
              <a:rPr lang="en-MY" b="1" dirty="0" err="1"/>
              <a:t>X_clu</a:t>
            </a:r>
            <a:r>
              <a:rPr lang="en-MY" b="1" dirty="0"/>
              <a:t>)   	</a:t>
            </a:r>
            <a:r>
              <a:rPr lang="en-MY" dirty="0"/>
              <a:t># ← full probability array, one score per cluster class</a:t>
            </a:r>
          </a:p>
          <a:p>
            <a:endParaRPr lang="en-MY" dirty="0"/>
          </a:p>
          <a:p>
            <a:endParaRPr lang="en-MY" dirty="0"/>
          </a:p>
          <a:p>
            <a:r>
              <a:rPr lang="en-MY" b="1" dirty="0" err="1"/>
              <a:t>clu_pred_enc</a:t>
            </a:r>
            <a:r>
              <a:rPr lang="en-MY" b="1" dirty="0"/>
              <a:t>            = </a:t>
            </a:r>
            <a:r>
              <a:rPr lang="en-MY" b="1" dirty="0" err="1"/>
              <a:t>np.argmax</a:t>
            </a:r>
            <a:r>
              <a:rPr lang="en-MY" b="1" dirty="0"/>
              <a:t>(</a:t>
            </a:r>
            <a:r>
              <a:rPr lang="en-MY" b="1" dirty="0" err="1"/>
              <a:t>clu_proba_raw</a:t>
            </a:r>
            <a:r>
              <a:rPr lang="en-MY" b="1" dirty="0"/>
              <a:t>, axis=1)  </a:t>
            </a:r>
            <a:r>
              <a:rPr lang="en-MY" dirty="0"/>
              <a:t>   	# ← THIS is where it picks the max</a:t>
            </a:r>
          </a:p>
          <a:p>
            <a:endParaRPr lang="en-MY" dirty="0"/>
          </a:p>
          <a:p>
            <a:endParaRPr lang="en-MY" dirty="0"/>
          </a:p>
          <a:p>
            <a:r>
              <a:rPr lang="en-MY" b="1" dirty="0" err="1"/>
              <a:t>clu_conf_raw</a:t>
            </a:r>
            <a:r>
              <a:rPr lang="en-MY" b="1" dirty="0"/>
              <a:t>            = </a:t>
            </a:r>
            <a:r>
              <a:rPr lang="en-MY" b="1" dirty="0" err="1"/>
              <a:t>clu_proba_raw.max</a:t>
            </a:r>
            <a:r>
              <a:rPr lang="en-MY" b="1" dirty="0"/>
              <a:t>(axis=1)            	</a:t>
            </a:r>
            <a:r>
              <a:rPr lang="en-MY" dirty="0"/>
              <a:t># ← and this grabs the max value itself</a:t>
            </a:r>
          </a:p>
        </p:txBody>
      </p:sp>
    </p:spTree>
    <p:extLst>
      <p:ext uri="{BB962C8B-B14F-4D97-AF65-F5344CB8AC3E}">
        <p14:creationId xmlns:p14="http://schemas.microsoft.com/office/powerpoint/2010/main" val="2701931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FCF45-ABF1-2E1D-3EB7-070DB704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589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E0CA2-D7B5-F6C6-5FEE-891560CA1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40EA0-0488-0289-9DA2-174F6A949FA3}"/>
              </a:ext>
            </a:extLst>
          </p:cNvPr>
          <p:cNvSpPr txBox="1"/>
          <p:nvPr/>
        </p:nvSpPr>
        <p:spPr>
          <a:xfrm>
            <a:off x="3310526" y="3013502"/>
            <a:ext cx="5570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UDPATE 10/07/2026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2626846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640D1-542D-7C4F-6A12-1D02CE65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D31E10-7869-40D6-92E4-D49052B29F1F}"/>
              </a:ext>
            </a:extLst>
          </p:cNvPr>
          <p:cNvSpPr txBox="1"/>
          <p:nvPr/>
        </p:nvSpPr>
        <p:spPr>
          <a:xfrm>
            <a:off x="758107" y="469998"/>
            <a:ext cx="1038285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do list 20/07/2026</a:t>
            </a:r>
          </a:p>
          <a:p>
            <a:endParaRPr lang="en-US" sz="2800" dirty="0"/>
          </a:p>
          <a:p>
            <a:pPr marL="914400" indent="-914400">
              <a:buFont typeface="+mj-lt"/>
              <a:buAutoNum type="arabicPeriod"/>
            </a:pPr>
            <a:r>
              <a:rPr lang="en-US" sz="2800" dirty="0"/>
              <a:t>Confirmation training with HR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Extract the pattern dataset of Section 2 Cluster OILTEK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Transform into tabulation dataset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Ask </a:t>
            </a:r>
            <a:r>
              <a:rPr lang="en-MY" sz="2800" dirty="0" err="1"/>
              <a:t>claude</a:t>
            </a:r>
            <a:r>
              <a:rPr lang="en-MY" sz="2800" dirty="0"/>
              <a:t> to find which line of python script predict_sectioncluster.py that showing all the percentage prediction for each cluster before showing/pickup the highest percentage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Find the line in python script of the predict_sectioncuster.py that give percentage of all the possibilities in the cluster.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Setup in descending order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List out all the possibilities of dataset that might bring confusing </a:t>
            </a:r>
          </a:p>
        </p:txBody>
      </p:sp>
    </p:spTree>
    <p:extLst>
      <p:ext uri="{BB962C8B-B14F-4D97-AF65-F5344CB8AC3E}">
        <p14:creationId xmlns:p14="http://schemas.microsoft.com/office/powerpoint/2010/main" val="3649861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A455F-C5FB-E31C-F4C9-C7C20CB8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E0A5CF-E1ED-D92D-C5E8-63D63DA3B39F}"/>
              </a:ext>
            </a:extLst>
          </p:cNvPr>
          <p:cNvSpPr txBox="1"/>
          <p:nvPr/>
        </p:nvSpPr>
        <p:spPr>
          <a:xfrm>
            <a:off x="758107" y="469998"/>
            <a:ext cx="1038285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algn="ctr"/>
            <a:r>
              <a:rPr lang="en-MY" sz="3600" dirty="0"/>
              <a:t>TAKE NOTE THIS 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Script that </a:t>
            </a:r>
            <a:r>
              <a:rPr lang="en-MY" dirty="0" err="1"/>
              <a:t>pikup</a:t>
            </a:r>
            <a:r>
              <a:rPr lang="en-MY" dirty="0"/>
              <a:t> the max prediction percentage</a:t>
            </a:r>
          </a:p>
          <a:p>
            <a:r>
              <a:rPr lang="en-MY" dirty="0"/>
              <a:t> ratio    = </a:t>
            </a:r>
            <a:r>
              <a:rPr lang="en-MY" dirty="0" err="1"/>
              <a:t>np.maximum</a:t>
            </a:r>
            <a:r>
              <a:rPr lang="en-MY" dirty="0"/>
              <a:t>(0, </a:t>
            </a:r>
            <a:r>
              <a:rPr lang="en-MY" dirty="0" err="1"/>
              <a:t>avg_dist</a:t>
            </a:r>
            <a:r>
              <a:rPr lang="en-MY" dirty="0"/>
              <a:t> - </a:t>
            </a:r>
            <a:r>
              <a:rPr lang="en-MY" dirty="0" err="1"/>
              <a:t>ood_threshold</a:t>
            </a:r>
            <a:r>
              <a:rPr lang="en-MY" dirty="0"/>
              <a:t>) / </a:t>
            </a:r>
            <a:r>
              <a:rPr lang="en-MY" dirty="0" err="1"/>
              <a:t>ood_threshold</a:t>
            </a:r>
            <a:endParaRPr lang="en-MY" dirty="0"/>
          </a:p>
          <a:p>
            <a:r>
              <a:rPr lang="en-MY" dirty="0"/>
              <a:t>    adjusted = </a:t>
            </a:r>
            <a:r>
              <a:rPr lang="en-MY" dirty="0" err="1"/>
              <a:t>conf_raw</a:t>
            </a:r>
            <a:r>
              <a:rPr lang="en-MY" dirty="0"/>
              <a:t> / (1 + ratio)</a:t>
            </a:r>
          </a:p>
          <a:p>
            <a:endParaRPr lang="en-MY" dirty="0"/>
          </a:p>
          <a:p>
            <a:endParaRPr lang="en-MY" dirty="0"/>
          </a:p>
          <a:p>
            <a:r>
              <a:rPr lang="en-MY" dirty="0"/>
              <a:t>Or this script:</a:t>
            </a:r>
          </a:p>
          <a:p>
            <a:r>
              <a:rPr lang="en-MY" dirty="0"/>
              <a:t>    # ── Section prediction (single best, same as predict()) ────────────</a:t>
            </a:r>
          </a:p>
          <a:p>
            <a:r>
              <a:rPr lang="en-MY" dirty="0"/>
              <a:t>    </a:t>
            </a:r>
            <a:r>
              <a:rPr lang="en-MY" dirty="0" err="1"/>
              <a:t>X_sec</a:t>
            </a:r>
            <a:r>
              <a:rPr lang="en-MY" dirty="0"/>
              <a:t> = </a:t>
            </a:r>
            <a:r>
              <a:rPr lang="en-MY" dirty="0" err="1"/>
              <a:t>df_feat</a:t>
            </a:r>
            <a:r>
              <a:rPr lang="en-MY" dirty="0"/>
              <a:t>[</a:t>
            </a:r>
            <a:r>
              <a:rPr lang="en-MY" dirty="0" err="1"/>
              <a:t>section_features</a:t>
            </a:r>
            <a:r>
              <a:rPr lang="en-MY" dirty="0"/>
              <a:t>].apply(</a:t>
            </a:r>
            <a:r>
              <a:rPr lang="en-MY" dirty="0" err="1"/>
              <a:t>pd.to_numeric</a:t>
            </a:r>
            <a:r>
              <a:rPr lang="en-MY" dirty="0"/>
              <a:t>, errors="coerce").</a:t>
            </a:r>
            <a:r>
              <a:rPr lang="en-MY" dirty="0" err="1"/>
              <a:t>fillna</a:t>
            </a:r>
            <a:r>
              <a:rPr lang="en-MY" dirty="0"/>
              <a:t>(0)</a:t>
            </a:r>
          </a:p>
          <a:p>
            <a:r>
              <a:rPr lang="en-MY" dirty="0"/>
              <a:t>    </a:t>
            </a:r>
            <a:r>
              <a:rPr lang="en-MY" dirty="0" err="1"/>
              <a:t>sec_proba_raw</a:t>
            </a:r>
            <a:r>
              <a:rPr lang="en-MY" dirty="0"/>
              <a:t> = </a:t>
            </a:r>
            <a:r>
              <a:rPr lang="en-MY" dirty="0" err="1"/>
              <a:t>model_section.predict_proba</a:t>
            </a:r>
            <a:r>
              <a:rPr lang="en-MY" dirty="0"/>
              <a:t>(</a:t>
            </a:r>
            <a:r>
              <a:rPr lang="en-MY" dirty="0" err="1"/>
              <a:t>X_sec</a:t>
            </a:r>
            <a:r>
              <a:rPr lang="en-MY" dirty="0"/>
              <a:t>)</a:t>
            </a:r>
          </a:p>
          <a:p>
            <a:r>
              <a:rPr lang="en-MY" dirty="0"/>
              <a:t>    </a:t>
            </a:r>
            <a:r>
              <a:rPr lang="en-MY" dirty="0" err="1"/>
              <a:t>sec_pred_enc</a:t>
            </a:r>
            <a:r>
              <a:rPr lang="en-MY" dirty="0"/>
              <a:t>  = </a:t>
            </a:r>
            <a:r>
              <a:rPr lang="en-MY" dirty="0" err="1"/>
              <a:t>np.argmax</a:t>
            </a:r>
            <a:r>
              <a:rPr lang="en-MY" dirty="0"/>
              <a:t>(</a:t>
            </a:r>
            <a:r>
              <a:rPr lang="en-MY" dirty="0" err="1"/>
              <a:t>sec_proba_raw</a:t>
            </a:r>
            <a:r>
              <a:rPr lang="en-MY" dirty="0"/>
              <a:t>, axis=1)</a:t>
            </a:r>
          </a:p>
          <a:p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2656045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5533F-1B89-B99B-0D65-01371B3D6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2DA0EB-4492-1CBD-9585-FFC415099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523" y="231006"/>
            <a:ext cx="4043626" cy="639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23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8F463-FE94-A19A-FF78-AAFF47F1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E72955-82BD-20F2-756A-D78120C93D0A}"/>
              </a:ext>
            </a:extLst>
          </p:cNvPr>
          <p:cNvSpPr txBox="1"/>
          <p:nvPr/>
        </p:nvSpPr>
        <p:spPr>
          <a:xfrm>
            <a:off x="3788228" y="2621617"/>
            <a:ext cx="53884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Full flowchart</a:t>
            </a:r>
          </a:p>
        </p:txBody>
      </p:sp>
    </p:spTree>
    <p:extLst>
      <p:ext uri="{BB962C8B-B14F-4D97-AF65-F5344CB8AC3E}">
        <p14:creationId xmlns:p14="http://schemas.microsoft.com/office/powerpoint/2010/main" val="2876122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283BA-3DC0-6D63-5BFB-5BE9A422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577188-542A-8A3A-4EE1-35BA2F57CB63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84BF08-3E5D-3171-5ABB-DA38FE8FF86D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B9CC73-0991-75BF-5923-46B7A8E00E42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619CAD-A68F-58F0-234F-B4E2B33FF01B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FD65D02-D6D8-CDF7-7819-93525F558A6D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6B83D8-4114-0226-B808-E5D6685E840F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337188-D19F-9FA5-2A9F-0DA7453CF108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60ACDEB-806E-A983-A5AA-3D7E7EB00BAE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1AA0C6-3DB7-BFC5-4B02-E75ACCC03490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5F8D740-8572-ED9D-BC02-AAF774BE2334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18A06AD-10B2-78BC-A266-1DB786372659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80764CB-22CC-8DF4-DD78-B33474CC34E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8A6E997-26E7-69B5-95CC-DCBF799744F0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B151CC7-7645-23DA-7B3A-836A6174EFC7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38C68A-D1AA-1E18-B9B4-1C7AA86A5EC2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</p:spTree>
    <p:extLst>
      <p:ext uri="{BB962C8B-B14F-4D97-AF65-F5344CB8AC3E}">
        <p14:creationId xmlns:p14="http://schemas.microsoft.com/office/powerpoint/2010/main" val="3433560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043C2-1C0A-0131-6811-F65857B5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2652D-CC66-D75D-6654-2D845D5869D3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C1A1F2-24F1-6366-1EFD-2E5D57A11CA1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134F3C-AE36-6714-9474-E6BDBFB1839A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9BEADC-3F77-226F-CDFD-06390D10FA67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B30F94-2609-9DEE-62BD-2C2E1556240D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24A5B4-63B3-B424-2026-808BFC4ABC6A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FE9A51-6C78-68D2-E10C-FB17E844D604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0F49E33-3A58-74A2-192B-FC4D816BC6CC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7233B2-68AB-C0D1-35DD-ED8E30675B7A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1B4FA2-3554-B176-70C4-27F34A969C35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6042B3-CB02-F8FC-4339-153342D76FA9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F367050-41B3-9E58-D3C2-2ECD881E5D4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1059DC0-E073-0409-48E2-045BF02E41D5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7764549-F6A3-BEF9-F18D-63F36B2CAA2A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9DBA3F-5F9D-73C3-17F4-6C01745009AB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DB4641-B417-58B6-5762-EBF601BE3C19}"/>
              </a:ext>
            </a:extLst>
          </p:cNvPr>
          <p:cNvSpPr/>
          <p:nvPr/>
        </p:nvSpPr>
        <p:spPr>
          <a:xfrm>
            <a:off x="73579" y="1345324"/>
            <a:ext cx="6834503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6EDD2-93A5-2135-84A1-3A2DE7609A03}"/>
              </a:ext>
            </a:extLst>
          </p:cNvPr>
          <p:cNvSpPr txBox="1"/>
          <p:nvPr/>
        </p:nvSpPr>
        <p:spPr>
          <a:xfrm>
            <a:off x="234027" y="636166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1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1441521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7656E-1D33-F928-6402-8EE9BC1B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A57C37-B754-44D6-88F5-A7EDE4025614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8A9742-9D7B-2215-70B4-61D08E845347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7B30F1B-44EA-EB0C-1EDA-F376195ADB20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375F1A-3C06-980D-6098-8625A7F09348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859672C-A951-B513-0882-144ECA3BA596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BBFBD5-BC37-3B86-E8EC-F20C9277953D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4B4DF8-95AD-BF96-6AD5-B5C22FF272B8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A9DFD9A-493B-7579-812E-F5F3BFD76F13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503661-C56B-3487-9CDE-D1212A8C79FC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34C5453-E5C8-19EE-0112-5CD6439C0862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B9E99C0-9927-A2C8-5D6D-647A59ABCF5C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B2D1A65-E4AD-70CA-1CDA-CCAB95A79D37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0475E98-AE4E-4E87-82CE-147A62557B1B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C96411E-D33C-874C-0718-65D2E177CFFC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2D5755-F36B-FFE6-25C0-F5AAA0F39E68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3004BF-DD05-A3D9-528B-1561A17A6C4B}"/>
              </a:ext>
            </a:extLst>
          </p:cNvPr>
          <p:cNvSpPr/>
          <p:nvPr/>
        </p:nvSpPr>
        <p:spPr>
          <a:xfrm>
            <a:off x="7143136" y="1282497"/>
            <a:ext cx="4894692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EEDE3-83AB-0D3D-9293-A758BAC14DB2}"/>
              </a:ext>
            </a:extLst>
          </p:cNvPr>
          <p:cNvSpPr txBox="1"/>
          <p:nvPr/>
        </p:nvSpPr>
        <p:spPr>
          <a:xfrm>
            <a:off x="8819570" y="498490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254544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F7DA7-1D11-5B45-3B62-F12ED03B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E5218-EB90-6968-1B12-9DADDD7CE485}"/>
              </a:ext>
            </a:extLst>
          </p:cNvPr>
          <p:cNvSpPr txBox="1"/>
          <p:nvPr/>
        </p:nvSpPr>
        <p:spPr>
          <a:xfrm>
            <a:off x="4432578" y="1886554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>
              <a:buAutoNum type="arabicParenR"/>
            </a:pPr>
            <a:endParaRPr lang="en-MY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1AF95-DAB9-9A85-F9DC-62C7CB76D961}"/>
              </a:ext>
            </a:extLst>
          </p:cNvPr>
          <p:cNvSpPr txBox="1"/>
          <p:nvPr/>
        </p:nvSpPr>
        <p:spPr>
          <a:xfrm>
            <a:off x="7590502" y="4298335"/>
            <a:ext cx="2969283" cy="615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2</a:t>
            </a:r>
          </a:p>
          <a:p>
            <a:pPr algn="ctr"/>
            <a:r>
              <a:rPr lang="en-MY" dirty="0"/>
              <a:t>Kick and replace mechanism</a:t>
            </a:r>
            <a:endParaRPr lang="en-MY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5FF7B-B52B-3A68-ADCC-95C546C92F82}"/>
              </a:ext>
            </a:extLst>
          </p:cNvPr>
          <p:cNvSpPr txBox="1"/>
          <p:nvPr/>
        </p:nvSpPr>
        <p:spPr>
          <a:xfrm>
            <a:off x="2521446" y="3429000"/>
            <a:ext cx="2217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FULL </a:t>
            </a:r>
            <a:endParaRPr lang="en-MY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F9F9A-0BEC-2EC2-5274-A53A6C3A645C}"/>
              </a:ext>
            </a:extLst>
          </p:cNvPr>
          <p:cNvSpPr txBox="1"/>
          <p:nvPr/>
        </p:nvSpPr>
        <p:spPr>
          <a:xfrm>
            <a:off x="7590502" y="3429000"/>
            <a:ext cx="289068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VACANT </a:t>
            </a:r>
            <a:endParaRPr lang="en-MY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A6028-8576-7C72-5DD1-21696B4C391A}"/>
              </a:ext>
            </a:extLst>
          </p:cNvPr>
          <p:cNvSpPr txBox="1"/>
          <p:nvPr/>
        </p:nvSpPr>
        <p:spPr>
          <a:xfrm>
            <a:off x="2521447" y="4289301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3</a:t>
            </a:r>
            <a:endParaRPr lang="en-MY" sz="1050" b="1" dirty="0"/>
          </a:p>
          <a:p>
            <a:pPr algn="ctr"/>
            <a:r>
              <a:rPr lang="en-MY" sz="1600" dirty="0"/>
              <a:t>Conflict 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5C6E45-ECA8-475B-D000-B08E75527FFD}"/>
              </a:ext>
            </a:extLst>
          </p:cNvPr>
          <p:cNvSpPr txBox="1"/>
          <p:nvPr/>
        </p:nvSpPr>
        <p:spPr>
          <a:xfrm>
            <a:off x="2521446" y="5719895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4</a:t>
            </a:r>
            <a:endParaRPr lang="en-MY" sz="1050" b="1" dirty="0"/>
          </a:p>
          <a:p>
            <a:pPr algn="ctr"/>
            <a:r>
              <a:rPr lang="en-MY" sz="1600" dirty="0"/>
              <a:t>Solve Conflict 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1F26D2-AB3E-176D-DF1A-6292C8D1D42C}"/>
              </a:ext>
            </a:extLst>
          </p:cNvPr>
          <p:cNvSpPr txBox="1"/>
          <p:nvPr/>
        </p:nvSpPr>
        <p:spPr>
          <a:xfrm>
            <a:off x="5207564" y="36403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PREDICTION</a:t>
            </a:r>
            <a:endParaRPr lang="en-MY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CE8864-E00B-386A-FCE8-088A85B5ED9E}"/>
              </a:ext>
            </a:extLst>
          </p:cNvPr>
          <p:cNvSpPr txBox="1"/>
          <p:nvPr/>
        </p:nvSpPr>
        <p:spPr>
          <a:xfrm>
            <a:off x="5207564" y="110480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LOGIC</a:t>
            </a:r>
            <a:endParaRPr lang="en-MY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C2B3D6-1126-AF74-314B-926982F5C8B5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6282434" y="702589"/>
            <a:ext cx="0" cy="40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12242E-86A1-2C3D-9C3C-4920CE89D76E}"/>
              </a:ext>
            </a:extLst>
          </p:cNvPr>
          <p:cNvCxnSpPr>
            <a:stCxn id="22" idx="2"/>
            <a:endCxn id="2" idx="0"/>
          </p:cNvCxnSpPr>
          <p:nvPr/>
        </p:nvCxnSpPr>
        <p:spPr>
          <a:xfrm>
            <a:off x="6282434" y="1443359"/>
            <a:ext cx="0" cy="44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7EEF9D-341E-A751-EE4A-8438734AFF31}"/>
              </a:ext>
            </a:extLst>
          </p:cNvPr>
          <p:cNvCxnSpPr>
            <a:stCxn id="2" idx="2"/>
            <a:endCxn id="7" idx="0"/>
          </p:cNvCxnSpPr>
          <p:nvPr/>
        </p:nvCxnSpPr>
        <p:spPr>
          <a:xfrm flipH="1">
            <a:off x="3630297" y="2632912"/>
            <a:ext cx="2652137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4E7B75-DDE2-B034-3C13-BF698151EBB7}"/>
              </a:ext>
            </a:extLst>
          </p:cNvPr>
          <p:cNvCxnSpPr>
            <a:stCxn id="2" idx="2"/>
            <a:endCxn id="11" idx="0"/>
          </p:cNvCxnSpPr>
          <p:nvPr/>
        </p:nvCxnSpPr>
        <p:spPr>
          <a:xfrm>
            <a:off x="6282434" y="2632912"/>
            <a:ext cx="2753410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6F051B-C5C4-E775-EE52-467757019DFA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3630297" y="3767554"/>
            <a:ext cx="1" cy="52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659810-BDBD-5F9D-6653-88446B23662B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3630297" y="4874076"/>
            <a:ext cx="1" cy="84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F9D62E-A29F-A753-737D-3615D2148A28}"/>
              </a:ext>
            </a:extLst>
          </p:cNvPr>
          <p:cNvCxnSpPr>
            <a:stCxn id="11" idx="2"/>
            <a:endCxn id="5" idx="0"/>
          </p:cNvCxnSpPr>
          <p:nvPr/>
        </p:nvCxnSpPr>
        <p:spPr>
          <a:xfrm>
            <a:off x="9035844" y="3767554"/>
            <a:ext cx="39300" cy="530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A12A31-72D7-6738-145F-618D37428487}"/>
              </a:ext>
            </a:extLst>
          </p:cNvPr>
          <p:cNvSpPr txBox="1"/>
          <p:nvPr/>
        </p:nvSpPr>
        <p:spPr>
          <a:xfrm>
            <a:off x="442825" y="230164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953884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7F6BA-3492-63F3-D785-4B5DF2A3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188357-3633-E56C-42CA-8B2BF6BDCB92}"/>
              </a:ext>
            </a:extLst>
          </p:cNvPr>
          <p:cNvSpPr txBox="1"/>
          <p:nvPr/>
        </p:nvSpPr>
        <p:spPr>
          <a:xfrm>
            <a:off x="4756224" y="2368330"/>
            <a:ext cx="311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Approach 1</a:t>
            </a:r>
          </a:p>
        </p:txBody>
      </p:sp>
    </p:spTree>
    <p:extLst>
      <p:ext uri="{BB962C8B-B14F-4D97-AF65-F5344CB8AC3E}">
        <p14:creationId xmlns:p14="http://schemas.microsoft.com/office/powerpoint/2010/main" val="2026394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6C9B0-778F-1AAB-6381-C68F7A7A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ED547-20E1-B03C-A900-6FBB82A63718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1C0FFF-BA08-65E3-2254-640F1B0DACF1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95719FB-9069-AB74-D1F0-8512C387AFBA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516794-52DB-CD3F-E69D-59A39DA33EF8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67C5DF-BAB9-3B34-305F-275B4B730C5C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1506BF-3F2B-5153-D442-90A540C85E07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0B4600-DB22-D34B-E02A-AB1F02F5E03C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B6821B-8F1A-C77C-0ACA-1827455AA419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7785E5-1367-F838-04AD-15FE6B264B2B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CDA64E-F0FC-B63C-7A24-40FD8BFEE1CF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73377B0-55B3-B6AE-F730-90CD7AE12D91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62672F3-F933-9CAE-2ACF-91F9822831C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2B6D11-EE8D-E028-81B2-BDA4ADD49574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3312578-1956-BA51-A99F-513175148F56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5A5DD5-7EA1-B5F0-CB2D-5E54C21159D0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00FD0-F211-B060-32E1-DF7562EA91C1}"/>
              </a:ext>
            </a:extLst>
          </p:cNvPr>
          <p:cNvSpPr/>
          <p:nvPr/>
        </p:nvSpPr>
        <p:spPr>
          <a:xfrm>
            <a:off x="73579" y="1345324"/>
            <a:ext cx="6834503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95E75-7F75-63A1-BD8E-2344CB6B4B7E}"/>
              </a:ext>
            </a:extLst>
          </p:cNvPr>
          <p:cNvSpPr txBox="1"/>
          <p:nvPr/>
        </p:nvSpPr>
        <p:spPr>
          <a:xfrm>
            <a:off x="234027" y="636166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1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3663911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8A95E-B525-91C0-7B0D-B0DC17AD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03B38-6E13-BEC7-4F3E-792FFC9998BA}"/>
              </a:ext>
            </a:extLst>
          </p:cNvPr>
          <p:cNvSpPr txBox="1"/>
          <p:nvPr/>
        </p:nvSpPr>
        <p:spPr>
          <a:xfrm>
            <a:off x="589547" y="421631"/>
            <a:ext cx="1101290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Approach 10/07/2026: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Run prediction model</a:t>
            </a:r>
          </a:p>
          <a:p>
            <a:pPr marL="342900" indent="-342900">
              <a:buAutoNum type="arabicParenR"/>
            </a:pPr>
            <a:r>
              <a:rPr lang="en-MY" sz="2400" dirty="0"/>
              <a:t>Logic sort the model into section and cluster based on the prediction result</a:t>
            </a:r>
          </a:p>
          <a:p>
            <a:pPr marL="342900" indent="-342900">
              <a:buAutoNum type="arabicParenR"/>
            </a:pPr>
            <a:r>
              <a:rPr lang="en-MY" sz="2400" dirty="0"/>
              <a:t>Left the UNKNOWN cluster</a:t>
            </a:r>
          </a:p>
          <a:p>
            <a:pPr marL="342900" indent="-342900">
              <a:buAutoNum type="arabicParenR"/>
            </a:pPr>
            <a:r>
              <a:rPr lang="en-MY" sz="2400" b="1" dirty="0"/>
              <a:t>UNKNOWN cluster		</a:t>
            </a:r>
          </a:p>
          <a:p>
            <a:r>
              <a:rPr lang="en-MY" sz="2400" b="1" dirty="0"/>
              <a:t>	</a:t>
            </a:r>
            <a:r>
              <a:rPr lang="en-MY" sz="2400" dirty="0"/>
              <a:t>-Check the top 3 highest percentage</a:t>
            </a:r>
          </a:p>
          <a:p>
            <a:r>
              <a:rPr lang="en-MY" sz="2400" dirty="0"/>
              <a:t>	-Load the top 3 cluster obtain from the highest percentage</a:t>
            </a:r>
          </a:p>
          <a:p>
            <a:r>
              <a:rPr lang="en-MY" sz="2400" dirty="0"/>
              <a:t>	-Match the pattern algorithm</a:t>
            </a:r>
          </a:p>
          <a:p>
            <a:r>
              <a:rPr lang="en-MY" sz="2400" dirty="0"/>
              <a:t>	-Is the equipment exist in the cluster algorithm reference? Yes/No</a:t>
            </a:r>
          </a:p>
          <a:p>
            <a:pPr lvl="5"/>
            <a:r>
              <a:rPr lang="en-MY" sz="2400" dirty="0"/>
              <a:t>-NO = EXCLUDE THE CLUSTER</a:t>
            </a:r>
          </a:p>
          <a:p>
            <a:pPr lvl="5"/>
            <a:r>
              <a:rPr lang="en-MY" sz="2400" dirty="0"/>
              <a:t>-YES = Proceed with the selection.</a:t>
            </a:r>
          </a:p>
          <a:p>
            <a:pPr lvl="5"/>
            <a:endParaRPr lang="en-MY" sz="2400" dirty="0"/>
          </a:p>
          <a:p>
            <a:pPr marL="452438" lvl="5"/>
            <a:r>
              <a:rPr lang="en-MY" sz="2400" dirty="0"/>
              <a:t>-If there is more than 1 similar device type across cluster, which cluster should choose? = choose the cluster in which no Device Type inside.</a:t>
            </a:r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3211271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5A408-2D03-9835-2AC1-A72ACACD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75B230-E049-31DC-B1D5-CB81BC29B6CD}"/>
              </a:ext>
            </a:extLst>
          </p:cNvPr>
          <p:cNvCxnSpPr>
            <a:stCxn id="15" idx="2"/>
            <a:endCxn id="27" idx="0"/>
          </p:cNvCxnSpPr>
          <p:nvPr/>
        </p:nvCxnSpPr>
        <p:spPr>
          <a:xfrm>
            <a:off x="6075826" y="1055991"/>
            <a:ext cx="15643" cy="40352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16254E1-B53A-29C0-7C80-33451301E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65" b="40294"/>
          <a:stretch>
            <a:fillRect/>
          </a:stretch>
        </p:blipFill>
        <p:spPr>
          <a:xfrm>
            <a:off x="3667048" y="174826"/>
            <a:ext cx="4817555" cy="881165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7C72E2-6377-53BC-6BAD-C5C6B9CB0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894"/>
          <a:stretch>
            <a:fillRect/>
          </a:stretch>
        </p:blipFill>
        <p:spPr>
          <a:xfrm>
            <a:off x="3687223" y="1319056"/>
            <a:ext cx="4817554" cy="78547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D012C11-DD3C-59A3-7DCF-7C5A91BE9D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704"/>
          <a:stretch>
            <a:fillRect/>
          </a:stretch>
        </p:blipFill>
        <p:spPr>
          <a:xfrm>
            <a:off x="3687223" y="2388902"/>
            <a:ext cx="4848840" cy="622867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1CC056C-6B12-F76F-37A2-8A0F79CEB0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3537"/>
          <a:stretch>
            <a:fillRect/>
          </a:stretch>
        </p:blipFill>
        <p:spPr>
          <a:xfrm>
            <a:off x="3151451" y="3345280"/>
            <a:ext cx="5920384" cy="1398924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9158B4-EB3D-8BF6-747E-3C4E54185C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4578"/>
          <a:stretch>
            <a:fillRect/>
          </a:stretch>
        </p:blipFill>
        <p:spPr>
          <a:xfrm>
            <a:off x="3111103" y="5091243"/>
            <a:ext cx="5960732" cy="106596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8745FA-D2EE-7B0E-3E5D-B99292C654CE}"/>
              </a:ext>
            </a:extLst>
          </p:cNvPr>
          <p:cNvSpPr txBox="1"/>
          <p:nvPr/>
        </p:nvSpPr>
        <p:spPr>
          <a:xfrm>
            <a:off x="932688" y="43074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TYPE</a:t>
            </a:r>
            <a:endParaRPr lang="en-MY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F4DCE-F4A3-E9A9-5A6D-FB6200DC0BA4}"/>
              </a:ext>
            </a:extLst>
          </p:cNvPr>
          <p:cNvSpPr txBox="1"/>
          <p:nvPr/>
        </p:nvSpPr>
        <p:spPr>
          <a:xfrm>
            <a:off x="932688" y="1663055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SECTION</a:t>
            </a:r>
            <a:endParaRPr lang="en-MY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AA610F-6002-A575-99E7-EDAE6DCF5371}"/>
              </a:ext>
            </a:extLst>
          </p:cNvPr>
          <p:cNvSpPr txBox="1"/>
          <p:nvPr/>
        </p:nvSpPr>
        <p:spPr>
          <a:xfrm>
            <a:off x="941861" y="2331003"/>
            <a:ext cx="1950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DEVICE CLUSTER</a:t>
            </a:r>
            <a:endParaRPr lang="en-MY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FF958F-9B36-AFEF-4C23-47571195818C}"/>
              </a:ext>
            </a:extLst>
          </p:cNvPr>
          <p:cNvSpPr txBox="1"/>
          <p:nvPr/>
        </p:nvSpPr>
        <p:spPr>
          <a:xfrm>
            <a:off x="639659" y="3536735"/>
            <a:ext cx="19505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SECTION CLUSTER </a:t>
            </a:r>
          </a:p>
          <a:p>
            <a:pPr algn="ctr"/>
            <a:r>
              <a:rPr lang="en-US" dirty="0"/>
              <a:t>GROUPING</a:t>
            </a:r>
            <a:endParaRPr lang="en-MY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2F33F9-2A46-81D1-336A-7CFC6239B342}"/>
              </a:ext>
            </a:extLst>
          </p:cNvPr>
          <p:cNvSpPr txBox="1"/>
          <p:nvPr/>
        </p:nvSpPr>
        <p:spPr>
          <a:xfrm>
            <a:off x="1188215" y="5298672"/>
            <a:ext cx="131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707336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74729-F516-32DE-B97B-97D35BF7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ED8025-3E0D-496F-3C63-0DCE33238EA1}"/>
              </a:ext>
            </a:extLst>
          </p:cNvPr>
          <p:cNvCxnSpPr>
            <a:cxnSpLocks/>
          </p:cNvCxnSpPr>
          <p:nvPr/>
        </p:nvCxnSpPr>
        <p:spPr>
          <a:xfrm>
            <a:off x="6080357" y="1099771"/>
            <a:ext cx="15642" cy="22235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37325975-00F6-0BFB-375E-C259323FB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578"/>
          <a:stretch>
            <a:fillRect/>
          </a:stretch>
        </p:blipFill>
        <p:spPr>
          <a:xfrm>
            <a:off x="3361441" y="258223"/>
            <a:ext cx="5960732" cy="106596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1FC3206-2247-6EBE-F263-B1E76D7D67D4}"/>
              </a:ext>
            </a:extLst>
          </p:cNvPr>
          <p:cNvSpPr txBox="1"/>
          <p:nvPr/>
        </p:nvSpPr>
        <p:spPr>
          <a:xfrm>
            <a:off x="1198047" y="606538"/>
            <a:ext cx="131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12372-3E2F-D013-6DB4-78E08FE8A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35"/>
          <a:stretch>
            <a:fillRect/>
          </a:stretch>
        </p:blipFill>
        <p:spPr>
          <a:xfrm>
            <a:off x="3667711" y="1646392"/>
            <a:ext cx="4856577" cy="12347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290165-1867-F08B-E984-96790212A1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731"/>
          <a:stretch>
            <a:fillRect/>
          </a:stretch>
        </p:blipFill>
        <p:spPr>
          <a:xfrm>
            <a:off x="3005612" y="3429000"/>
            <a:ext cx="6987022" cy="19689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E3ED68-9901-B30F-22CE-30DCEF351113}"/>
              </a:ext>
            </a:extLst>
          </p:cNvPr>
          <p:cNvSpPr txBox="1"/>
          <p:nvPr/>
        </p:nvSpPr>
        <p:spPr>
          <a:xfrm>
            <a:off x="678392" y="1872025"/>
            <a:ext cx="2611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ENTER THE DEVICE ID</a:t>
            </a:r>
            <a:endParaRPr lang="en-MY" dirty="0"/>
          </a:p>
          <a:p>
            <a:pPr algn="ctr"/>
            <a:r>
              <a:rPr lang="en-MY" dirty="0"/>
              <a:t>with UNKNOWN CLUSTER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71C43D-9E17-439F-1487-75DD753DBD50}"/>
              </a:ext>
            </a:extLst>
          </p:cNvPr>
          <p:cNvSpPr txBox="1"/>
          <p:nvPr/>
        </p:nvSpPr>
        <p:spPr>
          <a:xfrm>
            <a:off x="678392" y="3878517"/>
            <a:ext cx="2101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LOGIC suggest </a:t>
            </a:r>
          </a:p>
          <a:p>
            <a:pPr algn="ctr"/>
            <a:r>
              <a:rPr lang="en-US" dirty="0"/>
              <a:t>the CLUSTER location</a:t>
            </a:r>
          </a:p>
        </p:txBody>
      </p:sp>
    </p:spTree>
    <p:extLst>
      <p:ext uri="{BB962C8B-B14F-4D97-AF65-F5344CB8AC3E}">
        <p14:creationId xmlns:p14="http://schemas.microsoft.com/office/powerpoint/2010/main" val="1741046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877E2-3EDB-5370-7C79-9287D2C2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39EE39-AD13-7999-E2BE-02E1F05C6CB4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F5BE5-C6C7-6E32-D654-F02D55C7E8D4}"/>
              </a:ext>
            </a:extLst>
          </p:cNvPr>
          <p:cNvSpPr txBox="1"/>
          <p:nvPr/>
        </p:nvSpPr>
        <p:spPr>
          <a:xfrm>
            <a:off x="2345544" y="497348"/>
            <a:ext cx="80958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3600" b="1" dirty="0"/>
              <a:t>EXAMPLE </a:t>
            </a:r>
          </a:p>
          <a:p>
            <a:r>
              <a:rPr lang="en-MY" sz="3600" dirty="0"/>
              <a:t>FIT211 – SECTION3 CLUSTER </a:t>
            </a:r>
            <a:r>
              <a:rPr lang="en-MY" sz="3600" b="1" dirty="0"/>
              <a:t>UNKNOWN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3BA64-A98B-32A3-C1E4-7D6A9403D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56" y="2489387"/>
            <a:ext cx="10130087" cy="2123225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379441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1AC8C-E364-A9B8-EA64-08756DC31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5776E3-8A83-36B9-CE56-2755EFC459E9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ACD21-7EE6-BBA1-CCA7-A93CCC90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86" b="5161"/>
          <a:stretch>
            <a:fillRect/>
          </a:stretch>
        </p:blipFill>
        <p:spPr>
          <a:xfrm>
            <a:off x="1778010" y="2532438"/>
            <a:ext cx="9122033" cy="4197546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E8CB6E-C590-0D36-1FD5-FE8F02247761}"/>
              </a:ext>
            </a:extLst>
          </p:cNvPr>
          <p:cNvSpPr txBox="1"/>
          <p:nvPr/>
        </p:nvSpPr>
        <p:spPr>
          <a:xfrm>
            <a:off x="3497320" y="167542"/>
            <a:ext cx="5952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FIT211 – SECTION3 CLUSTER?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9D3CAF-296D-C716-48B5-6258804CF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99" y="813873"/>
            <a:ext cx="10577937" cy="152474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4075E4-44D3-7F69-60AB-EBF3A0265132}"/>
              </a:ext>
            </a:extLst>
          </p:cNvPr>
          <p:cNvSpPr/>
          <p:nvPr/>
        </p:nvSpPr>
        <p:spPr>
          <a:xfrm>
            <a:off x="1700735" y="6441196"/>
            <a:ext cx="9122033" cy="22038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506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6361B-89CC-BE79-D948-9449C06B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CA10BF-3509-1D7A-F08C-337194C405A4}"/>
              </a:ext>
            </a:extLst>
          </p:cNvPr>
          <p:cNvSpPr txBox="1"/>
          <p:nvPr/>
        </p:nvSpPr>
        <p:spPr>
          <a:xfrm>
            <a:off x="4756224" y="2368330"/>
            <a:ext cx="311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Approach 2</a:t>
            </a:r>
          </a:p>
        </p:txBody>
      </p:sp>
    </p:spTree>
    <p:extLst>
      <p:ext uri="{BB962C8B-B14F-4D97-AF65-F5344CB8AC3E}">
        <p14:creationId xmlns:p14="http://schemas.microsoft.com/office/powerpoint/2010/main" val="4089977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CD03E-DF03-EB30-2974-01D2618E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B4FFC-6DA4-06E7-6AC1-8C8811F4E03D}"/>
              </a:ext>
            </a:extLst>
          </p:cNvPr>
          <p:cNvSpPr txBox="1"/>
          <p:nvPr/>
        </p:nvSpPr>
        <p:spPr>
          <a:xfrm>
            <a:off x="750615" y="2052769"/>
            <a:ext cx="1101290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6000" b="1" dirty="0"/>
              <a:t>LOGIC ALGORITHM </a:t>
            </a:r>
          </a:p>
          <a:p>
            <a:pPr algn="ctr"/>
            <a:r>
              <a:rPr lang="en-MY" sz="6000" b="1" dirty="0"/>
              <a:t>[16/7/2026]</a:t>
            </a:r>
            <a:endParaRPr lang="en-MY" sz="6000" dirty="0"/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2800326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AB716-0434-82D3-7724-BD2D15FC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D9FEC-6233-A9F5-BFDA-781D83945E9A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9F68F3-5B98-C2BA-CEF5-735F6D475BCE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3A62A51-B83E-4A18-6ADE-254EB86497C9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D30301-5CBE-2C3B-9B49-065E20C6EE97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984AF2-08B2-CC6E-FEFA-9BE10B140986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0B2C85-6FCB-68BC-9CFF-750FF78E27B5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F9AF32-00B7-36D4-900C-32833CEAC437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B5F409-B20A-06E4-0009-304582C4BAED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731D2B-A1CC-AD60-225C-691C4AA2E92C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01A69F7-A45C-74A2-01F5-B7DDE0DBCB22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97D5F55-85FC-83C5-45A6-67F5D0C23950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58011C1-C01D-2BCF-59CF-61C40EF7131E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86E27D2-A1AA-7BA3-3AAD-8EAC504C2735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5DBCB8A-5B64-49DA-1AE3-12AA2EF73A31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B6CAF6-112D-4C35-8BBF-06475F945169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CB533-881D-BC1D-523D-D5BDF0630919}"/>
              </a:ext>
            </a:extLst>
          </p:cNvPr>
          <p:cNvSpPr/>
          <p:nvPr/>
        </p:nvSpPr>
        <p:spPr>
          <a:xfrm>
            <a:off x="7143136" y="1282497"/>
            <a:ext cx="4894692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DA38-4AF0-4B88-88A4-D6557F5009E6}"/>
              </a:ext>
            </a:extLst>
          </p:cNvPr>
          <p:cNvSpPr txBox="1"/>
          <p:nvPr/>
        </p:nvSpPr>
        <p:spPr>
          <a:xfrm>
            <a:off x="8819570" y="498490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4124314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06154A-EB9F-B3C4-3389-5FA1D77D0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19CA6-B064-42DB-28ED-D438AF5D6281}"/>
              </a:ext>
            </a:extLst>
          </p:cNvPr>
          <p:cNvSpPr txBox="1"/>
          <p:nvPr/>
        </p:nvSpPr>
        <p:spPr>
          <a:xfrm>
            <a:off x="4432578" y="1886554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>
              <a:buAutoNum type="arabicParenR"/>
            </a:pPr>
            <a:endParaRPr lang="en-MY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F6A97-ED01-B4C1-6A2C-81CE9E1C6769}"/>
              </a:ext>
            </a:extLst>
          </p:cNvPr>
          <p:cNvSpPr txBox="1"/>
          <p:nvPr/>
        </p:nvSpPr>
        <p:spPr>
          <a:xfrm>
            <a:off x="7590502" y="4298335"/>
            <a:ext cx="2969283" cy="615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2</a:t>
            </a:r>
          </a:p>
          <a:p>
            <a:pPr algn="ctr"/>
            <a:r>
              <a:rPr lang="en-MY" dirty="0"/>
              <a:t>Kick and replace mechanism</a:t>
            </a:r>
            <a:endParaRPr lang="en-MY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F243A1-589D-8051-7730-7E05960A8118}"/>
              </a:ext>
            </a:extLst>
          </p:cNvPr>
          <p:cNvSpPr txBox="1"/>
          <p:nvPr/>
        </p:nvSpPr>
        <p:spPr>
          <a:xfrm>
            <a:off x="2521446" y="3429000"/>
            <a:ext cx="2217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FULL </a:t>
            </a:r>
            <a:endParaRPr lang="en-MY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8F996-DF0D-5980-E4D1-AE03D19B3EE2}"/>
              </a:ext>
            </a:extLst>
          </p:cNvPr>
          <p:cNvSpPr txBox="1"/>
          <p:nvPr/>
        </p:nvSpPr>
        <p:spPr>
          <a:xfrm>
            <a:off x="7590502" y="3429000"/>
            <a:ext cx="289068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VACANT </a:t>
            </a:r>
            <a:endParaRPr lang="en-MY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6B53B5-7892-467C-0620-4088683C3DDA}"/>
              </a:ext>
            </a:extLst>
          </p:cNvPr>
          <p:cNvSpPr txBox="1"/>
          <p:nvPr/>
        </p:nvSpPr>
        <p:spPr>
          <a:xfrm>
            <a:off x="2521447" y="4289301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3</a:t>
            </a:r>
            <a:endParaRPr lang="en-MY" sz="1050" b="1" dirty="0"/>
          </a:p>
          <a:p>
            <a:pPr algn="ctr"/>
            <a:r>
              <a:rPr lang="en-MY" sz="1600" dirty="0"/>
              <a:t>Conflict 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B7A4A-4636-431A-3F32-00CD1B1DA56F}"/>
              </a:ext>
            </a:extLst>
          </p:cNvPr>
          <p:cNvSpPr txBox="1"/>
          <p:nvPr/>
        </p:nvSpPr>
        <p:spPr>
          <a:xfrm>
            <a:off x="2521446" y="5719895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4</a:t>
            </a:r>
            <a:endParaRPr lang="en-MY" sz="1050" b="1" dirty="0"/>
          </a:p>
          <a:p>
            <a:pPr algn="ctr"/>
            <a:r>
              <a:rPr lang="en-MY" sz="1600" dirty="0"/>
              <a:t>Solve Conflict 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551FEC-3DE5-864A-18B0-CB3314629A29}"/>
              </a:ext>
            </a:extLst>
          </p:cNvPr>
          <p:cNvSpPr txBox="1"/>
          <p:nvPr/>
        </p:nvSpPr>
        <p:spPr>
          <a:xfrm>
            <a:off x="5207564" y="36403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PREDICTION</a:t>
            </a:r>
            <a:endParaRPr lang="en-MY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6FFC7D-CCBD-4D8B-01CD-B7723C8ED368}"/>
              </a:ext>
            </a:extLst>
          </p:cNvPr>
          <p:cNvSpPr txBox="1"/>
          <p:nvPr/>
        </p:nvSpPr>
        <p:spPr>
          <a:xfrm>
            <a:off x="5207564" y="110480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LOGIC</a:t>
            </a:r>
            <a:endParaRPr lang="en-MY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1F9274-9384-B5A8-0751-9294C7E3E40F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6282434" y="702589"/>
            <a:ext cx="0" cy="40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196750-047E-1226-3D87-C7984B1C1D10}"/>
              </a:ext>
            </a:extLst>
          </p:cNvPr>
          <p:cNvCxnSpPr>
            <a:stCxn id="22" idx="2"/>
            <a:endCxn id="2" idx="0"/>
          </p:cNvCxnSpPr>
          <p:nvPr/>
        </p:nvCxnSpPr>
        <p:spPr>
          <a:xfrm>
            <a:off x="6282434" y="1443359"/>
            <a:ext cx="0" cy="44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C521E4-A09B-62FF-0530-3B6D1C0617F2}"/>
              </a:ext>
            </a:extLst>
          </p:cNvPr>
          <p:cNvCxnSpPr>
            <a:stCxn id="2" idx="2"/>
            <a:endCxn id="7" idx="0"/>
          </p:cNvCxnSpPr>
          <p:nvPr/>
        </p:nvCxnSpPr>
        <p:spPr>
          <a:xfrm flipH="1">
            <a:off x="3630297" y="2632912"/>
            <a:ext cx="2652137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90CDED-87D1-E335-E23F-E17ED4E0783F}"/>
              </a:ext>
            </a:extLst>
          </p:cNvPr>
          <p:cNvCxnSpPr>
            <a:stCxn id="2" idx="2"/>
            <a:endCxn id="11" idx="0"/>
          </p:cNvCxnSpPr>
          <p:nvPr/>
        </p:nvCxnSpPr>
        <p:spPr>
          <a:xfrm>
            <a:off x="6282434" y="2632912"/>
            <a:ext cx="2753410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6829E2-9D1D-68D0-98E2-7B7E1B626C8B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3630297" y="3767554"/>
            <a:ext cx="1" cy="52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F46135-A239-FA62-C258-88855C360ACA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3630297" y="4874076"/>
            <a:ext cx="1" cy="84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D51B9D3-47CE-3D5B-5D45-56C62759CA17}"/>
              </a:ext>
            </a:extLst>
          </p:cNvPr>
          <p:cNvCxnSpPr>
            <a:stCxn id="11" idx="2"/>
            <a:endCxn id="5" idx="0"/>
          </p:cNvCxnSpPr>
          <p:nvPr/>
        </p:nvCxnSpPr>
        <p:spPr>
          <a:xfrm>
            <a:off x="9035844" y="3767554"/>
            <a:ext cx="39300" cy="530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189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4CD2D-017C-5E68-F516-C3582DEC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D22EBB-2B4B-BAA1-CD4C-14130B0B6811}"/>
              </a:ext>
            </a:extLst>
          </p:cNvPr>
          <p:cNvSpPr txBox="1"/>
          <p:nvPr/>
        </p:nvSpPr>
        <p:spPr>
          <a:xfrm>
            <a:off x="681789" y="558266"/>
            <a:ext cx="1101290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Current Approach 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Choose 1 customer = OILTEK</a:t>
            </a:r>
          </a:p>
          <a:p>
            <a:pPr marL="342900" indent="-342900">
              <a:buAutoNum type="arabicParenR"/>
            </a:pPr>
            <a:r>
              <a:rPr lang="en-MY" sz="2400" dirty="0"/>
              <a:t>Choose 1 section from OILTEK = SECTION 2</a:t>
            </a:r>
          </a:p>
          <a:p>
            <a:pPr marL="342900" indent="-342900">
              <a:buAutoNum type="arabicParenR"/>
            </a:pPr>
            <a:r>
              <a:rPr lang="en-MY" sz="2400" dirty="0"/>
              <a:t>Extract the pattern for all cluster at section 2</a:t>
            </a:r>
          </a:p>
          <a:p>
            <a:pPr marL="342900" indent="-342900">
              <a:buAutoNum type="arabicParenR"/>
            </a:pPr>
            <a:r>
              <a:rPr lang="en-MY" sz="2400" dirty="0"/>
              <a:t>Create the specific value device cluster for section 2 (N=100)</a:t>
            </a:r>
          </a:p>
          <a:p>
            <a:pPr marL="342900" indent="-342900">
              <a:buAutoNum type="arabicParenR"/>
            </a:pPr>
            <a:r>
              <a:rPr lang="en-MY" sz="2400" dirty="0"/>
              <a:t>Introduce the pattern specific cluster into LOGIC</a:t>
            </a:r>
          </a:p>
          <a:p>
            <a:pPr marL="342900" indent="-342900">
              <a:buAutoNum type="arabicParenR"/>
            </a:pPr>
            <a:r>
              <a:rPr lang="en-MY" sz="2400" dirty="0"/>
              <a:t>Run the list of Device ID from the model prediction</a:t>
            </a:r>
          </a:p>
          <a:p>
            <a:pPr marL="342900" indent="-342900">
              <a:buAutoNum type="arabicParenR"/>
            </a:pPr>
            <a:r>
              <a:rPr lang="en-MY" sz="2400" dirty="0"/>
              <a:t>Logic assign the device id based on the Pattern LOGIC</a:t>
            </a:r>
          </a:p>
          <a:p>
            <a:pPr marL="342900" indent="-342900">
              <a:buAutoNum type="arabicParenR"/>
            </a:pPr>
            <a:r>
              <a:rPr lang="en-MY" sz="2400" dirty="0"/>
              <a:t>Detect the cluster = Full or Vacant</a:t>
            </a:r>
          </a:p>
          <a:p>
            <a:pPr marL="342900" indent="-342900">
              <a:buAutoNum type="arabicParenR"/>
            </a:pPr>
            <a:r>
              <a:rPr lang="en-MY" sz="2400" dirty="0"/>
              <a:t>Kick and replace Device ID</a:t>
            </a:r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18087766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DCC23-7101-5156-3F94-F344EB5E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C0A6E5-EEB8-2BF5-6868-83FA38F00E82}"/>
              </a:ext>
            </a:extLst>
          </p:cNvPr>
          <p:cNvSpPr/>
          <p:nvPr/>
        </p:nvSpPr>
        <p:spPr>
          <a:xfrm>
            <a:off x="42278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9F94B1-F19A-BCAC-52A5-5BBD470A2F91}"/>
              </a:ext>
            </a:extLst>
          </p:cNvPr>
          <p:cNvSpPr/>
          <p:nvPr/>
        </p:nvSpPr>
        <p:spPr>
          <a:xfrm>
            <a:off x="294967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522782-2217-21F0-24E5-2E655F5318C5}"/>
              </a:ext>
            </a:extLst>
          </p:cNvPr>
          <p:cNvSpPr/>
          <p:nvPr/>
        </p:nvSpPr>
        <p:spPr>
          <a:xfrm>
            <a:off x="5609303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E1AF03-DF29-7674-CC0D-BFF13309AA40}"/>
              </a:ext>
            </a:extLst>
          </p:cNvPr>
          <p:cNvSpPr/>
          <p:nvPr/>
        </p:nvSpPr>
        <p:spPr>
          <a:xfrm>
            <a:off x="8382000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0C981-5938-60DD-0C0E-C6B6D456D750}"/>
              </a:ext>
            </a:extLst>
          </p:cNvPr>
          <p:cNvSpPr/>
          <p:nvPr/>
        </p:nvSpPr>
        <p:spPr>
          <a:xfrm>
            <a:off x="422787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73FFB6-4101-7F5C-E034-818E8BF55F18}"/>
              </a:ext>
            </a:extLst>
          </p:cNvPr>
          <p:cNvSpPr/>
          <p:nvPr/>
        </p:nvSpPr>
        <p:spPr>
          <a:xfrm>
            <a:off x="2949677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B444EC-5C7A-2511-90BE-FDFCC3BB167E}"/>
              </a:ext>
            </a:extLst>
          </p:cNvPr>
          <p:cNvSpPr/>
          <p:nvPr/>
        </p:nvSpPr>
        <p:spPr>
          <a:xfrm>
            <a:off x="5609303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CA667F-EE02-5AED-05E6-ACDC8ADCBC2C}"/>
              </a:ext>
            </a:extLst>
          </p:cNvPr>
          <p:cNvSpPr/>
          <p:nvPr/>
        </p:nvSpPr>
        <p:spPr>
          <a:xfrm>
            <a:off x="8382000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3240943-5DF6-F13D-0FCB-079F603B9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907084"/>
              </p:ext>
            </p:extLst>
          </p:nvPr>
        </p:nvGraphicFramePr>
        <p:xfrm>
          <a:off x="702595" y="830456"/>
          <a:ext cx="1696475" cy="2416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 dirty="0">
                          <a:effectLst/>
                        </a:rPr>
                        <a:t>Fan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On/Off Valve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6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High Level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6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Low Level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Control Valve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Level Transmitter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2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Pump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5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Pressure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3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Pressure Transmitter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2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Vibrator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 dirty="0">
                          <a:effectLst/>
                        </a:rPr>
                        <a:t>4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A01B1B6-C439-F5A1-D5E3-F4FC45F56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124499"/>
              </p:ext>
            </p:extLst>
          </p:nvPr>
        </p:nvGraphicFramePr>
        <p:xfrm>
          <a:off x="3224826" y="848236"/>
          <a:ext cx="1671791" cy="588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Control Valve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5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205174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614B888-CA3C-0003-5BC2-D6B9C6574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463043"/>
              </p:ext>
            </p:extLst>
          </p:nvPr>
        </p:nvGraphicFramePr>
        <p:xfrm>
          <a:off x="5820706" y="867635"/>
          <a:ext cx="1671791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4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36E96DB-D785-6187-7999-27ABF6C5A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068917"/>
              </p:ext>
            </p:extLst>
          </p:nvPr>
        </p:nvGraphicFramePr>
        <p:xfrm>
          <a:off x="8657149" y="830456"/>
          <a:ext cx="1671791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6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383C989-B744-9717-192A-D99F13A52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90996"/>
              </p:ext>
            </p:extLst>
          </p:nvPr>
        </p:nvGraphicFramePr>
        <p:xfrm>
          <a:off x="605707" y="4080934"/>
          <a:ext cx="1856249" cy="956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9549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Pump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4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Heater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2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39242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Temperature Transmitter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3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Low Level Switch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4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DE7005D-197D-13D5-A7DA-AAAB79235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829038"/>
              </p:ext>
            </p:extLst>
          </p:nvPr>
        </p:nvGraphicFramePr>
        <p:xfrm>
          <a:off x="3082413" y="4131229"/>
          <a:ext cx="1886462" cy="577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037">
                  <a:extLst>
                    <a:ext uri="{9D8B030D-6E8A-4147-A177-3AD203B41FA5}">
                      <a16:colId xmlns:a16="http://schemas.microsoft.com/office/drawing/2014/main" val="4153902939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663589806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Control Valve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7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600769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7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9147634"/>
                  </a:ext>
                </a:extLst>
              </a:tr>
              <a:tr h="471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3257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5F0FB8D-7C7A-9A3D-0FE9-A87E97FCD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627874"/>
              </p:ext>
            </p:extLst>
          </p:nvPr>
        </p:nvGraphicFramePr>
        <p:xfrm>
          <a:off x="8604044" y="4298788"/>
          <a:ext cx="1778000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15">
                  <a:extLst>
                    <a:ext uri="{9D8B030D-6E8A-4147-A177-3AD203B41FA5}">
                      <a16:colId xmlns:a16="http://schemas.microsoft.com/office/drawing/2014/main" val="356100816"/>
                    </a:ext>
                  </a:extLst>
                </a:gridCol>
                <a:gridCol w="456385">
                  <a:extLst>
                    <a:ext uri="{9D8B030D-6E8A-4147-A177-3AD203B41FA5}">
                      <a16:colId xmlns:a16="http://schemas.microsoft.com/office/drawing/2014/main" val="382215392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Control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7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338522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730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D2B1AC0-18D7-3523-DCEE-0E6CD4145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287063"/>
              </p:ext>
            </p:extLst>
          </p:nvPr>
        </p:nvGraphicFramePr>
        <p:xfrm>
          <a:off x="5849796" y="4155229"/>
          <a:ext cx="1813959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6065">
                  <a:extLst>
                    <a:ext uri="{9D8B030D-6E8A-4147-A177-3AD203B41FA5}">
                      <a16:colId xmlns:a16="http://schemas.microsoft.com/office/drawing/2014/main" val="2677801371"/>
                    </a:ext>
                  </a:extLst>
                </a:gridCol>
                <a:gridCol w="337894">
                  <a:extLst>
                    <a:ext uri="{9D8B030D-6E8A-4147-A177-3AD203B41FA5}">
                      <a16:colId xmlns:a16="http://schemas.microsoft.com/office/drawing/2014/main" val="373308778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6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64449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45508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E79D4A8-78A4-1643-EFCA-487B47D3DFAE}"/>
              </a:ext>
            </a:extLst>
          </p:cNvPr>
          <p:cNvSpPr txBox="1"/>
          <p:nvPr/>
        </p:nvSpPr>
        <p:spPr>
          <a:xfrm>
            <a:off x="3864305" y="28551"/>
            <a:ext cx="391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Section 2 OILTEK (REFERENCE, N=100)</a:t>
            </a:r>
            <a:endParaRPr lang="en-MY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FC2582-7D7F-FF14-193D-165054A1F676}"/>
              </a:ext>
            </a:extLst>
          </p:cNvPr>
          <p:cNvSpPr txBox="1"/>
          <p:nvPr/>
        </p:nvSpPr>
        <p:spPr>
          <a:xfrm>
            <a:off x="10256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4F0F17-A52C-E97F-D3AA-9403FDCCA6AF}"/>
              </a:ext>
            </a:extLst>
          </p:cNvPr>
          <p:cNvSpPr txBox="1"/>
          <p:nvPr/>
        </p:nvSpPr>
        <p:spPr>
          <a:xfrm>
            <a:off x="33878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2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E0821D-DE48-6488-1CBA-344A50D5713B}"/>
              </a:ext>
            </a:extLst>
          </p:cNvPr>
          <p:cNvSpPr txBox="1"/>
          <p:nvPr/>
        </p:nvSpPr>
        <p:spPr>
          <a:xfrm>
            <a:off x="6150682" y="4611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3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207A2D-DA38-BFEB-02F1-31280AEE6115}"/>
              </a:ext>
            </a:extLst>
          </p:cNvPr>
          <p:cNvSpPr txBox="1"/>
          <p:nvPr/>
        </p:nvSpPr>
        <p:spPr>
          <a:xfrm>
            <a:off x="8923379" y="47116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4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77B2D3-2CF2-5F86-E140-D65125FD90DD}"/>
              </a:ext>
            </a:extLst>
          </p:cNvPr>
          <p:cNvSpPr txBox="1"/>
          <p:nvPr/>
        </p:nvSpPr>
        <p:spPr>
          <a:xfrm>
            <a:off x="927735" y="3677227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1C486E-DFE8-613D-2FA6-E0BB30D623C7}"/>
              </a:ext>
            </a:extLst>
          </p:cNvPr>
          <p:cNvSpPr txBox="1"/>
          <p:nvPr/>
        </p:nvSpPr>
        <p:spPr>
          <a:xfrm>
            <a:off x="3515713" y="3702375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6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C6AB54-3B78-2212-ABC8-ECF53DE8E626}"/>
              </a:ext>
            </a:extLst>
          </p:cNvPr>
          <p:cNvSpPr txBox="1"/>
          <p:nvPr/>
        </p:nvSpPr>
        <p:spPr>
          <a:xfrm>
            <a:off x="6150681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50D409-0CD4-720D-8CDB-84B1313BD190}"/>
              </a:ext>
            </a:extLst>
          </p:cNvPr>
          <p:cNvSpPr txBox="1"/>
          <p:nvPr/>
        </p:nvSpPr>
        <p:spPr>
          <a:xfrm>
            <a:off x="8886948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8</a:t>
            </a:r>
            <a:endParaRPr lang="en-MY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598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31A60-DB26-433A-2BB2-29AA6B263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7409DA-B930-7F00-D16F-85BC4A389ABA}"/>
              </a:ext>
            </a:extLst>
          </p:cNvPr>
          <p:cNvSpPr/>
          <p:nvPr/>
        </p:nvSpPr>
        <p:spPr>
          <a:xfrm>
            <a:off x="422787" y="46112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137C7-3615-4C35-9CF3-17E1E67A3AD5}"/>
              </a:ext>
            </a:extLst>
          </p:cNvPr>
          <p:cNvSpPr/>
          <p:nvPr/>
        </p:nvSpPr>
        <p:spPr>
          <a:xfrm>
            <a:off x="294967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A0098-28ED-E487-2F2B-77DA68E29D9C}"/>
              </a:ext>
            </a:extLst>
          </p:cNvPr>
          <p:cNvSpPr/>
          <p:nvPr/>
        </p:nvSpPr>
        <p:spPr>
          <a:xfrm>
            <a:off x="5609303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D7BC4-01D8-7C87-7B89-4BC14F1D80B7}"/>
              </a:ext>
            </a:extLst>
          </p:cNvPr>
          <p:cNvSpPr/>
          <p:nvPr/>
        </p:nvSpPr>
        <p:spPr>
          <a:xfrm>
            <a:off x="8382000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1C31D7-AB7B-E7C0-1D1D-25A449C1E748}"/>
              </a:ext>
            </a:extLst>
          </p:cNvPr>
          <p:cNvSpPr/>
          <p:nvPr/>
        </p:nvSpPr>
        <p:spPr>
          <a:xfrm>
            <a:off x="422787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C4949-0A8B-3D44-AAC7-9AEC038930BA}"/>
              </a:ext>
            </a:extLst>
          </p:cNvPr>
          <p:cNvSpPr/>
          <p:nvPr/>
        </p:nvSpPr>
        <p:spPr>
          <a:xfrm>
            <a:off x="2949677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684DD5-BC14-397B-27D2-B00021EF22AB}"/>
              </a:ext>
            </a:extLst>
          </p:cNvPr>
          <p:cNvSpPr/>
          <p:nvPr/>
        </p:nvSpPr>
        <p:spPr>
          <a:xfrm>
            <a:off x="5609303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BA312B-615F-F92D-BD72-9D4B498B120B}"/>
              </a:ext>
            </a:extLst>
          </p:cNvPr>
          <p:cNvSpPr/>
          <p:nvPr/>
        </p:nvSpPr>
        <p:spPr>
          <a:xfrm>
            <a:off x="8382000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F0CECC4-B5C4-3AE1-0E5D-4ADEC720C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46662"/>
              </p:ext>
            </p:extLst>
          </p:nvPr>
        </p:nvGraphicFramePr>
        <p:xfrm>
          <a:off x="3257405" y="2708019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9/10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25C133B-A8A9-CC08-3ECF-54B6D87D3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991994"/>
              </p:ext>
            </p:extLst>
          </p:nvPr>
        </p:nvGraphicFramePr>
        <p:xfrm>
          <a:off x="5920879" y="3019019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561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643230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4871766-9B70-A8B4-FD4C-3AAF07C8B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72145"/>
              </p:ext>
            </p:extLst>
          </p:nvPr>
        </p:nvGraphicFramePr>
        <p:xfrm>
          <a:off x="8758749" y="2977451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691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814100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454BC2B-D474-160E-F1CB-59E3603AE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69910"/>
              </p:ext>
            </p:extLst>
          </p:nvPr>
        </p:nvGraphicFramePr>
        <p:xfrm>
          <a:off x="605705" y="6053606"/>
          <a:ext cx="1856249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6745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639504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13/13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6BC6377-5164-86C1-E8C7-6661E730AF0B}"/>
              </a:ext>
            </a:extLst>
          </p:cNvPr>
          <p:cNvSpPr txBox="1"/>
          <p:nvPr/>
        </p:nvSpPr>
        <p:spPr>
          <a:xfrm>
            <a:off x="3828378" y="65730"/>
            <a:ext cx="3534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Section 2 OILTEK – EXAMPLE CASE</a:t>
            </a:r>
            <a:endParaRPr lang="en-MY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0782DD-73F6-9B80-7D7D-EC5DAAFE7FD0}"/>
              </a:ext>
            </a:extLst>
          </p:cNvPr>
          <p:cNvSpPr txBox="1"/>
          <p:nvPr/>
        </p:nvSpPr>
        <p:spPr>
          <a:xfrm>
            <a:off x="10256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0D7FD9-84B9-6268-5B07-995E0B4B5028}"/>
              </a:ext>
            </a:extLst>
          </p:cNvPr>
          <p:cNvSpPr txBox="1"/>
          <p:nvPr/>
        </p:nvSpPr>
        <p:spPr>
          <a:xfrm>
            <a:off x="33878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2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8A4FE6-5477-3192-606B-877DE454897A}"/>
              </a:ext>
            </a:extLst>
          </p:cNvPr>
          <p:cNvSpPr txBox="1"/>
          <p:nvPr/>
        </p:nvSpPr>
        <p:spPr>
          <a:xfrm>
            <a:off x="6150682" y="4611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3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9FDC98-74E7-1DED-E18B-CDB5DA69AAAF}"/>
              </a:ext>
            </a:extLst>
          </p:cNvPr>
          <p:cNvSpPr txBox="1"/>
          <p:nvPr/>
        </p:nvSpPr>
        <p:spPr>
          <a:xfrm>
            <a:off x="8923379" y="47116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4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26CEC3-25B0-F93E-9980-D3B68C03F6B7}"/>
              </a:ext>
            </a:extLst>
          </p:cNvPr>
          <p:cNvSpPr txBox="1"/>
          <p:nvPr/>
        </p:nvSpPr>
        <p:spPr>
          <a:xfrm>
            <a:off x="927735" y="3677227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A8279A-0C6D-ADA4-32C8-824D3B439E72}"/>
              </a:ext>
            </a:extLst>
          </p:cNvPr>
          <p:cNvSpPr txBox="1"/>
          <p:nvPr/>
        </p:nvSpPr>
        <p:spPr>
          <a:xfrm>
            <a:off x="3515713" y="3702375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6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19EEAF-44E3-CD66-C9D5-E67C3EFBBBC6}"/>
              </a:ext>
            </a:extLst>
          </p:cNvPr>
          <p:cNvSpPr txBox="1"/>
          <p:nvPr/>
        </p:nvSpPr>
        <p:spPr>
          <a:xfrm>
            <a:off x="6150681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71B683-9217-7811-92AA-5532D55C16D4}"/>
              </a:ext>
            </a:extLst>
          </p:cNvPr>
          <p:cNvSpPr txBox="1"/>
          <p:nvPr/>
        </p:nvSpPr>
        <p:spPr>
          <a:xfrm>
            <a:off x="8886948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8</a:t>
            </a:r>
            <a:endParaRPr lang="en-MY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2B3DA-9445-E47B-E934-F2DAAD60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5" y="804394"/>
            <a:ext cx="1541820" cy="208222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D3A642-B007-DB43-DDD4-669CD6B99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513151"/>
              </p:ext>
            </p:extLst>
          </p:nvPr>
        </p:nvGraphicFramePr>
        <p:xfrm>
          <a:off x="752014" y="3019019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226">
                  <a:extLst>
                    <a:ext uri="{9D8B030D-6E8A-4147-A177-3AD203B41FA5}">
                      <a16:colId xmlns:a16="http://schemas.microsoft.com/office/drawing/2014/main" val="365470756"/>
                    </a:ext>
                  </a:extLst>
                </a:gridCol>
                <a:gridCol w="757565">
                  <a:extLst>
                    <a:ext uri="{9D8B030D-6E8A-4147-A177-3AD203B41FA5}">
                      <a16:colId xmlns:a16="http://schemas.microsoft.com/office/drawing/2014/main" val="67469857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40/40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96851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974674-C3FE-8E3E-B92A-0DD06392E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485" y="921866"/>
            <a:ext cx="2030211" cy="6992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1A18E0-FF4D-1687-9677-0A071DB05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390" y="978048"/>
            <a:ext cx="2117915" cy="3045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EEF368B-FD7E-61C4-A898-1BB1F8818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871" y="978048"/>
            <a:ext cx="1939206" cy="41623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9B3328B-27CF-637F-039A-42A923457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13" y="4155229"/>
            <a:ext cx="2034431" cy="93556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4B5B2FC-828C-FF7C-8C53-110193FA7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0763" y="4284450"/>
            <a:ext cx="1973987" cy="628237"/>
          </a:xfrm>
          <a:prstGeom prst="rect">
            <a:avLst/>
          </a:prstGeom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DEDD31F-4B42-AABF-E904-1868A27B4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78031"/>
              </p:ext>
            </p:extLst>
          </p:nvPr>
        </p:nvGraphicFramePr>
        <p:xfrm>
          <a:off x="3285912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8/14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E8CE5F9-E5C5-E03B-53CC-263F69A59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611316"/>
              </p:ext>
            </p:extLst>
          </p:nvPr>
        </p:nvGraphicFramePr>
        <p:xfrm>
          <a:off x="5884451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45CAD91-EC7A-1D61-2590-A6E0151AA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765942"/>
              </p:ext>
            </p:extLst>
          </p:nvPr>
        </p:nvGraphicFramePr>
        <p:xfrm>
          <a:off x="8657147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49" name="Picture 48">
            <a:extLst>
              <a:ext uri="{FF2B5EF4-FFF2-40B4-BE49-F238E27FC236}">
                <a16:creationId xmlns:a16="http://schemas.microsoft.com/office/drawing/2014/main" id="{6AABEE25-2B8F-8CFF-C80A-3B55D38F7C1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197" t="58660" r="34038" b="-10701"/>
          <a:stretch>
            <a:fillRect/>
          </a:stretch>
        </p:blipFill>
        <p:spPr>
          <a:xfrm>
            <a:off x="8580354" y="4295323"/>
            <a:ext cx="1898240" cy="34193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C8BA08D-FDDF-6553-EDC4-92AB2E80217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259" t="3519" r="32976" b="44440"/>
          <a:stretch>
            <a:fillRect/>
          </a:stretch>
        </p:blipFill>
        <p:spPr>
          <a:xfrm>
            <a:off x="5771226" y="4273990"/>
            <a:ext cx="1898240" cy="34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90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8FE5E-9235-FE2C-D1B9-8B66F240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432F2-D359-04E7-5D5F-BD36FB11822A}"/>
              </a:ext>
            </a:extLst>
          </p:cNvPr>
          <p:cNvSpPr txBox="1"/>
          <p:nvPr/>
        </p:nvSpPr>
        <p:spPr>
          <a:xfrm>
            <a:off x="4015846" y="174501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 algn="ctr">
              <a:buAutoNum type="arabicParenR"/>
            </a:pPr>
            <a:endParaRPr lang="en-MY" sz="105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3C16AC-2A6C-56C9-4DD4-CF0522866051}"/>
              </a:ext>
            </a:extLst>
          </p:cNvPr>
          <p:cNvCxnSpPr>
            <a:cxnSpLocks/>
            <a:stCxn id="2" idx="2"/>
            <a:endCxn id="10" idx="3"/>
          </p:cNvCxnSpPr>
          <p:nvPr/>
        </p:nvCxnSpPr>
        <p:spPr>
          <a:xfrm flipH="1">
            <a:off x="3588774" y="920859"/>
            <a:ext cx="2276928" cy="195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628257-0EF6-B96A-76C5-096E155C261A}"/>
              </a:ext>
            </a:extLst>
          </p:cNvPr>
          <p:cNvCxnSpPr>
            <a:cxnSpLocks/>
            <a:stCxn id="2" idx="2"/>
            <a:endCxn id="12" idx="1"/>
          </p:cNvCxnSpPr>
          <p:nvPr/>
        </p:nvCxnSpPr>
        <p:spPr>
          <a:xfrm>
            <a:off x="5865702" y="920859"/>
            <a:ext cx="2737526" cy="301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D3CAD14-4E8B-3F0F-4849-E6CC7683CD4A}"/>
              </a:ext>
            </a:extLst>
          </p:cNvPr>
          <p:cNvSpPr txBox="1"/>
          <p:nvPr/>
        </p:nvSpPr>
        <p:spPr>
          <a:xfrm>
            <a:off x="2821226" y="946858"/>
            <a:ext cx="76754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15714-BC1A-CBCF-2CA7-28DDD2506FE3}"/>
              </a:ext>
            </a:extLst>
          </p:cNvPr>
          <p:cNvSpPr txBox="1"/>
          <p:nvPr/>
        </p:nvSpPr>
        <p:spPr>
          <a:xfrm>
            <a:off x="8603228" y="930348"/>
            <a:ext cx="1146090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(Cluster)</a:t>
            </a:r>
            <a:endParaRPr lang="en-MY" sz="105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9071D3-1697-3034-4D28-D203632E5D93}"/>
              </a:ext>
            </a:extLst>
          </p:cNvPr>
          <p:cNvCxnSpPr>
            <a:cxnSpLocks/>
            <a:stCxn id="10" idx="2"/>
            <a:endCxn id="19" idx="0"/>
          </p:cNvCxnSpPr>
          <p:nvPr/>
        </p:nvCxnSpPr>
        <p:spPr>
          <a:xfrm flipH="1">
            <a:off x="3202273" y="1285412"/>
            <a:ext cx="2727" cy="229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52A3BF-6C09-5117-9AB3-6996AD925B57}"/>
              </a:ext>
            </a:extLst>
          </p:cNvPr>
          <p:cNvSpPr txBox="1"/>
          <p:nvPr/>
        </p:nvSpPr>
        <p:spPr>
          <a:xfrm>
            <a:off x="1653694" y="1515123"/>
            <a:ext cx="3097158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New Device ID coming</a:t>
            </a:r>
          </a:p>
          <a:p>
            <a:r>
              <a:rPr lang="en-MY" sz="1200" dirty="0"/>
              <a:t>= compare the percentage</a:t>
            </a:r>
          </a:p>
          <a:p>
            <a:r>
              <a:rPr lang="en-MY" sz="1200" dirty="0"/>
              <a:t>= </a:t>
            </a:r>
            <a:r>
              <a:rPr lang="en-MY" sz="1200" b="1" dirty="0"/>
              <a:t>kick and replace</a:t>
            </a:r>
          </a:p>
          <a:p>
            <a:r>
              <a:rPr lang="en-MY" sz="1200" dirty="0"/>
              <a:t>= the highest percentage win.</a:t>
            </a:r>
          </a:p>
          <a:p>
            <a:pPr algn="ctr"/>
            <a:r>
              <a:rPr lang="en-MY" sz="1200" b="1" dirty="0">
                <a:solidFill>
                  <a:srgbClr val="FF0000"/>
                </a:solidFill>
              </a:rPr>
              <a:t>So the loser will go?</a:t>
            </a:r>
            <a:endParaRPr lang="en-MY" sz="9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E48D95-8362-C555-F986-15DA316DE344}"/>
              </a:ext>
            </a:extLst>
          </p:cNvPr>
          <p:cNvSpPr txBox="1"/>
          <p:nvPr/>
        </p:nvSpPr>
        <p:spPr>
          <a:xfrm>
            <a:off x="7234465" y="1782027"/>
            <a:ext cx="386130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Floating device ID fill up the vacant</a:t>
            </a:r>
          </a:p>
          <a:p>
            <a:r>
              <a:rPr lang="en-MY" sz="1200" dirty="0"/>
              <a:t>= pick the highest percentage on the respective reference</a:t>
            </a:r>
          </a:p>
          <a:p>
            <a:pPr algn="ctr"/>
            <a:r>
              <a:rPr lang="en-MY" sz="1200" b="1" dirty="0">
                <a:solidFill>
                  <a:srgbClr val="FF0000"/>
                </a:solidFill>
              </a:rPr>
              <a:t>What if still vacant?</a:t>
            </a:r>
            <a:endParaRPr lang="en-MY" sz="900" b="1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B5664D-FA50-1C25-06EF-8D187D9D13CC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 flipH="1">
            <a:off x="9165116" y="1515123"/>
            <a:ext cx="11157" cy="26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41F4F85-66D0-6390-3B03-4B390D34BA81}"/>
              </a:ext>
            </a:extLst>
          </p:cNvPr>
          <p:cNvSpPr/>
          <p:nvPr/>
        </p:nvSpPr>
        <p:spPr>
          <a:xfrm>
            <a:off x="279330" y="2626846"/>
            <a:ext cx="2222090" cy="2518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7A7785-EFE8-5C7D-CDED-FCDDEC7F570E}"/>
              </a:ext>
            </a:extLst>
          </p:cNvPr>
          <p:cNvSpPr/>
          <p:nvPr/>
        </p:nvSpPr>
        <p:spPr>
          <a:xfrm>
            <a:off x="2697325" y="2628455"/>
            <a:ext cx="2222090" cy="1495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6341516F-3984-AE36-9F59-9E66384C1173}"/>
              </a:ext>
            </a:extLst>
          </p:cNvPr>
          <p:cNvGraphicFramePr>
            <a:graphicFrameLocks noGrp="1"/>
          </p:cNvGraphicFramePr>
          <p:nvPr/>
        </p:nvGraphicFramePr>
        <p:xfrm>
          <a:off x="542137" y="2971921"/>
          <a:ext cx="1696475" cy="2081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3344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Control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Fan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High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Level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Vibrator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68117C4B-0EEB-AE64-5DBD-BDA5CFE1857D}"/>
              </a:ext>
            </a:extLst>
          </p:cNvPr>
          <p:cNvGraphicFramePr>
            <a:graphicFrameLocks noGrp="1"/>
          </p:cNvGraphicFramePr>
          <p:nvPr/>
        </p:nvGraphicFramePr>
        <p:xfrm>
          <a:off x="2880245" y="3066536"/>
          <a:ext cx="1856249" cy="946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9549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Heater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39242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Temperature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00E27BA2-22F9-79BF-D407-34450DA282ED}"/>
              </a:ext>
            </a:extLst>
          </p:cNvPr>
          <p:cNvSpPr txBox="1"/>
          <p:nvPr/>
        </p:nvSpPr>
        <p:spPr>
          <a:xfrm>
            <a:off x="882232" y="26096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6622E6-5A75-0012-D890-0A1962D6445B}"/>
              </a:ext>
            </a:extLst>
          </p:cNvPr>
          <p:cNvSpPr txBox="1"/>
          <p:nvPr/>
        </p:nvSpPr>
        <p:spPr>
          <a:xfrm>
            <a:off x="3202273" y="2662829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27AF82-5954-418A-6FD9-40670094E4CC}"/>
              </a:ext>
            </a:extLst>
          </p:cNvPr>
          <p:cNvSpPr txBox="1"/>
          <p:nvPr/>
        </p:nvSpPr>
        <p:spPr>
          <a:xfrm>
            <a:off x="2996286" y="4158585"/>
            <a:ext cx="16241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All the percentage inside </a:t>
            </a:r>
          </a:p>
          <a:p>
            <a:r>
              <a:rPr lang="en-MY" sz="1100" dirty="0"/>
              <a:t>the cluster is 80-90%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96B17A-02B9-8B84-4017-7B3A8EFB0516}"/>
              </a:ext>
            </a:extLst>
          </p:cNvPr>
          <p:cNvSpPr txBox="1"/>
          <p:nvPr/>
        </p:nvSpPr>
        <p:spPr>
          <a:xfrm>
            <a:off x="91785" y="5136916"/>
            <a:ext cx="30971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100" dirty="0"/>
              <a:t>All the percentage inside the cluster is 91-99 %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C4264E8-78ED-995A-14FE-BAE2974DCC5F}"/>
              </a:ext>
            </a:extLst>
          </p:cNvPr>
          <p:cNvSpPr/>
          <p:nvPr/>
        </p:nvSpPr>
        <p:spPr>
          <a:xfrm>
            <a:off x="9535808" y="2534910"/>
            <a:ext cx="2222090" cy="1744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7F00F6-C5A7-39DC-673A-2B8001BD1A32}"/>
              </a:ext>
            </a:extLst>
          </p:cNvPr>
          <p:cNvSpPr txBox="1"/>
          <p:nvPr/>
        </p:nvSpPr>
        <p:spPr>
          <a:xfrm>
            <a:off x="10058851" y="2699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98B17890-2A3F-F406-DC85-315CDA071F04}"/>
              </a:ext>
            </a:extLst>
          </p:cNvPr>
          <p:cNvGraphicFramePr>
            <a:graphicFrameLocks noGrp="1"/>
          </p:cNvGraphicFramePr>
          <p:nvPr/>
        </p:nvGraphicFramePr>
        <p:xfrm>
          <a:off x="9749318" y="3516295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97" name="Picture 96">
            <a:extLst>
              <a:ext uri="{FF2B5EF4-FFF2-40B4-BE49-F238E27FC236}">
                <a16:creationId xmlns:a16="http://schemas.microsoft.com/office/drawing/2014/main" id="{5076DBF8-A3DE-AE79-9979-E95FE582E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650649" y="3038767"/>
            <a:ext cx="1898240" cy="341934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D649D32B-B83A-6C71-16B4-E26730FF9A66}"/>
              </a:ext>
            </a:extLst>
          </p:cNvPr>
          <p:cNvSpPr/>
          <p:nvPr/>
        </p:nvSpPr>
        <p:spPr>
          <a:xfrm>
            <a:off x="6973624" y="2541891"/>
            <a:ext cx="2222090" cy="2518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7CF241B6-65C1-A102-7022-029048BE25BB}"/>
              </a:ext>
            </a:extLst>
          </p:cNvPr>
          <p:cNvGraphicFramePr>
            <a:graphicFrameLocks noGrp="1"/>
          </p:cNvGraphicFramePr>
          <p:nvPr/>
        </p:nvGraphicFramePr>
        <p:xfrm>
          <a:off x="7236431" y="2886966"/>
          <a:ext cx="1696475" cy="2081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3344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Control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Fan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High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Level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Vibrator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591D4878-353A-D947-6CAA-4B3361859608}"/>
              </a:ext>
            </a:extLst>
          </p:cNvPr>
          <p:cNvSpPr txBox="1"/>
          <p:nvPr/>
        </p:nvSpPr>
        <p:spPr>
          <a:xfrm>
            <a:off x="7576526" y="2524669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966D187-A8A1-9C1D-B5C4-F60A89391DC1}"/>
              </a:ext>
            </a:extLst>
          </p:cNvPr>
          <p:cNvSpPr txBox="1"/>
          <p:nvPr/>
        </p:nvSpPr>
        <p:spPr>
          <a:xfrm>
            <a:off x="6771196" y="5060656"/>
            <a:ext cx="2906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100" dirty="0"/>
              <a:t>All the percentage inside the cluster is 91-99 %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7DB5913-AD3E-6EA2-67DC-4BD301B8396B}"/>
              </a:ext>
            </a:extLst>
          </p:cNvPr>
          <p:cNvSpPr txBox="1"/>
          <p:nvPr/>
        </p:nvSpPr>
        <p:spPr>
          <a:xfrm>
            <a:off x="3112331" y="4664296"/>
            <a:ext cx="1441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***both cluster is</a:t>
            </a:r>
            <a:r>
              <a:rPr lang="en-MY" sz="1100" b="1" dirty="0"/>
              <a:t> FULL</a:t>
            </a:r>
          </a:p>
        </p:txBody>
      </p:sp>
    </p:spTree>
    <p:extLst>
      <p:ext uri="{BB962C8B-B14F-4D97-AF65-F5344CB8AC3E}">
        <p14:creationId xmlns:p14="http://schemas.microsoft.com/office/powerpoint/2010/main" val="6873990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30734-E68C-5643-DAF1-2D5BCDC2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30DFFE-443F-CA94-0576-5A8E07A15C36}"/>
              </a:ext>
            </a:extLst>
          </p:cNvPr>
          <p:cNvSpPr txBox="1"/>
          <p:nvPr/>
        </p:nvSpPr>
        <p:spPr>
          <a:xfrm>
            <a:off x="1676747" y="312197"/>
            <a:ext cx="212480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 CLUSTER </a:t>
            </a:r>
            <a:endParaRPr lang="en-MY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241F89-ED48-4056-A69F-3480EAD2D1B5}"/>
              </a:ext>
            </a:extLst>
          </p:cNvPr>
          <p:cNvSpPr txBox="1"/>
          <p:nvPr/>
        </p:nvSpPr>
        <p:spPr>
          <a:xfrm>
            <a:off x="7965581" y="296601"/>
            <a:ext cx="239906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CLUSTER</a:t>
            </a:r>
            <a:endParaRPr lang="en-MY" sz="105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0610068-88D2-A96D-6FD8-CD93DF834279}"/>
              </a:ext>
            </a:extLst>
          </p:cNvPr>
          <p:cNvSpPr/>
          <p:nvPr/>
        </p:nvSpPr>
        <p:spPr>
          <a:xfrm>
            <a:off x="279318" y="880381"/>
            <a:ext cx="2222090" cy="154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D22C368-183B-36D1-1C4E-0C97D8703574}"/>
              </a:ext>
            </a:extLst>
          </p:cNvPr>
          <p:cNvSpPr/>
          <p:nvPr/>
        </p:nvSpPr>
        <p:spPr>
          <a:xfrm>
            <a:off x="2894175" y="874032"/>
            <a:ext cx="2222090" cy="154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47729C07-47D6-7C6B-A642-AF1F5FE69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557250"/>
              </p:ext>
            </p:extLst>
          </p:nvPr>
        </p:nvGraphicFramePr>
        <p:xfrm>
          <a:off x="542137" y="1244721"/>
          <a:ext cx="1696475" cy="946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013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530462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LSL551B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70059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93.6%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LSL411B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90.6%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30E0882B-75DD-8B05-E727-B5CE76D1F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865115"/>
              </p:ext>
            </p:extLst>
          </p:nvPr>
        </p:nvGraphicFramePr>
        <p:xfrm>
          <a:off x="3077093" y="1219044"/>
          <a:ext cx="1856249" cy="973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055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558194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LL07PL1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LL07PR1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6313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LL57PL1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81.0%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3480118"/>
                  </a:ext>
                </a:extLst>
              </a:tr>
              <a:tr h="216414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LL57PR1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81.0%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EBB02BA1-4004-1E9C-1A14-58D84C3A69B8}"/>
              </a:ext>
            </a:extLst>
          </p:cNvPr>
          <p:cNvSpPr txBox="1"/>
          <p:nvPr/>
        </p:nvSpPr>
        <p:spPr>
          <a:xfrm>
            <a:off x="882232" y="8824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0421ED-0137-085E-C360-820CD732A6E7}"/>
              </a:ext>
            </a:extLst>
          </p:cNvPr>
          <p:cNvSpPr txBox="1"/>
          <p:nvPr/>
        </p:nvSpPr>
        <p:spPr>
          <a:xfrm>
            <a:off x="3399123" y="85514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0F7FE6-356A-123E-A181-C45CAAA3E299}"/>
              </a:ext>
            </a:extLst>
          </p:cNvPr>
          <p:cNvSpPr txBox="1"/>
          <p:nvPr/>
        </p:nvSpPr>
        <p:spPr>
          <a:xfrm>
            <a:off x="434102" y="3202062"/>
            <a:ext cx="4610094" cy="107721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sz="1600" dirty="0"/>
              <a:t>Case when New Device ID : 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(93%)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(86%)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(72%)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  <a:endParaRPr lang="en-MY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80A782-F859-9BC5-42BF-244D82317C78}"/>
              </a:ext>
            </a:extLst>
          </p:cNvPr>
          <p:cNvSpPr txBox="1"/>
          <p:nvPr/>
        </p:nvSpPr>
        <p:spPr>
          <a:xfrm>
            <a:off x="2813803" y="2440898"/>
            <a:ext cx="2807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50" dirty="0"/>
              <a:t>All the percentage inside the cluster is 80-90%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002C1-3773-1936-EC2A-8745433CB7C9}"/>
              </a:ext>
            </a:extLst>
          </p:cNvPr>
          <p:cNvSpPr txBox="1"/>
          <p:nvPr/>
        </p:nvSpPr>
        <p:spPr>
          <a:xfrm>
            <a:off x="157731" y="2432762"/>
            <a:ext cx="30971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All the percentage inside the cluster is 91-99 %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91F3C86-6F2E-DD0D-FF83-CC925905E973}"/>
              </a:ext>
            </a:extLst>
          </p:cNvPr>
          <p:cNvSpPr/>
          <p:nvPr/>
        </p:nvSpPr>
        <p:spPr>
          <a:xfrm>
            <a:off x="9438826" y="872125"/>
            <a:ext cx="2222090" cy="1568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D377ECD-D369-5DCC-B877-28E317C7F886}"/>
              </a:ext>
            </a:extLst>
          </p:cNvPr>
          <p:cNvSpPr txBox="1"/>
          <p:nvPr/>
        </p:nvSpPr>
        <p:spPr>
          <a:xfrm>
            <a:off x="9950816" y="101943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BCB5B600-C71C-95A0-BA5B-C28F63575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3151"/>
              </p:ext>
            </p:extLst>
          </p:nvPr>
        </p:nvGraphicFramePr>
        <p:xfrm>
          <a:off x="9641283" y="1836527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97" name="Picture 96">
            <a:extLst>
              <a:ext uri="{FF2B5EF4-FFF2-40B4-BE49-F238E27FC236}">
                <a16:creationId xmlns:a16="http://schemas.microsoft.com/office/drawing/2014/main" id="{14FF2DAD-28DA-C905-8C26-8502459E3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542614" y="1358999"/>
            <a:ext cx="1898240" cy="341934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761698FB-A8BB-1AC0-7AF2-CD0F1D306B54}"/>
              </a:ext>
            </a:extLst>
          </p:cNvPr>
          <p:cNvSpPr/>
          <p:nvPr/>
        </p:nvSpPr>
        <p:spPr>
          <a:xfrm>
            <a:off x="6854536" y="872125"/>
            <a:ext cx="2222090" cy="1568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7032F983-A87C-8B05-8D75-0EDC33B22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242788"/>
              </p:ext>
            </p:extLst>
          </p:nvPr>
        </p:nvGraphicFramePr>
        <p:xfrm>
          <a:off x="7128396" y="1207198"/>
          <a:ext cx="1696475" cy="1135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0513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S412A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S482A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S602A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94.8%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S922A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92.8%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S362A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91.8%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F301FA61-1D7B-9036-2FA9-2FD84EB3448D}"/>
              </a:ext>
            </a:extLst>
          </p:cNvPr>
          <p:cNvSpPr txBox="1"/>
          <p:nvPr/>
        </p:nvSpPr>
        <p:spPr>
          <a:xfrm>
            <a:off x="7468491" y="844901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1E98E27-7D0A-EA36-AD7B-34542054A578}"/>
              </a:ext>
            </a:extLst>
          </p:cNvPr>
          <p:cNvSpPr txBox="1"/>
          <p:nvPr/>
        </p:nvSpPr>
        <p:spPr>
          <a:xfrm>
            <a:off x="6803749" y="2655574"/>
            <a:ext cx="4954149" cy="58477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sz="1600" dirty="0"/>
              <a:t>Case when New Device ID : </a:t>
            </a:r>
          </a:p>
          <a:p>
            <a:pPr marL="285750" indent="-285750">
              <a:buFontTx/>
              <a:buChar char="-"/>
            </a:pPr>
            <a:r>
              <a:rPr lang="en-MY" sz="1600" dirty="0">
                <a:solidFill>
                  <a:srgbClr val="000000"/>
                </a:solidFill>
                <a:latin typeface="Calibri" panose="020F0502020204030204" pitchFamily="34" charset="0"/>
              </a:rPr>
              <a:t>V71ST2</a:t>
            </a:r>
            <a:r>
              <a:rPr lang="en-MY" sz="1600" dirty="0"/>
              <a:t> = On/Off Valve (93%)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286608B-01ED-A583-38B0-5CE07FC77611}"/>
              </a:ext>
            </a:extLst>
          </p:cNvPr>
          <p:cNvSpPr txBox="1"/>
          <p:nvPr/>
        </p:nvSpPr>
        <p:spPr>
          <a:xfrm>
            <a:off x="2147354" y="2709335"/>
            <a:ext cx="1441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***both cluster is</a:t>
            </a:r>
            <a:r>
              <a:rPr lang="en-MY" sz="1100" b="1" dirty="0"/>
              <a:t> FULL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10E816-3E94-A3A4-8D22-19AEC58727A5}"/>
              </a:ext>
            </a:extLst>
          </p:cNvPr>
          <p:cNvSpPr txBox="1"/>
          <p:nvPr/>
        </p:nvSpPr>
        <p:spPr>
          <a:xfrm>
            <a:off x="434102" y="4629942"/>
            <a:ext cx="4610094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>
                <a:solidFill>
                  <a:srgbClr val="FF0000"/>
                </a:solidFill>
              </a:rPr>
              <a:t>The kick out device id is located at?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686CF80-66B8-6547-DD91-718920B07410}"/>
              </a:ext>
            </a:extLst>
          </p:cNvPr>
          <p:cNvSpPr/>
          <p:nvPr/>
        </p:nvSpPr>
        <p:spPr>
          <a:xfrm>
            <a:off x="9438826" y="4881096"/>
            <a:ext cx="2222090" cy="1568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052AB2F-4EB1-3E78-C565-482BE16B3E21}"/>
              </a:ext>
            </a:extLst>
          </p:cNvPr>
          <p:cNvSpPr txBox="1"/>
          <p:nvPr/>
        </p:nvSpPr>
        <p:spPr>
          <a:xfrm>
            <a:off x="9950816" y="4867536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130" name="Table 129">
            <a:extLst>
              <a:ext uri="{FF2B5EF4-FFF2-40B4-BE49-F238E27FC236}">
                <a16:creationId xmlns:a16="http://schemas.microsoft.com/office/drawing/2014/main" id="{A522B6FE-B2CF-FBC5-A27C-B76483E16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024334"/>
              </p:ext>
            </p:extLst>
          </p:nvPr>
        </p:nvGraphicFramePr>
        <p:xfrm>
          <a:off x="9769063" y="5958454"/>
          <a:ext cx="1671791" cy="37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1/6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132" name="Picture 131">
            <a:extLst>
              <a:ext uri="{FF2B5EF4-FFF2-40B4-BE49-F238E27FC236}">
                <a16:creationId xmlns:a16="http://schemas.microsoft.com/office/drawing/2014/main" id="{29464F60-5B1F-59D5-A061-FBA767F80C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844484" y="5580027"/>
            <a:ext cx="1386550" cy="249762"/>
          </a:xfrm>
          <a:prstGeom prst="rect">
            <a:avLst/>
          </a:prstGeom>
        </p:spPr>
      </p:pic>
      <p:sp>
        <p:nvSpPr>
          <p:cNvPr id="134" name="Rectangle 133">
            <a:extLst>
              <a:ext uri="{FF2B5EF4-FFF2-40B4-BE49-F238E27FC236}">
                <a16:creationId xmlns:a16="http://schemas.microsoft.com/office/drawing/2014/main" id="{F1F6793A-C600-FBCA-9CF0-1CF863DFA110}"/>
              </a:ext>
            </a:extLst>
          </p:cNvPr>
          <p:cNvSpPr/>
          <p:nvPr/>
        </p:nvSpPr>
        <p:spPr>
          <a:xfrm>
            <a:off x="6854536" y="4881096"/>
            <a:ext cx="2222090" cy="1568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36" name="Table 135">
            <a:extLst>
              <a:ext uri="{FF2B5EF4-FFF2-40B4-BE49-F238E27FC236}">
                <a16:creationId xmlns:a16="http://schemas.microsoft.com/office/drawing/2014/main" id="{7FD94074-F1EC-03FD-B734-D57895F25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751032"/>
              </p:ext>
            </p:extLst>
          </p:nvPr>
        </p:nvGraphicFramePr>
        <p:xfrm>
          <a:off x="7128396" y="5216169"/>
          <a:ext cx="1696475" cy="1135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0513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S412A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S482A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S602A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94.8%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V71ST2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93%</a:t>
                      </a:r>
                    </a:p>
                  </a:txBody>
                  <a:tcPr marL="6350" marR="6350" marT="635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S922A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92.8%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</a:tbl>
          </a:graphicData>
        </a:graphic>
      </p:graphicFrame>
      <p:sp>
        <p:nvSpPr>
          <p:cNvPr id="138" name="TextBox 137">
            <a:extLst>
              <a:ext uri="{FF2B5EF4-FFF2-40B4-BE49-F238E27FC236}">
                <a16:creationId xmlns:a16="http://schemas.microsoft.com/office/drawing/2014/main" id="{B7B6E253-E3CB-A067-FD46-5F2787D99BDC}"/>
              </a:ext>
            </a:extLst>
          </p:cNvPr>
          <p:cNvSpPr txBox="1"/>
          <p:nvPr/>
        </p:nvSpPr>
        <p:spPr>
          <a:xfrm>
            <a:off x="7468491" y="485387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141" name="Table 140">
            <a:extLst>
              <a:ext uri="{FF2B5EF4-FFF2-40B4-BE49-F238E27FC236}">
                <a16:creationId xmlns:a16="http://schemas.microsoft.com/office/drawing/2014/main" id="{AFE59A95-6CA7-53EF-81E8-89552EFF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290867"/>
              </p:ext>
            </p:extLst>
          </p:nvPr>
        </p:nvGraphicFramePr>
        <p:xfrm>
          <a:off x="9643496" y="5268682"/>
          <a:ext cx="1696475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049865551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128376118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S362A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91.8%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81913274"/>
                  </a:ext>
                </a:extLst>
              </a:tr>
            </a:tbl>
          </a:graphicData>
        </a:graphic>
      </p:graphicFrame>
      <p:sp>
        <p:nvSpPr>
          <p:cNvPr id="143" name="TextBox 142">
            <a:extLst>
              <a:ext uri="{FF2B5EF4-FFF2-40B4-BE49-F238E27FC236}">
                <a16:creationId xmlns:a16="http://schemas.microsoft.com/office/drawing/2014/main" id="{772351A1-D7FD-AADD-10EE-3976D1EE2D72}"/>
              </a:ext>
            </a:extLst>
          </p:cNvPr>
          <p:cNvSpPr txBox="1"/>
          <p:nvPr/>
        </p:nvSpPr>
        <p:spPr>
          <a:xfrm>
            <a:off x="8215725" y="4369105"/>
            <a:ext cx="21301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000" dirty="0"/>
              <a:t>Suggestion answer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15AC839-043B-7AE4-5815-6B07BFB84454}"/>
              </a:ext>
            </a:extLst>
          </p:cNvPr>
          <p:cNvSpPr/>
          <p:nvPr/>
        </p:nvSpPr>
        <p:spPr>
          <a:xfrm>
            <a:off x="5842000" y="0"/>
            <a:ext cx="31177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5" name="Arrow: Down 144">
            <a:extLst>
              <a:ext uri="{FF2B5EF4-FFF2-40B4-BE49-F238E27FC236}">
                <a16:creationId xmlns:a16="http://schemas.microsoft.com/office/drawing/2014/main" id="{62AA83CD-7074-43EB-0F75-6E3D4C149FAD}"/>
              </a:ext>
            </a:extLst>
          </p:cNvPr>
          <p:cNvSpPr/>
          <p:nvPr/>
        </p:nvSpPr>
        <p:spPr>
          <a:xfrm>
            <a:off x="8967019" y="3429000"/>
            <a:ext cx="527349" cy="8282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6811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64D26-3048-2900-660A-044CED86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A646E-C02D-D53E-0E7A-0C15205F5E90}"/>
              </a:ext>
            </a:extLst>
          </p:cNvPr>
          <p:cNvSpPr txBox="1"/>
          <p:nvPr/>
        </p:nvSpPr>
        <p:spPr>
          <a:xfrm>
            <a:off x="4937670" y="2469930"/>
            <a:ext cx="2316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974717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88212-3336-6AB1-0A0B-671FB4B35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85A962-DDB4-7FC3-E4E2-5283D64B266D}"/>
              </a:ext>
            </a:extLst>
          </p:cNvPr>
          <p:cNvSpPr txBox="1"/>
          <p:nvPr/>
        </p:nvSpPr>
        <p:spPr>
          <a:xfrm>
            <a:off x="485413" y="336330"/>
            <a:ext cx="417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Update script 17/07/2026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241DC-41C3-F471-8425-4D424F585936}"/>
              </a:ext>
            </a:extLst>
          </p:cNvPr>
          <p:cNvSpPr txBox="1"/>
          <p:nvPr/>
        </p:nvSpPr>
        <p:spPr>
          <a:xfrm>
            <a:off x="931169" y="1398584"/>
            <a:ext cx="105776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Program.cs</a:t>
            </a:r>
            <a:r>
              <a:rPr lang="en-US" dirty="0"/>
              <a:t> workflow :</a:t>
            </a:r>
          </a:p>
          <a:p>
            <a:endParaRPr lang="en-US" dirty="0"/>
          </a:p>
          <a:p>
            <a:r>
              <a:rPr lang="en-US" dirty="0"/>
              <a:t>Console output is not as per requested. Need to restructure the way. = PROBLEM SOLVED ✅</a:t>
            </a:r>
          </a:p>
          <a:p>
            <a:r>
              <a:rPr lang="en-US" dirty="0"/>
              <a:t>PROBLEM AND STOP AND APPROACH 2 </a:t>
            </a:r>
          </a:p>
          <a:p>
            <a:endParaRPr lang="en-US" dirty="0"/>
          </a:p>
          <a:p>
            <a:endParaRPr lang="en-US" dirty="0"/>
          </a:p>
          <a:p>
            <a:r>
              <a:rPr lang="en-MY" dirty="0"/>
              <a:t>So: </a:t>
            </a:r>
            <a:r>
              <a:rPr lang="en-MY" b="1" dirty="0"/>
              <a:t>capture the data → </a:t>
            </a:r>
            <a:r>
              <a:rPr lang="en-MY" b="1" dirty="0" err="1"/>
              <a:t>ClusterQuotaAllocator.cs</a:t>
            </a:r>
            <a:r>
              <a:rPr lang="en-MY" b="1" dirty="0"/>
              <a:t>. Display the data → </a:t>
            </a:r>
            <a:r>
              <a:rPr lang="en-MY" b="1" dirty="0" err="1"/>
              <a:t>Program.cs</a:t>
            </a:r>
            <a:r>
              <a:rPr lang="en-MY" b="1" dirty="0"/>
              <a:t>.</a:t>
            </a:r>
            <a:r>
              <a:rPr lang="en-MY" dirty="0"/>
              <a:t> If you already replaced your Logic project's </a:t>
            </a:r>
            <a:r>
              <a:rPr lang="en-MY" dirty="0" err="1"/>
              <a:t>ClusterQuotaAllocator.cs</a:t>
            </a:r>
            <a:r>
              <a:rPr lang="en-MY" dirty="0"/>
              <a:t> with the full file I gave you last message, that half is done — you just need to update the </a:t>
            </a:r>
            <a:r>
              <a:rPr lang="en-MY" dirty="0" err="1"/>
              <a:t>Program.cs</a:t>
            </a:r>
            <a:r>
              <a:rPr lang="en-MY" dirty="0"/>
              <a:t> printing block now.</a:t>
            </a:r>
          </a:p>
        </p:txBody>
      </p:sp>
    </p:spTree>
    <p:extLst>
      <p:ext uri="{BB962C8B-B14F-4D97-AF65-F5344CB8AC3E}">
        <p14:creationId xmlns:p14="http://schemas.microsoft.com/office/powerpoint/2010/main" val="12398772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9C4C4-2BA0-5248-9538-208A81E7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B89251-014B-B28D-6075-2EC1D3080C29}"/>
              </a:ext>
            </a:extLst>
          </p:cNvPr>
          <p:cNvSpPr txBox="1"/>
          <p:nvPr/>
        </p:nvSpPr>
        <p:spPr>
          <a:xfrm>
            <a:off x="4800422" y="2285999"/>
            <a:ext cx="27943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OBSOLETE</a:t>
            </a:r>
          </a:p>
        </p:txBody>
      </p:sp>
    </p:spTree>
    <p:extLst>
      <p:ext uri="{BB962C8B-B14F-4D97-AF65-F5344CB8AC3E}">
        <p14:creationId xmlns:p14="http://schemas.microsoft.com/office/powerpoint/2010/main" val="2456106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C43FC-695C-8E98-FA6D-DD9579CA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95FA9-4577-2710-99B0-419F95D825CF}"/>
              </a:ext>
            </a:extLst>
          </p:cNvPr>
          <p:cNvSpPr txBox="1"/>
          <p:nvPr/>
        </p:nvSpPr>
        <p:spPr>
          <a:xfrm>
            <a:off x="4169831" y="2135887"/>
            <a:ext cx="38523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REFERENCE</a:t>
            </a:r>
          </a:p>
          <a:p>
            <a:pPr algn="ctr"/>
            <a:r>
              <a:rPr lang="en-US" sz="4800" dirty="0"/>
              <a:t>[10/07/2026]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37738412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B484C-E798-CDFF-4DC6-0347EE73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1D9AC-408F-CACD-2D32-EA6A2044E077}"/>
              </a:ext>
            </a:extLst>
          </p:cNvPr>
          <p:cNvSpPr txBox="1"/>
          <p:nvPr/>
        </p:nvSpPr>
        <p:spPr>
          <a:xfrm>
            <a:off x="681789" y="558266"/>
            <a:ext cx="1101290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Case when 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Check the top 3 highest percentage</a:t>
            </a:r>
          </a:p>
          <a:p>
            <a:pPr marL="342900" indent="-342900">
              <a:buAutoNum type="arabicParenR"/>
            </a:pPr>
            <a:r>
              <a:rPr lang="en-MY" sz="2400" dirty="0"/>
              <a:t> Load the top 3 cluster obtain from the highest percentage</a:t>
            </a:r>
          </a:p>
          <a:p>
            <a:pPr marL="342900" indent="-342900">
              <a:buAutoNum type="arabicParenR"/>
            </a:pPr>
            <a:r>
              <a:rPr lang="en-MY" sz="2400" dirty="0"/>
              <a:t> Match the pattern algorithm.</a:t>
            </a:r>
          </a:p>
          <a:p>
            <a:pPr marL="342900" indent="-342900">
              <a:buAutoNum type="arabicParenR"/>
            </a:pPr>
            <a:r>
              <a:rPr lang="en-MY" sz="2400" dirty="0"/>
              <a:t> Is the equipment existed in the cluster algorithm reference? Yes/No</a:t>
            </a:r>
          </a:p>
          <a:p>
            <a:pPr marL="342900" indent="-342900">
              <a:buAutoNum type="arabicParenR"/>
            </a:pPr>
            <a:r>
              <a:rPr lang="en-MY" sz="2400" dirty="0"/>
              <a:t> NO = EXCLUDE THE CLUSTER</a:t>
            </a:r>
          </a:p>
          <a:p>
            <a:pPr marL="342900" indent="-342900">
              <a:buAutoNum type="arabicParenR"/>
            </a:pPr>
            <a:r>
              <a:rPr lang="en-MY" sz="2400" dirty="0"/>
              <a:t> YES = Proceed with the selection. </a:t>
            </a:r>
          </a:p>
          <a:p>
            <a:pPr marL="342900" indent="-342900">
              <a:buAutoNum type="arabicParenR"/>
            </a:pPr>
            <a:r>
              <a:rPr lang="en-MY" sz="2400" dirty="0"/>
              <a:t> If there is more than 1 similar device type across cluster, which cluster should choose? = choose the cluster in which no Device Type inside.</a:t>
            </a:r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QUESTION! WHEN THE KICK AND REPLACE WILL WORK?</a:t>
            </a:r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38993609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9CB30-9882-388D-E303-8580A3FA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3628A4-C1D1-0D33-F043-59EB1D3978EB}"/>
              </a:ext>
            </a:extLst>
          </p:cNvPr>
          <p:cNvSpPr/>
          <p:nvPr/>
        </p:nvSpPr>
        <p:spPr>
          <a:xfrm>
            <a:off x="722376" y="1362456"/>
            <a:ext cx="4489704" cy="2624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u="sng" dirty="0"/>
              <a:t>TRAINING DATASET</a:t>
            </a:r>
          </a:p>
          <a:p>
            <a:pPr algn="ctr"/>
            <a:endParaRPr lang="en-MY" b="1" u="sng" dirty="0"/>
          </a:p>
          <a:p>
            <a:pPr algn="ctr"/>
            <a:r>
              <a:rPr lang="en-MY" u="sng" dirty="0"/>
              <a:t>OILTEK </a:t>
            </a:r>
          </a:p>
          <a:p>
            <a:r>
              <a:rPr lang="en-MY" b="1" dirty="0"/>
              <a:t>A1706 (REFERENCE)</a:t>
            </a:r>
          </a:p>
          <a:p>
            <a:r>
              <a:rPr lang="en-MY" dirty="0"/>
              <a:t>A9991, A9992, A9993, A9994, A9995</a:t>
            </a:r>
          </a:p>
          <a:p>
            <a:endParaRPr lang="en-MY" dirty="0"/>
          </a:p>
          <a:p>
            <a:pPr algn="ctr"/>
            <a:r>
              <a:rPr lang="en-MY" u="sng" dirty="0"/>
              <a:t>UGS</a:t>
            </a:r>
          </a:p>
          <a:p>
            <a:r>
              <a:rPr lang="en-MY" b="1" dirty="0"/>
              <a:t>A2027 (REFERENCE)</a:t>
            </a:r>
          </a:p>
          <a:p>
            <a:r>
              <a:rPr lang="en-MY" dirty="0"/>
              <a:t>A8881, A8882. A8883, A8884, A8885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D22BD-945A-6B32-63A0-5AC3E2103405}"/>
              </a:ext>
            </a:extLst>
          </p:cNvPr>
          <p:cNvSpPr/>
          <p:nvPr/>
        </p:nvSpPr>
        <p:spPr>
          <a:xfrm>
            <a:off x="6717792" y="1362456"/>
            <a:ext cx="4489704" cy="2487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u="sng" dirty="0"/>
              <a:t>MODEL APPLICATION BY </a:t>
            </a:r>
            <a:r>
              <a:rPr lang="en-MY" b="1" u="sng" dirty="0" err="1"/>
              <a:t>Program.cs</a:t>
            </a:r>
            <a:endParaRPr lang="en-MY" b="1" u="sng" dirty="0"/>
          </a:p>
          <a:p>
            <a:pPr algn="ctr"/>
            <a:endParaRPr lang="en-MY" b="1" u="sng" dirty="0"/>
          </a:p>
          <a:p>
            <a:r>
              <a:rPr lang="en-MY" dirty="0"/>
              <a:t>OILTEK </a:t>
            </a:r>
          </a:p>
          <a:p>
            <a:r>
              <a:rPr lang="en-MY" dirty="0"/>
              <a:t>A1706</a:t>
            </a:r>
          </a:p>
          <a:p>
            <a:endParaRPr lang="en-MY" dirty="0"/>
          </a:p>
          <a:p>
            <a:r>
              <a:rPr lang="en-MY" dirty="0"/>
              <a:t>OUTPUT : </a:t>
            </a:r>
          </a:p>
          <a:p>
            <a:r>
              <a:rPr lang="en-MY" dirty="0"/>
              <a:t>TOTAL DEVICE ID 	= 128 ID</a:t>
            </a:r>
          </a:p>
          <a:p>
            <a:r>
              <a:rPr lang="en-MY" dirty="0"/>
              <a:t>KNOWN 			= 117 ID</a:t>
            </a:r>
          </a:p>
          <a:p>
            <a:r>
              <a:rPr lang="en-MY" dirty="0"/>
              <a:t>UNKNOWN 		= 11 ID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92057-5512-B372-C357-5630E47E227C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</p:spTree>
    <p:extLst>
      <p:ext uri="{BB962C8B-B14F-4D97-AF65-F5344CB8AC3E}">
        <p14:creationId xmlns:p14="http://schemas.microsoft.com/office/powerpoint/2010/main" val="6881278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CE3B42-F89D-59D8-CAB5-AFBFB1A2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834E2E-4FA9-D7A4-201C-22942823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4320"/>
            <a:ext cx="4781839" cy="5074920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578F1C-E0B3-6039-EB4E-5D9859E939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945"/>
          <a:stretch>
            <a:fillRect/>
          </a:stretch>
        </p:blipFill>
        <p:spPr>
          <a:xfrm>
            <a:off x="647423" y="274320"/>
            <a:ext cx="4865272" cy="606693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33009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C6E3C-377F-EB6D-F9A1-27C75367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D6F0AF12-ABB2-C379-2500-22E431477C2D}"/>
              </a:ext>
            </a:extLst>
          </p:cNvPr>
          <p:cNvSpPr/>
          <p:nvPr/>
        </p:nvSpPr>
        <p:spPr>
          <a:xfrm>
            <a:off x="7398792" y="218984"/>
            <a:ext cx="4343401" cy="12192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Restructure and Kick</a:t>
            </a:r>
          </a:p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PROBLEM : Depends on the training dataset. </a:t>
            </a:r>
          </a:p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EXAMPLE : V264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70C8F6-FFE9-427C-E70C-10F02E91EE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35"/>
          <a:stretch>
            <a:fillRect/>
          </a:stretch>
        </p:blipFill>
        <p:spPr>
          <a:xfrm>
            <a:off x="2195478" y="358366"/>
            <a:ext cx="4856577" cy="12347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610231B-FECE-EE70-537D-A2E02044F0D1}"/>
              </a:ext>
            </a:extLst>
          </p:cNvPr>
          <p:cNvSpPr txBox="1"/>
          <p:nvPr/>
        </p:nvSpPr>
        <p:spPr>
          <a:xfrm>
            <a:off x="239951" y="1600186"/>
            <a:ext cx="445865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 the output suggestion, only existed 2 CLUSTER :</a:t>
            </a:r>
            <a:br>
              <a:rPr lang="en-US" sz="1400" dirty="0"/>
            </a:br>
            <a:r>
              <a:rPr lang="en-US" sz="1400" dirty="0"/>
              <a:t>- 	SECTION 3 CLUSTER 1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    SECTION 3 CLUSTER 3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r>
              <a:rPr lang="en-US" sz="1200" dirty="0"/>
              <a:t>Q : where is coming SECTION 3 CLUSTER 4 as per suggested? </a:t>
            </a:r>
          </a:p>
          <a:p>
            <a:r>
              <a:rPr lang="en-US" sz="1200" dirty="0"/>
              <a:t>A : From training dataset</a:t>
            </a:r>
          </a:p>
          <a:p>
            <a:endParaRPr lang="en-US" sz="1200" dirty="0"/>
          </a:p>
          <a:p>
            <a:r>
              <a:rPr lang="en-US" sz="1200" dirty="0"/>
              <a:t>Q : Is it come from UGS? Or it belong to others client?</a:t>
            </a:r>
          </a:p>
          <a:p>
            <a:r>
              <a:rPr lang="en-US" sz="1200" dirty="0"/>
              <a:t>A : Training data used UGS &amp; OILTEK</a:t>
            </a:r>
          </a:p>
          <a:p>
            <a:endParaRPr lang="en-US" sz="1200" dirty="0"/>
          </a:p>
          <a:p>
            <a:r>
              <a:rPr lang="en-US" sz="1200" dirty="0"/>
              <a:t>Q : is SECTION 3 CLUSTER 4 existed in UGS training data? </a:t>
            </a:r>
            <a:r>
              <a:rPr lang="en-US" sz="1200" b="1" dirty="0"/>
              <a:t>= YES</a:t>
            </a:r>
          </a:p>
          <a:p>
            <a:endParaRPr lang="en-US" sz="1200" b="1" dirty="0"/>
          </a:p>
          <a:p>
            <a:r>
              <a:rPr lang="en-US" sz="1200" dirty="0"/>
              <a:t>Q: should include together the training dataset from the similar client? </a:t>
            </a:r>
          </a:p>
          <a:p>
            <a:r>
              <a:rPr lang="en-US" sz="1200" dirty="0"/>
              <a:t>A = as for now, EXCLUDED!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B1391B2-BBD5-8A44-CAFB-6DA9535915C1}"/>
              </a:ext>
            </a:extLst>
          </p:cNvPr>
          <p:cNvGrpSpPr/>
          <p:nvPr/>
        </p:nvGrpSpPr>
        <p:grpSpPr>
          <a:xfrm>
            <a:off x="307685" y="4647174"/>
            <a:ext cx="3913634" cy="1687739"/>
            <a:chOff x="201166" y="4154261"/>
            <a:chExt cx="4319153" cy="214716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08FDCF1-89F2-144A-20A1-E58523EBB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1166" y="4154261"/>
              <a:ext cx="4319153" cy="2147165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C994C5C-F4D9-F3BE-5223-0D23B2902506}"/>
                </a:ext>
              </a:extLst>
            </p:cNvPr>
            <p:cNvSpPr/>
            <p:nvPr/>
          </p:nvSpPr>
          <p:spPr>
            <a:xfrm>
              <a:off x="3208867" y="5130800"/>
              <a:ext cx="1311452" cy="21166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9354803A-C7AC-1BE6-CC24-1AD52257C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71" y="3162994"/>
            <a:ext cx="6987022" cy="2926942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B7928B9-23C6-7C2C-E849-DF5AAC9B7B91}"/>
              </a:ext>
            </a:extLst>
          </p:cNvPr>
          <p:cNvCxnSpPr/>
          <p:nvPr/>
        </p:nvCxnSpPr>
        <p:spPr>
          <a:xfrm>
            <a:off x="4399390" y="1924700"/>
            <a:ext cx="2777066" cy="11345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ECEC5B-2180-0B56-529B-8C09DCE7D743}"/>
              </a:ext>
            </a:extLst>
          </p:cNvPr>
          <p:cNvSpPr txBox="1"/>
          <p:nvPr/>
        </p:nvSpPr>
        <p:spPr>
          <a:xfrm>
            <a:off x="2645884" y="16286"/>
            <a:ext cx="3955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UNKNOWN CLUSTER = TOP 3 SUGGESTION</a:t>
            </a:r>
            <a:endParaRPr lang="en-MY" sz="1600" b="1" dirty="0"/>
          </a:p>
        </p:txBody>
      </p:sp>
    </p:spTree>
    <p:extLst>
      <p:ext uri="{BB962C8B-B14F-4D97-AF65-F5344CB8AC3E}">
        <p14:creationId xmlns:p14="http://schemas.microsoft.com/office/powerpoint/2010/main" val="2323322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31DBF-52AA-2A1E-C6AA-4423007E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101FE0EB-2731-C6C7-1AC5-5B9470EE21E9}"/>
              </a:ext>
            </a:extLst>
          </p:cNvPr>
          <p:cNvGrpSpPr/>
          <p:nvPr/>
        </p:nvGrpSpPr>
        <p:grpSpPr>
          <a:xfrm>
            <a:off x="3118618" y="185241"/>
            <a:ext cx="5432715" cy="2490226"/>
            <a:chOff x="201166" y="4154261"/>
            <a:chExt cx="4319153" cy="214716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1FC52E1-F317-B4CB-2B72-234669A9B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166" y="4154261"/>
              <a:ext cx="4319153" cy="2147165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FF705F1-C2AC-2492-E38E-957350406DE9}"/>
                </a:ext>
              </a:extLst>
            </p:cNvPr>
            <p:cNvSpPr/>
            <p:nvPr/>
          </p:nvSpPr>
          <p:spPr>
            <a:xfrm>
              <a:off x="3208867" y="5130800"/>
              <a:ext cx="1311452" cy="21166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45CAC6E-6275-058F-A956-56AF4BF3F1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852"/>
          <a:stretch>
            <a:fillRect/>
          </a:stretch>
        </p:blipFill>
        <p:spPr>
          <a:xfrm>
            <a:off x="4521138" y="2822855"/>
            <a:ext cx="7399991" cy="330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5D1D0-B239-951A-8278-3086111BB1A3}"/>
              </a:ext>
            </a:extLst>
          </p:cNvPr>
          <p:cNvSpPr txBox="1"/>
          <p:nvPr/>
        </p:nvSpPr>
        <p:spPr>
          <a:xfrm>
            <a:off x="186267" y="2982205"/>
            <a:ext cx="40470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training dataset.</a:t>
            </a:r>
          </a:p>
          <a:p>
            <a:r>
              <a:rPr lang="en-US" dirty="0"/>
              <a:t>All SECTION 3 CLUSTER 4 refer to “V”</a:t>
            </a:r>
          </a:p>
          <a:p>
            <a:r>
              <a:rPr lang="en-US" dirty="0"/>
              <a:t>All contain 1 similar devices </a:t>
            </a:r>
          </a:p>
          <a:p>
            <a:r>
              <a:rPr lang="en-US" dirty="0"/>
              <a:t>(refer to On/Off Valve)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AFCCD-442B-944E-CD3F-02B18061A86C}"/>
              </a:ext>
            </a:extLst>
          </p:cNvPr>
          <p:cNvSpPr/>
          <p:nvPr/>
        </p:nvSpPr>
        <p:spPr>
          <a:xfrm>
            <a:off x="6697133" y="2822856"/>
            <a:ext cx="3412067" cy="3302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CF4F5F-930D-1D88-6B8A-A2FA2D7EA292}"/>
              </a:ext>
            </a:extLst>
          </p:cNvPr>
          <p:cNvCxnSpPr>
            <a:cxnSpLocks/>
            <a:stCxn id="38" idx="2"/>
            <a:endCxn id="5" idx="0"/>
          </p:cNvCxnSpPr>
          <p:nvPr/>
        </p:nvCxnSpPr>
        <p:spPr>
          <a:xfrm>
            <a:off x="7726548" y="1563291"/>
            <a:ext cx="676619" cy="12595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1861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B528D-442B-5646-E9A3-8F44EF5F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44D9F5-7055-4BAB-2FFC-001FDE7A2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0" r="2911"/>
          <a:stretch>
            <a:fillRect/>
          </a:stretch>
        </p:blipFill>
        <p:spPr>
          <a:xfrm>
            <a:off x="394480" y="1354667"/>
            <a:ext cx="8868053" cy="4995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B02A57-894A-C6D4-4BBD-964E1578B07C}"/>
              </a:ext>
            </a:extLst>
          </p:cNvPr>
          <p:cNvSpPr txBox="1"/>
          <p:nvPr/>
        </p:nvSpPr>
        <p:spPr>
          <a:xfrm>
            <a:off x="4580467" y="601133"/>
            <a:ext cx="35814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400" b="1" dirty="0"/>
              <a:t>EXAMPLE 2 : CT141CF1SP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3840D3E-A71D-3D35-9C1F-0140ACA811F5}"/>
              </a:ext>
            </a:extLst>
          </p:cNvPr>
          <p:cNvGrpSpPr/>
          <p:nvPr/>
        </p:nvGrpSpPr>
        <p:grpSpPr>
          <a:xfrm>
            <a:off x="7765353" y="1168400"/>
            <a:ext cx="3913634" cy="1763939"/>
            <a:chOff x="7765353" y="1168400"/>
            <a:chExt cx="3913634" cy="176393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E61672F-0A79-4BEE-1318-E2FCBBA7B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65353" y="1168400"/>
              <a:ext cx="3913634" cy="176393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8B7142-A4A1-AB8E-4B24-A32D1E0E373C}"/>
                </a:ext>
              </a:extLst>
            </p:cNvPr>
            <p:cNvSpPr/>
            <p:nvPr/>
          </p:nvSpPr>
          <p:spPr>
            <a:xfrm>
              <a:off x="9128008" y="1498601"/>
              <a:ext cx="1412991" cy="533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459342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B8D61-1EB2-CBAA-B90D-A00131DA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07D03C-8624-E138-8488-BC9E41D71B55}"/>
              </a:ext>
            </a:extLst>
          </p:cNvPr>
          <p:cNvSpPr txBox="1"/>
          <p:nvPr/>
        </p:nvSpPr>
        <p:spPr>
          <a:xfrm>
            <a:off x="4580467" y="601133"/>
            <a:ext cx="35814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400" b="1" dirty="0"/>
              <a:t>EXAMPLE 2 : CT141CF1SP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29866C-7BAA-FB03-D8F5-0841776EC2C6}"/>
              </a:ext>
            </a:extLst>
          </p:cNvPr>
          <p:cNvGrpSpPr/>
          <p:nvPr/>
        </p:nvGrpSpPr>
        <p:grpSpPr>
          <a:xfrm>
            <a:off x="319698" y="1405466"/>
            <a:ext cx="4514767" cy="2023534"/>
            <a:chOff x="7765353" y="1168400"/>
            <a:chExt cx="3913634" cy="176393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B984EF-CD5E-6ADE-CB5A-A0D0533BD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5353" y="1168400"/>
              <a:ext cx="3913634" cy="176393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EC2C8B-92DB-6831-0F1D-3C6DA6FA9866}"/>
                </a:ext>
              </a:extLst>
            </p:cNvPr>
            <p:cNvSpPr/>
            <p:nvPr/>
          </p:nvSpPr>
          <p:spPr>
            <a:xfrm>
              <a:off x="9128008" y="1498601"/>
              <a:ext cx="1412991" cy="533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DB7F489-67A6-D15B-311F-3F110F85D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640" y="1474316"/>
            <a:ext cx="6689771" cy="50619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1F2E65-7B0F-7B67-02B7-DC7A51CB9D4C}"/>
              </a:ext>
            </a:extLst>
          </p:cNvPr>
          <p:cNvSpPr/>
          <p:nvPr/>
        </p:nvSpPr>
        <p:spPr>
          <a:xfrm>
            <a:off x="7137400" y="1474316"/>
            <a:ext cx="2887133" cy="51804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59515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8F703-F31A-D845-5A85-B63396392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3083E0-9C0B-8355-4852-225719725077}"/>
              </a:ext>
            </a:extLst>
          </p:cNvPr>
          <p:cNvSpPr txBox="1"/>
          <p:nvPr/>
        </p:nvSpPr>
        <p:spPr>
          <a:xfrm>
            <a:off x="3946821" y="226229"/>
            <a:ext cx="429835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400" b="1" dirty="0"/>
              <a:t>DISTRIBUTION OF THE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14D3FB-086E-B5AA-3EBD-CBF141C07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455" y="916494"/>
            <a:ext cx="6684169" cy="56497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075706C-05A8-BEC2-E91B-8ED729A8DD05}"/>
              </a:ext>
            </a:extLst>
          </p:cNvPr>
          <p:cNvSpPr/>
          <p:nvPr/>
        </p:nvSpPr>
        <p:spPr>
          <a:xfrm>
            <a:off x="2990088" y="916494"/>
            <a:ext cx="1380744" cy="198215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414578-00C0-6438-0405-B84D8D418443}"/>
              </a:ext>
            </a:extLst>
          </p:cNvPr>
          <p:cNvCxnSpPr/>
          <p:nvPr/>
        </p:nvCxnSpPr>
        <p:spPr>
          <a:xfrm flipH="1">
            <a:off x="2075688" y="1901952"/>
            <a:ext cx="950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1D570E-3646-1E95-CA51-DF9D6F59AA51}"/>
              </a:ext>
            </a:extLst>
          </p:cNvPr>
          <p:cNvSpPr txBox="1"/>
          <p:nvPr/>
        </p:nvSpPr>
        <p:spPr>
          <a:xfrm>
            <a:off x="126452" y="1440287"/>
            <a:ext cx="2290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2 CLUSTER 1</a:t>
            </a:r>
          </a:p>
          <a:p>
            <a:r>
              <a:rPr lang="en-US" dirty="0"/>
              <a:t>32 ITEM OF V</a:t>
            </a:r>
          </a:p>
          <a:p>
            <a:r>
              <a:rPr lang="en-US" dirty="0"/>
              <a:t> (On/off valve)</a:t>
            </a:r>
            <a:endParaRPr lang="en-MY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9D50C4-1664-EACB-3C90-8ECFBE0F308C}"/>
              </a:ext>
            </a:extLst>
          </p:cNvPr>
          <p:cNvSpPr/>
          <p:nvPr/>
        </p:nvSpPr>
        <p:spPr>
          <a:xfrm>
            <a:off x="5090160" y="1004886"/>
            <a:ext cx="1380744" cy="198215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C5EE8E-87CC-7D42-1F7C-27EA1264B759}"/>
              </a:ext>
            </a:extLst>
          </p:cNvPr>
          <p:cNvSpPr txBox="1"/>
          <p:nvPr/>
        </p:nvSpPr>
        <p:spPr>
          <a:xfrm>
            <a:off x="336764" y="3571054"/>
            <a:ext cx="2290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2 CLUSTER 2</a:t>
            </a:r>
          </a:p>
          <a:p>
            <a:r>
              <a:rPr lang="en-US" dirty="0"/>
              <a:t>5 CV (control valve)</a:t>
            </a:r>
          </a:p>
          <a:p>
            <a:r>
              <a:rPr lang="en-US" dirty="0"/>
              <a:t>41 V (On/off valve)</a:t>
            </a:r>
            <a:endParaRPr lang="en-MY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DB17CE-529E-05CE-7029-E6A48B525CB6}"/>
              </a:ext>
            </a:extLst>
          </p:cNvPr>
          <p:cNvCxnSpPr>
            <a:stCxn id="15" idx="2"/>
            <a:endCxn id="17" idx="3"/>
          </p:cNvCxnSpPr>
          <p:nvPr/>
        </p:nvCxnSpPr>
        <p:spPr>
          <a:xfrm flipH="1">
            <a:off x="2627376" y="2987040"/>
            <a:ext cx="3153156" cy="1045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47E8D2F-A7F0-B112-5CD2-ACBDB6BC3A3F}"/>
              </a:ext>
            </a:extLst>
          </p:cNvPr>
          <p:cNvSpPr txBox="1"/>
          <p:nvPr/>
        </p:nvSpPr>
        <p:spPr>
          <a:xfrm>
            <a:off x="9774936" y="1672797"/>
            <a:ext cx="2290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2 CLUSTER 47 V (On/off valve)</a:t>
            </a:r>
            <a:endParaRPr lang="en-MY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CC7ED1-6A6E-C1CD-AC40-D667DFFEABAC}"/>
              </a:ext>
            </a:extLst>
          </p:cNvPr>
          <p:cNvCxnSpPr>
            <a:cxnSpLocks/>
            <a:stCxn id="24" idx="3"/>
            <a:endCxn id="21" idx="1"/>
          </p:cNvCxnSpPr>
          <p:nvPr/>
        </p:nvCxnSpPr>
        <p:spPr>
          <a:xfrm>
            <a:off x="8680609" y="1995963"/>
            <a:ext cx="10943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1289926-22EA-B47F-6641-C3F79C7C9AA2}"/>
              </a:ext>
            </a:extLst>
          </p:cNvPr>
          <p:cNvSpPr/>
          <p:nvPr/>
        </p:nvSpPr>
        <p:spPr>
          <a:xfrm>
            <a:off x="7299865" y="1004886"/>
            <a:ext cx="1380744" cy="198215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701237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98965-FC76-99BF-617C-9618C5D3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522EAD-E7CD-121A-CBD6-04DAC07F607B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B269C-6F75-757F-5E37-1215914D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09" r="10975"/>
          <a:stretch>
            <a:fillRect/>
          </a:stretch>
        </p:blipFill>
        <p:spPr>
          <a:xfrm>
            <a:off x="1613377" y="1002910"/>
            <a:ext cx="9189720" cy="152238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FE15BC-80C7-795B-4A30-8611D0C76907}"/>
              </a:ext>
            </a:extLst>
          </p:cNvPr>
          <p:cNvSpPr txBox="1"/>
          <p:nvPr/>
        </p:nvSpPr>
        <p:spPr>
          <a:xfrm>
            <a:off x="3988810" y="174182"/>
            <a:ext cx="5803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V4.13 – </a:t>
            </a:r>
            <a:r>
              <a:rPr lang="en-MY" sz="3600" dirty="0"/>
              <a:t>SECTION4 CLUSTER?</a:t>
            </a:r>
          </a:p>
        </p:txBody>
      </p:sp>
    </p:spTree>
    <p:extLst>
      <p:ext uri="{BB962C8B-B14F-4D97-AF65-F5344CB8AC3E}">
        <p14:creationId xmlns:p14="http://schemas.microsoft.com/office/powerpoint/2010/main" val="1701374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C4B36-457D-A5A6-17D1-85149A35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EE5122-27B9-0FEA-3D0A-50539D415A8D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C9AD07-5F20-B1EF-B282-E118AB110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40" r="4176"/>
          <a:stretch>
            <a:fillRect/>
          </a:stretch>
        </p:blipFill>
        <p:spPr>
          <a:xfrm>
            <a:off x="1634252" y="817330"/>
            <a:ext cx="9320259" cy="5866488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E907A4-7859-8B05-A46A-1424E9642049}"/>
              </a:ext>
            </a:extLst>
          </p:cNvPr>
          <p:cNvSpPr txBox="1"/>
          <p:nvPr/>
        </p:nvSpPr>
        <p:spPr>
          <a:xfrm>
            <a:off x="3988810" y="174182"/>
            <a:ext cx="5803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V4.13 – </a:t>
            </a:r>
            <a:r>
              <a:rPr lang="en-MY" sz="3600" dirty="0"/>
              <a:t>SECTION4 CLUSTER?</a:t>
            </a:r>
          </a:p>
        </p:txBody>
      </p:sp>
    </p:spTree>
    <p:extLst>
      <p:ext uri="{BB962C8B-B14F-4D97-AF65-F5344CB8AC3E}">
        <p14:creationId xmlns:p14="http://schemas.microsoft.com/office/powerpoint/2010/main" val="29347996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93EC9-9723-3A5D-09F9-F7B33B92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AC12DDA-A04A-DBC7-0885-E19AEC37CE85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32BD8-FFD9-E45B-631C-3CB98359D5EB}"/>
              </a:ext>
            </a:extLst>
          </p:cNvPr>
          <p:cNvSpPr txBox="1"/>
          <p:nvPr/>
        </p:nvSpPr>
        <p:spPr>
          <a:xfrm>
            <a:off x="3394450" y="556784"/>
            <a:ext cx="6287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TCV111 – SECTION 3 CLUSTER?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6AF7A-CFF0-F929-1DFC-83B6606E5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21" y="1716863"/>
            <a:ext cx="9554908" cy="2029108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533657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9F6FF-5FBB-801C-AB59-8B7C24A5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D1E744-8600-62A3-5D5F-595502F88CC6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70D9C-CEB5-93DE-89EB-AC667DA0D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3" y="1067847"/>
            <a:ext cx="10774837" cy="472230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C185B4-38BA-68EE-1191-931A353838D0}"/>
              </a:ext>
            </a:extLst>
          </p:cNvPr>
          <p:cNvSpPr txBox="1"/>
          <p:nvPr/>
        </p:nvSpPr>
        <p:spPr>
          <a:xfrm>
            <a:off x="3371590" y="312682"/>
            <a:ext cx="6287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TCV111 – SECTION 3 CLUSTER?</a:t>
            </a:r>
          </a:p>
        </p:txBody>
      </p:sp>
    </p:spTree>
    <p:extLst>
      <p:ext uri="{BB962C8B-B14F-4D97-AF65-F5344CB8AC3E}">
        <p14:creationId xmlns:p14="http://schemas.microsoft.com/office/powerpoint/2010/main" val="34938148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470877-EB8D-2C60-311E-742F4B91B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65" y="336884"/>
            <a:ext cx="6245307" cy="5994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AAF6C1-8874-B134-E790-9B7BD5A53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479" y="1795842"/>
            <a:ext cx="3334215" cy="245779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70EB07-B3D9-6C26-549F-561736D30995}"/>
              </a:ext>
            </a:extLst>
          </p:cNvPr>
          <p:cNvSpPr txBox="1"/>
          <p:nvPr/>
        </p:nvSpPr>
        <p:spPr>
          <a:xfrm>
            <a:off x="7624479" y="463415"/>
            <a:ext cx="41392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600" b="1" dirty="0"/>
              <a:t>LLA893 – SECTION5 </a:t>
            </a:r>
          </a:p>
          <a:p>
            <a:r>
              <a:rPr lang="en-MY" sz="3600" b="1" dirty="0"/>
              <a:t>CLUSTER?</a:t>
            </a:r>
          </a:p>
        </p:txBody>
      </p:sp>
    </p:spTree>
    <p:extLst>
      <p:ext uri="{BB962C8B-B14F-4D97-AF65-F5344CB8AC3E}">
        <p14:creationId xmlns:p14="http://schemas.microsoft.com/office/powerpoint/2010/main" val="1184693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D92ED-8851-9F23-A934-C89D45DDA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FFF399-3887-F28D-B6BB-28748C8A4A04}"/>
              </a:ext>
            </a:extLst>
          </p:cNvPr>
          <p:cNvSpPr txBox="1"/>
          <p:nvPr/>
        </p:nvSpPr>
        <p:spPr>
          <a:xfrm>
            <a:off x="4169832" y="2135887"/>
            <a:ext cx="38523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THE END </a:t>
            </a:r>
          </a:p>
          <a:p>
            <a:pPr algn="ctr"/>
            <a:r>
              <a:rPr lang="en-US" sz="4800" dirty="0"/>
              <a:t>REFERENCE</a:t>
            </a:r>
          </a:p>
          <a:p>
            <a:pPr algn="ctr"/>
            <a:r>
              <a:rPr lang="en-US" sz="4800" dirty="0"/>
              <a:t>[10/07/2026]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33091720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5165025" y="247650"/>
            <a:ext cx="1861951" cy="492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/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/>
              <a:t>(Customer, Project, Device ID</a:t>
            </a:r>
            <a:r>
              <a:rPr lang="en-MY" sz="1400" b="1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4741548" y="4728283"/>
            <a:ext cx="3186725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RESULT OUTPUT</a:t>
            </a:r>
          </a:p>
          <a:p>
            <a:pPr algn="ctr"/>
            <a:r>
              <a:rPr lang="en-MY" sz="1100" dirty="0"/>
              <a:t>(Customer, Project, Device ID, Device Type, Section)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87876A-373C-4675-FD3D-7DB0A7CF37C8}"/>
              </a:ext>
            </a:extLst>
          </p:cNvPr>
          <p:cNvSpPr/>
          <p:nvPr/>
        </p:nvSpPr>
        <p:spPr>
          <a:xfrm>
            <a:off x="3467858" y="2438352"/>
            <a:ext cx="1292938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r>
              <a:rPr lang="en-MY" dirty="0"/>
              <a:t>REFIX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CREATE ON (18.03.2026)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1557482" y="4760255"/>
            <a:ext cx="1610264" cy="4825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UNKNOWN</a:t>
            </a:r>
          </a:p>
          <a:p>
            <a:pPr algn="ctr"/>
            <a:r>
              <a:rPr lang="en-MY" sz="1400" dirty="0"/>
              <a:t>= Assign by User</a:t>
            </a:r>
            <a:endParaRPr lang="en-MY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94568" y="1463374"/>
            <a:ext cx="1419280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NEW LIST EQUIPMENT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68DD4B-6101-9B54-2013-B930C6F32152}"/>
              </a:ext>
            </a:extLst>
          </p:cNvPr>
          <p:cNvSpPr/>
          <p:nvPr/>
        </p:nvSpPr>
        <p:spPr>
          <a:xfrm>
            <a:off x="9950620" y="1463374"/>
            <a:ext cx="1734622" cy="643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3A1BAA-8A37-06A4-CFA7-3DA154A8EA4B}"/>
              </a:ext>
            </a:extLst>
          </p:cNvPr>
          <p:cNvSpPr/>
          <p:nvPr/>
        </p:nvSpPr>
        <p:spPr>
          <a:xfrm>
            <a:off x="6935647" y="2487111"/>
            <a:ext cx="1095037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MY" dirty="0"/>
              <a:t>UFFIX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009BAE-D44D-F5B4-9F55-A99E839A952E}"/>
              </a:ext>
            </a:extLst>
          </p:cNvPr>
          <p:cNvSpPr/>
          <p:nvPr/>
        </p:nvSpPr>
        <p:spPr>
          <a:xfrm>
            <a:off x="3490801" y="3928843"/>
            <a:ext cx="1383224" cy="2936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Device Type</a:t>
            </a:r>
            <a:endParaRPr lang="en-MY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90989D-EB23-A7D3-7439-DABFD06D0794}"/>
              </a:ext>
            </a:extLst>
          </p:cNvPr>
          <p:cNvSpPr/>
          <p:nvPr/>
        </p:nvSpPr>
        <p:spPr>
          <a:xfrm>
            <a:off x="586501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Section</a:t>
            </a:r>
            <a:endParaRPr lang="en-MY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F5D1E-CD6A-7D48-EB4E-8860169D6207}"/>
              </a:ext>
            </a:extLst>
          </p:cNvPr>
          <p:cNvSpPr/>
          <p:nvPr/>
        </p:nvSpPr>
        <p:spPr>
          <a:xfrm>
            <a:off x="2428252" y="3053537"/>
            <a:ext cx="2991706" cy="686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SGD Classifier Hybrid Model </a:t>
            </a:r>
          </a:p>
          <a:p>
            <a:pPr algn="ctr"/>
            <a:r>
              <a:rPr lang="en-US" sz="1100" dirty="0"/>
              <a:t>- SGD Classifier </a:t>
            </a:r>
          </a:p>
          <a:p>
            <a:pPr algn="ctr"/>
            <a:r>
              <a:rPr lang="en-US" sz="1100" dirty="0"/>
              <a:t>- Composite Similarity</a:t>
            </a:r>
            <a:endParaRPr lang="en-MY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D3ED68-A5CA-A2A1-EC69-C01276A330DC}"/>
              </a:ext>
            </a:extLst>
          </p:cNvPr>
          <p:cNvSpPr/>
          <p:nvPr/>
        </p:nvSpPr>
        <p:spPr>
          <a:xfrm>
            <a:off x="5726456" y="3011355"/>
            <a:ext cx="1197522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2316480" y="1909006"/>
            <a:ext cx="7195820" cy="257675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0B1280C-E353-29EA-5158-E1ACE8A858C7}"/>
              </a:ext>
            </a:extLst>
          </p:cNvPr>
          <p:cNvCxnSpPr>
            <a:cxnSpLocks/>
            <a:stCxn id="48" idx="2"/>
            <a:endCxn id="12" idx="0"/>
          </p:cNvCxnSpPr>
          <p:nvPr/>
        </p:nvCxnSpPr>
        <p:spPr>
          <a:xfrm flipH="1">
            <a:off x="4114327" y="2019592"/>
            <a:ext cx="1995049" cy="41876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366D70-1510-CF42-1823-4E988A8D80C1}"/>
              </a:ext>
            </a:extLst>
          </p:cNvPr>
          <p:cNvCxnSpPr>
            <a:cxnSpLocks/>
            <a:stCxn id="48" idx="2"/>
            <a:endCxn id="28" idx="0"/>
          </p:cNvCxnSpPr>
          <p:nvPr/>
        </p:nvCxnSpPr>
        <p:spPr>
          <a:xfrm>
            <a:off x="6109376" y="2019592"/>
            <a:ext cx="1373790" cy="4675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8F39D8-A364-A491-5B2C-429E1032BE64}"/>
              </a:ext>
            </a:extLst>
          </p:cNvPr>
          <p:cNvCxnSpPr>
            <a:cxnSpLocks/>
          </p:cNvCxnSpPr>
          <p:nvPr/>
        </p:nvCxnSpPr>
        <p:spPr>
          <a:xfrm>
            <a:off x="4126392" y="2685576"/>
            <a:ext cx="0" cy="36796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FEF42E-4656-8981-D383-06817A37F08A}"/>
              </a:ext>
            </a:extLst>
          </p:cNvPr>
          <p:cNvCxnSpPr>
            <a:cxnSpLocks/>
          </p:cNvCxnSpPr>
          <p:nvPr/>
        </p:nvCxnSpPr>
        <p:spPr>
          <a:xfrm>
            <a:off x="4156249" y="3740057"/>
            <a:ext cx="0" cy="17771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9FC763D-AB16-C05E-FCAC-17C951C51634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334911" y="2723137"/>
            <a:ext cx="1148255" cy="28743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460963-CA31-955B-1356-B12770A46D12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>
            <a:off x="6325217" y="3279332"/>
            <a:ext cx="0" cy="7351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713848" y="1780905"/>
            <a:ext cx="3719486" cy="8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9ABED89-3B8F-B118-E340-A5A5A1816223}"/>
              </a:ext>
            </a:extLst>
          </p:cNvPr>
          <p:cNvCxnSpPr>
            <a:cxnSpLocks/>
            <a:stCxn id="48" idx="3"/>
            <a:endCxn id="5" idx="1"/>
          </p:cNvCxnSpPr>
          <p:nvPr/>
        </p:nvCxnSpPr>
        <p:spPr>
          <a:xfrm flipV="1">
            <a:off x="6785417" y="1784995"/>
            <a:ext cx="3165203" cy="44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>
            <a:off x="6096001" y="740321"/>
            <a:ext cx="13375" cy="8190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078855" y="2992364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DBScan</a:t>
            </a:r>
            <a:endParaRPr lang="en-MY" sz="14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56C5957-EB4A-DF08-B3C1-09B043758ADD}"/>
              </a:ext>
            </a:extLst>
          </p:cNvPr>
          <p:cNvCxnSpPr>
            <a:cxnSpLocks/>
            <a:stCxn id="28" idx="2"/>
            <a:endCxn id="104" idx="0"/>
          </p:cNvCxnSpPr>
          <p:nvPr/>
        </p:nvCxnSpPr>
        <p:spPr>
          <a:xfrm>
            <a:off x="7483166" y="2723137"/>
            <a:ext cx="1120672" cy="2692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14363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Cluster</a:t>
            </a:r>
            <a:endParaRPr lang="en-MY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603837" y="3260341"/>
            <a:ext cx="1" cy="7541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26D2039-7C65-8931-F540-0D055AB19AF1}"/>
              </a:ext>
            </a:extLst>
          </p:cNvPr>
          <p:cNvCxnSpPr>
            <a:cxnSpLocks/>
            <a:stCxn id="113" idx="2"/>
            <a:endCxn id="11" idx="0"/>
          </p:cNvCxnSpPr>
          <p:nvPr/>
        </p:nvCxnSpPr>
        <p:spPr>
          <a:xfrm flipH="1">
            <a:off x="6334911" y="4252054"/>
            <a:ext cx="2268926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2A3614-9713-4F95-B94F-13D4FCEF8B52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6325217" y="4252054"/>
            <a:ext cx="9694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BFFE8D3-AC92-50AC-C6B5-A8171747AB17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>
            <a:off x="4182413" y="4222463"/>
            <a:ext cx="2152498" cy="5058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167746" y="5001553"/>
            <a:ext cx="1573802" cy="254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5063967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 flipH="1">
            <a:off x="6334910" y="5325789"/>
            <a:ext cx="1" cy="4602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2EBA51A-B89B-4B76-F652-7D3A5839B008}"/>
              </a:ext>
            </a:extLst>
          </p:cNvPr>
          <p:cNvGrpSpPr/>
          <p:nvPr/>
        </p:nvGrpSpPr>
        <p:grpSpPr>
          <a:xfrm>
            <a:off x="972920" y="2098436"/>
            <a:ext cx="584562" cy="2928602"/>
            <a:chOff x="972920" y="2098436"/>
            <a:chExt cx="584562" cy="2928602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3DC5C35-9205-120B-F8B2-E5B5DF7F3564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998294" y="2098436"/>
              <a:ext cx="5914" cy="29286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A5A4D9E-2892-9ACD-3EA3-E817A29BC06F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972920" y="5001552"/>
              <a:ext cx="584562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ML MODEL</a:t>
            </a:r>
            <a:endParaRPr lang="en-MY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9568AF-D5BB-AD82-2087-B821887A488F}"/>
              </a:ext>
            </a:extLst>
          </p:cNvPr>
          <p:cNvSpPr/>
          <p:nvPr/>
        </p:nvSpPr>
        <p:spPr>
          <a:xfrm>
            <a:off x="-16887" y="73003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(20.0.2026)</a:t>
            </a:r>
          </a:p>
        </p:txBody>
      </p:sp>
    </p:spTree>
    <p:extLst>
      <p:ext uri="{BB962C8B-B14F-4D97-AF65-F5344CB8AC3E}">
        <p14:creationId xmlns:p14="http://schemas.microsoft.com/office/powerpoint/2010/main" val="9710724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902164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908642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954662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954662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908642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93FB64-D419-E58A-F044-A9F734C4F122}"/>
              </a:ext>
            </a:extLst>
          </p:cNvPr>
          <p:cNvSpPr/>
          <p:nvPr/>
        </p:nvSpPr>
        <p:spPr>
          <a:xfrm>
            <a:off x="7578550" y="2315001"/>
            <a:ext cx="1247056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SGD Classifier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24791-8CA7-8C60-E9D6-9C21FA1313FF}"/>
              </a:ext>
            </a:extLst>
          </p:cNvPr>
          <p:cNvSpPr/>
          <p:nvPr/>
        </p:nvSpPr>
        <p:spPr>
          <a:xfrm>
            <a:off x="7744932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type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895EBC-EE4A-1C83-51C4-A2C198BC6973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8202078" y="2582978"/>
            <a:ext cx="3054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3759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F518B-49C6-F9C6-3337-EFCE0F2F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E84C4A-89FD-49A5-43B2-CB78F59C2357}"/>
              </a:ext>
            </a:extLst>
          </p:cNvPr>
          <p:cNvSpPr/>
          <p:nvPr/>
        </p:nvSpPr>
        <p:spPr>
          <a:xfrm>
            <a:off x="6202582" y="271628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 from DB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B3B4F-12A2-8155-43AC-83F9C978ECFD}"/>
              </a:ext>
            </a:extLst>
          </p:cNvPr>
          <p:cNvSpPr/>
          <p:nvPr/>
        </p:nvSpPr>
        <p:spPr>
          <a:xfrm>
            <a:off x="5659025" y="4280696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99D534-946B-243C-39ED-8C44A67091A7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(15.06.2026)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607B8A-8D96-E00D-D73A-BF6C50AB13BC}"/>
              </a:ext>
            </a:extLst>
          </p:cNvPr>
          <p:cNvSpPr/>
          <p:nvPr/>
        </p:nvSpPr>
        <p:spPr>
          <a:xfrm>
            <a:off x="1273884" y="3502038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3F11E6-D2CB-AC79-027E-DF0DE17CEA8C}"/>
              </a:ext>
            </a:extLst>
          </p:cNvPr>
          <p:cNvSpPr/>
          <p:nvPr/>
        </p:nvSpPr>
        <p:spPr>
          <a:xfrm>
            <a:off x="1273882" y="2578246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01FE1B-7455-9494-22BF-97A996CF2CDE}"/>
              </a:ext>
            </a:extLst>
          </p:cNvPr>
          <p:cNvSpPr/>
          <p:nvPr/>
        </p:nvSpPr>
        <p:spPr>
          <a:xfrm>
            <a:off x="5860891" y="1945583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1FD67D6-78E0-EBC7-0ED3-21B26BE3D21C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3514495" y="1883200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112195-1E3D-543F-F968-72A97F258EA7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7396801" y="3741487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5EE75BE-3612-F551-D438-F7DB493841A6}"/>
              </a:ext>
            </a:extLst>
          </p:cNvPr>
          <p:cNvSpPr/>
          <p:nvPr/>
        </p:nvSpPr>
        <p:spPr>
          <a:xfrm>
            <a:off x="7668335" y="2351577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58DF7AD-871B-3DF9-911E-3B52132E3B48}"/>
              </a:ext>
            </a:extLst>
          </p:cNvPr>
          <p:cNvSpPr/>
          <p:nvPr/>
        </p:nvSpPr>
        <p:spPr>
          <a:xfrm>
            <a:off x="7733117" y="2895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360D670-94B6-F36D-97D7-090E553DFF32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193317" y="2619554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AA1769A-EBD1-F1AB-D7BA-8CFE6EE9A7EE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514495" y="3741487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BD9EFA7-3A93-1EC0-8F25-C4BA8C18C392}"/>
              </a:ext>
            </a:extLst>
          </p:cNvPr>
          <p:cNvSpPr/>
          <p:nvPr/>
        </p:nvSpPr>
        <p:spPr>
          <a:xfrm>
            <a:off x="6129892" y="5349020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F948B9D-EA3B-0B8F-331F-DE2090EF22C2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7396801" y="4878202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E036D93-D98B-C382-E296-F52A73A7B557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2394189" y="2916773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5CCC409-F1AE-CF70-A85B-6F6D5652E4B1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07F865-3B7A-FDD9-000D-9F76F56AD918}"/>
              </a:ext>
            </a:extLst>
          </p:cNvPr>
          <p:cNvSpPr/>
          <p:nvPr/>
        </p:nvSpPr>
        <p:spPr>
          <a:xfrm>
            <a:off x="5866638" y="1653081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92F43E-03F0-E2B1-0F62-774436E180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8193317" y="3132802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05ADF-43F7-18B8-FF61-F5B1361CDE36}"/>
              </a:ext>
            </a:extLst>
          </p:cNvPr>
          <p:cNvSpPr/>
          <p:nvPr/>
        </p:nvSpPr>
        <p:spPr>
          <a:xfrm>
            <a:off x="7733117" y="3324782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57B9C79-4FF9-C00B-2017-6A66F5B48B1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8671778" y="5484012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A3F821-0DE9-BA71-5F0E-568D72DD7461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8943213" y="1883199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A3494B0-09CE-651B-735D-F376AEFC5A91}"/>
              </a:ext>
            </a:extLst>
          </p:cNvPr>
          <p:cNvSpPr/>
          <p:nvPr/>
        </p:nvSpPr>
        <p:spPr>
          <a:xfrm>
            <a:off x="3210375" y="1803916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E914B67-FA78-E37B-3115-9588220D3D12}"/>
              </a:ext>
            </a:extLst>
          </p:cNvPr>
          <p:cNvCxnSpPr>
            <a:cxnSpLocks/>
          </p:cNvCxnSpPr>
          <p:nvPr/>
        </p:nvCxnSpPr>
        <p:spPr>
          <a:xfrm>
            <a:off x="10276309" y="1883199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1F1C4E4E-01ED-0629-31A9-4AC084D82F1D}"/>
              </a:ext>
            </a:extLst>
          </p:cNvPr>
          <p:cNvSpPr/>
          <p:nvPr/>
        </p:nvSpPr>
        <p:spPr>
          <a:xfrm>
            <a:off x="7573894" y="1040528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FCB62BBF-02DD-7CD1-BC5A-1F7ACB214356}"/>
              </a:ext>
            </a:extLst>
          </p:cNvPr>
          <p:cNvSpPr/>
          <p:nvPr/>
        </p:nvSpPr>
        <p:spPr>
          <a:xfrm>
            <a:off x="4576888" y="4445347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49EA3528-2301-BB15-D6C2-1FA2F342CD89}"/>
              </a:ext>
            </a:extLst>
          </p:cNvPr>
          <p:cNvSpPr/>
          <p:nvPr/>
        </p:nvSpPr>
        <p:spPr>
          <a:xfrm>
            <a:off x="710902" y="2966839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13382E64-992A-5CDF-DA48-D564A9140A92}"/>
              </a:ext>
            </a:extLst>
          </p:cNvPr>
          <p:cNvCxnSpPr>
            <a:cxnSpLocks/>
          </p:cNvCxnSpPr>
          <p:nvPr/>
        </p:nvCxnSpPr>
        <p:spPr>
          <a:xfrm flipH="1">
            <a:off x="8956415" y="1880759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DF01BB12-1A72-61BA-C004-C1BE808E5888}"/>
              </a:ext>
            </a:extLst>
          </p:cNvPr>
          <p:cNvCxnSpPr>
            <a:cxnSpLocks/>
          </p:cNvCxnSpPr>
          <p:nvPr/>
        </p:nvCxnSpPr>
        <p:spPr>
          <a:xfrm>
            <a:off x="7451637" y="894634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9ABE3DD-7F1B-8CD5-4B7C-ACC971DC1871}"/>
              </a:ext>
            </a:extLst>
          </p:cNvPr>
          <p:cNvSpPr/>
          <p:nvPr/>
        </p:nvSpPr>
        <p:spPr>
          <a:xfrm>
            <a:off x="6225238" y="2351577"/>
            <a:ext cx="1247056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SGD Classifier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75E58-7F22-5D3A-1D6E-F3C07B4E01F8}"/>
              </a:ext>
            </a:extLst>
          </p:cNvPr>
          <p:cNvSpPr/>
          <p:nvPr/>
        </p:nvSpPr>
        <p:spPr>
          <a:xfrm>
            <a:off x="6391620" y="2895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type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D015BD-B6C2-F283-5F2B-E6FCBB61B90B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6848766" y="2619554"/>
            <a:ext cx="3054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9609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C77DE-B76F-4F1E-EDD9-CE0CD4B3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3994906-2372-B4D2-223B-D9057200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500"/>
          <a:stretch>
            <a:fillRect/>
          </a:stretch>
        </p:blipFill>
        <p:spPr>
          <a:xfrm>
            <a:off x="219309" y="2178819"/>
            <a:ext cx="6172347" cy="35251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24626C-3F36-D1AC-04D4-8AFF240984B3}"/>
              </a:ext>
            </a:extLst>
          </p:cNvPr>
          <p:cNvSpPr/>
          <p:nvPr/>
        </p:nvSpPr>
        <p:spPr>
          <a:xfrm>
            <a:off x="3209250" y="292075"/>
            <a:ext cx="6102683" cy="567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4000" b="1" dirty="0"/>
              <a:t>SQL : </a:t>
            </a:r>
            <a:r>
              <a:rPr lang="en-MY" sz="4000" dirty="0"/>
              <a:t>From DB to Json</a:t>
            </a:r>
            <a:endParaRPr lang="en-MY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26C49-B91E-5061-F81B-CB6DD35A74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937"/>
          <a:stretch>
            <a:fillRect/>
          </a:stretch>
        </p:blipFill>
        <p:spPr>
          <a:xfrm>
            <a:off x="8749895" y="1688399"/>
            <a:ext cx="2542945" cy="450595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C88C422-744D-5DCF-988F-D10AD46473D5}"/>
              </a:ext>
            </a:extLst>
          </p:cNvPr>
          <p:cNvSpPr/>
          <p:nvPr/>
        </p:nvSpPr>
        <p:spPr>
          <a:xfrm>
            <a:off x="6903720" y="3346704"/>
            <a:ext cx="1325880" cy="731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2388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C1AEF-691B-A95B-1F83-8D297EB6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802F5-DEEB-EEB0-FF97-A42EB4EB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38" y="954783"/>
            <a:ext cx="5868219" cy="277216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02382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22BB4-E5E8-E925-90A0-2C3082D2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7C17FA-B6A8-B16D-4963-8E376401C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5" t="537" r="17350" b="-537"/>
          <a:stretch>
            <a:fillRect/>
          </a:stretch>
        </p:blipFill>
        <p:spPr>
          <a:xfrm>
            <a:off x="5373551" y="817962"/>
            <a:ext cx="6083881" cy="5222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9CD4A6-8A4A-78B4-07C1-7E0686FA18EC}"/>
              </a:ext>
            </a:extLst>
          </p:cNvPr>
          <p:cNvSpPr txBox="1"/>
          <p:nvPr/>
        </p:nvSpPr>
        <p:spPr>
          <a:xfrm>
            <a:off x="734568" y="2282648"/>
            <a:ext cx="42373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manual assign </a:t>
            </a:r>
          </a:p>
          <a:p>
            <a:pPr algn="ctr"/>
            <a:r>
              <a:rPr lang="en-US" sz="4000" dirty="0"/>
              <a:t>type, section, cluster</a:t>
            </a:r>
          </a:p>
          <a:p>
            <a:pPr algn="ctr"/>
            <a:r>
              <a:rPr lang="en-US" sz="4000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1577505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2548E-9A0F-EFA7-4A68-4D96B0D0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93614A-CAD1-31A5-3EFA-9390AA2C9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979" y="155448"/>
            <a:ext cx="3536954" cy="63318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9596CD-7BBB-CEC9-93CC-478D5B0263B2}"/>
              </a:ext>
            </a:extLst>
          </p:cNvPr>
          <p:cNvSpPr txBox="1"/>
          <p:nvPr/>
        </p:nvSpPr>
        <p:spPr>
          <a:xfrm>
            <a:off x="2645664" y="2246072"/>
            <a:ext cx="42373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manual assign </a:t>
            </a:r>
          </a:p>
          <a:p>
            <a:pPr algn="ctr"/>
            <a:r>
              <a:rPr lang="en-US" sz="4000" dirty="0"/>
              <a:t>type, section, cluster</a:t>
            </a:r>
          </a:p>
          <a:p>
            <a:pPr algn="ctr"/>
            <a:r>
              <a:rPr lang="en-US" sz="4000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8295168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4FC99-A45C-0AF5-3285-F7CDED9B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6C2B62-5893-281D-5012-E1D6AB364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462541"/>
            <a:ext cx="11268364" cy="615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715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3C6A8-F0B0-B9B5-11F3-6549BC2E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84E8E-DC53-ED07-F5B2-5AB8FD3B7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672"/>
          <a:stretch>
            <a:fillRect/>
          </a:stretch>
        </p:blipFill>
        <p:spPr>
          <a:xfrm>
            <a:off x="4095263" y="194236"/>
            <a:ext cx="3072156" cy="203172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86239A-4847-9967-4D9B-6E6B46C528B9}"/>
              </a:ext>
            </a:extLst>
          </p:cNvPr>
          <p:cNvSpPr/>
          <p:nvPr/>
        </p:nvSpPr>
        <p:spPr>
          <a:xfrm>
            <a:off x="952408" y="3471711"/>
            <a:ext cx="697346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yes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FFFEAA-7AC2-0DCA-84BF-3710DB62E113}"/>
              </a:ext>
            </a:extLst>
          </p:cNvPr>
          <p:cNvSpPr/>
          <p:nvPr/>
        </p:nvSpPr>
        <p:spPr>
          <a:xfrm>
            <a:off x="2960254" y="3447462"/>
            <a:ext cx="697346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72E4AB-9DCB-140D-C7D3-1F318FE28757}"/>
              </a:ext>
            </a:extLst>
          </p:cNvPr>
          <p:cNvSpPr/>
          <p:nvPr/>
        </p:nvSpPr>
        <p:spPr>
          <a:xfrm>
            <a:off x="1498691" y="2733963"/>
            <a:ext cx="1616364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User Assign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C2733A-C5C1-511B-F181-2440E3418A76}"/>
              </a:ext>
            </a:extLst>
          </p:cNvPr>
          <p:cNvSpPr/>
          <p:nvPr/>
        </p:nvSpPr>
        <p:spPr>
          <a:xfrm>
            <a:off x="2581563" y="4121715"/>
            <a:ext cx="1513700" cy="8266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Remain in JSON dump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42ED7B-ABFE-F62E-1F54-9BC25461DE0E}"/>
              </a:ext>
            </a:extLst>
          </p:cNvPr>
          <p:cNvSpPr/>
          <p:nvPr/>
        </p:nvSpPr>
        <p:spPr>
          <a:xfrm>
            <a:off x="662708" y="4121715"/>
            <a:ext cx="1780312" cy="1438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Suggestion similarity </a:t>
            </a:r>
          </a:p>
          <a:p>
            <a:pPr algn="ctr"/>
            <a:r>
              <a:rPr lang="en-MY" dirty="0"/>
              <a:t>(section, cluster)</a:t>
            </a:r>
          </a:p>
          <a:p>
            <a:pPr algn="ctr"/>
            <a:r>
              <a:rPr lang="en-MY" dirty="0"/>
              <a:t>Type – auto save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EC2860-748A-6AE7-0A6F-620BD0EF8650}"/>
              </a:ext>
            </a:extLst>
          </p:cNvPr>
          <p:cNvSpPr/>
          <p:nvPr/>
        </p:nvSpPr>
        <p:spPr>
          <a:xfrm>
            <a:off x="8070629" y="2477660"/>
            <a:ext cx="2902171" cy="7435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KNOWN</a:t>
            </a:r>
          </a:p>
          <a:p>
            <a:pPr algn="ctr"/>
            <a:r>
              <a:rPr lang="en-MY" dirty="0"/>
              <a:t>CLUSTERED GROUP (Table)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4C5973-A38A-247F-CD74-112309E3B853}"/>
              </a:ext>
            </a:extLst>
          </p:cNvPr>
          <p:cNvSpPr/>
          <p:nvPr/>
        </p:nvSpPr>
        <p:spPr>
          <a:xfrm>
            <a:off x="900545" y="1702961"/>
            <a:ext cx="2757055" cy="7458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UNKNOWN </a:t>
            </a:r>
          </a:p>
          <a:p>
            <a:pPr algn="ctr"/>
            <a:r>
              <a:rPr lang="en-MY" dirty="0"/>
              <a:t>Pending Table (JSON dump)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B8C209-9597-A14F-603B-6BCBBF0C12EE}"/>
              </a:ext>
            </a:extLst>
          </p:cNvPr>
          <p:cNvSpPr/>
          <p:nvPr/>
        </p:nvSpPr>
        <p:spPr>
          <a:xfrm>
            <a:off x="662707" y="5757712"/>
            <a:ext cx="1780311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User Assign</a:t>
            </a:r>
          </a:p>
        </p:txBody>
      </p:sp>
    </p:spTree>
    <p:extLst>
      <p:ext uri="{BB962C8B-B14F-4D97-AF65-F5344CB8AC3E}">
        <p14:creationId xmlns:p14="http://schemas.microsoft.com/office/powerpoint/2010/main" val="30848592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E7790-0FE5-5850-E719-AAEEC515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32B888-82CD-248D-FF45-156662642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327" y="238991"/>
            <a:ext cx="4253345" cy="638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224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2F157-8D29-E788-074F-76AA928D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ACD256-33A7-D0D5-C7EF-8E8F35880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137" y="761580"/>
            <a:ext cx="9215725" cy="3163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5FF316-854E-20A1-7324-B95140572A91}"/>
              </a:ext>
            </a:extLst>
          </p:cNvPr>
          <p:cNvSpPr txBox="1"/>
          <p:nvPr/>
        </p:nvSpPr>
        <p:spPr>
          <a:xfrm>
            <a:off x="2816352" y="4498848"/>
            <a:ext cx="68870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 Project A1825 -  LIPICO : CR___SPD refer to Control Valve/VSD.</a:t>
            </a:r>
          </a:p>
          <a:p>
            <a:endParaRPr lang="en-US" dirty="0"/>
          </a:p>
          <a:p>
            <a:r>
              <a:rPr lang="en-US" dirty="0"/>
              <a:t>But for CR refer to agitator.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Hence the model unable to captured what is the right device type for this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5830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B0890-8A74-DADB-7E71-29F6EA68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D9A7D9-EE79-6F45-85FB-F8959616D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034" y="942526"/>
            <a:ext cx="9634933" cy="483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496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F46A2-011D-3546-0B8A-E87BD8F1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32F23-4670-2ED4-3919-B3B8454E3933}"/>
              </a:ext>
            </a:extLst>
          </p:cNvPr>
          <p:cNvSpPr txBox="1"/>
          <p:nvPr/>
        </p:nvSpPr>
        <p:spPr>
          <a:xfrm>
            <a:off x="1063259" y="2767280"/>
            <a:ext cx="48524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DeviceIdentifierLibrary</a:t>
            </a:r>
            <a:endParaRPr lang="en-US" sz="4000" dirty="0"/>
          </a:p>
          <a:p>
            <a:pPr algn="ctr"/>
            <a:r>
              <a:rPr lang="en-US" sz="4000" dirty="0"/>
              <a:t>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A2A64-8894-0919-1FE3-D9F8E4411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284" y="230886"/>
            <a:ext cx="4264152" cy="639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181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7B9EAB-1DE9-6B8F-A341-AC012457782D}"/>
              </a:ext>
            </a:extLst>
          </p:cNvPr>
          <p:cNvSpPr/>
          <p:nvPr/>
        </p:nvSpPr>
        <p:spPr>
          <a:xfrm>
            <a:off x="221446" y="832082"/>
            <a:ext cx="2809621" cy="1769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model</a:t>
            </a:r>
          </a:p>
          <a:p>
            <a:pPr algn="ctr"/>
            <a:r>
              <a:rPr lang="en-US" b="1" dirty="0"/>
              <a:t>(N = 1132)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Remove duplication = 1123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Training = 786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Validating =168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Testing = 169</a:t>
            </a:r>
          </a:p>
          <a:p>
            <a:endParaRPr lang="en-MY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DC8152-7222-4F06-2D8C-791E62A76AEC}"/>
              </a:ext>
            </a:extLst>
          </p:cNvPr>
          <p:cNvSpPr/>
          <p:nvPr/>
        </p:nvSpPr>
        <p:spPr>
          <a:xfrm>
            <a:off x="6510868" y="832081"/>
            <a:ext cx="2592663" cy="1769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Model Application</a:t>
            </a:r>
          </a:p>
          <a:p>
            <a:pPr algn="ctr"/>
            <a:r>
              <a:rPr lang="en-US" b="1" dirty="0"/>
              <a:t>(N = 385)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Known = 250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UNKNOWN= 135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131727-3BA4-1520-49BA-008E7ABA0837}"/>
              </a:ext>
            </a:extLst>
          </p:cNvPr>
          <p:cNvSpPr/>
          <p:nvPr/>
        </p:nvSpPr>
        <p:spPr>
          <a:xfrm>
            <a:off x="3701247" y="832082"/>
            <a:ext cx="1912153" cy="1769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reference_df</a:t>
            </a:r>
            <a:endParaRPr lang="en-US" sz="1600" b="1" dirty="0"/>
          </a:p>
          <a:p>
            <a:pPr algn="ctr"/>
            <a:r>
              <a:rPr lang="en-US" sz="1600" b="1" dirty="0"/>
              <a:t>(N = 1321)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r>
              <a:rPr lang="en-US" sz="1600" b="1" dirty="0" err="1"/>
              <a:t>master_df</a:t>
            </a:r>
            <a:endParaRPr lang="en-US" sz="1600" b="1" dirty="0"/>
          </a:p>
          <a:p>
            <a:pPr algn="ctr"/>
            <a:r>
              <a:rPr lang="en-US" sz="1600" b="1" dirty="0"/>
              <a:t>(N = 1321)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103C6D-3129-51B2-CA29-9A68872238A8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5613400" y="1716616"/>
            <a:ext cx="897468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1397EE-26FB-DFCB-B3B3-2DA1C530F9D7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031067" y="1716617"/>
            <a:ext cx="67018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2BC164-8691-C2F6-B714-A26EAEE37146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flipH="1">
            <a:off x="7807199" y="2601150"/>
            <a:ext cx="1" cy="619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8BE4226-53F3-2D4E-4F9F-BFADA6F3E2B0}"/>
              </a:ext>
            </a:extLst>
          </p:cNvPr>
          <p:cNvSpPr/>
          <p:nvPr/>
        </p:nvSpPr>
        <p:spPr>
          <a:xfrm>
            <a:off x="4933369" y="3220719"/>
            <a:ext cx="5747659" cy="22555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UNKNOWN</a:t>
            </a:r>
          </a:p>
          <a:p>
            <a:pPr algn="ctr"/>
            <a:r>
              <a:rPr lang="en-US" b="1" dirty="0"/>
              <a:t>(N = 135)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DeviceType</a:t>
            </a:r>
            <a:r>
              <a:rPr lang="en-US" sz="1600" dirty="0"/>
              <a:t>    = 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DeviceSection</a:t>
            </a:r>
            <a:r>
              <a:rPr lang="en-US" sz="1600" dirty="0"/>
              <a:t> = 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DeviceCluster</a:t>
            </a:r>
            <a:r>
              <a:rPr lang="en-US" sz="1600" dirty="0"/>
              <a:t> = 106 [PREDICTION % BY THE MODEL]</a:t>
            </a:r>
          </a:p>
          <a:p>
            <a:pPr lvl="3"/>
            <a:r>
              <a:rPr lang="en-US" sz="1600" dirty="0"/>
              <a:t> = suggest % the top 3</a:t>
            </a:r>
          </a:p>
          <a:p>
            <a:pPr lvl="3"/>
            <a:r>
              <a:rPr lang="en-US" sz="1600" dirty="0"/>
              <a:t>Action = remove the LV distance and similarity</a:t>
            </a:r>
          </a:p>
        </p:txBody>
      </p:sp>
    </p:spTree>
    <p:extLst>
      <p:ext uri="{BB962C8B-B14F-4D97-AF65-F5344CB8AC3E}">
        <p14:creationId xmlns:p14="http://schemas.microsoft.com/office/powerpoint/2010/main" val="16439009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603C7-851A-17BA-F35F-724AB302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261A98-B7E5-B3FC-5857-515FD7AB3FCC}"/>
              </a:ext>
            </a:extLst>
          </p:cNvPr>
          <p:cNvSpPr/>
          <p:nvPr/>
        </p:nvSpPr>
        <p:spPr>
          <a:xfrm>
            <a:off x="221446" y="832082"/>
            <a:ext cx="2809621" cy="1769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DeviceCluster</a:t>
            </a:r>
            <a:r>
              <a:rPr lang="en-US" b="1" dirty="0"/>
              <a:t> - </a:t>
            </a:r>
            <a:endParaRPr lang="en-US" sz="1600" dirty="0"/>
          </a:p>
          <a:p>
            <a:endParaRPr lang="en-MY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C63FC3-5D18-6A3B-DFA1-0DA14539E494}"/>
              </a:ext>
            </a:extLst>
          </p:cNvPr>
          <p:cNvSpPr/>
          <p:nvPr/>
        </p:nvSpPr>
        <p:spPr>
          <a:xfrm>
            <a:off x="6510868" y="832081"/>
            <a:ext cx="2592663" cy="1769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AppRegistryEditor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2AE1FD-CDDD-9139-25FA-F691A2DB120D}"/>
              </a:ext>
            </a:extLst>
          </p:cNvPr>
          <p:cNvSpPr/>
          <p:nvPr/>
        </p:nvSpPr>
        <p:spPr>
          <a:xfrm>
            <a:off x="3701247" y="832082"/>
            <a:ext cx="1912153" cy="1769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Logic.dll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327C77-A116-EAE0-8DE3-7FB44CC450AF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5613400" y="1716616"/>
            <a:ext cx="897468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050325-CDB9-61B5-7A46-CFB649023530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031067" y="1716617"/>
            <a:ext cx="67018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0AF689-5BE0-25F6-7BA7-F9311277EF6D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flipH="1">
            <a:off x="7807199" y="2601150"/>
            <a:ext cx="1" cy="619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A602B4D-832F-3642-04C7-69EEBE03FB9E}"/>
              </a:ext>
            </a:extLst>
          </p:cNvPr>
          <p:cNvSpPr/>
          <p:nvPr/>
        </p:nvSpPr>
        <p:spPr>
          <a:xfrm>
            <a:off x="4933369" y="3220719"/>
            <a:ext cx="5747659" cy="22555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DeviceCluster</a:t>
            </a:r>
            <a:r>
              <a:rPr lang="en-US" b="1" dirty="0"/>
              <a:t> </a:t>
            </a:r>
          </a:p>
          <a:p>
            <a:pPr algn="ctr"/>
            <a:r>
              <a:rPr lang="en-US" b="1" dirty="0"/>
              <a:t>[PROJECT CONSOLE]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 all the function to </a:t>
            </a:r>
            <a:r>
              <a:rPr lang="en-US" sz="1600" dirty="0" err="1"/>
              <a:t>makesure</a:t>
            </a:r>
            <a:r>
              <a:rPr lang="en-US" sz="1600" dirty="0"/>
              <a:t> it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 the UI in console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539816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9D213-5E93-13CE-40FA-5766BCC6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467B688-6E25-D7B6-4B74-FA2F6A1FA53A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9967414" y="4251960"/>
            <a:ext cx="1" cy="1530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F1325E3-C696-2ED7-AC86-F11945E0BCF0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1924081" y="4251960"/>
            <a:ext cx="0" cy="87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547347C-0A00-8B08-CFFA-4E91B694F059}"/>
              </a:ext>
            </a:extLst>
          </p:cNvPr>
          <p:cNvCxnSpPr>
            <a:stCxn id="30" idx="2"/>
            <a:endCxn id="48" idx="0"/>
          </p:cNvCxnSpPr>
          <p:nvPr/>
        </p:nvCxnSpPr>
        <p:spPr>
          <a:xfrm flipH="1">
            <a:off x="6049951" y="823576"/>
            <a:ext cx="46049" cy="4301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78916A9-8901-6E12-6F09-84557DDE6436}"/>
              </a:ext>
            </a:extLst>
          </p:cNvPr>
          <p:cNvSpPr/>
          <p:nvPr/>
        </p:nvSpPr>
        <p:spPr>
          <a:xfrm>
            <a:off x="4767924" y="203199"/>
            <a:ext cx="2656151" cy="6203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DeviceCluster</a:t>
            </a:r>
            <a:r>
              <a:rPr lang="en-US" b="1" dirty="0"/>
              <a:t> </a:t>
            </a:r>
          </a:p>
          <a:p>
            <a:pPr algn="ctr"/>
            <a:r>
              <a:rPr lang="en-US" b="1" dirty="0"/>
              <a:t>[PROJECT CONSOLE]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A1ECE7-7608-0A8C-B63F-619A92A6058A}"/>
              </a:ext>
            </a:extLst>
          </p:cNvPr>
          <p:cNvSpPr/>
          <p:nvPr/>
        </p:nvSpPr>
        <p:spPr>
          <a:xfrm>
            <a:off x="5485936" y="991444"/>
            <a:ext cx="1220126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Load SQL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F3E2FB-5B0F-3D2A-6B78-4535C1BE8311}"/>
              </a:ext>
            </a:extLst>
          </p:cNvPr>
          <p:cNvSpPr/>
          <p:nvPr/>
        </p:nvSpPr>
        <p:spPr>
          <a:xfrm>
            <a:off x="5228233" y="1531869"/>
            <a:ext cx="173553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 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6415DD-7167-FA22-B91C-458B15584668}"/>
              </a:ext>
            </a:extLst>
          </p:cNvPr>
          <p:cNvSpPr/>
          <p:nvPr/>
        </p:nvSpPr>
        <p:spPr>
          <a:xfrm>
            <a:off x="5228232" y="2082567"/>
            <a:ext cx="173553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 Section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4EFB4E-3B74-D8D1-4770-D8964E3205A0}"/>
              </a:ext>
            </a:extLst>
          </p:cNvPr>
          <p:cNvSpPr/>
          <p:nvPr/>
        </p:nvSpPr>
        <p:spPr>
          <a:xfrm>
            <a:off x="5228231" y="2620371"/>
            <a:ext cx="173553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 Cluster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3E2D28-56C4-415F-6561-09F1749BCC99}"/>
              </a:ext>
            </a:extLst>
          </p:cNvPr>
          <p:cNvSpPr/>
          <p:nvPr/>
        </p:nvSpPr>
        <p:spPr>
          <a:xfrm>
            <a:off x="4872162" y="3156957"/>
            <a:ext cx="2544171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 – Cluster Grouping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997BAF-A9F4-E7A5-2330-42CAD9CD673F}"/>
              </a:ext>
            </a:extLst>
          </p:cNvPr>
          <p:cNvSpPr/>
          <p:nvPr/>
        </p:nvSpPr>
        <p:spPr>
          <a:xfrm>
            <a:off x="4823911" y="3728045"/>
            <a:ext cx="2544171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 – UNKNOWN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365E03-5B6A-A7AD-1DAD-46C730F81C29}"/>
              </a:ext>
            </a:extLst>
          </p:cNvPr>
          <p:cNvSpPr/>
          <p:nvPr/>
        </p:nvSpPr>
        <p:spPr>
          <a:xfrm>
            <a:off x="859430" y="4488804"/>
            <a:ext cx="212930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Device Type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F27DE3-60AE-A242-DCEA-B64DDEECBD56}"/>
              </a:ext>
            </a:extLst>
          </p:cNvPr>
          <p:cNvSpPr/>
          <p:nvPr/>
        </p:nvSpPr>
        <p:spPr>
          <a:xfrm>
            <a:off x="5079595" y="4488804"/>
            <a:ext cx="212930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Device Section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7DC863-126C-4B08-2042-D039D8102B2B}"/>
              </a:ext>
            </a:extLst>
          </p:cNvPr>
          <p:cNvSpPr/>
          <p:nvPr/>
        </p:nvSpPr>
        <p:spPr>
          <a:xfrm>
            <a:off x="8902764" y="4488804"/>
            <a:ext cx="212930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Device Section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4E112E-426D-113C-8DAD-8B1D85E98A36}"/>
              </a:ext>
            </a:extLst>
          </p:cNvPr>
          <p:cNvSpPr/>
          <p:nvPr/>
        </p:nvSpPr>
        <p:spPr>
          <a:xfrm>
            <a:off x="8902763" y="5046136"/>
            <a:ext cx="2129303" cy="5191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Suggestion top 3 from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3DCD75-2C3E-32C3-97CD-A24025E919D7}"/>
              </a:ext>
            </a:extLst>
          </p:cNvPr>
          <p:cNvSpPr/>
          <p:nvPr/>
        </p:nvSpPr>
        <p:spPr>
          <a:xfrm>
            <a:off x="8902763" y="5782736"/>
            <a:ext cx="2129303" cy="362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Restructure and Kick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801306-9B7E-8CCE-C2AB-B852E0C455B9}"/>
              </a:ext>
            </a:extLst>
          </p:cNvPr>
          <p:cNvSpPr/>
          <p:nvPr/>
        </p:nvSpPr>
        <p:spPr>
          <a:xfrm>
            <a:off x="1524062" y="5123252"/>
            <a:ext cx="800038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4F337D-B122-B9B2-3F4D-8148BDBEACF3}"/>
              </a:ext>
            </a:extLst>
          </p:cNvPr>
          <p:cNvSpPr/>
          <p:nvPr/>
        </p:nvSpPr>
        <p:spPr>
          <a:xfrm>
            <a:off x="5649932" y="5125087"/>
            <a:ext cx="800038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BDD60A5-1AD2-8ECD-1F58-7C2B25D5427B}"/>
              </a:ext>
            </a:extLst>
          </p:cNvPr>
          <p:cNvCxnSpPr>
            <a:cxnSpLocks/>
          </p:cNvCxnSpPr>
          <p:nvPr/>
        </p:nvCxnSpPr>
        <p:spPr>
          <a:xfrm>
            <a:off x="1924081" y="4251960"/>
            <a:ext cx="8043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79400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23481</TotalTime>
  <Words>2920</Words>
  <Application>Microsoft Office PowerPoint</Application>
  <PresentationFormat>Widescreen</PresentationFormat>
  <Paragraphs>807</Paragraphs>
  <Slides>71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Aptos</vt:lpstr>
      <vt:lpstr>Aptos Narrow</vt:lpstr>
      <vt:lpstr>Arial</vt:lpstr>
      <vt:lpstr>Calibri</vt:lpstr>
      <vt:lpstr>Tw Cen MT</vt:lpstr>
      <vt:lpstr>Droplet</vt:lpstr>
      <vt:lpstr>Update Xenxible Project Device Identifier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 Syaziyah Binti Samiri</dc:creator>
  <cp:lastModifiedBy>Siti Syaziyah Binti Samiri</cp:lastModifiedBy>
  <cp:revision>111</cp:revision>
  <dcterms:created xsi:type="dcterms:W3CDTF">2025-11-18T06:28:25Z</dcterms:created>
  <dcterms:modified xsi:type="dcterms:W3CDTF">2026-08-10T09:33:38Z</dcterms:modified>
</cp:coreProperties>
</file>