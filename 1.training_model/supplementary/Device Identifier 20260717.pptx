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3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409" r:id="rId11"/>
    <p:sldId id="410" r:id="rId12"/>
    <p:sldId id="411" r:id="rId13"/>
    <p:sldId id="412" r:id="rId14"/>
    <p:sldId id="413" r:id="rId15"/>
    <p:sldId id="408" r:id="rId16"/>
    <p:sldId id="406" r:id="rId17"/>
    <p:sldId id="407" r:id="rId18"/>
    <p:sldId id="397" r:id="rId19"/>
    <p:sldId id="404" r:id="rId20"/>
    <p:sldId id="400" r:id="rId21"/>
    <p:sldId id="392" r:id="rId22"/>
    <p:sldId id="393" r:id="rId23"/>
    <p:sldId id="391" r:id="rId24"/>
    <p:sldId id="389" r:id="rId25"/>
    <p:sldId id="390" r:id="rId26"/>
    <p:sldId id="399" r:id="rId27"/>
    <p:sldId id="382" r:id="rId28"/>
    <p:sldId id="375" r:id="rId29"/>
    <p:sldId id="380" r:id="rId30"/>
    <p:sldId id="381" r:id="rId31"/>
    <p:sldId id="386" r:id="rId32"/>
    <p:sldId id="383" r:id="rId33"/>
    <p:sldId id="384" r:id="rId34"/>
    <p:sldId id="376" r:id="rId35"/>
    <p:sldId id="347" r:id="rId36"/>
    <p:sldId id="378" r:id="rId37"/>
    <p:sldId id="362" r:id="rId38"/>
    <p:sldId id="363" r:id="rId39"/>
    <p:sldId id="387" r:id="rId40"/>
    <p:sldId id="366" r:id="rId41"/>
    <p:sldId id="385" r:id="rId42"/>
    <p:sldId id="373" r:id="rId43"/>
    <p:sldId id="374" r:id="rId44"/>
    <p:sldId id="369" r:id="rId45"/>
    <p:sldId id="370" r:id="rId46"/>
    <p:sldId id="372" r:id="rId47"/>
    <p:sldId id="367" r:id="rId48"/>
    <p:sldId id="352" r:id="rId49"/>
    <p:sldId id="388" r:id="rId50"/>
    <p:sldId id="351" r:id="rId51"/>
    <p:sldId id="377" r:id="rId52"/>
    <p:sldId id="371" r:id="rId53"/>
    <p:sldId id="356" r:id="rId54"/>
    <p:sldId id="355" r:id="rId55"/>
    <p:sldId id="346" r:id="rId56"/>
    <p:sldId id="349" r:id="rId57"/>
    <p:sldId id="350" r:id="rId58"/>
    <p:sldId id="353" r:id="rId59"/>
    <p:sldId id="354" r:id="rId60"/>
    <p:sldId id="357" r:id="rId61"/>
    <p:sldId id="358" r:id="rId62"/>
    <p:sldId id="360" r:id="rId63"/>
    <p:sldId id="361" r:id="rId64"/>
    <p:sldId id="365" r:id="rId65"/>
    <p:sldId id="379" r:id="rId66"/>
    <p:sldId id="325" r:id="rId67"/>
    <p:sldId id="292" r:id="rId68"/>
    <p:sldId id="328" r:id="rId69"/>
    <p:sldId id="329" r:id="rId70"/>
    <p:sldId id="330" r:id="rId71"/>
    <p:sldId id="331" r:id="rId72"/>
    <p:sldId id="332" r:id="rId73"/>
    <p:sldId id="334" r:id="rId74"/>
    <p:sldId id="335" r:id="rId75"/>
    <p:sldId id="336" r:id="rId76"/>
    <p:sldId id="323" r:id="rId77"/>
    <p:sldId id="333" r:id="rId78"/>
    <p:sldId id="327" r:id="rId79"/>
    <p:sldId id="337" r:id="rId80"/>
    <p:sldId id="338" r:id="rId81"/>
    <p:sldId id="345" r:id="rId8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107" d="100"/>
          <a:sy n="107" d="100"/>
        </p:scale>
        <p:origin x="48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2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6079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UPDATE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UPDATE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888777"/>
              </p:ext>
            </p:extLst>
          </p:nvPr>
        </p:nvGraphicFramePr>
        <p:xfrm>
          <a:off x="396558" y="1078903"/>
          <a:ext cx="11398884" cy="52171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= Name based on the project from SQL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unallocated_device_ids.json</a:t>
                      </a:r>
                      <a:r>
                        <a:rPr lang="en-MY" dirty="0"/>
                        <a:t> 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</a:t>
                      </a:r>
                      <a:r>
                        <a:rPr lang="en-MY" dirty="0"/>
                        <a:t>Single file, Dedupe key and unique (</a:t>
                      </a:r>
                      <a:r>
                        <a:rPr lang="en-MY" dirty="0" err="1"/>
                        <a:t>DeviceId</a:t>
                      </a:r>
                      <a:r>
                        <a:rPr lang="en-MY" dirty="0"/>
                        <a:t> + </a:t>
                      </a:r>
                      <a:r>
                        <a:rPr lang="en-MY" dirty="0" err="1"/>
                        <a:t>ProjectCode</a:t>
                      </a:r>
                      <a:r>
                        <a:rPr lang="en-MY" dirty="0"/>
                        <a:t>), Status lifecycle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floating_deviceid.json</a:t>
                      </a:r>
                      <a:r>
                        <a:rPr lang="en-MY" dirty="0"/>
                        <a:t> = Used in quota allocation, contain percentage prediction of cluster, Single file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20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20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              = model.dll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unallocated_device_ids.json</a:t>
                      </a:r>
                      <a:r>
                        <a:rPr lang="en-MY" sz="2000" dirty="0"/>
                        <a:t> </a:t>
                      </a: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logic.dll</a:t>
                      </a:r>
                      <a:endParaRPr lang="en-MY" sz="2000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floating_deviceid.json</a:t>
                      </a:r>
                      <a:r>
                        <a:rPr lang="en-MY" sz="2000" dirty="0"/>
                        <a:t>          = logic.dll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AB38A-E6EB-1AA3-D409-6ACA9309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01485D-69BC-608C-5D06-ED83988F2B2E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19/08/26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27185F-046E-311D-0BC1-FED8DBA8B8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653658"/>
              </p:ext>
            </p:extLst>
          </p:nvPr>
        </p:nvGraphicFramePr>
        <p:xfrm>
          <a:off x="253122" y="1105797"/>
          <a:ext cx="11398884" cy="47050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Change dbo.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DummySection2OiltekA9998 into </a:t>
                      </a:r>
                      <a:r>
                        <a:rPr lang="en-MY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dbo.DummyTestingData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(1 project)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 change for all related path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class function in </a:t>
                      </a:r>
                      <a:r>
                        <a:rPr lang="en-US" sz="2000" dirty="0" err="1"/>
                        <a:t>PythonSQL</a:t>
                      </a:r>
                      <a:r>
                        <a:rPr lang="en-US" sz="2000" dirty="0"/>
                        <a:t> [</a:t>
                      </a:r>
                      <a:r>
                        <a:rPr lang="en-US" sz="2000" dirty="0" err="1"/>
                        <a:t>LoadProjectDataAsync</a:t>
                      </a:r>
                      <a:r>
                        <a:rPr lang="en-US" sz="2000" dirty="0"/>
                        <a:t>]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Add multiple project with many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25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  <a:endParaRPr kumimoji="0" lang="en-MY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Check </a:t>
                      </a:r>
                      <a:r>
                        <a:rPr lang="en-US" sz="2000" dirty="0" err="1"/>
                        <a:t>json</a:t>
                      </a:r>
                      <a:r>
                        <a:rPr lang="en-US" sz="2000" dirty="0"/>
                        <a:t> make sure unique for 1 entry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unallocated_device_ids.json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floating_deviceid.json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1946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Pattern hardcoded in assign cluster –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GetDraftQuotas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PROBLEM : current example only applicable for SCETION 2 only.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ACTION : need to create dummy pattern for cluster quota allocation for ALL the section = by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CustomerCode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 FILE : SQL [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dbo.PatternCluster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811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323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EE936E-7DB2-ED25-8B50-F5EE90D6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9C0D96-2408-2461-3DCC-2FE24422B204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20/08/26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351EC3-0C0E-52AB-92B5-838E5ACF5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2359767"/>
              </p:ext>
            </p:extLst>
          </p:nvPr>
        </p:nvGraphicFramePr>
        <p:xfrm>
          <a:off x="253122" y="1105797"/>
          <a:ext cx="11398884" cy="461851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the output console aps for fulfilled and vacant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 </a:t>
                      </a:r>
                      <a:r>
                        <a:rPr lang="en-US" sz="2000" dirty="0" err="1"/>
                        <a:t>mindmap</a:t>
                      </a:r>
                      <a:r>
                        <a:rPr lang="en-US" sz="2000" dirty="0"/>
                        <a:t> and coding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</a:t>
                      </a:r>
                      <a:r>
                        <a:rPr lang="en-US" sz="2000" dirty="0" err="1"/>
                        <a:t>dbo.DeviceReviewQueue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output </a:t>
                      </a:r>
                      <a:r>
                        <a:rPr lang="en-US" sz="2000" dirty="0" err="1"/>
                        <a:t>dbo</a:t>
                      </a:r>
                      <a:r>
                        <a:rPr lang="en-US" sz="2000" dirty="0"/>
                        <a:t> in SQL – </a:t>
                      </a:r>
                      <a:r>
                        <a:rPr lang="en-US" sz="2000" dirty="0" err="1"/>
                        <a:t>dbo.OutputDeviceAssignment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Output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return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377886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Question : Should I save 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json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or SQL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inside JSON, how the UI can detect and relate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Suggestion = save in SQL so that easier to map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296128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26/08/26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Using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Nuget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andover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the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dll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library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23025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Documentation of function class library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5091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223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071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74516-6CC0-6962-F4FB-B6AF3A65E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1DEBC-6CE4-50BB-ED04-2005E53AA1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445" r="13134"/>
          <a:stretch>
            <a:fillRect/>
          </a:stretch>
        </p:blipFill>
        <p:spPr>
          <a:xfrm>
            <a:off x="2485353" y="304800"/>
            <a:ext cx="7456506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811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A86A1-E797-4C32-71BD-3485E4069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609802-65A4-2942-3E3A-860EC4ECA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892" y="2833206"/>
            <a:ext cx="9608215" cy="344208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5D3251-3E05-0B49-FC33-A6E9D388D6B3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dbo.OutputDeviceAssignment</a:t>
            </a:r>
            <a:endParaRPr lang="en-MY" sz="3600" dirty="0"/>
          </a:p>
        </p:txBody>
      </p:sp>
    </p:spTree>
    <p:extLst>
      <p:ext uri="{BB962C8B-B14F-4D97-AF65-F5344CB8AC3E}">
        <p14:creationId xmlns:p14="http://schemas.microsoft.com/office/powerpoint/2010/main" val="3662416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FA872F-E69A-2D92-F627-6B0BDCF92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98DF7DE-50DE-1F0B-DFAE-878F7CB8100C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dbo.DeviceReviewQueue</a:t>
            </a:r>
            <a:endParaRPr lang="en-MY" sz="3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0674F0-DA47-4400-515D-D32A78450A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299"/>
          <a:stretch>
            <a:fillRect/>
          </a:stretch>
        </p:blipFill>
        <p:spPr>
          <a:xfrm>
            <a:off x="1284186" y="2099615"/>
            <a:ext cx="9479402" cy="384179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65304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83E33-3A33-201B-7189-951E3CBB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A449B-8EB3-DDD5-58A4-5BB43CB57EE9}"/>
              </a:ext>
            </a:extLst>
          </p:cNvPr>
          <p:cNvSpPr txBox="1"/>
          <p:nvPr/>
        </p:nvSpPr>
        <p:spPr>
          <a:xfrm>
            <a:off x="5078388" y="271126"/>
            <a:ext cx="2035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JSON file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F34C5-78E3-A69E-A1CD-7613D5F36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31062"/>
              </p:ext>
            </p:extLst>
          </p:nvPr>
        </p:nvGraphicFramePr>
        <p:xfrm>
          <a:off x="333375" y="1174746"/>
          <a:ext cx="11525249" cy="46857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3133">
                  <a:extLst>
                    <a:ext uri="{9D8B030D-6E8A-4147-A177-3AD203B41FA5}">
                      <a16:colId xmlns:a16="http://schemas.microsoft.com/office/drawing/2014/main" val="3269983278"/>
                    </a:ext>
                  </a:extLst>
                </a:gridCol>
                <a:gridCol w="4483709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41384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MY" sz="1400" dirty="0"/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unallocated_device_ids.json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floating_deviceid.json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 dirty="0"/>
                        <a:t>Trigger condition</a:t>
                      </a:r>
                      <a:endParaRPr lang="en-MY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Known prediction (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all valid) but no quota bucket had 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Any of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is </a:t>
                      </a:r>
                      <a:r>
                        <a:rPr lang="en-MY" sz="14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UNKNOWN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05915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Timing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AllocationResult.Floating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AllocationResult.Floating) — same moment as left, not a different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3388533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Percentage / confidence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entry has no Score/Confidence field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same, no Score/Confidence field either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4563702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File scope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89555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Dedupe key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29556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Status lifecycle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→ "assigned" (via MarkAsAssigned, once a human manually places 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only — nothing in the code ever updates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72679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Assembly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72134"/>
                  </a:ext>
                </a:extLst>
              </a:tr>
              <a:tr h="4974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Write method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LogicAssignment.DumpUnallocated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LogicAssignment.DumpFloating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4272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284B-2AA5-0753-672D-DCAD5C8F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2FB6B-0110-F956-4CA1-53BB47DCDBED}"/>
              </a:ext>
            </a:extLst>
          </p:cNvPr>
          <p:cNvSpPr txBox="1"/>
          <p:nvPr/>
        </p:nvSpPr>
        <p:spPr>
          <a:xfrm>
            <a:off x="1571624" y="681262"/>
            <a:ext cx="9229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How the </a:t>
            </a:r>
            <a:r>
              <a:rPr lang="en-US" sz="3600" dirty="0" err="1"/>
              <a:t>cluster_floating_device_ids.json</a:t>
            </a:r>
            <a:r>
              <a:rPr lang="en-US" sz="3600" dirty="0"/>
              <a:t> obtain?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D2531-41AF-5362-6F80-BF0315594145}"/>
              </a:ext>
            </a:extLst>
          </p:cNvPr>
          <p:cNvSpPr txBox="1"/>
          <p:nvPr/>
        </p:nvSpPr>
        <p:spPr>
          <a:xfrm>
            <a:off x="857249" y="2287191"/>
            <a:ext cx="1019174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MY" b="1" dirty="0"/>
              <a:t>2. The quota allocator already tried — it doesn't retry from the file</a:t>
            </a:r>
            <a:endParaRPr lang="en-MY" dirty="0"/>
          </a:p>
          <a:p>
            <a:pPr rtl="0">
              <a:buNone/>
            </a:pPr>
            <a:r>
              <a:rPr lang="en-MY" dirty="0"/>
              <a:t>The allocator isn't a queue that keeps attempting to place floating devices later. It runs its own internal two-pass process </a:t>
            </a:r>
            <a:r>
              <a:rPr lang="en-MY" i="1" dirty="0"/>
              <a:t>before</a:t>
            </a:r>
            <a:r>
              <a:rPr lang="en-MY" dirty="0"/>
              <a:t> anything is written to </a:t>
            </a:r>
            <a:r>
              <a:rPr lang="en-MY" dirty="0" err="1">
                <a:latin typeface="Courier New" panose="02070309020205020404" pitchFamily="49" charset="0"/>
              </a:rPr>
              <a:t>floating_deviceid.json</a:t>
            </a:r>
            <a:r>
              <a:rPr lang="en-MY" dirty="0"/>
              <a:t>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1</a:t>
            </a:r>
            <a:r>
              <a:rPr lang="en-MY" dirty="0"/>
              <a:t> (lines 116-162): direct match on </a:t>
            </a:r>
            <a:r>
              <a:rPr lang="en-MY" dirty="0">
                <a:latin typeface="Courier New" panose="02070309020205020404" pitchFamily="49" charset="0"/>
              </a:rPr>
              <a:t>Section + Cluster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, top-N by score.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2</a:t>
            </a:r>
            <a:r>
              <a:rPr lang="en-MY" dirty="0"/>
              <a:t> (lines 164-170): whatever's left becomes the internal "floating pool" for that section.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3</a:t>
            </a:r>
            <a:r>
              <a:rPr lang="en-MY" dirty="0"/>
              <a:t> (lines 172-214): backfill — pulls from that same floating pool to fill remaining deficits, matched loosely by </a:t>
            </a:r>
            <a:r>
              <a:rPr lang="en-MY" dirty="0">
                <a:latin typeface="Courier New" panose="02070309020205020404" pitchFamily="49" charset="0"/>
              </a:rPr>
              <a:t>Section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 (ignoring the originally predicted cluster).</a:t>
            </a:r>
          </a:p>
        </p:txBody>
      </p:sp>
    </p:spTree>
    <p:extLst>
      <p:ext uri="{BB962C8B-B14F-4D97-AF65-F5344CB8AC3E}">
        <p14:creationId xmlns:p14="http://schemas.microsoft.com/office/powerpoint/2010/main" val="1631198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32CB-B4CC-04E1-DEBD-C71D7F85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A62446-AFEE-0946-2114-DA4F091B5DA6}"/>
              </a:ext>
            </a:extLst>
          </p:cNvPr>
          <p:cNvSpPr txBox="1"/>
          <p:nvPr/>
        </p:nvSpPr>
        <p:spPr>
          <a:xfrm>
            <a:off x="1000125" y="1694497"/>
            <a:ext cx="101917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floating_deviceid.json</a:t>
            </a:r>
            <a:r>
              <a:rPr lang="en-MY" dirty="0"/>
              <a:t> ← devices where </a:t>
            </a:r>
            <a:r>
              <a:rPr lang="en-MY" dirty="0" err="1"/>
              <a:t>DeviceType</a:t>
            </a:r>
            <a:r>
              <a:rPr lang="en-MY" dirty="0"/>
              <a:t> == "UNKNOWN" </a:t>
            </a:r>
            <a:r>
              <a:rPr lang="en-MY" b="1" dirty="0"/>
              <a:t>or</a:t>
            </a:r>
            <a:r>
              <a:rPr lang="en-MY" dirty="0"/>
              <a:t> Section == "UNKNOWN" </a:t>
            </a:r>
            <a:r>
              <a:rPr lang="en-MY" b="1" dirty="0"/>
              <a:t>or</a:t>
            </a:r>
            <a:r>
              <a:rPr lang="en-MY" dirty="0"/>
              <a:t> Cluster == "UNKNOWN“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unallocated_device_ids.json</a:t>
            </a:r>
            <a:r>
              <a:rPr lang="en-MY" dirty="0"/>
              <a:t> ← devices where </a:t>
            </a:r>
            <a:r>
              <a:rPr lang="en-MY" b="1" dirty="0"/>
              <a:t>all three are valid/known</a:t>
            </a:r>
            <a:r>
              <a:rPr lang="en-MY" dirty="0"/>
              <a:t>, but still didn't get claimed by any quota bucket (capacity full, or no bucket exists for that combo)</a:t>
            </a:r>
          </a:p>
        </p:txBody>
      </p:sp>
    </p:spTree>
    <p:extLst>
      <p:ext uri="{BB962C8B-B14F-4D97-AF65-F5344CB8AC3E}">
        <p14:creationId xmlns:p14="http://schemas.microsoft.com/office/powerpoint/2010/main" val="2261729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6A72-918E-0144-C1C0-6BE3686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A1AF1-B921-6E24-D7B1-C4B5D36D637B}"/>
              </a:ext>
            </a:extLst>
          </p:cNvPr>
          <p:cNvSpPr txBox="1"/>
          <p:nvPr/>
        </p:nvSpPr>
        <p:spPr>
          <a:xfrm>
            <a:off x="2922496" y="274781"/>
            <a:ext cx="7326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Flowchart DLL Library Model (18/082026)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CBB67C-16B6-D6DE-3710-AFCFDB7079AF}"/>
              </a:ext>
            </a:extLst>
          </p:cNvPr>
          <p:cNvSpPr txBox="1"/>
          <p:nvPr/>
        </p:nvSpPr>
        <p:spPr>
          <a:xfrm>
            <a:off x="360617" y="1289608"/>
            <a:ext cx="36947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SQL Database</a:t>
            </a:r>
          </a:p>
          <a:p>
            <a:pPr algn="ctr"/>
            <a:r>
              <a:rPr lang="en-US" dirty="0"/>
              <a:t>{</a:t>
            </a:r>
            <a:r>
              <a:rPr lang="en-US" dirty="0" err="1"/>
              <a:t>ProjectCode</a:t>
            </a:r>
            <a:r>
              <a:rPr lang="en-US" dirty="0"/>
              <a:t>, </a:t>
            </a:r>
            <a:r>
              <a:rPr lang="en-US" dirty="0" err="1"/>
              <a:t>CustomerCode</a:t>
            </a:r>
            <a:r>
              <a:rPr lang="en-US" dirty="0"/>
              <a:t>, </a:t>
            </a:r>
            <a:r>
              <a:rPr lang="en-US" dirty="0" err="1"/>
              <a:t>DataIds</a:t>
            </a:r>
            <a:r>
              <a:rPr lang="en-US" dirty="0"/>
              <a:t>}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916D2-7E87-B0A7-4264-E75A9840B2D5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055416" y="1612774"/>
            <a:ext cx="1520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33E434E-45E2-361F-72D2-E33FCF4BBF72}"/>
              </a:ext>
            </a:extLst>
          </p:cNvPr>
          <p:cNvSpPr txBox="1"/>
          <p:nvPr/>
        </p:nvSpPr>
        <p:spPr>
          <a:xfrm>
            <a:off x="5576220" y="1289608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JSON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EC90D-6F35-4996-8241-0A94CBFED27D}"/>
              </a:ext>
            </a:extLst>
          </p:cNvPr>
          <p:cNvSpPr/>
          <p:nvPr/>
        </p:nvSpPr>
        <p:spPr>
          <a:xfrm>
            <a:off x="677644" y="2944063"/>
            <a:ext cx="4489704" cy="29726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r>
              <a:rPr lang="en-MY" dirty="0"/>
              <a:t>[Source SQL </a:t>
            </a:r>
            <a:r>
              <a:rPr lang="en-MY" dirty="0" err="1"/>
              <a:t>db</a:t>
            </a:r>
            <a:r>
              <a:rPr lang="en-MY" dirty="0"/>
              <a:t> = A9998]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</p:spTree>
    <p:extLst>
      <p:ext uri="{BB962C8B-B14F-4D97-AF65-F5344CB8AC3E}">
        <p14:creationId xmlns:p14="http://schemas.microsoft.com/office/powerpoint/2010/main" val="223431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25599</TotalTime>
  <Words>3745</Words>
  <Application>Microsoft Office PowerPoint</Application>
  <PresentationFormat>Widescreen</PresentationFormat>
  <Paragraphs>953</Paragraphs>
  <Slides>81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9" baseType="lpstr">
      <vt:lpstr>Aptos</vt:lpstr>
      <vt:lpstr>Aptos Narrow</vt:lpstr>
      <vt:lpstr>Arial</vt:lpstr>
      <vt:lpstr>Calibri</vt:lpstr>
      <vt:lpstr>Courier New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122</cp:revision>
  <dcterms:created xsi:type="dcterms:W3CDTF">2025-11-18T06:28:25Z</dcterms:created>
  <dcterms:modified xsi:type="dcterms:W3CDTF">2026-08-26T10:06:16Z</dcterms:modified>
</cp:coreProperties>
</file>