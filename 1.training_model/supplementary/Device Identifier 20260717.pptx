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81"/>
  </p:notesMasterIdLst>
  <p:sldIdLst>
    <p:sldId id="256" r:id="rId2"/>
    <p:sldId id="401" r:id="rId3"/>
    <p:sldId id="402" r:id="rId4"/>
    <p:sldId id="315" r:id="rId5"/>
    <p:sldId id="348" r:id="rId6"/>
    <p:sldId id="395" r:id="rId7"/>
    <p:sldId id="396" r:id="rId8"/>
    <p:sldId id="398" r:id="rId9"/>
    <p:sldId id="403" r:id="rId10"/>
    <p:sldId id="409" r:id="rId11"/>
    <p:sldId id="410" r:id="rId12"/>
    <p:sldId id="411" r:id="rId13"/>
    <p:sldId id="408" r:id="rId14"/>
    <p:sldId id="406" r:id="rId15"/>
    <p:sldId id="407" r:id="rId16"/>
    <p:sldId id="397" r:id="rId17"/>
    <p:sldId id="404" r:id="rId18"/>
    <p:sldId id="400" r:id="rId19"/>
    <p:sldId id="392" r:id="rId20"/>
    <p:sldId id="393" r:id="rId21"/>
    <p:sldId id="391" r:id="rId22"/>
    <p:sldId id="389" r:id="rId23"/>
    <p:sldId id="390" r:id="rId24"/>
    <p:sldId id="399" r:id="rId25"/>
    <p:sldId id="382" r:id="rId26"/>
    <p:sldId id="375" r:id="rId27"/>
    <p:sldId id="380" r:id="rId28"/>
    <p:sldId id="381" r:id="rId29"/>
    <p:sldId id="386" r:id="rId30"/>
    <p:sldId id="383" r:id="rId31"/>
    <p:sldId id="384" r:id="rId32"/>
    <p:sldId id="376" r:id="rId33"/>
    <p:sldId id="347" r:id="rId34"/>
    <p:sldId id="378" r:id="rId35"/>
    <p:sldId id="362" r:id="rId36"/>
    <p:sldId id="363" r:id="rId37"/>
    <p:sldId id="387" r:id="rId38"/>
    <p:sldId id="366" r:id="rId39"/>
    <p:sldId id="385" r:id="rId40"/>
    <p:sldId id="373" r:id="rId41"/>
    <p:sldId id="374" r:id="rId42"/>
    <p:sldId id="369" r:id="rId43"/>
    <p:sldId id="370" r:id="rId44"/>
    <p:sldId id="372" r:id="rId45"/>
    <p:sldId id="367" r:id="rId46"/>
    <p:sldId id="352" r:id="rId47"/>
    <p:sldId id="388" r:id="rId48"/>
    <p:sldId id="351" r:id="rId49"/>
    <p:sldId id="377" r:id="rId50"/>
    <p:sldId id="371" r:id="rId51"/>
    <p:sldId id="356" r:id="rId52"/>
    <p:sldId id="355" r:id="rId53"/>
    <p:sldId id="346" r:id="rId54"/>
    <p:sldId id="349" r:id="rId55"/>
    <p:sldId id="350" r:id="rId56"/>
    <p:sldId id="353" r:id="rId57"/>
    <p:sldId id="354" r:id="rId58"/>
    <p:sldId id="357" r:id="rId59"/>
    <p:sldId id="358" r:id="rId60"/>
    <p:sldId id="360" r:id="rId61"/>
    <p:sldId id="361" r:id="rId62"/>
    <p:sldId id="365" r:id="rId63"/>
    <p:sldId id="379" r:id="rId64"/>
    <p:sldId id="325" r:id="rId65"/>
    <p:sldId id="292" r:id="rId66"/>
    <p:sldId id="328" r:id="rId67"/>
    <p:sldId id="329" r:id="rId68"/>
    <p:sldId id="330" r:id="rId69"/>
    <p:sldId id="331" r:id="rId70"/>
    <p:sldId id="332" r:id="rId71"/>
    <p:sldId id="334" r:id="rId72"/>
    <p:sldId id="335" r:id="rId73"/>
    <p:sldId id="336" r:id="rId74"/>
    <p:sldId id="323" r:id="rId75"/>
    <p:sldId id="333" r:id="rId76"/>
    <p:sldId id="327" r:id="rId77"/>
    <p:sldId id="337" r:id="rId78"/>
    <p:sldId id="338" r:id="rId79"/>
    <p:sldId id="345" r:id="rId8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FEE8"/>
    <a:srgbClr val="CDF6F9"/>
    <a:srgbClr val="FFFFAF"/>
    <a:srgbClr val="CAFC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86" autoAdjust="0"/>
    <p:restoredTop sz="94404" autoAdjust="0"/>
  </p:normalViewPr>
  <p:slideViewPr>
    <p:cSldViewPr snapToGrid="0">
      <p:cViewPr varScale="1">
        <p:scale>
          <a:sx n="107" d="100"/>
          <a:sy n="107" d="100"/>
        </p:scale>
        <p:origin x="480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DF297-4C4A-460D-D5C6-1052BAE03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B6DC2-8593-AC5C-68B3-4219E8F0D8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BB3D06-BAB0-C40F-6AFF-6F3B3C2BA9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E88249-10B4-C9F0-56E2-A300D2002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719712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4BB0E-3305-ACF4-B9DB-3771A05F8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5AB61-A186-C05A-CE87-0AAC4CACF4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39EA4-5C53-1F6E-2F8C-EEDBDF608C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186D5-1C82-55C9-9C81-848494B232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18155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5143E-6EB1-5AEC-EA65-B16DDB48C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3B66A-4E53-E454-043D-1F742FA80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DDA1B7-2DD3-6DC0-1B24-8C9FE80A3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D7023-7DB9-431E-C43C-056860850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95352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F95A4-8B16-B4B8-1099-6E539E5D5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D684E3-26DB-0ADA-43FE-B80A3F39D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E0129-6FBE-0B2B-9D73-CC36EE257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4E83B-BDDD-B3EF-8DA1-F84C83040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365099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29EAB-62F0-E599-5812-26AD2183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AB937A-9DAD-0B78-4CD8-0D97CDB5F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25E1C6-9041-C876-2B23-13DCDED4D4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E2EA1-56C0-8D6F-684C-1E193E31B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428526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DC8C-C1CE-AEAF-F776-94186C649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A1635-2431-E971-60CA-A32225934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DF767-2C08-D1EB-D1DD-B13C80968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B96FA-C83A-B919-DDEA-0F847B528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897496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94EAA-B7AE-9E60-5EB9-6AFB0BD3F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FB19DC-2B3C-15C0-DD43-54206C7AB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5F5C09-6822-05DF-2439-FF6D014C5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0F096-58D1-CB43-671C-D7239AB89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88163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FC424-EA8E-B269-C46D-00275BE9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46DAA-526B-158A-AF11-A6E8E0261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416B5-7816-4E82-F077-819D37FC8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D1C30F-B0AC-ECC3-3987-420208BB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464875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ED8ED-6CFC-FBAA-4EFD-1C5BB3865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9C3310-EC70-E0FE-5DD7-877D11981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C70EC9-4B38-2BC1-363D-7239079AE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83D9A-856A-21D7-1903-E21D07E07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013609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18059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AA44F-F577-055C-BA0F-DA69FF41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A680F-3263-365C-2593-51B8B9082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E51E4-620F-C57E-0B01-71CD148A8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67C7F0-6139-43B1-3A78-E075945FD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243091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8138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1.%20Flowchart%20ML%20development.xlsx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26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27996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34474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80494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80494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834474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2557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564E01-BAA1-3A89-DFDE-C6F7EABFD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DBE3FE-6883-A227-C95A-B32903D311D5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D2779F-9925-E325-FD88-915EA0A5D0CD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F732A7E-BA3B-19E7-859F-398584523842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8FCEA9-F455-6C16-BB8C-382255BE9894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B690BB-103E-7C11-F8EB-CB4FE85DE712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0C556A-6B3D-D4B1-78B9-6C841EAFB988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EDB00B-031B-3558-188F-1B669068451F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01B2585-DD4F-3D4E-50BA-E8FFF493CA24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E56FC65-EC4A-F4C3-1F0B-8600C821E9A3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83BE331-0BED-83CF-CF1D-87ACB76C2168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645B15-6F0B-6044-7386-8E89F162D29E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E9E6D6B-4ED8-1A25-F0A2-3C19373F09A8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D0AB3AE-E39A-368D-FB9D-83C2C861DB2F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2A7B0DA-C509-7765-1F33-5207CD1D1245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DDA82C7-6A79-0834-F36D-29F4D6E7F1DD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74F79B6-40C9-023A-07D5-066E844897F7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0086AB6-6520-9248-985A-10E16372D3A3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73FA1BA-16B6-28C7-5B08-E0BAED39A806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BE64327-A594-A0F9-48EE-AA8619A6F8A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AE5BD1BD-5875-2B33-B60D-A218A3069F3D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133E43C-356A-5352-D8C3-A2937C629299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1E9559C-A8DD-7924-369A-4F9D2B5100A2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A45D876-29DD-ADBB-A514-B337E73BD17F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DF429FB-317C-A832-F169-749B844BBDB8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3B1C0D6-006B-1509-41E2-1A8A5DB4876E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B45A4A9C-F38C-B936-9507-8477A826CD37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7B601146-C144-E99D-306E-58E1A32A5C69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F6E48D5-461B-7674-CB2D-7511BCDD475B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5503350-D559-ED07-9550-A4DA89247889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D50F6575-8D14-BD88-0EDB-A1125532BE4A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D2373B1-E611-C850-DC58-D34188C6A52A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C17BB654-31A9-9DA1-013B-55718E83DB1D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3514C51B-723B-B72A-BF4E-6D5BBA83199D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309169AF-E4E6-DB2D-A6ED-C259FEEE4471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044D5271-77C4-A1AC-4D57-C76A08FF9854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0BE8E226-C0D9-AB17-D117-9DA0B9C24248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EB8FBA6-85B0-906E-1C53-A1A2A2A14FA0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0781810-DEC4-76B2-2724-39A10B68A4D9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1523249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FF50E8-C2B0-9D88-2CE4-13199422C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6CFAA6D5-A483-F1D3-F473-4EB5FF643CAF}"/>
              </a:ext>
            </a:extLst>
          </p:cNvPr>
          <p:cNvSpPr txBox="1"/>
          <p:nvPr/>
        </p:nvSpPr>
        <p:spPr>
          <a:xfrm>
            <a:off x="295275" y="6446936"/>
            <a:ext cx="7924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 err="1"/>
              <a:t>Filepath</a:t>
            </a:r>
            <a:r>
              <a:rPr lang="en-MY" sz="1200" dirty="0"/>
              <a:t>  : "C:\Users\sitisyaziyah\Documents\Device_Identifier\Dummy data\</a:t>
            </a:r>
            <a:r>
              <a:rPr lang="en-MY" sz="1200" dirty="0" err="1"/>
              <a:t>Oiltek</a:t>
            </a:r>
            <a:r>
              <a:rPr lang="en-MY" sz="1200" dirty="0"/>
              <a:t> - structured data.xlsx“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83CBDE-1BA2-B6EE-EF7D-4C4EAB60B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7445" y="1801640"/>
            <a:ext cx="7049475" cy="429098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05E45FF-768C-F053-BFFD-3176BF216B90}"/>
              </a:ext>
            </a:extLst>
          </p:cNvPr>
          <p:cNvSpPr/>
          <p:nvPr/>
        </p:nvSpPr>
        <p:spPr>
          <a:xfrm>
            <a:off x="4498993" y="966447"/>
            <a:ext cx="2369561" cy="7334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/>
              <a:t>P</a:t>
            </a:r>
            <a:r>
              <a:rPr lang="en-MY" sz="1400" dirty="0"/>
              <a:t>ROJECT 		: A1706</a:t>
            </a:r>
          </a:p>
          <a:p>
            <a:r>
              <a:rPr lang="en-MY" sz="1400" dirty="0"/>
              <a:t>CUSTOMER 		: </a:t>
            </a:r>
            <a:r>
              <a:rPr lang="en-MY" sz="1400" b="1" dirty="0"/>
              <a:t>OILTEK</a:t>
            </a:r>
          </a:p>
          <a:p>
            <a:r>
              <a:rPr lang="en-MY" sz="1400" dirty="0"/>
              <a:t>TOTAL DEVICE 	: 130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1873DC8-6958-BDE3-BB2B-08C22786164B}"/>
              </a:ext>
            </a:extLst>
          </p:cNvPr>
          <p:cNvSpPr/>
          <p:nvPr/>
        </p:nvSpPr>
        <p:spPr>
          <a:xfrm>
            <a:off x="2270791" y="156793"/>
            <a:ext cx="7376129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OILTEK – USING IN TRAINING</a:t>
            </a:r>
          </a:p>
        </p:txBody>
      </p:sp>
    </p:spTree>
    <p:extLst>
      <p:ext uri="{BB962C8B-B14F-4D97-AF65-F5344CB8AC3E}">
        <p14:creationId xmlns:p14="http://schemas.microsoft.com/office/powerpoint/2010/main" val="35555871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310526" y="3013502"/>
            <a:ext cx="560794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UPDATE 31/07/2026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8C113C-B87D-CD4B-1931-679B6E557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4D15BE-FBEA-3EF9-2626-521D3F2BAD5A}"/>
              </a:ext>
            </a:extLst>
          </p:cNvPr>
          <p:cNvSpPr txBox="1"/>
          <p:nvPr/>
        </p:nvSpPr>
        <p:spPr>
          <a:xfrm>
            <a:off x="5338406" y="147579"/>
            <a:ext cx="19678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UPDATE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2011B46-21E8-AB21-3693-8E49ED9C54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0807611"/>
              </p:ext>
            </p:extLst>
          </p:nvPr>
        </p:nvGraphicFramePr>
        <p:xfrm>
          <a:off x="385482" y="1095529"/>
          <a:ext cx="11506151" cy="312719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4072824541"/>
                    </a:ext>
                  </a:extLst>
                </a:gridCol>
                <a:gridCol w="4229075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876538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876538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707119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31/07/26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78037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31/07/26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2. Using Dummy data for logic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Refer to the slide “</a:t>
                      </a:r>
                      <a:r>
                        <a:rPr lang="en-US" sz="2000" b="1" dirty="0"/>
                        <a:t>Movement of dataset [UDPATE 04/08/26]</a:t>
                      </a:r>
                      <a:r>
                        <a:rPr lang="en-US" sz="2000" dirty="0"/>
                        <a:t>”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31/07/26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3. </a:t>
                      </a:r>
                      <a:r>
                        <a:rPr lang="en-MY" sz="2000"/>
                        <a:t>Cleaning README.md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Synch with </a:t>
                      </a:r>
                      <a:r>
                        <a:rPr lang="en-US" sz="2000" dirty="0" err="1"/>
                        <a:t>devops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063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B7289-C22B-CEC8-2E59-1F5B5CBD5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EE185B-50E1-542E-A641-62A2876DAA51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04/08/26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DA3272E-DC3E-A661-9364-C0EE26E9F3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0172594"/>
              </p:ext>
            </p:extLst>
          </p:nvPr>
        </p:nvGraphicFramePr>
        <p:xfrm>
          <a:off x="396558" y="1078903"/>
          <a:ext cx="11398884" cy="50951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32242">
                  <a:extLst>
                    <a:ext uri="{9D8B030D-6E8A-4147-A177-3AD203B41FA5}">
                      <a16:colId xmlns:a16="http://schemas.microsoft.com/office/drawing/2014/main" val="401461631"/>
                    </a:ext>
                  </a:extLst>
                </a:gridCol>
                <a:gridCol w="4877078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89620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193359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04/08/26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457200" indent="-457200">
                        <a:buAutoNum type="arabicPeriod"/>
                      </a:pPr>
                      <a:r>
                        <a:rPr lang="en-US" sz="2000" dirty="0"/>
                        <a:t>Update full flowchart ML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2000" dirty="0"/>
                        <a:t>Source : flowchart ML developmemt.xlsx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Model development</a:t>
                      </a:r>
                    </a:p>
                    <a:p>
                      <a:r>
                        <a:rPr lang="en-US" sz="2000" dirty="0"/>
                        <a:t>Model application</a:t>
                      </a:r>
                    </a:p>
                    <a:p>
                      <a:r>
                        <a:rPr lang="en-US" sz="2000" dirty="0"/>
                        <a:t>Result of model evaluation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On drafting </a:t>
                      </a:r>
                      <a:r>
                        <a:rPr lang="en-US" sz="2000" dirty="0"/>
                        <a:t>– preparation for training</a:t>
                      </a:r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Source dataset for </a:t>
                      </a:r>
                      <a:r>
                        <a:rPr lang="en-US" sz="2000" b="1" dirty="0"/>
                        <a:t>TRAINING MODEL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b="1" dirty="0"/>
                        <a:t>SGD Classifier : 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US" sz="1600" dirty="0"/>
                        <a:t>C:\Users\sitisyaziyah\Documents\Device_Identifier_MainFolder\Dataset\output\masterfile.csv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MY" sz="2000" b="1" dirty="0" err="1"/>
                        <a:t>XGBoost</a:t>
                      </a:r>
                      <a:endParaRPr lang="en-MY" sz="2000" b="1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C: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Users\sitisyaziyah\source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\r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epos\DeviceCluster\1.training_model\dummy_data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SGD Classifier : </a:t>
                      </a:r>
                    </a:p>
                    <a:p>
                      <a:r>
                        <a:rPr lang="en-MY" sz="2000" dirty="0"/>
                        <a:t>Wilmar, </a:t>
                      </a:r>
                      <a:r>
                        <a:rPr lang="en-MY" sz="2000" dirty="0" err="1"/>
                        <a:t>Oiltek</a:t>
                      </a:r>
                      <a:r>
                        <a:rPr lang="en-MY" sz="2000" dirty="0"/>
                        <a:t>, UGS</a:t>
                      </a:r>
                    </a:p>
                    <a:p>
                      <a:endParaRPr lang="en-MY" sz="2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XG Boost: </a:t>
                      </a:r>
                    </a:p>
                    <a:p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Wilmar, </a:t>
                      </a:r>
                      <a:r>
                        <a:rPr lang="en-MY" sz="2000" b="1" dirty="0" err="1">
                          <a:highlight>
                            <a:srgbClr val="FFFF00"/>
                          </a:highlight>
                        </a:rPr>
                        <a:t>Oiltek</a:t>
                      </a:r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, UGS (edit!!)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3. 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94306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0A6E28-33C1-A980-D209-65EA9C322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F361D5-9992-2F6E-C922-35F2C5ED6E39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05/08/26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82EF32A-22DD-A218-B782-6C041282D8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2264295"/>
              </p:ext>
            </p:extLst>
          </p:nvPr>
        </p:nvGraphicFramePr>
        <p:xfrm>
          <a:off x="396558" y="1078903"/>
          <a:ext cx="11398884" cy="30835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42595">
                  <a:extLst>
                    <a:ext uri="{9D8B030D-6E8A-4147-A177-3AD203B41FA5}">
                      <a16:colId xmlns:a16="http://schemas.microsoft.com/office/drawing/2014/main" val="2131101823"/>
                    </a:ext>
                  </a:extLst>
                </a:gridCol>
                <a:gridCol w="6917929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1514659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6237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05/08/26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Decision of 2 </a:t>
                      </a:r>
                      <a:r>
                        <a:rPr lang="en-US" sz="2000" dirty="0" err="1"/>
                        <a:t>methode</a:t>
                      </a:r>
                      <a:r>
                        <a:rPr lang="en-US" sz="2000" dirty="0"/>
                        <a:t> in cluster logic :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Max (highest predicted cluster) choose it independently 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Constraint based similarity (consider the percentage first then select the most fit one)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In planning </a:t>
                      </a:r>
                    </a:p>
                    <a:p>
                      <a:r>
                        <a:rPr lang="en-US" dirty="0"/>
                        <a:t>Not execute in coding</a:t>
                      </a: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05/08/26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74500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18CEF4-4974-5CA2-F4D2-846E2325C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E9AEDC-0371-CF15-7F99-40589C3D4E1D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17/08/26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2DBCB02-C780-88E3-7338-F97D8CCD24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7888777"/>
              </p:ext>
            </p:extLst>
          </p:nvPr>
        </p:nvGraphicFramePr>
        <p:xfrm>
          <a:off x="396558" y="1078903"/>
          <a:ext cx="11398884" cy="52171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 rowSpan="2"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17/08/26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Build up new pipeline</a:t>
                      </a:r>
                    </a:p>
                    <a:p>
                      <a:pPr marL="342900" indent="-342900">
                        <a:buFont typeface="Wingdings" panose="05000000000000000000" pitchFamily="2" charset="2"/>
                        <a:buChar char="v"/>
                      </a:pPr>
                      <a:r>
                        <a:rPr lang="en-US" sz="2000" dirty="0"/>
                        <a:t>EQUIPMENT TYPE = Logic function – no model involve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Script “predict_equipment.py”</a:t>
                      </a:r>
                    </a:p>
                    <a:p>
                      <a:r>
                        <a:rPr lang="en-MY" sz="2000" dirty="0"/>
                        <a:t>Integrated inside C#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 vMerge="1"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v"/>
                        <a:tabLst/>
                        <a:defRPr/>
                      </a:pPr>
                      <a:r>
                        <a:rPr lang="en-US" sz="2000" dirty="0"/>
                        <a:t>Section and Cluster = </a:t>
                      </a:r>
                      <a:r>
                        <a:rPr lang="en-US" sz="2000" dirty="0" err="1"/>
                        <a:t>XGBoost</a:t>
                      </a:r>
                      <a:r>
                        <a:rPr lang="en-US" sz="2000" dirty="0"/>
                        <a:t> Model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Proceed as previous model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Handle JSON file in </a:t>
                      </a:r>
                      <a:r>
                        <a:rPr lang="en-MY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c#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A9998_devices.json = Name based on the project from SQL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b="1" dirty="0" err="1"/>
                        <a:t>unallocated_device_ids.json</a:t>
                      </a:r>
                      <a:r>
                        <a:rPr lang="en-MY" dirty="0"/>
                        <a:t> </a:t>
                      </a: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 </a:t>
                      </a:r>
                      <a:r>
                        <a:rPr lang="en-MY" dirty="0"/>
                        <a:t>Single file, Dedupe key and unique (</a:t>
                      </a:r>
                      <a:r>
                        <a:rPr lang="en-MY" dirty="0" err="1"/>
                        <a:t>DeviceId</a:t>
                      </a:r>
                      <a:r>
                        <a:rPr lang="en-MY" dirty="0"/>
                        <a:t> + </a:t>
                      </a:r>
                      <a:r>
                        <a:rPr lang="en-MY" dirty="0" err="1"/>
                        <a:t>ProjectCode</a:t>
                      </a:r>
                      <a:r>
                        <a:rPr lang="en-MY" dirty="0"/>
                        <a:t>), Status lifecycle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b="1" dirty="0" err="1"/>
                        <a:t>floating_deviceid.json</a:t>
                      </a:r>
                      <a:r>
                        <a:rPr lang="en-MY" dirty="0"/>
                        <a:t> = Used in quota allocation, contain percentage prediction of cluster, Single file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18/08/26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Handle JSON file in </a:t>
                      </a:r>
                      <a:r>
                        <a:rPr lang="en-MY" sz="20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c#</a:t>
                      </a:r>
                      <a:endParaRPr lang="en-MY" sz="20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A9998_devices.json               = model.dll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1" dirty="0" err="1"/>
                        <a:t>unallocated_device_ids.json</a:t>
                      </a:r>
                      <a:r>
                        <a:rPr lang="en-MY" sz="2000" dirty="0"/>
                        <a:t> </a:t>
                      </a: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 logic.dll</a:t>
                      </a:r>
                      <a:endParaRPr lang="en-MY" sz="2000" dirty="0"/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1" dirty="0" err="1"/>
                        <a:t>floating_deviceid.json</a:t>
                      </a:r>
                      <a:r>
                        <a:rPr lang="en-MY" sz="2000" dirty="0"/>
                        <a:t>          = logic.dll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78813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4AB38A-E6EB-1AA3-D409-6ACA93095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01485D-69BC-608C-5D06-ED83988F2B2E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19/08/26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727185F-046E-311D-0BC1-FED8DBA8B8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653658"/>
              </p:ext>
            </p:extLst>
          </p:nvPr>
        </p:nvGraphicFramePr>
        <p:xfrm>
          <a:off x="253122" y="1105797"/>
          <a:ext cx="11398884" cy="47050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Change dbo.</a:t>
                      </a:r>
                      <a:r>
                        <a:rPr lang="en-MY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DummySection2OiltekA9998 into </a:t>
                      </a:r>
                      <a:r>
                        <a:rPr lang="en-MY" sz="18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dbo.DummyTestingData</a:t>
                      </a:r>
                      <a:r>
                        <a:rPr lang="en-MY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(1 project)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 change for all related path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Add class function in </a:t>
                      </a:r>
                      <a:r>
                        <a:rPr lang="en-US" sz="2000" dirty="0" err="1"/>
                        <a:t>PythonSQL</a:t>
                      </a:r>
                      <a:r>
                        <a:rPr lang="en-US" sz="2000" dirty="0"/>
                        <a:t> [</a:t>
                      </a:r>
                      <a:r>
                        <a:rPr lang="en-US" sz="2000" dirty="0" err="1"/>
                        <a:t>LoadProjectDataAsync</a:t>
                      </a:r>
                      <a:r>
                        <a:rPr lang="en-US" sz="2000" dirty="0"/>
                        <a:t>]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Add multiple project with many client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9525841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19/08/26</a:t>
                      </a:r>
                      <a:endParaRPr kumimoji="0" lang="en-MY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Check </a:t>
                      </a:r>
                      <a:r>
                        <a:rPr lang="en-US" sz="2000" dirty="0" err="1"/>
                        <a:t>json</a:t>
                      </a:r>
                      <a:r>
                        <a:rPr lang="en-US" sz="2000" dirty="0"/>
                        <a:t> make sure unique for 1 entry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MY" sz="20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unallocated_device_ids.json</a:t>
                      </a:r>
                      <a:endParaRPr lang="en-MY" sz="2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MY" sz="20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floating_deviceid.json</a:t>
                      </a:r>
                      <a:endParaRPr lang="en-MY" sz="2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919462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Pattern hardcoded in assign cluster –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GetDraftQuotas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PROBLEM : current example only applicable for SCETION 2 only.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ACTION : need to create dummy pattern for cluster quota allocation for ALL the section = by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CustomerCode</a:t>
                      </a:r>
                      <a:endParaRPr lang="en-US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TYPE FILE : SQL [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dbo.PatternCluster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]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8116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83238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EE936E-7DB2-ED25-8B50-F5EE90D66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9C0D96-2408-2461-3DCC-2FE24422B204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20/08/26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0351EC3-0C0E-52AB-92B5-838E5ACF56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379496"/>
              </p:ext>
            </p:extLst>
          </p:nvPr>
        </p:nvGraphicFramePr>
        <p:xfrm>
          <a:off x="253122" y="1105797"/>
          <a:ext cx="11398884" cy="211915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Setup the output console aps for fulfilled and vacant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6559121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Sync </a:t>
                      </a:r>
                      <a:r>
                        <a:rPr lang="en-US" sz="2000" dirty="0" err="1"/>
                        <a:t>mindmap</a:t>
                      </a:r>
                      <a:r>
                        <a:rPr lang="en-US" sz="2000" dirty="0"/>
                        <a:t> and coding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15696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Setup output </a:t>
                      </a:r>
                      <a:r>
                        <a:rPr lang="en-US" sz="2000" dirty="0" err="1"/>
                        <a:t>dbo</a:t>
                      </a:r>
                      <a:r>
                        <a:rPr lang="en-US" sz="2000" dirty="0"/>
                        <a:t> in SQL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5796841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Insert Output </a:t>
                      </a:r>
                      <a:r>
                        <a:rPr lang="en-MY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</a:t>
                      </a: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SQL return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23778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40716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074516-6CC0-6962-F4FB-B6AF3A65E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C096C78A-7468-0EE4-B2EE-C227B4E0D0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0455" y="128499"/>
            <a:ext cx="7163804" cy="6601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3811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B83E33-3A33-201B-7189-951E3CBB8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5A449B-8EB3-DDD5-58A4-5BB43CB57EE9}"/>
              </a:ext>
            </a:extLst>
          </p:cNvPr>
          <p:cNvSpPr txBox="1"/>
          <p:nvPr/>
        </p:nvSpPr>
        <p:spPr>
          <a:xfrm>
            <a:off x="5078388" y="271126"/>
            <a:ext cx="20352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JSON file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43F34C5-78E3-A69E-A1CD-7613D5F36F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0631062"/>
              </p:ext>
            </p:extLst>
          </p:nvPr>
        </p:nvGraphicFramePr>
        <p:xfrm>
          <a:off x="333375" y="1174746"/>
          <a:ext cx="11525249" cy="468576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03133">
                  <a:extLst>
                    <a:ext uri="{9D8B030D-6E8A-4147-A177-3AD203B41FA5}">
                      <a16:colId xmlns:a16="http://schemas.microsoft.com/office/drawing/2014/main" val="3269983278"/>
                    </a:ext>
                  </a:extLst>
                </a:gridCol>
                <a:gridCol w="4483709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4138407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MY" sz="1400" dirty="0"/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800" b="1" dirty="0" err="1">
                          <a:latin typeface="+mj-lt"/>
                        </a:rPr>
                        <a:t>unallocated_device_ids.json</a:t>
                      </a:r>
                      <a:endParaRPr lang="en-MY" sz="1800" b="1" dirty="0">
                        <a:latin typeface="+mj-lt"/>
                      </a:endParaRPr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800" b="1" dirty="0" err="1">
                          <a:latin typeface="+mj-lt"/>
                        </a:rPr>
                        <a:t>floating_deviceid.json</a:t>
                      </a:r>
                      <a:endParaRPr lang="en-MY" sz="1800" b="1" dirty="0">
                        <a:latin typeface="+mj-lt"/>
                      </a:endParaRPr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 dirty="0"/>
                        <a:t>Trigger condition</a:t>
                      </a:r>
                      <a:endParaRPr lang="en-MY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Known prediction (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DeviceType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/Section/Cluster all valid) but no quota bucket had room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Any of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DeviceType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/Section/Cluster is </a:t>
                      </a:r>
                      <a:r>
                        <a:rPr lang="en-MY" sz="1400" b="1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UNKNOWN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0005915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Timing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After quota allocation (from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AllocationResult.Floating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After quota allocation (from AllocationResult.Floating) — same moment as left, not a different stage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3388533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Percentage / confidence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stored — entry has no Score/Confidence field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stored — same, no Score/Confidence field either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4563702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File scope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 file, shared across all projects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 file, shared across all projects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3895558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Dedupe key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DeviceId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+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ProjectCode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DeviceId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+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ProjectCode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4295568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Status lifecycle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"pending" → "assigned" (via MarkAsAssigned, once a human manually places it)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"pending" only — nothing in the code ever updates it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7272679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Assembly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Logic.dll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Logic.dll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172134"/>
                  </a:ext>
                </a:extLst>
              </a:tr>
              <a:tr h="4974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Write method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LogicAssignment.DumpUnallocated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LogicAssignment.DumpFloating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08269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34272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FC284B-2AA5-0753-672D-DCAD5C8F6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B2FB6B-0110-F956-4CA1-53BB47DCDBED}"/>
              </a:ext>
            </a:extLst>
          </p:cNvPr>
          <p:cNvSpPr txBox="1"/>
          <p:nvPr/>
        </p:nvSpPr>
        <p:spPr>
          <a:xfrm>
            <a:off x="1571624" y="681262"/>
            <a:ext cx="92297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How the </a:t>
            </a:r>
            <a:r>
              <a:rPr lang="en-US" sz="3600" dirty="0" err="1"/>
              <a:t>cluster_floating_device_ids.json</a:t>
            </a:r>
            <a:r>
              <a:rPr lang="en-US" sz="3600" dirty="0"/>
              <a:t> obtain?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9D2531-41AF-5362-6F80-BF0315594145}"/>
              </a:ext>
            </a:extLst>
          </p:cNvPr>
          <p:cNvSpPr txBox="1"/>
          <p:nvPr/>
        </p:nvSpPr>
        <p:spPr>
          <a:xfrm>
            <a:off x="857249" y="2287191"/>
            <a:ext cx="1019174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MY" b="1" dirty="0"/>
              <a:t>2. The quota allocator already tried — it doesn't retry from the file</a:t>
            </a:r>
            <a:endParaRPr lang="en-MY" dirty="0"/>
          </a:p>
          <a:p>
            <a:pPr rtl="0">
              <a:buNone/>
            </a:pPr>
            <a:r>
              <a:rPr lang="en-MY" dirty="0"/>
              <a:t>The allocator isn't a queue that keeps attempting to place floating devices later. It runs its own internal two-pass process </a:t>
            </a:r>
            <a:r>
              <a:rPr lang="en-MY" i="1" dirty="0"/>
              <a:t>before</a:t>
            </a:r>
            <a:r>
              <a:rPr lang="en-MY" dirty="0"/>
              <a:t> anything is written to </a:t>
            </a:r>
            <a:r>
              <a:rPr lang="en-MY" dirty="0" err="1">
                <a:latin typeface="Courier New" panose="02070309020205020404" pitchFamily="49" charset="0"/>
              </a:rPr>
              <a:t>floating_deviceid.json</a:t>
            </a:r>
            <a:r>
              <a:rPr lang="en-MY" dirty="0"/>
              <a:t>: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1</a:t>
            </a:r>
            <a:r>
              <a:rPr lang="en-MY" dirty="0"/>
              <a:t> (lines 116-162): direct match on </a:t>
            </a:r>
            <a:r>
              <a:rPr lang="en-MY" dirty="0">
                <a:latin typeface="Courier New" panose="02070309020205020404" pitchFamily="49" charset="0"/>
              </a:rPr>
              <a:t>Section + Cluster + </a:t>
            </a:r>
            <a:r>
              <a:rPr lang="en-MY" dirty="0" err="1">
                <a:latin typeface="Courier New" panose="02070309020205020404" pitchFamily="49" charset="0"/>
              </a:rPr>
              <a:t>DeviceType</a:t>
            </a:r>
            <a:r>
              <a:rPr lang="en-MY" dirty="0"/>
              <a:t>, top-N by score.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2</a:t>
            </a:r>
            <a:r>
              <a:rPr lang="en-MY" dirty="0"/>
              <a:t> (lines 164-170): whatever's left becomes the internal "floating pool" for that section.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3</a:t>
            </a:r>
            <a:r>
              <a:rPr lang="en-MY" dirty="0"/>
              <a:t> (lines 172-214): backfill — pulls from that same floating pool to fill remaining deficits, matched loosely by </a:t>
            </a:r>
            <a:r>
              <a:rPr lang="en-MY" dirty="0">
                <a:latin typeface="Courier New" panose="02070309020205020404" pitchFamily="49" charset="0"/>
              </a:rPr>
              <a:t>Section + </a:t>
            </a:r>
            <a:r>
              <a:rPr lang="en-MY" dirty="0" err="1">
                <a:latin typeface="Courier New" panose="02070309020205020404" pitchFamily="49" charset="0"/>
              </a:rPr>
              <a:t>DeviceType</a:t>
            </a:r>
            <a:r>
              <a:rPr lang="en-MY" dirty="0"/>
              <a:t> (ignoring the originally predicted cluster).</a:t>
            </a:r>
          </a:p>
        </p:txBody>
      </p:sp>
    </p:spTree>
    <p:extLst>
      <p:ext uri="{BB962C8B-B14F-4D97-AF65-F5344CB8AC3E}">
        <p14:creationId xmlns:p14="http://schemas.microsoft.com/office/powerpoint/2010/main" val="16311984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9432CB-B4CC-04E1-DEBD-C71D7F85B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9A62446-AFEE-0946-2114-DA4F091B5DA6}"/>
              </a:ext>
            </a:extLst>
          </p:cNvPr>
          <p:cNvSpPr txBox="1"/>
          <p:nvPr/>
        </p:nvSpPr>
        <p:spPr>
          <a:xfrm>
            <a:off x="1000125" y="1694497"/>
            <a:ext cx="1019174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b="1" dirty="0" err="1"/>
              <a:t>floating_deviceid.json</a:t>
            </a:r>
            <a:r>
              <a:rPr lang="en-MY" dirty="0"/>
              <a:t> ← devices where </a:t>
            </a:r>
            <a:r>
              <a:rPr lang="en-MY" dirty="0" err="1"/>
              <a:t>DeviceType</a:t>
            </a:r>
            <a:r>
              <a:rPr lang="en-MY" dirty="0"/>
              <a:t> == "UNKNOWN" </a:t>
            </a:r>
            <a:r>
              <a:rPr lang="en-MY" b="1" dirty="0"/>
              <a:t>or</a:t>
            </a:r>
            <a:r>
              <a:rPr lang="en-MY" dirty="0"/>
              <a:t> Section == "UNKNOWN" </a:t>
            </a:r>
            <a:r>
              <a:rPr lang="en-MY" b="1" dirty="0"/>
              <a:t>or</a:t>
            </a:r>
            <a:r>
              <a:rPr lang="en-MY" dirty="0"/>
              <a:t> Cluster == "UNKNOWN“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b="1" dirty="0" err="1"/>
              <a:t>unallocated_device_ids.json</a:t>
            </a:r>
            <a:r>
              <a:rPr lang="en-MY" dirty="0"/>
              <a:t> ← devices where </a:t>
            </a:r>
            <a:r>
              <a:rPr lang="en-MY" b="1" dirty="0"/>
              <a:t>all three are valid/known</a:t>
            </a:r>
            <a:r>
              <a:rPr lang="en-MY" dirty="0"/>
              <a:t>, but still didn't get claimed by any quota bucket (capacity full, or no bucket exists for that combo)</a:t>
            </a:r>
          </a:p>
        </p:txBody>
      </p:sp>
    </p:spTree>
    <p:extLst>
      <p:ext uri="{BB962C8B-B14F-4D97-AF65-F5344CB8AC3E}">
        <p14:creationId xmlns:p14="http://schemas.microsoft.com/office/powerpoint/2010/main" val="2261729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B0C0EF-E2BF-BE1F-D4D9-5672A004A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F12169-012C-035B-0B37-20D16F503AE3}"/>
              </a:ext>
            </a:extLst>
          </p:cNvPr>
          <p:cNvSpPr txBox="1"/>
          <p:nvPr/>
        </p:nvSpPr>
        <p:spPr>
          <a:xfrm>
            <a:off x="3132084" y="283182"/>
            <a:ext cx="64533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Movement of dataset [UDPATE 04/08/26]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B41492-3967-A06F-AB84-3D8C5AD6A74A}"/>
              </a:ext>
            </a:extLst>
          </p:cNvPr>
          <p:cNvSpPr txBox="1"/>
          <p:nvPr/>
        </p:nvSpPr>
        <p:spPr>
          <a:xfrm>
            <a:off x="360618" y="1289608"/>
            <a:ext cx="2077798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Received 8 RAW excel files in zip files </a:t>
            </a:r>
            <a:r>
              <a:rPr lang="en-US" sz="1400" dirty="0"/>
              <a:t>[Dataset/1. </a:t>
            </a:r>
            <a:r>
              <a:rPr lang="en-US" sz="1400" dirty="0" err="1"/>
              <a:t>raw_data</a:t>
            </a:r>
            <a:r>
              <a:rPr lang="en-US" sz="1400" dirty="0"/>
              <a:t>]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6797A3C-DB22-E459-74BB-FD071866140F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2438416" y="1735884"/>
            <a:ext cx="295914" cy="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0EA222D-3A46-A016-C00C-B155E496A76E}"/>
              </a:ext>
            </a:extLst>
          </p:cNvPr>
          <p:cNvSpPr txBox="1"/>
          <p:nvPr/>
        </p:nvSpPr>
        <p:spPr>
          <a:xfrm>
            <a:off x="2734330" y="1443974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Clean each excel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9F7BA4-573B-A1B5-8482-BAEB834E4566}"/>
              </a:ext>
            </a:extLst>
          </p:cNvPr>
          <p:cNvSpPr txBox="1"/>
          <p:nvPr/>
        </p:nvSpPr>
        <p:spPr>
          <a:xfrm>
            <a:off x="5526864" y="1428107"/>
            <a:ext cx="241093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Merge into 1 csv files</a:t>
            </a:r>
          </a:p>
          <a:p>
            <a:pPr algn="ctr"/>
            <a:r>
              <a:rPr lang="en-US" sz="1400" dirty="0"/>
              <a:t>[</a:t>
            </a:r>
            <a:r>
              <a:rPr lang="en-MY" sz="1400" dirty="0"/>
              <a:t>Dataset</a:t>
            </a:r>
            <a:r>
              <a:rPr lang="en-MY" sz="1400" b="1" dirty="0"/>
              <a:t>\o</a:t>
            </a:r>
            <a:r>
              <a:rPr lang="en-MY" sz="1400" dirty="0"/>
              <a:t>utput</a:t>
            </a:r>
            <a:r>
              <a:rPr lang="en-MY" sz="1400" b="1" dirty="0"/>
              <a:t>\m</a:t>
            </a:r>
            <a:r>
              <a:rPr lang="en-MY" sz="1400" dirty="0"/>
              <a:t>asterfile.csv</a:t>
            </a:r>
            <a:r>
              <a:rPr lang="en-US" sz="1400" dirty="0"/>
              <a:t>]</a:t>
            </a:r>
            <a:endParaRPr lang="en-MY" sz="1400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D462315-5951-5C82-315D-1E18348CCE52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 flipV="1">
            <a:off x="5230950" y="1720495"/>
            <a:ext cx="295914" cy="158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0C47FB-1DBC-FAEE-73F0-DC0738C173BE}"/>
              </a:ext>
            </a:extLst>
          </p:cNvPr>
          <p:cNvSpPr txBox="1"/>
          <p:nvPr/>
        </p:nvSpPr>
        <p:spPr>
          <a:xfrm>
            <a:off x="8319398" y="1266763"/>
            <a:ext cx="1471447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SGD model</a:t>
            </a:r>
            <a:endParaRPr lang="en-MY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569126-C902-EF93-4306-2A3D8A166E7A}"/>
              </a:ext>
            </a:extLst>
          </p:cNvPr>
          <p:cNvCxnSpPr>
            <a:cxnSpLocks/>
            <a:stCxn id="13" idx="3"/>
            <a:endCxn id="20" idx="1"/>
          </p:cNvCxnSpPr>
          <p:nvPr/>
        </p:nvCxnSpPr>
        <p:spPr>
          <a:xfrm>
            <a:off x="7937798" y="1720495"/>
            <a:ext cx="381600" cy="7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B41A58E-824F-5CCF-E4A0-A05129B4789B}"/>
              </a:ext>
            </a:extLst>
          </p:cNvPr>
          <p:cNvSpPr txBox="1"/>
          <p:nvPr/>
        </p:nvSpPr>
        <p:spPr>
          <a:xfrm>
            <a:off x="10290522" y="1551218"/>
            <a:ext cx="147144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master_df.pkl</a:t>
            </a:r>
            <a:endParaRPr lang="en-MY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554F045-501E-A964-9EF5-BA54A176CBA6}"/>
              </a:ext>
            </a:extLst>
          </p:cNvPr>
          <p:cNvCxnSpPr>
            <a:cxnSpLocks/>
            <a:stCxn id="20" idx="3"/>
            <a:endCxn id="47" idx="1"/>
          </p:cNvCxnSpPr>
          <p:nvPr/>
        </p:nvCxnSpPr>
        <p:spPr>
          <a:xfrm>
            <a:off x="9790845" y="1728428"/>
            <a:ext cx="499677" cy="7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DBCF579-EC25-F117-F193-EE0FCD1E0E4F}"/>
              </a:ext>
            </a:extLst>
          </p:cNvPr>
          <p:cNvSpPr txBox="1"/>
          <p:nvPr/>
        </p:nvSpPr>
        <p:spPr>
          <a:xfrm>
            <a:off x="360618" y="806402"/>
            <a:ext cx="1545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SGD Classifier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D05E5B-D5E8-52FB-2D7D-8A861382E0FC}"/>
              </a:ext>
            </a:extLst>
          </p:cNvPr>
          <p:cNvSpPr txBox="1"/>
          <p:nvPr/>
        </p:nvSpPr>
        <p:spPr>
          <a:xfrm>
            <a:off x="360618" y="3244334"/>
            <a:ext cx="1004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XGBoost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BFF2471-CD09-F631-B61E-8BB6B05F210F}"/>
              </a:ext>
            </a:extLst>
          </p:cNvPr>
          <p:cNvSpPr txBox="1"/>
          <p:nvPr/>
        </p:nvSpPr>
        <p:spPr>
          <a:xfrm>
            <a:off x="277215" y="3875620"/>
            <a:ext cx="2771466" cy="14465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Dummy data</a:t>
            </a:r>
          </a:p>
          <a:p>
            <a:pPr algn="ctr"/>
            <a:r>
              <a:rPr lang="en-US" sz="1400" dirty="0"/>
              <a:t>[</a:t>
            </a:r>
            <a:r>
              <a:rPr lang="en-MY" sz="1400" b="1" dirty="0"/>
              <a:t>r</a:t>
            </a:r>
            <a:r>
              <a:rPr lang="en-MY" sz="1400" dirty="0"/>
              <a:t>epos\</a:t>
            </a:r>
            <a:r>
              <a:rPr lang="en-MY" sz="1400" dirty="0" err="1"/>
              <a:t>DeviceCluster</a:t>
            </a:r>
            <a:r>
              <a:rPr lang="en-MY" sz="1400" dirty="0"/>
              <a:t>\1.training_model\</a:t>
            </a:r>
            <a:r>
              <a:rPr lang="en-MY" sz="1400" dirty="0" err="1"/>
              <a:t>dummy_data</a:t>
            </a:r>
            <a:r>
              <a:rPr lang="en-US" sz="1400" dirty="0"/>
              <a:t>]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UGS (A1706-A1995)</a:t>
            </a:r>
          </a:p>
          <a:p>
            <a:pPr algn="ctr"/>
            <a:r>
              <a:rPr lang="en-MY" sz="1400" dirty="0" err="1"/>
              <a:t>Oiltek</a:t>
            </a:r>
            <a:r>
              <a:rPr lang="en-MY" sz="1400" dirty="0"/>
              <a:t> (A2027-A8885)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412BAF-F98B-43A4-BA69-C23842C63EA5}"/>
              </a:ext>
            </a:extLst>
          </p:cNvPr>
          <p:cNvSpPr txBox="1"/>
          <p:nvPr/>
        </p:nvSpPr>
        <p:spPr>
          <a:xfrm>
            <a:off x="3982640" y="4275729"/>
            <a:ext cx="183882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XGB model</a:t>
            </a:r>
            <a:endParaRPr lang="en-MY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56D47BF-E73D-21FF-E411-9256D55B60EE}"/>
              </a:ext>
            </a:extLst>
          </p:cNvPr>
          <p:cNvCxnSpPr>
            <a:cxnSpLocks/>
            <a:stCxn id="61" idx="3"/>
            <a:endCxn id="70" idx="1"/>
          </p:cNvCxnSpPr>
          <p:nvPr/>
        </p:nvCxnSpPr>
        <p:spPr>
          <a:xfrm>
            <a:off x="3048681" y="4598895"/>
            <a:ext cx="9339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1608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116A72-918E-0144-C1C0-6BE3686A0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AA1AF1-B921-6E24-D7B1-C4B5D36D637B}"/>
              </a:ext>
            </a:extLst>
          </p:cNvPr>
          <p:cNvSpPr txBox="1"/>
          <p:nvPr/>
        </p:nvSpPr>
        <p:spPr>
          <a:xfrm>
            <a:off x="2922496" y="274781"/>
            <a:ext cx="7326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Full Flowchart DLL Library Model (18/082026)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CBB67C-16B6-D6DE-3710-AFCFDB7079AF}"/>
              </a:ext>
            </a:extLst>
          </p:cNvPr>
          <p:cNvSpPr txBox="1"/>
          <p:nvPr/>
        </p:nvSpPr>
        <p:spPr>
          <a:xfrm>
            <a:off x="360617" y="1289608"/>
            <a:ext cx="369479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SQL Database</a:t>
            </a:r>
          </a:p>
          <a:p>
            <a:pPr algn="ctr"/>
            <a:r>
              <a:rPr lang="en-US" dirty="0"/>
              <a:t>{</a:t>
            </a:r>
            <a:r>
              <a:rPr lang="en-US" dirty="0" err="1"/>
              <a:t>ProjectCode</a:t>
            </a:r>
            <a:r>
              <a:rPr lang="en-US" dirty="0"/>
              <a:t>, </a:t>
            </a:r>
            <a:r>
              <a:rPr lang="en-US" dirty="0" err="1"/>
              <a:t>CustomerCode</a:t>
            </a:r>
            <a:r>
              <a:rPr lang="en-US" dirty="0"/>
              <a:t>, </a:t>
            </a:r>
            <a:r>
              <a:rPr lang="en-US" dirty="0" err="1"/>
              <a:t>DataIds</a:t>
            </a:r>
            <a:r>
              <a:rPr lang="en-US" dirty="0"/>
              <a:t>}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15916D2-7E87-B0A7-4264-E75A9840B2D5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055416" y="1612774"/>
            <a:ext cx="15208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33E434E-45E2-361F-72D2-E33FCF4BBF72}"/>
              </a:ext>
            </a:extLst>
          </p:cNvPr>
          <p:cNvSpPr txBox="1"/>
          <p:nvPr/>
        </p:nvSpPr>
        <p:spPr>
          <a:xfrm>
            <a:off x="5576220" y="1289608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JSON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5EC90D-6F35-4996-8241-0A94CBFED27D}"/>
              </a:ext>
            </a:extLst>
          </p:cNvPr>
          <p:cNvSpPr/>
          <p:nvPr/>
        </p:nvSpPr>
        <p:spPr>
          <a:xfrm>
            <a:off x="677644" y="2944063"/>
            <a:ext cx="4489704" cy="29726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r>
              <a:rPr lang="en-MY" dirty="0"/>
              <a:t>[Source SQL </a:t>
            </a:r>
            <a:r>
              <a:rPr lang="en-MY" dirty="0" err="1"/>
              <a:t>db</a:t>
            </a:r>
            <a:r>
              <a:rPr lang="en-MY" dirty="0"/>
              <a:t> = A9998]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</p:spTree>
    <p:extLst>
      <p:ext uri="{BB962C8B-B14F-4D97-AF65-F5344CB8AC3E}">
        <p14:creationId xmlns:p14="http://schemas.microsoft.com/office/powerpoint/2010/main" val="2234319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4993CD-ABA8-D564-1015-9B87B0101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4344B5-4C40-2B46-55DB-B267BCB71AB1}"/>
              </a:ext>
            </a:extLst>
          </p:cNvPr>
          <p:cNvSpPr txBox="1"/>
          <p:nvPr/>
        </p:nvSpPr>
        <p:spPr>
          <a:xfrm>
            <a:off x="3284484" y="2555575"/>
            <a:ext cx="64533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Full flowchart</a:t>
            </a:r>
          </a:p>
          <a:p>
            <a:r>
              <a:rPr lang="en-US" sz="2800" dirty="0">
                <a:solidFill>
                  <a:schemeClr val="accent1"/>
                </a:solidFill>
                <a:hlinkClick r:id="rId2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 Flowchart ML development.xlsx</a:t>
            </a:r>
            <a:endParaRPr lang="en-MY" sz="28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1623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417279-FFF0-6BF9-FE2D-8E9D18E28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2F77FC3-E448-268A-CA5D-899EBF724E73}"/>
              </a:ext>
            </a:extLst>
          </p:cNvPr>
          <p:cNvSpPr txBox="1"/>
          <p:nvPr/>
        </p:nvSpPr>
        <p:spPr>
          <a:xfrm>
            <a:off x="669194" y="2419505"/>
            <a:ext cx="1112163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b="1" dirty="0" err="1"/>
              <a:t>clu_proba_raw</a:t>
            </a:r>
            <a:r>
              <a:rPr lang="en-MY" b="1" dirty="0"/>
              <a:t>           = </a:t>
            </a:r>
            <a:r>
              <a:rPr lang="en-MY" b="1" dirty="0" err="1"/>
              <a:t>model_cluster.predict_proba</a:t>
            </a:r>
            <a:r>
              <a:rPr lang="en-MY" b="1" dirty="0"/>
              <a:t>(</a:t>
            </a:r>
            <a:r>
              <a:rPr lang="en-MY" b="1" dirty="0" err="1"/>
              <a:t>X_clu</a:t>
            </a:r>
            <a:r>
              <a:rPr lang="en-MY" b="1" dirty="0"/>
              <a:t>)   	</a:t>
            </a:r>
            <a:r>
              <a:rPr lang="en-MY" dirty="0"/>
              <a:t># ← full probability array, one score per cluster class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clu_pred_enc</a:t>
            </a:r>
            <a:r>
              <a:rPr lang="en-MY" b="1" dirty="0"/>
              <a:t>            = </a:t>
            </a:r>
            <a:r>
              <a:rPr lang="en-MY" b="1" dirty="0" err="1"/>
              <a:t>np.argmax</a:t>
            </a:r>
            <a:r>
              <a:rPr lang="en-MY" b="1" dirty="0"/>
              <a:t>(</a:t>
            </a:r>
            <a:r>
              <a:rPr lang="en-MY" b="1" dirty="0" err="1"/>
              <a:t>clu_proba_raw</a:t>
            </a:r>
            <a:r>
              <a:rPr lang="en-MY" b="1" dirty="0"/>
              <a:t>, axis=1)  </a:t>
            </a:r>
            <a:r>
              <a:rPr lang="en-MY" dirty="0"/>
              <a:t>   	# ← THIS is where it picks the max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clu_conf_raw</a:t>
            </a:r>
            <a:r>
              <a:rPr lang="en-MY" b="1" dirty="0"/>
              <a:t>            = </a:t>
            </a:r>
            <a:r>
              <a:rPr lang="en-MY" b="1" dirty="0" err="1"/>
              <a:t>clu_proba_raw.max</a:t>
            </a:r>
            <a:r>
              <a:rPr lang="en-MY" b="1" dirty="0"/>
              <a:t>(axis=1)            	</a:t>
            </a:r>
            <a:r>
              <a:rPr lang="en-MY" dirty="0"/>
              <a:t># ← and this grabs the max value itself</a:t>
            </a:r>
          </a:p>
        </p:txBody>
      </p:sp>
    </p:spTree>
    <p:extLst>
      <p:ext uri="{BB962C8B-B14F-4D97-AF65-F5344CB8AC3E}">
        <p14:creationId xmlns:p14="http://schemas.microsoft.com/office/powerpoint/2010/main" val="27019312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FCF45-ABF1-2E1D-3EB7-070DB7041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15891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0E0CA2-D7B5-F6C6-5FEE-891560CA1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440EA0-0488-0289-9DA2-174F6A949FA3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26268465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2640D1-542D-7C4F-6A12-1D02CE65E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D31E10-7869-40D6-92E4-D49052B29F1F}"/>
              </a:ext>
            </a:extLst>
          </p:cNvPr>
          <p:cNvSpPr txBox="1"/>
          <p:nvPr/>
        </p:nvSpPr>
        <p:spPr>
          <a:xfrm>
            <a:off x="758107" y="469998"/>
            <a:ext cx="10382859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To do list 20/07/2026</a:t>
            </a:r>
          </a:p>
          <a:p>
            <a:endParaRPr lang="en-US" sz="2800" dirty="0"/>
          </a:p>
          <a:p>
            <a:pPr marL="914400" indent="-914400">
              <a:buFont typeface="+mj-lt"/>
              <a:buAutoNum type="arabicPeriod"/>
            </a:pPr>
            <a:r>
              <a:rPr lang="en-US" sz="2800" dirty="0"/>
              <a:t>Confirmation training with HR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Extract the pattern dataset of Section 2 Cluster OILTEK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Transform into tabulation dataset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Ask </a:t>
            </a:r>
            <a:r>
              <a:rPr lang="en-MY" sz="2800" dirty="0" err="1"/>
              <a:t>claude</a:t>
            </a:r>
            <a:r>
              <a:rPr lang="en-MY" sz="2800" dirty="0"/>
              <a:t> to find which line of python script predict_sectioncluster.py that showing all the percentage prediction for each cluster before showing/pickup the highest percentage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Find the line in python script of the predict_sectioncuster.py that give percentage of all the possibilities in the cluster.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Setup in descending order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List out all the possibilities of dataset that might bring confusing </a:t>
            </a:r>
          </a:p>
        </p:txBody>
      </p:sp>
    </p:spTree>
    <p:extLst>
      <p:ext uri="{BB962C8B-B14F-4D97-AF65-F5344CB8AC3E}">
        <p14:creationId xmlns:p14="http://schemas.microsoft.com/office/powerpoint/2010/main" val="36498619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BA455F-C5FB-E31C-F4C9-C7C20CB83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E0A5CF-E1ED-D92D-C5E8-63D63DA3B39F}"/>
              </a:ext>
            </a:extLst>
          </p:cNvPr>
          <p:cNvSpPr txBox="1"/>
          <p:nvPr/>
        </p:nvSpPr>
        <p:spPr>
          <a:xfrm>
            <a:off x="758107" y="469998"/>
            <a:ext cx="1038285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algn="ctr"/>
            <a:r>
              <a:rPr lang="en-MY" sz="3600" dirty="0"/>
              <a:t>TAKE NOTE THIS 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dirty="0"/>
              <a:t>Script that </a:t>
            </a:r>
            <a:r>
              <a:rPr lang="en-MY" dirty="0" err="1"/>
              <a:t>pikup</a:t>
            </a:r>
            <a:r>
              <a:rPr lang="en-MY" dirty="0"/>
              <a:t> the max prediction percentage</a:t>
            </a:r>
          </a:p>
          <a:p>
            <a:r>
              <a:rPr lang="en-MY" dirty="0"/>
              <a:t> ratio    = </a:t>
            </a:r>
            <a:r>
              <a:rPr lang="en-MY" dirty="0" err="1"/>
              <a:t>np.maximum</a:t>
            </a:r>
            <a:r>
              <a:rPr lang="en-MY" dirty="0"/>
              <a:t>(0, </a:t>
            </a:r>
            <a:r>
              <a:rPr lang="en-MY" dirty="0" err="1"/>
              <a:t>avg_dist</a:t>
            </a:r>
            <a:r>
              <a:rPr lang="en-MY" dirty="0"/>
              <a:t> - </a:t>
            </a:r>
            <a:r>
              <a:rPr lang="en-MY" dirty="0" err="1"/>
              <a:t>ood_threshold</a:t>
            </a:r>
            <a:r>
              <a:rPr lang="en-MY" dirty="0"/>
              <a:t>) / </a:t>
            </a:r>
            <a:r>
              <a:rPr lang="en-MY" dirty="0" err="1"/>
              <a:t>ood_threshold</a:t>
            </a:r>
            <a:endParaRPr lang="en-MY" dirty="0"/>
          </a:p>
          <a:p>
            <a:r>
              <a:rPr lang="en-MY" dirty="0"/>
              <a:t>    adjusted = </a:t>
            </a:r>
            <a:r>
              <a:rPr lang="en-MY" dirty="0" err="1"/>
              <a:t>conf_raw</a:t>
            </a:r>
            <a:r>
              <a:rPr lang="en-MY" dirty="0"/>
              <a:t> / (1 + ratio)</a:t>
            </a:r>
          </a:p>
          <a:p>
            <a:endParaRPr lang="en-MY" dirty="0"/>
          </a:p>
          <a:p>
            <a:endParaRPr lang="en-MY" dirty="0"/>
          </a:p>
          <a:p>
            <a:r>
              <a:rPr lang="en-MY" dirty="0"/>
              <a:t>Or this script:</a:t>
            </a:r>
          </a:p>
          <a:p>
            <a:r>
              <a:rPr lang="en-MY" dirty="0"/>
              <a:t>    # ── Section prediction (single best, same as predict()) ────────────</a:t>
            </a:r>
          </a:p>
          <a:p>
            <a:r>
              <a:rPr lang="en-MY" dirty="0"/>
              <a:t>    </a:t>
            </a:r>
            <a:r>
              <a:rPr lang="en-MY" dirty="0" err="1"/>
              <a:t>X_sec</a:t>
            </a:r>
            <a:r>
              <a:rPr lang="en-MY" dirty="0"/>
              <a:t> = </a:t>
            </a:r>
            <a:r>
              <a:rPr lang="en-MY" dirty="0" err="1"/>
              <a:t>df_feat</a:t>
            </a:r>
            <a:r>
              <a:rPr lang="en-MY" dirty="0"/>
              <a:t>[</a:t>
            </a:r>
            <a:r>
              <a:rPr lang="en-MY" dirty="0" err="1"/>
              <a:t>section_features</a:t>
            </a:r>
            <a:r>
              <a:rPr lang="en-MY" dirty="0"/>
              <a:t>].apply(</a:t>
            </a:r>
            <a:r>
              <a:rPr lang="en-MY" dirty="0" err="1"/>
              <a:t>pd.to_numeric</a:t>
            </a:r>
            <a:r>
              <a:rPr lang="en-MY" dirty="0"/>
              <a:t>, errors="coerce").</a:t>
            </a:r>
            <a:r>
              <a:rPr lang="en-MY" dirty="0" err="1"/>
              <a:t>fillna</a:t>
            </a:r>
            <a:r>
              <a:rPr lang="en-MY" dirty="0"/>
              <a:t>(0)</a:t>
            </a:r>
          </a:p>
          <a:p>
            <a:r>
              <a:rPr lang="en-MY" dirty="0"/>
              <a:t>    </a:t>
            </a:r>
            <a:r>
              <a:rPr lang="en-MY" dirty="0" err="1"/>
              <a:t>sec_proba_raw</a:t>
            </a:r>
            <a:r>
              <a:rPr lang="en-MY" dirty="0"/>
              <a:t> = </a:t>
            </a:r>
            <a:r>
              <a:rPr lang="en-MY" dirty="0" err="1"/>
              <a:t>model_section.predict_proba</a:t>
            </a:r>
            <a:r>
              <a:rPr lang="en-MY" dirty="0"/>
              <a:t>(</a:t>
            </a:r>
            <a:r>
              <a:rPr lang="en-MY" dirty="0" err="1"/>
              <a:t>X_sec</a:t>
            </a:r>
            <a:r>
              <a:rPr lang="en-MY" dirty="0"/>
              <a:t>)</a:t>
            </a:r>
          </a:p>
          <a:p>
            <a:r>
              <a:rPr lang="en-MY" dirty="0"/>
              <a:t>    </a:t>
            </a:r>
            <a:r>
              <a:rPr lang="en-MY" dirty="0" err="1"/>
              <a:t>sec_pred_enc</a:t>
            </a:r>
            <a:r>
              <a:rPr lang="en-MY" dirty="0"/>
              <a:t>  = </a:t>
            </a:r>
            <a:r>
              <a:rPr lang="en-MY" dirty="0" err="1"/>
              <a:t>np.argmax</a:t>
            </a:r>
            <a:r>
              <a:rPr lang="en-MY" dirty="0"/>
              <a:t>(</a:t>
            </a:r>
            <a:r>
              <a:rPr lang="en-MY" dirty="0" err="1"/>
              <a:t>sec_proba_raw</a:t>
            </a:r>
            <a:r>
              <a:rPr lang="en-MY" dirty="0"/>
              <a:t>, axis=1)</a:t>
            </a:r>
          </a:p>
          <a:p>
            <a:endParaRPr lang="en-MY" dirty="0"/>
          </a:p>
          <a:p>
            <a:br>
              <a:rPr lang="en-MY" dirty="0"/>
            </a:br>
            <a:endParaRPr lang="en-MY" dirty="0"/>
          </a:p>
          <a:p>
            <a:endParaRPr lang="en-MY" sz="2800" dirty="0"/>
          </a:p>
        </p:txBody>
      </p:sp>
    </p:spTree>
    <p:extLst>
      <p:ext uri="{BB962C8B-B14F-4D97-AF65-F5344CB8AC3E}">
        <p14:creationId xmlns:p14="http://schemas.microsoft.com/office/powerpoint/2010/main" val="26560452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B5533F-1B89-B99B-0D65-01371B3D6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2DA0EB-4492-1CBD-9585-FFC415099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523" y="231006"/>
            <a:ext cx="4043626" cy="6395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0233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8F463-FE94-A19A-FF78-AAFF47F1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E72955-82BD-20F2-756A-D78120C93D0A}"/>
              </a:ext>
            </a:extLst>
          </p:cNvPr>
          <p:cNvSpPr txBox="1"/>
          <p:nvPr/>
        </p:nvSpPr>
        <p:spPr>
          <a:xfrm>
            <a:off x="3788228" y="2621617"/>
            <a:ext cx="538842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solidFill>
                  <a:schemeClr val="bg1"/>
                </a:solidFill>
              </a:rPr>
              <a:t>Full flowchart</a:t>
            </a:r>
          </a:p>
        </p:txBody>
      </p:sp>
    </p:spTree>
    <p:extLst>
      <p:ext uri="{BB962C8B-B14F-4D97-AF65-F5344CB8AC3E}">
        <p14:creationId xmlns:p14="http://schemas.microsoft.com/office/powerpoint/2010/main" val="28761221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283BA-3DC0-6D63-5BFB-5BE9A422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77188-542A-8A3A-4EE1-35BA2F57CB6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184BF08-3E5D-3171-5ABB-DA38FE8FF86D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3B9CC73-0991-75BF-5923-46B7A8E00E42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619CAD-A68F-58F0-234F-B4E2B33FF01B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FD65D02-D6D8-CDF7-7819-93525F558A6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6B83D8-4114-0226-B808-E5D6685E840F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337188-D19F-9FA5-2A9F-0DA7453CF10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60ACDEB-806E-A983-A5AA-3D7E7EB00BAE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1AA0C6-3DB7-BFC5-4B02-E75ACCC03490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5F8D740-8572-ED9D-BC02-AAF774BE2334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818A06AD-10B2-78BC-A266-1DB78637265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80764CB-22CC-8DF4-DD78-B33474CC34E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8A6E997-26E7-69B5-95CC-DCBF799744F0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BB151CC7-7645-23DA-7B3A-836A6174EFC7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38C68A-D1AA-1E18-B9B4-1C7AA86A5EC2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</p:spTree>
    <p:extLst>
      <p:ext uri="{BB962C8B-B14F-4D97-AF65-F5344CB8AC3E}">
        <p14:creationId xmlns:p14="http://schemas.microsoft.com/office/powerpoint/2010/main" val="34335601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1043C2-1C0A-0131-6811-F65857B5D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42652D-CC66-D75D-6654-2D845D5869D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C1A1F2-24F1-6366-1EFD-2E5D57A11CA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0134F3C-AE36-6714-9474-E6BDBFB1839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9BEADC-3F77-226F-CDFD-06390D10FA6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FB30F94-2609-9DEE-62BD-2C2E1556240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C24A5B4-63B3-B424-2026-808BFC4ABC6A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AFE9A51-6C78-68D2-E10C-FB17E844D604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0F49E33-3A58-74A2-192B-FC4D816BC6CC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233B2-68AB-C0D1-35DD-ED8E30675B7A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41B4FA2-3554-B176-70C4-27F34A969C35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76042B3-CB02-F8FC-4339-153342D76FA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F367050-41B3-9E58-D3C2-2ECD881E5D4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1059DC0-E073-0409-48E2-045BF02E41D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7764549-F6A3-BEF9-F18D-63F36B2CAA2A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9DBA3F-5F9D-73C3-17F4-6C01745009AB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DB4641-B417-58B6-5762-EBF601BE3C19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46EDD2-93A5-2135-84A1-3A2DE7609A03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14415212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67656E-1D33-F928-6402-8EE9BC1BD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A57C37-B754-44D6-88F5-A7EDE4025614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8A9742-9D7B-2215-70B4-61D08E845347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7B30F1B-44EA-EB0C-1EDA-F376195ADB20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375F1A-3C06-980D-6098-8625A7F0934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859672C-A951-B513-0882-144ECA3BA59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6BBFBD5-BC37-3B86-E8EC-F20C9277953D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4B4DF8-95AD-BF96-6AD5-B5C22FF272B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A9DFD9A-493B-7579-812E-F5F3BFD76F13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503661-C56B-3487-9CDE-D1212A8C79F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34C5453-E5C8-19EE-0112-5CD6439C086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B9E99C0-9927-A2C8-5D6D-647A59ABCF5C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B2D1A65-E4AD-70CA-1CDA-CCAB95A79D37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0475E98-AE4E-4E87-82CE-147A62557B1B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C96411E-D33C-874C-0718-65D2E177CFFC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D2D5755-F36B-FFE6-25C0-F5AAA0F39E68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3004BF-DD05-A3D9-528B-1561A17A6C4B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EEDE3-83AB-0D3D-9293-A758BAC14DB2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2545441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7F7DA7-1D11-5B45-3B62-F12ED03B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2E5218-EB90-6968-1B12-9DADDD7CE485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1AF95-DAB9-9A85-F9DC-62C7CB76D961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B5FF7B-B52B-3A68-ADCC-95C546C92F82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FF9F9A-0BEC-2EC2-5274-A53A6C3A645C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FA6028-8576-7C72-5DD1-21696B4C391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5C6E45-ECA8-475B-D000-B08E75527FFD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1F26D2-AB3E-176D-DF1A-6292C8D1D42C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CE8864-E00B-386A-FCE8-088A85B5ED9E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3C2B3D6-1126-AF74-314B-926982F5C8B5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F12242E-86A1-2C3D-9C3C-4920CE89D76E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17EEF9D-341E-A751-EE4A-8438734AFF31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4E7B75-DDE2-B034-3C13-BF698151EBB7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B6F051B-C5C4-E775-EE52-467757019DF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6659810-BDBD-5F9D-6653-88446B23662B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AF9D62E-A29F-A753-737D-3615D2148A28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1A12A31-72D7-6738-145F-618D37428487}"/>
              </a:ext>
            </a:extLst>
          </p:cNvPr>
          <p:cNvSpPr txBox="1"/>
          <p:nvPr/>
        </p:nvSpPr>
        <p:spPr>
          <a:xfrm>
            <a:off x="442825" y="230164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9538849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7F6BA-3492-63F3-D785-4B5DF2A38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188357-3633-E56C-42CA-8B2BF6BDCB92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1</a:t>
            </a:r>
          </a:p>
        </p:txBody>
      </p:sp>
    </p:spTree>
    <p:extLst>
      <p:ext uri="{BB962C8B-B14F-4D97-AF65-F5344CB8AC3E}">
        <p14:creationId xmlns:p14="http://schemas.microsoft.com/office/powerpoint/2010/main" val="20263942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B6C9B0-778F-1AAB-6381-C68F7A7AA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BED547-20E1-B03C-A900-6FBB82A63718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1C0FFF-BA08-65E3-2254-640F1B0DACF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95719FB-9069-AB74-D1F0-8512C387AFB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516794-52DB-CD3F-E69D-59A39DA33EF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867C5DF-BAB9-3B34-305F-275B4B730C5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1506BF-3F2B-5153-D442-90A540C85E07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0B4600-DB22-D34B-E02A-AB1F02F5E03C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B6821B-8F1A-C77C-0ACA-1827455AA419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785E5-1367-F838-04AD-15FE6B264B2B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BCDA64E-F0FC-B63C-7A24-40FD8BFEE1CF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73377B0-55B3-B6AE-F730-90CD7AE12D91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62672F3-F933-9CAE-2ACF-91F9822831C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22B6D11-EE8D-E028-81B2-BDA4ADD49574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3312578-1956-BA51-A99F-513175148F56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F5A5DD5-7EA1-B5F0-CB2D-5E54C21159D0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D00FD0-F211-B060-32E1-DF7562EA91C1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795E75-7F75-63A1-BD8E-2344CB6B4B7E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36639115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68A95E-B525-91C0-7B0D-B0DC17AD2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A03B38-6E13-BEC7-4F3E-792FFC9998BA}"/>
              </a:ext>
            </a:extLst>
          </p:cNvPr>
          <p:cNvSpPr txBox="1"/>
          <p:nvPr/>
        </p:nvSpPr>
        <p:spPr>
          <a:xfrm>
            <a:off x="589547" y="421631"/>
            <a:ext cx="11012906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Approach 10/07/2026: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Run prediction model</a:t>
            </a:r>
          </a:p>
          <a:p>
            <a:pPr marL="342900" indent="-342900">
              <a:buAutoNum type="arabicParenR"/>
            </a:pPr>
            <a:r>
              <a:rPr lang="en-MY" sz="2400" dirty="0"/>
              <a:t>Logic sort the model into section and cluster based on the prediction result</a:t>
            </a:r>
          </a:p>
          <a:p>
            <a:pPr marL="342900" indent="-342900">
              <a:buAutoNum type="arabicParenR"/>
            </a:pPr>
            <a:r>
              <a:rPr lang="en-MY" sz="2400" dirty="0"/>
              <a:t>Left the UNKNOWN cluster</a:t>
            </a:r>
          </a:p>
          <a:p>
            <a:pPr marL="342900" indent="-342900">
              <a:buAutoNum type="arabicParenR"/>
            </a:pPr>
            <a:r>
              <a:rPr lang="en-MY" sz="2400" b="1" dirty="0"/>
              <a:t>UNKNOWN cluster		</a:t>
            </a:r>
          </a:p>
          <a:p>
            <a:r>
              <a:rPr lang="en-MY" sz="2400" b="1" dirty="0"/>
              <a:t>	</a:t>
            </a:r>
            <a:r>
              <a:rPr lang="en-MY" sz="2400" dirty="0"/>
              <a:t>-Check the top 3 highest percentage</a:t>
            </a:r>
          </a:p>
          <a:p>
            <a:r>
              <a:rPr lang="en-MY" sz="2400" dirty="0"/>
              <a:t>	-Load the top 3 cluster obtain from the highest percentage</a:t>
            </a:r>
          </a:p>
          <a:p>
            <a:r>
              <a:rPr lang="en-MY" sz="2400" dirty="0"/>
              <a:t>	-Match the pattern algorithm</a:t>
            </a:r>
          </a:p>
          <a:p>
            <a:r>
              <a:rPr lang="en-MY" sz="2400" dirty="0"/>
              <a:t>	-Is the equipment exist in the cluster algorithm reference? Yes/No</a:t>
            </a:r>
          </a:p>
          <a:p>
            <a:pPr lvl="5"/>
            <a:r>
              <a:rPr lang="en-MY" sz="2400" dirty="0"/>
              <a:t>-NO = EXCLUDE THE CLUSTER</a:t>
            </a:r>
          </a:p>
          <a:p>
            <a:pPr lvl="5"/>
            <a:r>
              <a:rPr lang="en-MY" sz="2400" dirty="0"/>
              <a:t>-YES = Proceed with the selection.</a:t>
            </a:r>
          </a:p>
          <a:p>
            <a:pPr lvl="5"/>
            <a:endParaRPr lang="en-MY" sz="2400" dirty="0"/>
          </a:p>
          <a:p>
            <a:pPr marL="452438" lvl="5"/>
            <a:r>
              <a:rPr lang="en-MY" sz="2400" dirty="0"/>
              <a:t>-If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2112713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74729-F516-32DE-B97B-97D35BF76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ED8025-3E0D-496F-3C63-0DCE33238EA1}"/>
              </a:ext>
            </a:extLst>
          </p:cNvPr>
          <p:cNvCxnSpPr>
            <a:cxnSpLocks/>
          </p:cNvCxnSpPr>
          <p:nvPr/>
        </p:nvCxnSpPr>
        <p:spPr>
          <a:xfrm>
            <a:off x="6080357" y="1099771"/>
            <a:ext cx="15642" cy="222353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37325975-00F6-0BFB-375E-C259323FB8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578"/>
          <a:stretch>
            <a:fillRect/>
          </a:stretch>
        </p:blipFill>
        <p:spPr>
          <a:xfrm>
            <a:off x="3361441" y="25822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1FC3206-2247-6EBE-F263-B1E76D7D67D4}"/>
              </a:ext>
            </a:extLst>
          </p:cNvPr>
          <p:cNvSpPr txBox="1"/>
          <p:nvPr/>
        </p:nvSpPr>
        <p:spPr>
          <a:xfrm>
            <a:off x="1198047" y="606538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712372-3E2F-D013-6DB4-78E08FE8AC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667711" y="1646392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290165-1867-F08B-E984-96790212A1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2731"/>
          <a:stretch>
            <a:fillRect/>
          </a:stretch>
        </p:blipFill>
        <p:spPr>
          <a:xfrm>
            <a:off x="3005612" y="3429000"/>
            <a:ext cx="6987022" cy="196891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E3ED68-9901-B30F-22CE-30DCEF351113}"/>
              </a:ext>
            </a:extLst>
          </p:cNvPr>
          <p:cNvSpPr txBox="1"/>
          <p:nvPr/>
        </p:nvSpPr>
        <p:spPr>
          <a:xfrm>
            <a:off x="678392" y="1872025"/>
            <a:ext cx="26111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ENTER THE DEVICE ID</a:t>
            </a:r>
            <a:endParaRPr lang="en-MY" dirty="0"/>
          </a:p>
          <a:p>
            <a:pPr algn="ctr"/>
            <a:r>
              <a:rPr lang="en-MY" dirty="0"/>
              <a:t>with UNKNOWN CLUSTER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71C43D-9E17-439F-1487-75DD753DBD50}"/>
              </a:ext>
            </a:extLst>
          </p:cNvPr>
          <p:cNvSpPr txBox="1"/>
          <p:nvPr/>
        </p:nvSpPr>
        <p:spPr>
          <a:xfrm>
            <a:off x="678392" y="3878517"/>
            <a:ext cx="2101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LOGIC suggest </a:t>
            </a:r>
          </a:p>
          <a:p>
            <a:pPr algn="ctr"/>
            <a:r>
              <a:rPr lang="en-US" dirty="0"/>
              <a:t>the CLUSTER location</a:t>
            </a:r>
          </a:p>
        </p:txBody>
      </p:sp>
    </p:spTree>
    <p:extLst>
      <p:ext uri="{BB962C8B-B14F-4D97-AF65-F5344CB8AC3E}">
        <p14:creationId xmlns:p14="http://schemas.microsoft.com/office/powerpoint/2010/main" val="174104626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877E2-3EDB-5370-7C79-9287D2C26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539EE39-AD13-7999-E2BE-02E1F05C6CB4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F5BE5-C6C7-6E32-D654-F02D55C7E8D4}"/>
              </a:ext>
            </a:extLst>
          </p:cNvPr>
          <p:cNvSpPr txBox="1"/>
          <p:nvPr/>
        </p:nvSpPr>
        <p:spPr>
          <a:xfrm>
            <a:off x="2345544" y="497348"/>
            <a:ext cx="809580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MY" sz="3600" b="1" dirty="0"/>
              <a:t>EXAMPLE </a:t>
            </a:r>
          </a:p>
          <a:p>
            <a:r>
              <a:rPr lang="en-MY" sz="3600" dirty="0"/>
              <a:t>FIT211 – SECTION3 CLUSTER </a:t>
            </a:r>
            <a:r>
              <a:rPr lang="en-MY" sz="3600" b="1" dirty="0"/>
              <a:t>UNKNOWN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E3BA64-A98B-32A3-C1E4-7D6A9403D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56" y="2489387"/>
            <a:ext cx="10130087" cy="2123225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3794419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1AC8C-E364-A9B8-EA64-08756DC3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F5776E3-8A83-36B9-CE56-2755EFC459E9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ACD21-7EE6-BBA1-CCA7-A93CCC90DB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86" b="5161"/>
          <a:stretch>
            <a:fillRect/>
          </a:stretch>
        </p:blipFill>
        <p:spPr>
          <a:xfrm>
            <a:off x="1778010" y="2532438"/>
            <a:ext cx="9122033" cy="4197546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E8CB6E-C590-0D36-1FD5-FE8F02247761}"/>
              </a:ext>
            </a:extLst>
          </p:cNvPr>
          <p:cNvSpPr txBox="1"/>
          <p:nvPr/>
        </p:nvSpPr>
        <p:spPr>
          <a:xfrm>
            <a:off x="3497320" y="167542"/>
            <a:ext cx="5952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 – SECTION3 CLUSTER?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9D3CAF-296D-C716-48B5-6258804CF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99" y="813873"/>
            <a:ext cx="10577937" cy="1524747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4075E4-44D3-7F69-60AB-EBF3A0265132}"/>
              </a:ext>
            </a:extLst>
          </p:cNvPr>
          <p:cNvSpPr/>
          <p:nvPr/>
        </p:nvSpPr>
        <p:spPr>
          <a:xfrm>
            <a:off x="1700735" y="6441196"/>
            <a:ext cx="9122033" cy="22038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5066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56361B-89CC-BE79-D948-9449C06B3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CA10BF-3509-1D7A-F08C-337194C405A4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2</a:t>
            </a:r>
          </a:p>
        </p:txBody>
      </p:sp>
    </p:spTree>
    <p:extLst>
      <p:ext uri="{BB962C8B-B14F-4D97-AF65-F5344CB8AC3E}">
        <p14:creationId xmlns:p14="http://schemas.microsoft.com/office/powerpoint/2010/main" val="40899776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8CD03E-DF03-EB30-2974-01D2618E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8B4FFC-6DA4-06E7-6AC1-8C8811F4E03D}"/>
              </a:ext>
            </a:extLst>
          </p:cNvPr>
          <p:cNvSpPr txBox="1"/>
          <p:nvPr/>
        </p:nvSpPr>
        <p:spPr>
          <a:xfrm>
            <a:off x="750615" y="2052769"/>
            <a:ext cx="11012906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MY" sz="6000" b="1" dirty="0"/>
              <a:t>LOGIC ALGORITHM </a:t>
            </a:r>
          </a:p>
          <a:p>
            <a:pPr algn="ctr"/>
            <a:r>
              <a:rPr lang="en-MY" sz="6000" b="1" dirty="0"/>
              <a:t>[16/7/2026]</a:t>
            </a:r>
            <a:endParaRPr lang="en-MY" sz="60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280032681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4AB716-0434-82D3-7724-BD2D15FC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D9FEC-6233-A9F5-BFDA-781D83945E9A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9F68F3-5B98-C2BA-CEF5-735F6D475BC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3A62A51-B83E-4A18-6ADE-254EB86497C9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D30301-5CBE-2C3B-9B49-065E20C6EE9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984AF2-08B2-CC6E-FEFA-9BE10B14098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20B2C85-6FCB-68BC-9CFF-750FF78E27B5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FF9AF32-00B7-36D4-900C-32833CEAC437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4B5F409-B20A-06E4-0009-304582C4BAED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731D2B-A1CC-AD60-225C-691C4AA2E92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01A69F7-A45C-74A2-01F5-B7DDE0DBCB2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97D5F55-85FC-83C5-45A6-67F5D0C23950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8011C1-C01D-2BCF-59CF-61C40EF7131E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86E27D2-A1AA-7BA3-3AAD-8EAC504C273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DBCB8A-5B64-49DA-1AE3-12AA2EF73A31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B6CAF6-112D-4C35-8BBF-06475F945169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CB533-881D-BC1D-523D-D5BDF0630919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7DA38-4AF0-4B88-88A4-D6557F5009E6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412431499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06154A-EB9F-B3C4-3389-5FA1D77D0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619CA6-B064-42DB-28ED-D438AF5D6281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5F6A97-ED01-B4C1-6A2C-81CE9E1C6769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F243A1-589D-8051-7730-7E05960A8118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8F996-DF0D-5980-E4D1-AE03D19B3EE2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6B53B5-7892-467C-0620-4088683C3DD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2B7A4A-4636-431A-3F32-00CD1B1DA56F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551FEC-3DE5-864A-18B0-CB3314629A29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6FFC7D-CCBD-4D8B-01CD-B7723C8ED368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1F9274-9384-B5A8-0751-9294C7E3E40F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8196750-047E-1226-3D87-C7984B1C1D10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2C521E4-A09B-62FF-0530-3B6D1C0617F2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190CDED-87D1-E335-E23F-E17ED4E0783F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E6829E2-9D1D-68D0-98E2-7B7E1B626C8B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7F46135-A239-FA62-C258-88855C360ACA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51B9D3-47CE-3D5B-5D45-56C62759CA17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21896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4CD2D-017C-5E68-F516-C3582DEC5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D22EBB-2B4B-BAA1-CD4C-14130B0B6811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Current Approach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Choose 1 customer = OILTEK</a:t>
            </a:r>
          </a:p>
          <a:p>
            <a:pPr marL="342900" indent="-342900">
              <a:buAutoNum type="arabicParenR"/>
            </a:pPr>
            <a:r>
              <a:rPr lang="en-MY" sz="2400" dirty="0"/>
              <a:t>Choose 1 section from OILTEK =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Extract the pattern for all cluster at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Create the specific value device cluster for section 2 (N=100)</a:t>
            </a:r>
          </a:p>
          <a:p>
            <a:pPr marL="342900" indent="-342900">
              <a:buAutoNum type="arabicParenR"/>
            </a:pPr>
            <a:r>
              <a:rPr lang="en-MY" sz="2400" dirty="0"/>
              <a:t>Introduce the pattern specific cluster into LOGIC</a:t>
            </a:r>
          </a:p>
          <a:p>
            <a:pPr marL="342900" indent="-342900">
              <a:buAutoNum type="arabicParenR"/>
            </a:pPr>
            <a:r>
              <a:rPr lang="en-MY" sz="2400" dirty="0"/>
              <a:t>Run the list of Device ID from the model prediction</a:t>
            </a:r>
          </a:p>
          <a:p>
            <a:pPr marL="342900" indent="-342900">
              <a:buAutoNum type="arabicParenR"/>
            </a:pPr>
            <a:r>
              <a:rPr lang="en-MY" sz="2400" dirty="0"/>
              <a:t>Logic assign the device id based on the Pattern LOGIC</a:t>
            </a:r>
          </a:p>
          <a:p>
            <a:pPr marL="342900" indent="-342900">
              <a:buAutoNum type="arabicParenR"/>
            </a:pPr>
            <a:r>
              <a:rPr lang="en-MY" sz="2400" dirty="0"/>
              <a:t>Detect the cluster = Full or Vacant</a:t>
            </a:r>
          </a:p>
          <a:p>
            <a:pPr marL="342900" indent="-342900">
              <a:buAutoNum type="arabicParenR"/>
            </a:pPr>
            <a:r>
              <a:rPr lang="en-MY" sz="2400" dirty="0"/>
              <a:t>Kick and replace Device ID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180877666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7DCC23-7101-5156-3F94-F344EB5E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0A6E5-EEB8-2BF5-6868-83FA38F00E82}"/>
              </a:ext>
            </a:extLst>
          </p:cNvPr>
          <p:cNvSpPr/>
          <p:nvPr/>
        </p:nvSpPr>
        <p:spPr>
          <a:xfrm>
            <a:off x="42278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9F94B1-F19A-BCAC-52A5-5BBD470A2F91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522782-2217-21F0-24E5-2E655F5318C5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E1AF03-DF29-7674-CC0D-BFF13309AA40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E0C981-5938-60DD-0C0E-C6B6D456D750}"/>
              </a:ext>
            </a:extLst>
          </p:cNvPr>
          <p:cNvSpPr/>
          <p:nvPr/>
        </p:nvSpPr>
        <p:spPr>
          <a:xfrm>
            <a:off x="42278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73FFB6-4101-7F5C-E034-818E8BF55F18}"/>
              </a:ext>
            </a:extLst>
          </p:cNvPr>
          <p:cNvSpPr/>
          <p:nvPr/>
        </p:nvSpPr>
        <p:spPr>
          <a:xfrm>
            <a:off x="294967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B444EC-5C7A-2511-90BE-FDFCC3BB167E}"/>
              </a:ext>
            </a:extLst>
          </p:cNvPr>
          <p:cNvSpPr/>
          <p:nvPr/>
        </p:nvSpPr>
        <p:spPr>
          <a:xfrm>
            <a:off x="5609303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CA667F-EE02-5AED-05E6-ACDC8ADCBC2C}"/>
              </a:ext>
            </a:extLst>
          </p:cNvPr>
          <p:cNvSpPr/>
          <p:nvPr/>
        </p:nvSpPr>
        <p:spPr>
          <a:xfrm>
            <a:off x="8382000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3240943-5DF6-F13D-0FCB-079F603B9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907084"/>
              </p:ext>
            </p:extLst>
          </p:nvPr>
        </p:nvGraphicFramePr>
        <p:xfrm>
          <a:off x="702595" y="830456"/>
          <a:ext cx="1696475" cy="24168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Fan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On/Off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High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Low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Control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Level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Pump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5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3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Vibrator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4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A01B1B6-C439-F5A1-D5E3-F4FC45F562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124499"/>
              </p:ext>
            </p:extLst>
          </p:nvPr>
        </p:nvGraphicFramePr>
        <p:xfrm>
          <a:off x="3224826" y="848236"/>
          <a:ext cx="1671791" cy="5880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5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5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2051740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614B888-CA3C-0003-5BC2-D6B9C6574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463043"/>
              </p:ext>
            </p:extLst>
          </p:nvPr>
        </p:nvGraphicFramePr>
        <p:xfrm>
          <a:off x="5820706" y="867635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36E96DB-D785-6187-7999-27ABF6C5A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068917"/>
              </p:ext>
            </p:extLst>
          </p:nvPr>
        </p:nvGraphicFramePr>
        <p:xfrm>
          <a:off x="8657149" y="830456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1383C989-B744-9717-192A-D99F13A52D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90996"/>
              </p:ext>
            </p:extLst>
          </p:nvPr>
        </p:nvGraphicFramePr>
        <p:xfrm>
          <a:off x="605707" y="4080934"/>
          <a:ext cx="1856249" cy="9563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Pump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4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Heater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2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Temperature Transmitter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3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Low Level Switch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9DE7005D-197D-13D5-A7DA-AAAB79235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829038"/>
              </p:ext>
            </p:extLst>
          </p:nvPr>
        </p:nvGraphicFramePr>
        <p:xfrm>
          <a:off x="3082413" y="4131229"/>
          <a:ext cx="1886462" cy="577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1037">
                  <a:extLst>
                    <a:ext uri="{9D8B030D-6E8A-4147-A177-3AD203B41FA5}">
                      <a16:colId xmlns:a16="http://schemas.microsoft.com/office/drawing/2014/main" val="4153902939"/>
                    </a:ext>
                  </a:extLst>
                </a:gridCol>
                <a:gridCol w="225425">
                  <a:extLst>
                    <a:ext uri="{9D8B030D-6E8A-4147-A177-3AD203B41FA5}">
                      <a16:colId xmlns:a16="http://schemas.microsoft.com/office/drawing/2014/main" val="2663589806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7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6007690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79147634"/>
                  </a:ext>
                </a:extLst>
              </a:tr>
              <a:tr h="471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32576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F5F0FB8D-7C7A-9A3D-0FE9-A87E97FCD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627874"/>
              </p:ext>
            </p:extLst>
          </p:nvPr>
        </p:nvGraphicFramePr>
        <p:xfrm>
          <a:off x="8604044" y="4298788"/>
          <a:ext cx="1778000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1615">
                  <a:extLst>
                    <a:ext uri="{9D8B030D-6E8A-4147-A177-3AD203B41FA5}">
                      <a16:colId xmlns:a16="http://schemas.microsoft.com/office/drawing/2014/main" val="356100816"/>
                    </a:ext>
                  </a:extLst>
                </a:gridCol>
                <a:gridCol w="456385">
                  <a:extLst>
                    <a:ext uri="{9D8B030D-6E8A-4147-A177-3AD203B41FA5}">
                      <a16:colId xmlns:a16="http://schemas.microsoft.com/office/drawing/2014/main" val="382215392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Control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3385226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773050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DD2B1AC0-18D7-3523-DCEE-0E6CD4145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287063"/>
              </p:ext>
            </p:extLst>
          </p:nvPr>
        </p:nvGraphicFramePr>
        <p:xfrm>
          <a:off x="5849796" y="4155229"/>
          <a:ext cx="1813959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6065">
                  <a:extLst>
                    <a:ext uri="{9D8B030D-6E8A-4147-A177-3AD203B41FA5}">
                      <a16:colId xmlns:a16="http://schemas.microsoft.com/office/drawing/2014/main" val="2677801371"/>
                    </a:ext>
                  </a:extLst>
                </a:gridCol>
                <a:gridCol w="337894">
                  <a:extLst>
                    <a:ext uri="{9D8B030D-6E8A-4147-A177-3AD203B41FA5}">
                      <a16:colId xmlns:a16="http://schemas.microsoft.com/office/drawing/2014/main" val="373308778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2644495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45508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E79D4A8-78A4-1643-EFCA-487B47D3DFAE}"/>
              </a:ext>
            </a:extLst>
          </p:cNvPr>
          <p:cNvSpPr txBox="1"/>
          <p:nvPr/>
        </p:nvSpPr>
        <p:spPr>
          <a:xfrm>
            <a:off x="3864305" y="28551"/>
            <a:ext cx="3912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(REFERENCE, N=100)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FC2582-7D7F-FF14-193D-165054A1F676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4F0F17-A52C-E97F-D3AA-9403FDCCA6AF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E0821D-DE48-6488-1CBA-344A50D5713B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207A2D-DA38-BFEB-02F1-31280AEE6115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77B2D3-2CF2-5F86-E140-D65125FD90DD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1C486E-DFE8-613D-2FA6-E0BB30D623C7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C6AB54-3B78-2212-ABC8-ECF53DE8E62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50D409-0CD4-720D-8CDB-84B1313BD190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159875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31A60-DB26-433A-2BB2-29AA6B263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C7409DA-B930-7F00-D16F-85BC4A389ABA}"/>
              </a:ext>
            </a:extLst>
          </p:cNvPr>
          <p:cNvSpPr/>
          <p:nvPr/>
        </p:nvSpPr>
        <p:spPr>
          <a:xfrm>
            <a:off x="422787" y="46112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2137C7-3615-4C35-9CF3-17E1E67A3AD5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FA0098-28ED-E487-2F2B-77DA68E29D9C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3D7BC4-01D8-7C87-7B89-4BC14F1D80B7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1C31D7-AB7B-E7C0-1D1D-25A449C1E748}"/>
              </a:ext>
            </a:extLst>
          </p:cNvPr>
          <p:cNvSpPr/>
          <p:nvPr/>
        </p:nvSpPr>
        <p:spPr>
          <a:xfrm>
            <a:off x="42278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6C4949-0A8B-3D44-AAC7-9AEC038930BA}"/>
              </a:ext>
            </a:extLst>
          </p:cNvPr>
          <p:cNvSpPr/>
          <p:nvPr/>
        </p:nvSpPr>
        <p:spPr>
          <a:xfrm>
            <a:off x="294967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684DD5-BC14-397B-27D2-B00021EF22AB}"/>
              </a:ext>
            </a:extLst>
          </p:cNvPr>
          <p:cNvSpPr/>
          <p:nvPr/>
        </p:nvSpPr>
        <p:spPr>
          <a:xfrm>
            <a:off x="5609303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BA312B-615F-F92D-BD72-9D4B498B120B}"/>
              </a:ext>
            </a:extLst>
          </p:cNvPr>
          <p:cNvSpPr/>
          <p:nvPr/>
        </p:nvSpPr>
        <p:spPr>
          <a:xfrm>
            <a:off x="8382000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CF0CECC4-B5C4-3AE1-0E5D-4ADEC720C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246662"/>
              </p:ext>
            </p:extLst>
          </p:nvPr>
        </p:nvGraphicFramePr>
        <p:xfrm>
          <a:off x="3257405" y="2708019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9/10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25C133B-A8A9-CC08-3ECF-54B6D87D3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991994"/>
              </p:ext>
            </p:extLst>
          </p:nvPr>
        </p:nvGraphicFramePr>
        <p:xfrm>
          <a:off x="5920879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856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64323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4871766-9B70-A8B4-FD4C-3AAF07C8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872145"/>
              </p:ext>
            </p:extLst>
          </p:nvPr>
        </p:nvGraphicFramePr>
        <p:xfrm>
          <a:off x="8758749" y="2977451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769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81410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A454BC2B-D474-160E-F1CB-59E3603AEB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069910"/>
              </p:ext>
            </p:extLst>
          </p:nvPr>
        </p:nvGraphicFramePr>
        <p:xfrm>
          <a:off x="605705" y="6053606"/>
          <a:ext cx="1856249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74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63950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13/13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16BC6377-5164-86C1-E8C7-6661E730AF0B}"/>
              </a:ext>
            </a:extLst>
          </p:cNvPr>
          <p:cNvSpPr txBox="1"/>
          <p:nvPr/>
        </p:nvSpPr>
        <p:spPr>
          <a:xfrm>
            <a:off x="3828378" y="65730"/>
            <a:ext cx="3534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– EXAMPLE CASE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0782DD-73F6-9B80-7D7D-EC5DAAFE7FD0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0D7FD9-84B9-6268-5B07-995E0B4B5028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8A4FE6-5477-3192-606B-877DE454897A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9FDC98-74E7-1DED-E18B-CDB5DA69AAAF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26CEC3-25B0-F93E-9980-D3B68C03F6B7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A8279A-0C6D-ADA4-32C8-824D3B439E72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19EEAF-44E3-CD66-C9D5-E67C3EFBBBC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71B683-9217-7811-92AA-5532D55C16D4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82B3DA-9445-E47B-E934-F2DAAD605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95" y="804394"/>
            <a:ext cx="1541820" cy="208222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6D3A642-B007-DB43-DDD4-669CD6B99C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513151"/>
              </p:ext>
            </p:extLst>
          </p:nvPr>
        </p:nvGraphicFramePr>
        <p:xfrm>
          <a:off x="752014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226">
                  <a:extLst>
                    <a:ext uri="{9D8B030D-6E8A-4147-A177-3AD203B41FA5}">
                      <a16:colId xmlns:a16="http://schemas.microsoft.com/office/drawing/2014/main" val="365470756"/>
                    </a:ext>
                  </a:extLst>
                </a:gridCol>
                <a:gridCol w="757565">
                  <a:extLst>
                    <a:ext uri="{9D8B030D-6E8A-4147-A177-3AD203B41FA5}">
                      <a16:colId xmlns:a16="http://schemas.microsoft.com/office/drawing/2014/main" val="67469857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40/40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96851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974674-C3FE-8E3E-B92A-0DD06392E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8485" y="921866"/>
            <a:ext cx="2030211" cy="6992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1A18E0-FF4D-1687-9677-0A071DB0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1390" y="978048"/>
            <a:ext cx="2117915" cy="30458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EEF368B-FD7E-61C4-A898-1BB1F88185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9871" y="978048"/>
            <a:ext cx="1939206" cy="4162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9B3328B-27CF-637F-039A-42A923457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13" y="4155229"/>
            <a:ext cx="2034431" cy="93556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4B5B2FC-828C-FF7C-8C53-110193FA71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0763" y="4284450"/>
            <a:ext cx="1973987" cy="628237"/>
          </a:xfrm>
          <a:prstGeom prst="rect">
            <a:avLst/>
          </a:prstGeom>
        </p:spPr>
      </p:pic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ADEDD31F-4B42-AABF-E904-1868A27B4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178031"/>
              </p:ext>
            </p:extLst>
          </p:nvPr>
        </p:nvGraphicFramePr>
        <p:xfrm>
          <a:off x="3285912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8/14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E8CE5F9-E5C5-E03B-53CC-263F69A59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611316"/>
              </p:ext>
            </p:extLst>
          </p:nvPr>
        </p:nvGraphicFramePr>
        <p:xfrm>
          <a:off x="5884451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545CAD91-EC7A-1D61-2590-A6E0151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4765942"/>
              </p:ext>
            </p:extLst>
          </p:nvPr>
        </p:nvGraphicFramePr>
        <p:xfrm>
          <a:off x="8657147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49" name="Picture 48">
            <a:extLst>
              <a:ext uri="{FF2B5EF4-FFF2-40B4-BE49-F238E27FC236}">
                <a16:creationId xmlns:a16="http://schemas.microsoft.com/office/drawing/2014/main" id="{6AABEE25-2B8F-8CFF-C80A-3B55D38F7C1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8197" t="58660" r="34038" b="-10701"/>
          <a:stretch>
            <a:fillRect/>
          </a:stretch>
        </p:blipFill>
        <p:spPr>
          <a:xfrm>
            <a:off x="8580354" y="4295323"/>
            <a:ext cx="1898240" cy="341934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3C8BA08D-FDDF-6553-EDC4-92AB2E80217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259" t="3519" r="32976" b="44440"/>
          <a:stretch>
            <a:fillRect/>
          </a:stretch>
        </p:blipFill>
        <p:spPr>
          <a:xfrm>
            <a:off x="5771226" y="4273990"/>
            <a:ext cx="1898240" cy="34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09047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18FE5E-9235-FE2C-D1B9-8B66F240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432F2-D359-04E7-5D5F-BD36FB11822A}"/>
              </a:ext>
            </a:extLst>
          </p:cNvPr>
          <p:cNvSpPr txBox="1"/>
          <p:nvPr/>
        </p:nvSpPr>
        <p:spPr>
          <a:xfrm>
            <a:off x="4015846" y="174501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 algn="ctr">
              <a:buAutoNum type="arabicParenR"/>
            </a:pPr>
            <a:endParaRPr lang="en-MY" sz="105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D3C16AC-2A6C-56C9-4DD4-CF0522866051}"/>
              </a:ext>
            </a:extLst>
          </p:cNvPr>
          <p:cNvCxnSpPr>
            <a:cxnSpLocks/>
            <a:stCxn id="2" idx="2"/>
            <a:endCxn id="10" idx="3"/>
          </p:cNvCxnSpPr>
          <p:nvPr/>
        </p:nvCxnSpPr>
        <p:spPr>
          <a:xfrm flipH="1">
            <a:off x="3588774" y="920859"/>
            <a:ext cx="2276928" cy="195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628257-0EF6-B96A-76C5-096E155C261A}"/>
              </a:ext>
            </a:extLst>
          </p:cNvPr>
          <p:cNvCxnSpPr>
            <a:cxnSpLocks/>
            <a:stCxn id="2" idx="2"/>
            <a:endCxn id="12" idx="1"/>
          </p:cNvCxnSpPr>
          <p:nvPr/>
        </p:nvCxnSpPr>
        <p:spPr>
          <a:xfrm>
            <a:off x="5865702" y="920859"/>
            <a:ext cx="2737526" cy="301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D3CAD14-4E8B-3F0F-4849-E6CC7683CD4A}"/>
              </a:ext>
            </a:extLst>
          </p:cNvPr>
          <p:cNvSpPr txBox="1"/>
          <p:nvPr/>
        </p:nvSpPr>
        <p:spPr>
          <a:xfrm>
            <a:off x="2821226" y="946858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15714-BC1A-CBCF-2CA7-28DDD2506FE3}"/>
              </a:ext>
            </a:extLst>
          </p:cNvPr>
          <p:cNvSpPr txBox="1"/>
          <p:nvPr/>
        </p:nvSpPr>
        <p:spPr>
          <a:xfrm>
            <a:off x="8603228" y="930348"/>
            <a:ext cx="1146090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(Cluster)</a:t>
            </a:r>
            <a:endParaRPr lang="en-MY" sz="105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9071D3-1697-3034-4D28-D203632E5D93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flipH="1">
            <a:off x="3202273" y="1285412"/>
            <a:ext cx="2727" cy="2297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352A3BF-6C09-5117-9AB3-6996AD925B57}"/>
              </a:ext>
            </a:extLst>
          </p:cNvPr>
          <p:cNvSpPr txBox="1"/>
          <p:nvPr/>
        </p:nvSpPr>
        <p:spPr>
          <a:xfrm>
            <a:off x="1653694" y="1515123"/>
            <a:ext cx="3097158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New Device ID coming</a:t>
            </a:r>
          </a:p>
          <a:p>
            <a:r>
              <a:rPr lang="en-MY" sz="1200" dirty="0"/>
              <a:t>= compare the percentage</a:t>
            </a:r>
          </a:p>
          <a:p>
            <a:r>
              <a:rPr lang="en-MY" sz="1200" dirty="0"/>
              <a:t>= </a:t>
            </a:r>
            <a:r>
              <a:rPr lang="en-MY" sz="1200" b="1" dirty="0"/>
              <a:t>kick and replace</a:t>
            </a:r>
          </a:p>
          <a:p>
            <a:r>
              <a:rPr lang="en-MY" sz="1200" dirty="0"/>
              <a:t>= the highest percentage win.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So the loser will go?</a:t>
            </a:r>
            <a:endParaRPr lang="en-MY" sz="900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E48D95-8362-C555-F986-15DA316DE344}"/>
              </a:ext>
            </a:extLst>
          </p:cNvPr>
          <p:cNvSpPr txBox="1"/>
          <p:nvPr/>
        </p:nvSpPr>
        <p:spPr>
          <a:xfrm>
            <a:off x="7234465" y="1782027"/>
            <a:ext cx="3861302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Floating device ID fill up the vacant</a:t>
            </a:r>
          </a:p>
          <a:p>
            <a:r>
              <a:rPr lang="en-MY" sz="1200" dirty="0"/>
              <a:t>= pick the highest percentage on the respective reference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What if still vacant?</a:t>
            </a:r>
            <a:endParaRPr lang="en-MY" sz="900" b="1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8B5664D-FA50-1C25-06EF-8D187D9D13C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9165116" y="1515123"/>
            <a:ext cx="11157" cy="266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E41F4F85-66D0-6390-3B03-4B390D34BA81}"/>
              </a:ext>
            </a:extLst>
          </p:cNvPr>
          <p:cNvSpPr/>
          <p:nvPr/>
        </p:nvSpPr>
        <p:spPr>
          <a:xfrm>
            <a:off x="279330" y="2626846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E7A7785-EFE8-5C7D-CDED-FCDDEC7F570E}"/>
              </a:ext>
            </a:extLst>
          </p:cNvPr>
          <p:cNvSpPr/>
          <p:nvPr/>
        </p:nvSpPr>
        <p:spPr>
          <a:xfrm>
            <a:off x="2697325" y="2628455"/>
            <a:ext cx="2222090" cy="1495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6341516F-3984-AE36-9F59-9E66384C1173}"/>
              </a:ext>
            </a:extLst>
          </p:cNvPr>
          <p:cNvGraphicFramePr>
            <a:graphicFrameLocks noGrp="1"/>
          </p:cNvGraphicFramePr>
          <p:nvPr/>
        </p:nvGraphicFramePr>
        <p:xfrm>
          <a:off x="542137" y="2971921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68117C4B-0EEB-AE64-5DBD-BDA5CFE1857D}"/>
              </a:ext>
            </a:extLst>
          </p:cNvPr>
          <p:cNvGraphicFramePr>
            <a:graphicFrameLocks noGrp="1"/>
          </p:cNvGraphicFramePr>
          <p:nvPr/>
        </p:nvGraphicFramePr>
        <p:xfrm>
          <a:off x="2880245" y="3066536"/>
          <a:ext cx="1856249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Heater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Temperature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00E27BA2-22F9-79BF-D407-34450DA282ED}"/>
              </a:ext>
            </a:extLst>
          </p:cNvPr>
          <p:cNvSpPr txBox="1"/>
          <p:nvPr/>
        </p:nvSpPr>
        <p:spPr>
          <a:xfrm>
            <a:off x="882232" y="26096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6622E6-5A75-0012-D890-0A1962D6445B}"/>
              </a:ext>
            </a:extLst>
          </p:cNvPr>
          <p:cNvSpPr txBox="1"/>
          <p:nvPr/>
        </p:nvSpPr>
        <p:spPr>
          <a:xfrm>
            <a:off x="3202273" y="266282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27AF82-5954-418A-6FD9-40670094E4CC}"/>
              </a:ext>
            </a:extLst>
          </p:cNvPr>
          <p:cNvSpPr txBox="1"/>
          <p:nvPr/>
        </p:nvSpPr>
        <p:spPr>
          <a:xfrm>
            <a:off x="2996286" y="4158585"/>
            <a:ext cx="16241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All the percentage inside </a:t>
            </a:r>
          </a:p>
          <a:p>
            <a:r>
              <a:rPr lang="en-MY" sz="1100" dirty="0"/>
              <a:t>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96B17A-02B9-8B84-4017-7B3A8EFB0516}"/>
              </a:ext>
            </a:extLst>
          </p:cNvPr>
          <p:cNvSpPr txBox="1"/>
          <p:nvPr/>
        </p:nvSpPr>
        <p:spPr>
          <a:xfrm>
            <a:off x="91785" y="5136916"/>
            <a:ext cx="30971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4264E8-78ED-995A-14FE-BAE2974DCC5F}"/>
              </a:ext>
            </a:extLst>
          </p:cNvPr>
          <p:cNvSpPr/>
          <p:nvPr/>
        </p:nvSpPr>
        <p:spPr>
          <a:xfrm>
            <a:off x="9535808" y="2534910"/>
            <a:ext cx="2222090" cy="17443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E7F00F6-C5A7-39DC-673A-2B8001BD1A32}"/>
              </a:ext>
            </a:extLst>
          </p:cNvPr>
          <p:cNvSpPr txBox="1"/>
          <p:nvPr/>
        </p:nvSpPr>
        <p:spPr>
          <a:xfrm>
            <a:off x="10058851" y="2699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98B17890-2A3F-F406-DC85-315CDA071F04}"/>
              </a:ext>
            </a:extLst>
          </p:cNvPr>
          <p:cNvGraphicFramePr>
            <a:graphicFrameLocks noGrp="1"/>
          </p:cNvGraphicFramePr>
          <p:nvPr/>
        </p:nvGraphicFramePr>
        <p:xfrm>
          <a:off x="9749318" y="3516295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5076DBF8-A3DE-AE79-9979-E95FE582E9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650649" y="3038767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D649D32B-B83A-6C71-16B4-E26730FF9A66}"/>
              </a:ext>
            </a:extLst>
          </p:cNvPr>
          <p:cNvSpPr/>
          <p:nvPr/>
        </p:nvSpPr>
        <p:spPr>
          <a:xfrm>
            <a:off x="6973624" y="2541891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CF241B6-65C1-A102-7022-029048BE25BB}"/>
              </a:ext>
            </a:extLst>
          </p:cNvPr>
          <p:cNvGraphicFramePr>
            <a:graphicFrameLocks noGrp="1"/>
          </p:cNvGraphicFramePr>
          <p:nvPr/>
        </p:nvGraphicFramePr>
        <p:xfrm>
          <a:off x="7236431" y="2886966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591D4878-353A-D947-6CAA-4B3361859608}"/>
              </a:ext>
            </a:extLst>
          </p:cNvPr>
          <p:cNvSpPr txBox="1"/>
          <p:nvPr/>
        </p:nvSpPr>
        <p:spPr>
          <a:xfrm>
            <a:off x="7576526" y="252466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966D187-A8A1-9C1D-B5C4-F60A89391DC1}"/>
              </a:ext>
            </a:extLst>
          </p:cNvPr>
          <p:cNvSpPr txBox="1"/>
          <p:nvPr/>
        </p:nvSpPr>
        <p:spPr>
          <a:xfrm>
            <a:off x="6771196" y="5060656"/>
            <a:ext cx="29069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7DB5913-AD3E-6EA2-67DC-4BD301B8396B}"/>
              </a:ext>
            </a:extLst>
          </p:cNvPr>
          <p:cNvSpPr txBox="1"/>
          <p:nvPr/>
        </p:nvSpPr>
        <p:spPr>
          <a:xfrm>
            <a:off x="3112331" y="4664296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</p:spTree>
    <p:extLst>
      <p:ext uri="{BB962C8B-B14F-4D97-AF65-F5344CB8AC3E}">
        <p14:creationId xmlns:p14="http://schemas.microsoft.com/office/powerpoint/2010/main" val="68739900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330734-E68C-5643-DAF1-2D5BCDC23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430DFFE-443F-CA94-0576-5A8E07A15C36}"/>
              </a:ext>
            </a:extLst>
          </p:cNvPr>
          <p:cNvSpPr txBox="1"/>
          <p:nvPr/>
        </p:nvSpPr>
        <p:spPr>
          <a:xfrm>
            <a:off x="1676747" y="312197"/>
            <a:ext cx="212480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 CLUSTER 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241F89-ED48-4056-A69F-3480EAD2D1B5}"/>
              </a:ext>
            </a:extLst>
          </p:cNvPr>
          <p:cNvSpPr txBox="1"/>
          <p:nvPr/>
        </p:nvSpPr>
        <p:spPr>
          <a:xfrm>
            <a:off x="7965581" y="296601"/>
            <a:ext cx="2399069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CLUSTER</a:t>
            </a:r>
            <a:endParaRPr lang="en-MY" sz="1050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10068-88D2-A96D-6FD8-CD93DF834279}"/>
              </a:ext>
            </a:extLst>
          </p:cNvPr>
          <p:cNvSpPr/>
          <p:nvPr/>
        </p:nvSpPr>
        <p:spPr>
          <a:xfrm>
            <a:off x="279318" y="880381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22C368-183B-36D1-1C4E-0C97D8703574}"/>
              </a:ext>
            </a:extLst>
          </p:cNvPr>
          <p:cNvSpPr/>
          <p:nvPr/>
        </p:nvSpPr>
        <p:spPr>
          <a:xfrm>
            <a:off x="2894175" y="874032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47729C07-47D6-7C6B-A642-AF1F5FE690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557250"/>
              </p:ext>
            </p:extLst>
          </p:nvPr>
        </p:nvGraphicFramePr>
        <p:xfrm>
          <a:off x="542137" y="1244721"/>
          <a:ext cx="1696475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6013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530462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LSL551B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70059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90.6%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30E0882B-75DD-8B05-E727-B5CE76D1F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865115"/>
              </p:ext>
            </p:extLst>
          </p:nvPr>
        </p:nvGraphicFramePr>
        <p:xfrm>
          <a:off x="3077093" y="1219044"/>
          <a:ext cx="1856249" cy="973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805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55819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631373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33480118"/>
                  </a:ext>
                </a:extLst>
              </a:tr>
              <a:tr h="216414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EBB02BA1-4004-1E9C-1A14-58D84C3A69B8}"/>
              </a:ext>
            </a:extLst>
          </p:cNvPr>
          <p:cNvSpPr txBox="1"/>
          <p:nvPr/>
        </p:nvSpPr>
        <p:spPr>
          <a:xfrm>
            <a:off x="882232" y="8824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0421ED-0137-085E-C360-820CD732A6E7}"/>
              </a:ext>
            </a:extLst>
          </p:cNvPr>
          <p:cNvSpPr txBox="1"/>
          <p:nvPr/>
        </p:nvSpPr>
        <p:spPr>
          <a:xfrm>
            <a:off x="3399123" y="85514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0F7FE6-356A-123E-A181-C45CAAA3E299}"/>
              </a:ext>
            </a:extLst>
          </p:cNvPr>
          <p:cNvSpPr txBox="1"/>
          <p:nvPr/>
        </p:nvSpPr>
        <p:spPr>
          <a:xfrm>
            <a:off x="434102" y="3202062"/>
            <a:ext cx="4610094" cy="107721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(86%)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(72%)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  <a:endParaRPr lang="en-MY" sz="16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E80A782-F859-9BC5-42BF-244D82317C78}"/>
              </a:ext>
            </a:extLst>
          </p:cNvPr>
          <p:cNvSpPr txBox="1"/>
          <p:nvPr/>
        </p:nvSpPr>
        <p:spPr>
          <a:xfrm>
            <a:off x="2813803" y="2440898"/>
            <a:ext cx="2807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50" dirty="0"/>
              <a:t>All the percentage inside 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B7002C1-3773-1936-EC2A-8745433CB7C9}"/>
              </a:ext>
            </a:extLst>
          </p:cNvPr>
          <p:cNvSpPr txBox="1"/>
          <p:nvPr/>
        </p:nvSpPr>
        <p:spPr>
          <a:xfrm>
            <a:off x="157731" y="2432762"/>
            <a:ext cx="30971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91F3C86-6F2E-DD0D-FF83-CC925905E973}"/>
              </a:ext>
            </a:extLst>
          </p:cNvPr>
          <p:cNvSpPr/>
          <p:nvPr/>
        </p:nvSpPr>
        <p:spPr>
          <a:xfrm>
            <a:off x="9438826" y="872125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D377ECD-D369-5DCC-B877-28E317C7F886}"/>
              </a:ext>
            </a:extLst>
          </p:cNvPr>
          <p:cNvSpPr txBox="1"/>
          <p:nvPr/>
        </p:nvSpPr>
        <p:spPr>
          <a:xfrm>
            <a:off x="9950816" y="101943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BCB5B600-C71C-95A0-BA5B-C28F6357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3151"/>
              </p:ext>
            </p:extLst>
          </p:nvPr>
        </p:nvGraphicFramePr>
        <p:xfrm>
          <a:off x="9641283" y="1836527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14FF2DAD-28DA-C905-8C26-8502459E37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542614" y="1358999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761698FB-A8BB-1AC0-7AF2-CD0F1D306B54}"/>
              </a:ext>
            </a:extLst>
          </p:cNvPr>
          <p:cNvSpPr/>
          <p:nvPr/>
        </p:nvSpPr>
        <p:spPr>
          <a:xfrm>
            <a:off x="6854536" y="872125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032F983-A87C-8B05-8D75-0EDC33B227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242788"/>
              </p:ext>
            </p:extLst>
          </p:nvPr>
        </p:nvGraphicFramePr>
        <p:xfrm>
          <a:off x="7128396" y="1207198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F301FA61-1D7B-9036-2FA9-2FD84EB3448D}"/>
              </a:ext>
            </a:extLst>
          </p:cNvPr>
          <p:cNvSpPr txBox="1"/>
          <p:nvPr/>
        </p:nvSpPr>
        <p:spPr>
          <a:xfrm>
            <a:off x="7468491" y="844901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1E98E27-7D0A-EA36-AD7B-34542054A578}"/>
              </a:ext>
            </a:extLst>
          </p:cNvPr>
          <p:cNvSpPr txBox="1"/>
          <p:nvPr/>
        </p:nvSpPr>
        <p:spPr>
          <a:xfrm>
            <a:off x="6803749" y="2655574"/>
            <a:ext cx="4954149" cy="584775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>
                <a:solidFill>
                  <a:srgbClr val="000000"/>
                </a:solidFill>
                <a:latin typeface="Calibri" panose="020F0502020204030204" pitchFamily="34" charset="0"/>
              </a:rPr>
              <a:t>V71ST2</a:t>
            </a:r>
            <a:r>
              <a:rPr lang="en-MY" sz="1600" dirty="0"/>
              <a:t> = On/Off Valve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286608B-01ED-A583-38B0-5CE07FC77611}"/>
              </a:ext>
            </a:extLst>
          </p:cNvPr>
          <p:cNvSpPr txBox="1"/>
          <p:nvPr/>
        </p:nvSpPr>
        <p:spPr>
          <a:xfrm>
            <a:off x="2147354" y="2709335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10E816-3E94-A3A4-8D22-19AEC58727A5}"/>
              </a:ext>
            </a:extLst>
          </p:cNvPr>
          <p:cNvSpPr txBox="1"/>
          <p:nvPr/>
        </p:nvSpPr>
        <p:spPr>
          <a:xfrm>
            <a:off x="434102" y="4629942"/>
            <a:ext cx="4610094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>
                <a:solidFill>
                  <a:srgbClr val="FF0000"/>
                </a:solidFill>
              </a:rPr>
              <a:t>The kick out device id is located at?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686CF80-66B8-6547-DD91-718920B07410}"/>
              </a:ext>
            </a:extLst>
          </p:cNvPr>
          <p:cNvSpPr/>
          <p:nvPr/>
        </p:nvSpPr>
        <p:spPr>
          <a:xfrm>
            <a:off x="9438826" y="4881096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5052AB2F-4EB1-3E78-C565-482BE16B3E21}"/>
              </a:ext>
            </a:extLst>
          </p:cNvPr>
          <p:cNvSpPr txBox="1"/>
          <p:nvPr/>
        </p:nvSpPr>
        <p:spPr>
          <a:xfrm>
            <a:off x="9950816" y="4867536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30" name="Table 129">
            <a:extLst>
              <a:ext uri="{FF2B5EF4-FFF2-40B4-BE49-F238E27FC236}">
                <a16:creationId xmlns:a16="http://schemas.microsoft.com/office/drawing/2014/main" id="{A522B6FE-B2CF-FBC5-A27C-B76483E16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024334"/>
              </p:ext>
            </p:extLst>
          </p:nvPr>
        </p:nvGraphicFramePr>
        <p:xfrm>
          <a:off x="9769063" y="5958454"/>
          <a:ext cx="1671791" cy="378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1/6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132" name="Picture 131">
            <a:extLst>
              <a:ext uri="{FF2B5EF4-FFF2-40B4-BE49-F238E27FC236}">
                <a16:creationId xmlns:a16="http://schemas.microsoft.com/office/drawing/2014/main" id="{29464F60-5B1F-59D5-A061-FBA767F80C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844484" y="5580027"/>
            <a:ext cx="1386550" cy="249762"/>
          </a:xfrm>
          <a:prstGeom prst="rect">
            <a:avLst/>
          </a:prstGeom>
        </p:spPr>
      </p:pic>
      <p:sp>
        <p:nvSpPr>
          <p:cNvPr id="134" name="Rectangle 133">
            <a:extLst>
              <a:ext uri="{FF2B5EF4-FFF2-40B4-BE49-F238E27FC236}">
                <a16:creationId xmlns:a16="http://schemas.microsoft.com/office/drawing/2014/main" id="{F1F6793A-C600-FBCA-9CF0-1CF863DFA110}"/>
              </a:ext>
            </a:extLst>
          </p:cNvPr>
          <p:cNvSpPr/>
          <p:nvPr/>
        </p:nvSpPr>
        <p:spPr>
          <a:xfrm>
            <a:off x="6854536" y="4881096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36" name="Table 135">
            <a:extLst>
              <a:ext uri="{FF2B5EF4-FFF2-40B4-BE49-F238E27FC236}">
                <a16:creationId xmlns:a16="http://schemas.microsoft.com/office/drawing/2014/main" id="{7FD94074-F1EC-03FD-B734-D57895F25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751032"/>
              </p:ext>
            </p:extLst>
          </p:nvPr>
        </p:nvGraphicFramePr>
        <p:xfrm>
          <a:off x="7128396" y="5216169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V71ST2</a:t>
                      </a:r>
                      <a:endParaRPr lang="en-MY" sz="1200" b="0" i="0" u="none" strike="noStrike" dirty="0">
                        <a:solidFill>
                          <a:srgbClr val="000000"/>
                        </a:solidFill>
                        <a:effectLst/>
                        <a:latin typeface="Tw Cen MT" panose="020B0602020104020603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93%</a:t>
                      </a: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38" name="TextBox 137">
            <a:extLst>
              <a:ext uri="{FF2B5EF4-FFF2-40B4-BE49-F238E27FC236}">
                <a16:creationId xmlns:a16="http://schemas.microsoft.com/office/drawing/2014/main" id="{B7B6E253-E3CB-A067-FD46-5F2787D99BDC}"/>
              </a:ext>
            </a:extLst>
          </p:cNvPr>
          <p:cNvSpPr txBox="1"/>
          <p:nvPr/>
        </p:nvSpPr>
        <p:spPr>
          <a:xfrm>
            <a:off x="7468491" y="485387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41" name="Table 140">
            <a:extLst>
              <a:ext uri="{FF2B5EF4-FFF2-40B4-BE49-F238E27FC236}">
                <a16:creationId xmlns:a16="http://schemas.microsoft.com/office/drawing/2014/main" id="{AFE59A95-6CA7-53EF-81E8-89552EFF5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290867"/>
              </p:ext>
            </p:extLst>
          </p:nvPr>
        </p:nvGraphicFramePr>
        <p:xfrm>
          <a:off x="9643496" y="5268682"/>
          <a:ext cx="1696475" cy="1892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049865551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128376118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81913274"/>
                  </a:ext>
                </a:extLst>
              </a:tr>
            </a:tbl>
          </a:graphicData>
        </a:graphic>
      </p:graphicFrame>
      <p:sp>
        <p:nvSpPr>
          <p:cNvPr id="143" name="TextBox 142">
            <a:extLst>
              <a:ext uri="{FF2B5EF4-FFF2-40B4-BE49-F238E27FC236}">
                <a16:creationId xmlns:a16="http://schemas.microsoft.com/office/drawing/2014/main" id="{772351A1-D7FD-AADD-10EE-3976D1EE2D72}"/>
              </a:ext>
            </a:extLst>
          </p:cNvPr>
          <p:cNvSpPr txBox="1"/>
          <p:nvPr/>
        </p:nvSpPr>
        <p:spPr>
          <a:xfrm>
            <a:off x="8215725" y="4369105"/>
            <a:ext cx="21301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000" dirty="0"/>
              <a:t>Suggestion answer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15AC839-043B-7AE4-5815-6B07BFB84454}"/>
              </a:ext>
            </a:extLst>
          </p:cNvPr>
          <p:cNvSpPr/>
          <p:nvPr/>
        </p:nvSpPr>
        <p:spPr>
          <a:xfrm>
            <a:off x="5842000" y="0"/>
            <a:ext cx="311776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5" name="Arrow: Down 144">
            <a:extLst>
              <a:ext uri="{FF2B5EF4-FFF2-40B4-BE49-F238E27FC236}">
                <a16:creationId xmlns:a16="http://schemas.microsoft.com/office/drawing/2014/main" id="{62AA83CD-7074-43EB-0F75-6E3D4C149FAD}"/>
              </a:ext>
            </a:extLst>
          </p:cNvPr>
          <p:cNvSpPr/>
          <p:nvPr/>
        </p:nvSpPr>
        <p:spPr>
          <a:xfrm>
            <a:off x="8967019" y="3429000"/>
            <a:ext cx="527349" cy="82822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1681142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4937670" y="2469930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A88212-3336-6AB1-0A0B-671FB4B35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85A962-DDB4-7FC3-E4E2-5283D64B266D}"/>
              </a:ext>
            </a:extLst>
          </p:cNvPr>
          <p:cNvSpPr txBox="1"/>
          <p:nvPr/>
        </p:nvSpPr>
        <p:spPr>
          <a:xfrm>
            <a:off x="485413" y="336330"/>
            <a:ext cx="41761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Update script 17/07/2026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4241DC-41C3-F471-8425-4D424F585936}"/>
              </a:ext>
            </a:extLst>
          </p:cNvPr>
          <p:cNvSpPr txBox="1"/>
          <p:nvPr/>
        </p:nvSpPr>
        <p:spPr>
          <a:xfrm>
            <a:off x="931169" y="1398584"/>
            <a:ext cx="105776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Program.cs</a:t>
            </a:r>
            <a:r>
              <a:rPr lang="en-US" dirty="0"/>
              <a:t> workflow :</a:t>
            </a:r>
          </a:p>
          <a:p>
            <a:endParaRPr lang="en-US" dirty="0"/>
          </a:p>
          <a:p>
            <a:r>
              <a:rPr lang="en-US" dirty="0"/>
              <a:t>Console output is not as per requested. Need to restructure the way. = PROBLEM SOLVED ✅</a:t>
            </a:r>
          </a:p>
          <a:p>
            <a:r>
              <a:rPr lang="en-US" dirty="0"/>
              <a:t>PROBLEM AND STOP AND APPROACH 2 </a:t>
            </a:r>
          </a:p>
          <a:p>
            <a:endParaRPr lang="en-US" dirty="0"/>
          </a:p>
          <a:p>
            <a:endParaRPr lang="en-US" dirty="0"/>
          </a:p>
          <a:p>
            <a:r>
              <a:rPr lang="en-MY" dirty="0"/>
              <a:t>So: </a:t>
            </a:r>
            <a:r>
              <a:rPr lang="en-MY" b="1" dirty="0"/>
              <a:t>capture the data → </a:t>
            </a:r>
            <a:r>
              <a:rPr lang="en-MY" b="1" dirty="0" err="1"/>
              <a:t>ClusterQuotaAllocator.cs</a:t>
            </a:r>
            <a:r>
              <a:rPr lang="en-MY" b="1" dirty="0"/>
              <a:t>. Display the data → </a:t>
            </a:r>
            <a:r>
              <a:rPr lang="en-MY" b="1" dirty="0" err="1"/>
              <a:t>Program.cs</a:t>
            </a:r>
            <a:r>
              <a:rPr lang="en-MY" b="1" dirty="0"/>
              <a:t>.</a:t>
            </a:r>
            <a:r>
              <a:rPr lang="en-MY" dirty="0"/>
              <a:t> If you already replaced your Logic project's </a:t>
            </a:r>
            <a:r>
              <a:rPr lang="en-MY" dirty="0" err="1"/>
              <a:t>ClusterQuotaAllocator.cs</a:t>
            </a:r>
            <a:r>
              <a:rPr lang="en-MY" dirty="0"/>
              <a:t> with the full file I gave you last message, that half is done — you just need to update the </a:t>
            </a:r>
            <a:r>
              <a:rPr lang="en-MY" dirty="0" err="1"/>
              <a:t>Program.cs</a:t>
            </a:r>
            <a:r>
              <a:rPr lang="en-MY" dirty="0"/>
              <a:t> printing block now.</a:t>
            </a:r>
          </a:p>
        </p:txBody>
      </p:sp>
    </p:spTree>
    <p:extLst>
      <p:ext uri="{BB962C8B-B14F-4D97-AF65-F5344CB8AC3E}">
        <p14:creationId xmlns:p14="http://schemas.microsoft.com/office/powerpoint/2010/main" val="123987724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C43FC-695C-8E98-FA6D-DD9579CA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95FA9-4577-2710-99B0-419F95D825CF}"/>
              </a:ext>
            </a:extLst>
          </p:cNvPr>
          <p:cNvSpPr txBox="1"/>
          <p:nvPr/>
        </p:nvSpPr>
        <p:spPr>
          <a:xfrm>
            <a:off x="4169831" y="2135887"/>
            <a:ext cx="38523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77384124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2B484C-E798-CDFF-4DC6-0347EE730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91D9AC-408F-CACD-2D32-EA6A2044E077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Case when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Check the top 3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Load the top 3 cluster obtain from the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Match the pattern algorithm.</a:t>
            </a:r>
          </a:p>
          <a:p>
            <a:pPr marL="342900" indent="-342900">
              <a:buAutoNum type="arabicParenR"/>
            </a:pPr>
            <a:r>
              <a:rPr lang="en-MY" sz="2400" dirty="0"/>
              <a:t> Is the equipment existed in the cluster algorithm reference? Yes/No</a:t>
            </a:r>
          </a:p>
          <a:p>
            <a:pPr marL="342900" indent="-342900">
              <a:buAutoNum type="arabicParenR"/>
            </a:pPr>
            <a:r>
              <a:rPr lang="en-MY" sz="2400" dirty="0"/>
              <a:t> NO = EXCLUDE THE CLUSTER</a:t>
            </a:r>
          </a:p>
          <a:p>
            <a:pPr marL="342900" indent="-342900">
              <a:buAutoNum type="arabicParenR"/>
            </a:pPr>
            <a:r>
              <a:rPr lang="en-MY" sz="2400" dirty="0"/>
              <a:t> YES = Proceed with the selection. </a:t>
            </a:r>
          </a:p>
          <a:p>
            <a:pPr marL="342900" indent="-342900">
              <a:buAutoNum type="arabicParenR"/>
            </a:pPr>
            <a:r>
              <a:rPr lang="en-MY" sz="2400" dirty="0"/>
              <a:t> 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QUESTION! WHEN THE KICK AND REPLACE WILL WORK?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89936099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99CB30-9882-388D-E303-8580A3FA2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628A4-C1D1-0D33-F043-59EB1D3978EB}"/>
              </a:ext>
            </a:extLst>
          </p:cNvPr>
          <p:cNvSpPr/>
          <p:nvPr/>
        </p:nvSpPr>
        <p:spPr>
          <a:xfrm>
            <a:off x="722376" y="1362456"/>
            <a:ext cx="4489704" cy="2624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4D22BD-945A-6B32-63A0-5AC3E2103405}"/>
              </a:ext>
            </a:extLst>
          </p:cNvPr>
          <p:cNvSpPr/>
          <p:nvPr/>
        </p:nvSpPr>
        <p:spPr>
          <a:xfrm>
            <a:off x="6717792" y="1362456"/>
            <a:ext cx="4489704" cy="24871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MODEL APPLICATION BY </a:t>
            </a:r>
            <a:r>
              <a:rPr lang="en-MY" b="1" u="sng" dirty="0" err="1"/>
              <a:t>Program.cs</a:t>
            </a:r>
            <a:endParaRPr lang="en-MY" b="1" u="sng" dirty="0"/>
          </a:p>
          <a:p>
            <a:pPr algn="ctr"/>
            <a:endParaRPr lang="en-MY" b="1" u="sng" dirty="0"/>
          </a:p>
          <a:p>
            <a:r>
              <a:rPr lang="en-MY" dirty="0"/>
              <a:t>OILTEK </a:t>
            </a:r>
          </a:p>
          <a:p>
            <a:r>
              <a:rPr lang="en-MY" dirty="0"/>
              <a:t>A1706</a:t>
            </a:r>
          </a:p>
          <a:p>
            <a:endParaRPr lang="en-MY" dirty="0"/>
          </a:p>
          <a:p>
            <a:r>
              <a:rPr lang="en-MY" dirty="0"/>
              <a:t>OUTPUT : </a:t>
            </a:r>
          </a:p>
          <a:p>
            <a:r>
              <a:rPr lang="en-MY" dirty="0"/>
              <a:t>TOTAL DEVICE ID 	= 128 ID</a:t>
            </a:r>
          </a:p>
          <a:p>
            <a:r>
              <a:rPr lang="en-MY" dirty="0"/>
              <a:t>KNOWN 			= 117 ID</a:t>
            </a:r>
          </a:p>
          <a:p>
            <a:r>
              <a:rPr lang="en-MY" dirty="0"/>
              <a:t>UNKNOWN 		= 11 ID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92057-5512-B372-C357-5630E47E227C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</p:spTree>
    <p:extLst>
      <p:ext uri="{BB962C8B-B14F-4D97-AF65-F5344CB8AC3E}">
        <p14:creationId xmlns:p14="http://schemas.microsoft.com/office/powerpoint/2010/main" val="68812789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E3B42-F89D-59D8-CAB5-AFBFB1A2D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34E2E-4FA9-D7A4-201C-22942823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"/>
            <a:ext cx="4781839" cy="5074920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78F1C-E0B3-6039-EB4E-5D9859E9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945"/>
          <a:stretch>
            <a:fillRect/>
          </a:stretch>
        </p:blipFill>
        <p:spPr>
          <a:xfrm>
            <a:off x="647423" y="274320"/>
            <a:ext cx="4865272" cy="60669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330097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398792" y="218984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2195478" y="358366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4399390" y="19247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BECEC5B-2180-0B56-529B-8C09DCE7D743}"/>
              </a:ext>
            </a:extLst>
          </p:cNvPr>
          <p:cNvSpPr txBox="1"/>
          <p:nvPr/>
        </p:nvSpPr>
        <p:spPr>
          <a:xfrm>
            <a:off x="2645884" y="16286"/>
            <a:ext cx="3955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UNKNOWN CLUSTER = TOP 3 SUGGESTION</a:t>
            </a:r>
            <a:endParaRPr lang="en-MY" sz="1600" b="1" dirty="0"/>
          </a:p>
        </p:txBody>
      </p: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98965-FC76-99BF-617C-9618C5D3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6522EAD-E7CD-121A-CBD6-04DAC07F607B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5B269C-6F75-757F-5E37-1215914D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9" r="10975"/>
          <a:stretch>
            <a:fillRect/>
          </a:stretch>
        </p:blipFill>
        <p:spPr>
          <a:xfrm>
            <a:off x="1613377" y="1002910"/>
            <a:ext cx="9189720" cy="1522387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FE15BC-80C7-795B-4A30-8611D0C76907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17013747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C4B36-457D-A5A6-17D1-85149A35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EE5122-27B9-0FEA-3D0A-50539D415A8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C9AD07-5F20-B1EF-B282-E118AB1102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0" r="4176"/>
          <a:stretch>
            <a:fillRect/>
          </a:stretch>
        </p:blipFill>
        <p:spPr>
          <a:xfrm>
            <a:off x="1634252" y="817330"/>
            <a:ext cx="9320259" cy="586648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E907A4-7859-8B05-A46A-1424E9642049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293479961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993EC9-9723-3A5D-09F9-F7B33B92F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AC12DDA-A04A-DBC7-0885-E19AEC37CE85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32BD8-FFD9-E45B-631C-3CB98359D5EB}"/>
              </a:ext>
            </a:extLst>
          </p:cNvPr>
          <p:cNvSpPr txBox="1"/>
          <p:nvPr/>
        </p:nvSpPr>
        <p:spPr>
          <a:xfrm>
            <a:off x="3394450" y="556784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56AF7A-CFF0-F929-1DFC-83B6606E5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521" y="1716863"/>
            <a:ext cx="9554908" cy="202910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5336578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9F6FF-5FBB-801C-AB59-8B7C24A5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D1E744-8600-62A3-5D5F-595502F88CC6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A70D9C-CEB5-93DE-89EB-AC667DA0D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3" y="1067847"/>
            <a:ext cx="10774837" cy="472230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C185B4-38BA-68EE-1191-931A353838D0}"/>
              </a:ext>
            </a:extLst>
          </p:cNvPr>
          <p:cNvSpPr txBox="1"/>
          <p:nvPr/>
        </p:nvSpPr>
        <p:spPr>
          <a:xfrm>
            <a:off x="3371590" y="312682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</p:spTree>
    <p:extLst>
      <p:ext uri="{BB962C8B-B14F-4D97-AF65-F5344CB8AC3E}">
        <p14:creationId xmlns:p14="http://schemas.microsoft.com/office/powerpoint/2010/main" val="349381484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70877-EB8D-2C60-311E-742F4B91B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765" y="336884"/>
            <a:ext cx="6245307" cy="5994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AAF6C1-8874-B134-E790-9B7BD5A5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479" y="1795842"/>
            <a:ext cx="3334215" cy="245779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70EB07-B3D9-6C26-549F-561736D30995}"/>
              </a:ext>
            </a:extLst>
          </p:cNvPr>
          <p:cNvSpPr txBox="1"/>
          <p:nvPr/>
        </p:nvSpPr>
        <p:spPr>
          <a:xfrm>
            <a:off x="7624479" y="463415"/>
            <a:ext cx="4139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3600" b="1" dirty="0"/>
              <a:t>LLA893 – SECTION5 </a:t>
            </a:r>
          </a:p>
          <a:p>
            <a:r>
              <a:rPr lang="en-MY" sz="3600" b="1" dirty="0"/>
              <a:t>CLUSTER?</a:t>
            </a:r>
          </a:p>
        </p:txBody>
      </p:sp>
    </p:spTree>
    <p:extLst>
      <p:ext uri="{BB962C8B-B14F-4D97-AF65-F5344CB8AC3E}">
        <p14:creationId xmlns:p14="http://schemas.microsoft.com/office/powerpoint/2010/main" val="11846934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8D92ED-8851-9F23-A934-C89D45DDA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FFF399-3887-F28D-B6BB-28748C8A4A04}"/>
              </a:ext>
            </a:extLst>
          </p:cNvPr>
          <p:cNvSpPr txBox="1"/>
          <p:nvPr/>
        </p:nvSpPr>
        <p:spPr>
          <a:xfrm>
            <a:off x="4169832" y="2135887"/>
            <a:ext cx="385233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THE END </a:t>
            </a:r>
          </a:p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30917204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25043</TotalTime>
  <Words>3668</Words>
  <Application>Microsoft Office PowerPoint</Application>
  <PresentationFormat>Widescreen</PresentationFormat>
  <Paragraphs>934</Paragraphs>
  <Slides>79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7" baseType="lpstr">
      <vt:lpstr>Aptos</vt:lpstr>
      <vt:lpstr>Aptos Narrow</vt:lpstr>
      <vt:lpstr>Arial</vt:lpstr>
      <vt:lpstr>Calibri</vt:lpstr>
      <vt:lpstr>Courier New</vt:lpstr>
      <vt:lpstr>Tw Cen MT</vt:lpstr>
      <vt:lpstr>Wingdings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119</cp:revision>
  <dcterms:created xsi:type="dcterms:W3CDTF">2025-11-18T06:28:25Z</dcterms:created>
  <dcterms:modified xsi:type="dcterms:W3CDTF">2026-08-21T07:38:44Z</dcterms:modified>
</cp:coreProperties>
</file>