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69"/>
  </p:notesMasterIdLst>
  <p:sldIdLst>
    <p:sldId id="256" r:id="rId2"/>
    <p:sldId id="348" r:id="rId3"/>
    <p:sldId id="395" r:id="rId4"/>
    <p:sldId id="396" r:id="rId5"/>
    <p:sldId id="398" r:id="rId6"/>
    <p:sldId id="397" r:id="rId7"/>
    <p:sldId id="392" r:id="rId8"/>
    <p:sldId id="393" r:id="rId9"/>
    <p:sldId id="391" r:id="rId10"/>
    <p:sldId id="389" r:id="rId11"/>
    <p:sldId id="390" r:id="rId12"/>
    <p:sldId id="399" r:id="rId13"/>
    <p:sldId id="382" r:id="rId14"/>
    <p:sldId id="375" r:id="rId15"/>
    <p:sldId id="380" r:id="rId16"/>
    <p:sldId id="381" r:id="rId17"/>
    <p:sldId id="386" r:id="rId18"/>
    <p:sldId id="383" r:id="rId19"/>
    <p:sldId id="384" r:id="rId20"/>
    <p:sldId id="376" r:id="rId21"/>
    <p:sldId id="347" r:id="rId22"/>
    <p:sldId id="378" r:id="rId23"/>
    <p:sldId id="362" r:id="rId24"/>
    <p:sldId id="363" r:id="rId25"/>
    <p:sldId id="387" r:id="rId26"/>
    <p:sldId id="366" r:id="rId27"/>
    <p:sldId id="385" r:id="rId28"/>
    <p:sldId id="373" r:id="rId29"/>
    <p:sldId id="374" r:id="rId30"/>
    <p:sldId id="369" r:id="rId31"/>
    <p:sldId id="370" r:id="rId32"/>
    <p:sldId id="372" r:id="rId33"/>
    <p:sldId id="367" r:id="rId34"/>
    <p:sldId id="352" r:id="rId35"/>
    <p:sldId id="388" r:id="rId36"/>
    <p:sldId id="351" r:id="rId37"/>
    <p:sldId id="377" r:id="rId38"/>
    <p:sldId id="371" r:id="rId39"/>
    <p:sldId id="356" r:id="rId40"/>
    <p:sldId id="355" r:id="rId41"/>
    <p:sldId id="346" r:id="rId42"/>
    <p:sldId id="349" r:id="rId43"/>
    <p:sldId id="350" r:id="rId44"/>
    <p:sldId id="353" r:id="rId45"/>
    <p:sldId id="354" r:id="rId46"/>
    <p:sldId id="357" r:id="rId47"/>
    <p:sldId id="358" r:id="rId48"/>
    <p:sldId id="360" r:id="rId49"/>
    <p:sldId id="361" r:id="rId50"/>
    <p:sldId id="365" r:id="rId51"/>
    <p:sldId id="379" r:id="rId52"/>
    <p:sldId id="325" r:id="rId53"/>
    <p:sldId id="292" r:id="rId54"/>
    <p:sldId id="328" r:id="rId55"/>
    <p:sldId id="329" r:id="rId56"/>
    <p:sldId id="330" r:id="rId57"/>
    <p:sldId id="331" r:id="rId58"/>
    <p:sldId id="332" r:id="rId59"/>
    <p:sldId id="334" r:id="rId60"/>
    <p:sldId id="335" r:id="rId61"/>
    <p:sldId id="336" r:id="rId62"/>
    <p:sldId id="323" r:id="rId63"/>
    <p:sldId id="333" r:id="rId64"/>
    <p:sldId id="327" r:id="rId65"/>
    <p:sldId id="337" r:id="rId66"/>
    <p:sldId id="338" r:id="rId67"/>
    <p:sldId id="345" r:id="rId6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E6FEE8"/>
    <a:srgbClr val="FFFFAF"/>
    <a:srgbClr val="CAFC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86" autoAdjust="0"/>
    <p:restoredTop sz="94404" autoAdjust="0"/>
  </p:normalViewPr>
  <p:slideViewPr>
    <p:cSldViewPr snapToGrid="0">
      <p:cViewPr>
        <p:scale>
          <a:sx n="66" d="100"/>
          <a:sy n="66" d="100"/>
        </p:scale>
        <p:origin x="472" y="1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8059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6/8/2026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2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31/07/2026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8C113C-B87D-CD4B-1931-679B6E55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4D15BE-FBEA-3EF9-2626-521D3F2BAD5A}"/>
              </a:ext>
            </a:extLst>
          </p:cNvPr>
          <p:cNvSpPr txBox="1"/>
          <p:nvPr/>
        </p:nvSpPr>
        <p:spPr>
          <a:xfrm>
            <a:off x="640899" y="228261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UDPATE 31/07/2026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011B46-21E8-AB21-3693-8E49ED9C5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0754214"/>
              </p:ext>
            </p:extLst>
          </p:nvPr>
        </p:nvGraphicFramePr>
        <p:xfrm>
          <a:off x="1155744" y="1334814"/>
          <a:ext cx="10484877" cy="431597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494959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3494959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3494959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707119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US" sz="2000" dirty="0"/>
                        <a:t>1.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780377">
                <a:tc>
                  <a:txBody>
                    <a:bodyPr/>
                    <a:lstStyle/>
                    <a:p>
                      <a:r>
                        <a:rPr lang="en-US" sz="2000" dirty="0"/>
                        <a:t>2. Using Dummy data for logic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Refer to the slide “</a:t>
                      </a:r>
                      <a:r>
                        <a:rPr lang="en-US" sz="2000" b="1" dirty="0"/>
                        <a:t>Movement of dataset [UDPATE 04/08/26]</a:t>
                      </a:r>
                      <a:r>
                        <a:rPr lang="en-US" sz="2000" dirty="0"/>
                        <a:t>”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2000" dirty="0"/>
                        <a:t>3. </a:t>
                      </a:r>
                      <a:r>
                        <a:rPr lang="en-MY" sz="2000"/>
                        <a:t>Cleaning README.md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Synch with </a:t>
                      </a:r>
                      <a:r>
                        <a:rPr lang="en-US" sz="2000" dirty="0" err="1"/>
                        <a:t>devops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endParaRPr lang="en-MY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endParaRPr lang="en-MY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78508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0637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B7289-C22B-CEC8-2E59-1F5B5CBD5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EE185B-50E1-542E-A641-62A2876DAA51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UDPATE 04/08/26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A3272E-DC3E-A661-9364-C0EE26E9F3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8263172"/>
              </p:ext>
            </p:extLst>
          </p:nvPr>
        </p:nvGraphicFramePr>
        <p:xfrm>
          <a:off x="396558" y="1078903"/>
          <a:ext cx="11398884" cy="456935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361793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4004441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3032650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457200" indent="-457200">
                        <a:buAutoNum type="arabicPeriod"/>
                      </a:pPr>
                      <a:r>
                        <a:rPr lang="en-US" sz="2000" dirty="0"/>
                        <a:t>Update full flowchart ML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2000" dirty="0"/>
                        <a:t>Source : flowchart ML developmemt.xlsx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Model development</a:t>
                      </a:r>
                    </a:p>
                    <a:p>
                      <a:r>
                        <a:rPr lang="en-US" sz="2000" dirty="0"/>
                        <a:t>Model application</a:t>
                      </a:r>
                    </a:p>
                    <a:p>
                      <a:r>
                        <a:rPr lang="en-US" sz="2000" dirty="0"/>
                        <a:t>Result of model evaluation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On drafting – preparation for training</a:t>
                      </a:r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r>
                        <a:rPr lang="en-US" sz="2000" dirty="0"/>
                        <a:t>2.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US" sz="2000" dirty="0"/>
                        <a:t>Source dataset for </a:t>
                      </a:r>
                      <a:r>
                        <a:rPr lang="en-US" sz="2000" b="1" dirty="0"/>
                        <a:t>TRAINING MODEL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b="1" dirty="0"/>
                        <a:t>SGD Classifier : 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sz="1600" dirty="0"/>
                        <a:t>C:\Users\sitisyaziyah\Documents\Device_Identifier_MainFolder\Dataset\output\masterfile.csv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MY" sz="2000" b="1" dirty="0" err="1"/>
                        <a:t>XGBoost</a:t>
                      </a:r>
                      <a:endParaRPr lang="en-MY" sz="2000" b="1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C: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Users\sitisyaziyah\source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\r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epos\DeviceCluster\1.training_model\dummy_data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SGD Classifier : </a:t>
                      </a:r>
                    </a:p>
                    <a:p>
                      <a:r>
                        <a:rPr lang="en-MY" sz="2000" dirty="0"/>
                        <a:t>Wilmar, </a:t>
                      </a:r>
                      <a:r>
                        <a:rPr lang="en-MY" sz="2000" dirty="0" err="1"/>
                        <a:t>Oiltek</a:t>
                      </a:r>
                      <a:r>
                        <a:rPr lang="en-MY" sz="2000" dirty="0"/>
                        <a:t>, UGS</a:t>
                      </a:r>
                    </a:p>
                    <a:p>
                      <a:endParaRPr lang="en-MY" sz="2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XG Boost: </a:t>
                      </a:r>
                    </a:p>
                    <a:p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Wilmar, </a:t>
                      </a:r>
                      <a:r>
                        <a:rPr lang="en-MY" sz="2000" b="1" dirty="0" err="1">
                          <a:highlight>
                            <a:srgbClr val="FFFF00"/>
                          </a:highlight>
                        </a:rPr>
                        <a:t>Oiltek</a:t>
                      </a:r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, UGS (edit!!)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r>
                        <a:rPr lang="en-US" sz="2000" dirty="0"/>
                        <a:t>3. 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94306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0A6E28-33C1-A980-D209-65EA9C322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F361D5-9992-2F6E-C922-35F2C5ED6E39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UDPATE 05/08/26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82EF32A-22DD-A218-B782-6C041282D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0107154"/>
              </p:ext>
            </p:extLst>
          </p:nvPr>
        </p:nvGraphicFramePr>
        <p:xfrm>
          <a:off x="396558" y="1078903"/>
          <a:ext cx="11398884" cy="366103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77208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375337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546339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Decision of 2 </a:t>
                      </a:r>
                      <a:r>
                        <a:rPr lang="en-US" sz="2000" dirty="0" err="1"/>
                        <a:t>methode</a:t>
                      </a:r>
                      <a:r>
                        <a:rPr lang="en-US" sz="2000" dirty="0"/>
                        <a:t> in cluster logic :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Max (highest predicted cluster) choose it independently 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Constraint based similarity (consider the percentage first then select the most fit one)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 planning </a:t>
                      </a:r>
                    </a:p>
                    <a:p>
                      <a:r>
                        <a:rPr lang="en-US" dirty="0"/>
                        <a:t>Not execute in coding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r>
                        <a:rPr lang="en-US" sz="2000" dirty="0"/>
                        <a:t>3. 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74500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B0C0EF-E2BF-BE1F-D4D9-5672A004A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F12169-012C-035B-0B37-20D16F503AE3}"/>
              </a:ext>
            </a:extLst>
          </p:cNvPr>
          <p:cNvSpPr txBox="1"/>
          <p:nvPr/>
        </p:nvSpPr>
        <p:spPr>
          <a:xfrm>
            <a:off x="3132084" y="283182"/>
            <a:ext cx="64533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Movement of dataset [UDPATE 04/08/26]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B41492-3967-A06F-AB84-3D8C5AD6A74A}"/>
              </a:ext>
            </a:extLst>
          </p:cNvPr>
          <p:cNvSpPr txBox="1"/>
          <p:nvPr/>
        </p:nvSpPr>
        <p:spPr>
          <a:xfrm>
            <a:off x="360618" y="1289608"/>
            <a:ext cx="2077798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Received 8 RAW excel files in zip files </a:t>
            </a:r>
            <a:r>
              <a:rPr lang="en-US" sz="1400" dirty="0"/>
              <a:t>[Dataset/1. </a:t>
            </a:r>
            <a:r>
              <a:rPr lang="en-US" sz="1400" dirty="0" err="1"/>
              <a:t>raw_data</a:t>
            </a:r>
            <a:r>
              <a:rPr lang="en-US" sz="1400" dirty="0"/>
              <a:t>]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6797A3C-DB22-E459-74BB-FD071866140F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438416" y="1735884"/>
            <a:ext cx="295914" cy="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0EA222D-3A46-A016-C00C-B155E496A76E}"/>
              </a:ext>
            </a:extLst>
          </p:cNvPr>
          <p:cNvSpPr txBox="1"/>
          <p:nvPr/>
        </p:nvSpPr>
        <p:spPr>
          <a:xfrm>
            <a:off x="2734330" y="1443974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Clean each excel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9F7BA4-573B-A1B5-8482-BAEB834E4566}"/>
              </a:ext>
            </a:extLst>
          </p:cNvPr>
          <p:cNvSpPr txBox="1"/>
          <p:nvPr/>
        </p:nvSpPr>
        <p:spPr>
          <a:xfrm>
            <a:off x="5526864" y="1428107"/>
            <a:ext cx="241093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Merge into 1 csv files</a:t>
            </a:r>
          </a:p>
          <a:p>
            <a:pPr algn="ctr"/>
            <a:r>
              <a:rPr lang="en-US" sz="1400" dirty="0"/>
              <a:t>[</a:t>
            </a:r>
            <a:r>
              <a:rPr lang="en-MY" sz="1400" dirty="0"/>
              <a:t>Dataset</a:t>
            </a:r>
            <a:r>
              <a:rPr lang="en-MY" sz="1400" b="1" dirty="0"/>
              <a:t>\o</a:t>
            </a:r>
            <a:r>
              <a:rPr lang="en-MY" sz="1400" dirty="0"/>
              <a:t>utput</a:t>
            </a:r>
            <a:r>
              <a:rPr lang="en-MY" sz="1400" b="1" dirty="0"/>
              <a:t>\m</a:t>
            </a:r>
            <a:r>
              <a:rPr lang="en-MY" sz="1400" dirty="0"/>
              <a:t>asterfile.csv</a:t>
            </a:r>
            <a:r>
              <a:rPr lang="en-US" sz="1400" dirty="0"/>
              <a:t>]</a:t>
            </a:r>
            <a:endParaRPr lang="en-MY" sz="14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D462315-5951-5C82-315D-1E18348CCE52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5230950" y="1720495"/>
            <a:ext cx="295914" cy="158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0C47FB-1DBC-FAEE-73F0-DC0738C173BE}"/>
              </a:ext>
            </a:extLst>
          </p:cNvPr>
          <p:cNvSpPr txBox="1"/>
          <p:nvPr/>
        </p:nvSpPr>
        <p:spPr>
          <a:xfrm>
            <a:off x="8319398" y="1266763"/>
            <a:ext cx="1471447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SGD model</a:t>
            </a:r>
            <a:endParaRPr lang="en-MY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569126-C902-EF93-4306-2A3D8A166E7A}"/>
              </a:ext>
            </a:extLst>
          </p:cNvPr>
          <p:cNvCxnSpPr>
            <a:cxnSpLocks/>
            <a:stCxn id="13" idx="3"/>
            <a:endCxn id="20" idx="1"/>
          </p:cNvCxnSpPr>
          <p:nvPr/>
        </p:nvCxnSpPr>
        <p:spPr>
          <a:xfrm>
            <a:off x="7937798" y="1720495"/>
            <a:ext cx="381600" cy="7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1A58E-824F-5CCF-E4A0-A05129B4789B}"/>
              </a:ext>
            </a:extLst>
          </p:cNvPr>
          <p:cNvSpPr txBox="1"/>
          <p:nvPr/>
        </p:nvSpPr>
        <p:spPr>
          <a:xfrm>
            <a:off x="10290522" y="1551218"/>
            <a:ext cx="147144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master_df.pkl</a:t>
            </a:r>
            <a:endParaRPr lang="en-MY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554F045-501E-A964-9EF5-BA54A176CBA6}"/>
              </a:ext>
            </a:extLst>
          </p:cNvPr>
          <p:cNvCxnSpPr>
            <a:cxnSpLocks/>
            <a:stCxn id="20" idx="3"/>
            <a:endCxn id="47" idx="1"/>
          </p:cNvCxnSpPr>
          <p:nvPr/>
        </p:nvCxnSpPr>
        <p:spPr>
          <a:xfrm>
            <a:off x="9790845" y="1728428"/>
            <a:ext cx="499677" cy="7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DBCF579-EC25-F117-F193-EE0FCD1E0E4F}"/>
              </a:ext>
            </a:extLst>
          </p:cNvPr>
          <p:cNvSpPr txBox="1"/>
          <p:nvPr/>
        </p:nvSpPr>
        <p:spPr>
          <a:xfrm>
            <a:off x="360618" y="806402"/>
            <a:ext cx="1545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SGD Classifier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D05E5B-D5E8-52FB-2D7D-8A861382E0FC}"/>
              </a:ext>
            </a:extLst>
          </p:cNvPr>
          <p:cNvSpPr txBox="1"/>
          <p:nvPr/>
        </p:nvSpPr>
        <p:spPr>
          <a:xfrm>
            <a:off x="360618" y="3244334"/>
            <a:ext cx="1004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XGBoost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FF2471-CD09-F631-B61E-8BB6B05F210F}"/>
              </a:ext>
            </a:extLst>
          </p:cNvPr>
          <p:cNvSpPr txBox="1"/>
          <p:nvPr/>
        </p:nvSpPr>
        <p:spPr>
          <a:xfrm>
            <a:off x="277215" y="3875620"/>
            <a:ext cx="2771466" cy="14465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Dummy data</a:t>
            </a:r>
          </a:p>
          <a:p>
            <a:pPr algn="ctr"/>
            <a:r>
              <a:rPr lang="en-US" sz="1400" dirty="0"/>
              <a:t>[</a:t>
            </a:r>
            <a:r>
              <a:rPr lang="en-MY" sz="1400" b="1" dirty="0"/>
              <a:t>r</a:t>
            </a:r>
            <a:r>
              <a:rPr lang="en-MY" sz="1400" dirty="0"/>
              <a:t>epos\</a:t>
            </a:r>
            <a:r>
              <a:rPr lang="en-MY" sz="1400" dirty="0" err="1"/>
              <a:t>DeviceCluster</a:t>
            </a:r>
            <a:r>
              <a:rPr lang="en-MY" sz="1400" dirty="0"/>
              <a:t>\1.training_model\</a:t>
            </a:r>
            <a:r>
              <a:rPr lang="en-MY" sz="1400" dirty="0" err="1"/>
              <a:t>dummy_data</a:t>
            </a:r>
            <a:r>
              <a:rPr lang="en-US" sz="1400" dirty="0"/>
              <a:t>]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UGS (A1706-A1995)</a:t>
            </a:r>
          </a:p>
          <a:p>
            <a:pPr algn="ctr"/>
            <a:r>
              <a:rPr lang="en-MY" sz="1400" dirty="0" err="1"/>
              <a:t>Oiltek</a:t>
            </a:r>
            <a:r>
              <a:rPr lang="en-MY" sz="1400" dirty="0"/>
              <a:t> (A2027-A8885)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412BAF-F98B-43A4-BA69-C23842C63EA5}"/>
              </a:ext>
            </a:extLst>
          </p:cNvPr>
          <p:cNvSpPr txBox="1"/>
          <p:nvPr/>
        </p:nvSpPr>
        <p:spPr>
          <a:xfrm>
            <a:off x="3982640" y="4275729"/>
            <a:ext cx="183882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XGB model</a:t>
            </a:r>
            <a:endParaRPr lang="en-MY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56D47BF-E73D-21FF-E411-9256D55B60EE}"/>
              </a:ext>
            </a:extLst>
          </p:cNvPr>
          <p:cNvCxnSpPr>
            <a:cxnSpLocks/>
            <a:stCxn id="61" idx="3"/>
            <a:endCxn id="70" idx="1"/>
          </p:cNvCxnSpPr>
          <p:nvPr/>
        </p:nvCxnSpPr>
        <p:spPr>
          <a:xfrm>
            <a:off x="3048681" y="4598895"/>
            <a:ext cx="9339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1608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417279-FFF0-6BF9-FE2D-8E9D18E28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2F77FC3-E448-268A-CA5D-899EBF724E73}"/>
              </a:ext>
            </a:extLst>
          </p:cNvPr>
          <p:cNvSpPr txBox="1"/>
          <p:nvPr/>
        </p:nvSpPr>
        <p:spPr>
          <a:xfrm>
            <a:off x="669194" y="2419505"/>
            <a:ext cx="111216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b="1" dirty="0" err="1"/>
              <a:t>clu_proba_raw</a:t>
            </a:r>
            <a:r>
              <a:rPr lang="en-MY" b="1" dirty="0"/>
              <a:t>           = </a:t>
            </a:r>
            <a:r>
              <a:rPr lang="en-MY" b="1" dirty="0" err="1"/>
              <a:t>model_cluster.predict_proba</a:t>
            </a:r>
            <a:r>
              <a:rPr lang="en-MY" b="1" dirty="0"/>
              <a:t>(</a:t>
            </a:r>
            <a:r>
              <a:rPr lang="en-MY" b="1" dirty="0" err="1"/>
              <a:t>X_clu</a:t>
            </a:r>
            <a:r>
              <a:rPr lang="en-MY" b="1" dirty="0"/>
              <a:t>)   	</a:t>
            </a:r>
            <a:r>
              <a:rPr lang="en-MY" dirty="0"/>
              <a:t># ← full probability array, one score per cluster class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clu_pred_enc</a:t>
            </a:r>
            <a:r>
              <a:rPr lang="en-MY" b="1" dirty="0"/>
              <a:t>            = </a:t>
            </a:r>
            <a:r>
              <a:rPr lang="en-MY" b="1" dirty="0" err="1"/>
              <a:t>np.argmax</a:t>
            </a:r>
            <a:r>
              <a:rPr lang="en-MY" b="1" dirty="0"/>
              <a:t>(</a:t>
            </a:r>
            <a:r>
              <a:rPr lang="en-MY" b="1" dirty="0" err="1"/>
              <a:t>clu_proba_raw</a:t>
            </a:r>
            <a:r>
              <a:rPr lang="en-MY" b="1" dirty="0"/>
              <a:t>, axis=1)  </a:t>
            </a:r>
            <a:r>
              <a:rPr lang="en-MY" dirty="0"/>
              <a:t>   	# ← THIS is where it picks the max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clu_conf_raw</a:t>
            </a:r>
            <a:r>
              <a:rPr lang="en-MY" b="1" dirty="0"/>
              <a:t>            = </a:t>
            </a:r>
            <a:r>
              <a:rPr lang="en-MY" b="1" dirty="0" err="1"/>
              <a:t>clu_proba_raw.max</a:t>
            </a:r>
            <a:r>
              <a:rPr lang="en-MY" b="1" dirty="0"/>
              <a:t>(axis=1)            	</a:t>
            </a:r>
            <a:r>
              <a:rPr lang="en-MY" dirty="0"/>
              <a:t># ← and this grabs the max value itself</a:t>
            </a:r>
          </a:p>
        </p:txBody>
      </p:sp>
    </p:spTree>
    <p:extLst>
      <p:ext uri="{BB962C8B-B14F-4D97-AF65-F5344CB8AC3E}">
        <p14:creationId xmlns:p14="http://schemas.microsoft.com/office/powerpoint/2010/main" val="27019312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FCF45-ABF1-2E1D-3EB7-070DB704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589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CA2-D7B5-F6C6-5FEE-891560CA1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40EA0-0488-0289-9DA2-174F6A949FA3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26268465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640D1-542D-7C4F-6A12-1D02CE65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31E10-7869-40D6-92E4-D49052B29F1F}"/>
              </a:ext>
            </a:extLst>
          </p:cNvPr>
          <p:cNvSpPr txBox="1"/>
          <p:nvPr/>
        </p:nvSpPr>
        <p:spPr>
          <a:xfrm>
            <a:off x="758107" y="469998"/>
            <a:ext cx="10382859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do list 20/07/2026</a:t>
            </a:r>
          </a:p>
          <a:p>
            <a:endParaRPr lang="en-US" sz="2800" dirty="0"/>
          </a:p>
          <a:p>
            <a:pPr marL="914400" indent="-914400">
              <a:buFont typeface="+mj-lt"/>
              <a:buAutoNum type="arabicPeriod"/>
            </a:pPr>
            <a:r>
              <a:rPr lang="en-US" sz="2800" dirty="0"/>
              <a:t>Confirmation training with HR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Extract the pattern dataset of Section 2 Cluster OILTEK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Transform into tabulation dataset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Ask </a:t>
            </a:r>
            <a:r>
              <a:rPr lang="en-MY" sz="2800" dirty="0" err="1"/>
              <a:t>claude</a:t>
            </a:r>
            <a:r>
              <a:rPr lang="en-MY" sz="2800" dirty="0"/>
              <a:t> to find which line of python script predict_sectioncluster.py that showing all the percentage prediction for each cluster before showing/pickup the highest percentage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Find the line in python script of the predict_sectioncuster.py that give percentage of all the possibilities in the cluster.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Setup in descending order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List out all the possibilities of dataset that might bring confusing </a:t>
            </a:r>
          </a:p>
        </p:txBody>
      </p:sp>
    </p:spTree>
    <p:extLst>
      <p:ext uri="{BB962C8B-B14F-4D97-AF65-F5344CB8AC3E}">
        <p14:creationId xmlns:p14="http://schemas.microsoft.com/office/powerpoint/2010/main" val="36498619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A455F-C5FB-E31C-F4C9-C7C20CB83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0A5CF-E1ED-D92D-C5E8-63D63DA3B39F}"/>
              </a:ext>
            </a:extLst>
          </p:cNvPr>
          <p:cNvSpPr txBox="1"/>
          <p:nvPr/>
        </p:nvSpPr>
        <p:spPr>
          <a:xfrm>
            <a:off x="758107" y="469998"/>
            <a:ext cx="1038285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algn="ctr"/>
            <a:r>
              <a:rPr lang="en-MY" sz="3600" dirty="0"/>
              <a:t>TAKE NOTE THIS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dirty="0"/>
              <a:t>Script that </a:t>
            </a:r>
            <a:r>
              <a:rPr lang="en-MY" dirty="0" err="1"/>
              <a:t>pikup</a:t>
            </a:r>
            <a:r>
              <a:rPr lang="en-MY" dirty="0"/>
              <a:t> the max prediction percentage</a:t>
            </a:r>
          </a:p>
          <a:p>
            <a:r>
              <a:rPr lang="en-MY" dirty="0"/>
              <a:t> ratio    = </a:t>
            </a:r>
            <a:r>
              <a:rPr lang="en-MY" dirty="0" err="1"/>
              <a:t>np.maximum</a:t>
            </a:r>
            <a:r>
              <a:rPr lang="en-MY" dirty="0"/>
              <a:t>(0, </a:t>
            </a:r>
            <a:r>
              <a:rPr lang="en-MY" dirty="0" err="1"/>
              <a:t>avg_dist</a:t>
            </a:r>
            <a:r>
              <a:rPr lang="en-MY" dirty="0"/>
              <a:t> - </a:t>
            </a:r>
            <a:r>
              <a:rPr lang="en-MY" dirty="0" err="1"/>
              <a:t>ood_threshold</a:t>
            </a:r>
            <a:r>
              <a:rPr lang="en-MY" dirty="0"/>
              <a:t>) / </a:t>
            </a:r>
            <a:r>
              <a:rPr lang="en-MY" dirty="0" err="1"/>
              <a:t>ood_threshold</a:t>
            </a:r>
            <a:endParaRPr lang="en-MY" dirty="0"/>
          </a:p>
          <a:p>
            <a:r>
              <a:rPr lang="en-MY" dirty="0"/>
              <a:t>    adjusted = </a:t>
            </a:r>
            <a:r>
              <a:rPr lang="en-MY" dirty="0" err="1"/>
              <a:t>conf_raw</a:t>
            </a:r>
            <a:r>
              <a:rPr lang="en-MY" dirty="0"/>
              <a:t> / (1 + ratio)</a:t>
            </a:r>
          </a:p>
          <a:p>
            <a:endParaRPr lang="en-MY" dirty="0"/>
          </a:p>
          <a:p>
            <a:endParaRPr lang="en-MY" dirty="0"/>
          </a:p>
          <a:p>
            <a:r>
              <a:rPr lang="en-MY" dirty="0"/>
              <a:t>Or this script:</a:t>
            </a:r>
          </a:p>
          <a:p>
            <a:r>
              <a:rPr lang="en-MY" dirty="0"/>
              <a:t>    # ── Section prediction (single best, same as predict()) ────────────</a:t>
            </a:r>
          </a:p>
          <a:p>
            <a:r>
              <a:rPr lang="en-MY" dirty="0"/>
              <a:t>    </a:t>
            </a:r>
            <a:r>
              <a:rPr lang="en-MY" dirty="0" err="1"/>
              <a:t>X_sec</a:t>
            </a:r>
            <a:r>
              <a:rPr lang="en-MY" dirty="0"/>
              <a:t> = </a:t>
            </a:r>
            <a:r>
              <a:rPr lang="en-MY" dirty="0" err="1"/>
              <a:t>df_feat</a:t>
            </a:r>
            <a:r>
              <a:rPr lang="en-MY" dirty="0"/>
              <a:t>[</a:t>
            </a:r>
            <a:r>
              <a:rPr lang="en-MY" dirty="0" err="1"/>
              <a:t>section_features</a:t>
            </a:r>
            <a:r>
              <a:rPr lang="en-MY" dirty="0"/>
              <a:t>].apply(</a:t>
            </a:r>
            <a:r>
              <a:rPr lang="en-MY" dirty="0" err="1"/>
              <a:t>pd.to_numeric</a:t>
            </a:r>
            <a:r>
              <a:rPr lang="en-MY" dirty="0"/>
              <a:t>, errors="coerce").</a:t>
            </a:r>
            <a:r>
              <a:rPr lang="en-MY" dirty="0" err="1"/>
              <a:t>fillna</a:t>
            </a:r>
            <a:r>
              <a:rPr lang="en-MY" dirty="0"/>
              <a:t>(0)</a:t>
            </a:r>
          </a:p>
          <a:p>
            <a:r>
              <a:rPr lang="en-MY" dirty="0"/>
              <a:t>    </a:t>
            </a:r>
            <a:r>
              <a:rPr lang="en-MY" dirty="0" err="1"/>
              <a:t>sec_proba_raw</a:t>
            </a:r>
            <a:r>
              <a:rPr lang="en-MY" dirty="0"/>
              <a:t> = </a:t>
            </a:r>
            <a:r>
              <a:rPr lang="en-MY" dirty="0" err="1"/>
              <a:t>model_section.predict_proba</a:t>
            </a:r>
            <a:r>
              <a:rPr lang="en-MY" dirty="0"/>
              <a:t>(</a:t>
            </a:r>
            <a:r>
              <a:rPr lang="en-MY" dirty="0" err="1"/>
              <a:t>X_sec</a:t>
            </a:r>
            <a:r>
              <a:rPr lang="en-MY" dirty="0"/>
              <a:t>)</a:t>
            </a:r>
          </a:p>
          <a:p>
            <a:r>
              <a:rPr lang="en-MY" dirty="0"/>
              <a:t>    </a:t>
            </a:r>
            <a:r>
              <a:rPr lang="en-MY" dirty="0" err="1"/>
              <a:t>sec_pred_enc</a:t>
            </a:r>
            <a:r>
              <a:rPr lang="en-MY" dirty="0"/>
              <a:t>  = </a:t>
            </a:r>
            <a:r>
              <a:rPr lang="en-MY" dirty="0" err="1"/>
              <a:t>np.argmax</a:t>
            </a:r>
            <a:r>
              <a:rPr lang="en-MY" dirty="0"/>
              <a:t>(</a:t>
            </a:r>
            <a:r>
              <a:rPr lang="en-MY" dirty="0" err="1"/>
              <a:t>sec_proba_raw</a:t>
            </a:r>
            <a:r>
              <a:rPr lang="en-MY" dirty="0"/>
              <a:t>, axis=1)</a:t>
            </a:r>
          </a:p>
          <a:p>
            <a:endParaRPr lang="en-MY" dirty="0"/>
          </a:p>
          <a:p>
            <a:br>
              <a:rPr lang="en-MY" dirty="0"/>
            </a:br>
            <a:endParaRPr lang="en-MY" dirty="0"/>
          </a:p>
          <a:p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26560452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B5533F-1B89-B99B-0D65-01371B3D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2DA0EB-4492-1CBD-9585-FFC415099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523" y="231006"/>
            <a:ext cx="4043626" cy="6395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0233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3788228" y="2621617"/>
            <a:ext cx="538842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</a:rPr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 = PROBLEM SOLVED ✅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22946</TotalTime>
  <Words>2671</Words>
  <Application>Microsoft Office PowerPoint</Application>
  <PresentationFormat>Widescreen</PresentationFormat>
  <Paragraphs>748</Paragraphs>
  <Slides>67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3" baseType="lpstr">
      <vt:lpstr>Aptos</vt:lpstr>
      <vt:lpstr>Aptos Narrow</vt:lpstr>
      <vt:lpstr>Arial</vt:lpstr>
      <vt:lpstr>Calibri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108</cp:revision>
  <dcterms:created xsi:type="dcterms:W3CDTF">2025-11-18T06:28:25Z</dcterms:created>
  <dcterms:modified xsi:type="dcterms:W3CDTF">2026-08-06T06:01:58Z</dcterms:modified>
</cp:coreProperties>
</file>