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6"/>
  </p:notesMasterIdLst>
  <p:sldIdLst>
    <p:sldId id="256" r:id="rId2"/>
    <p:sldId id="348" r:id="rId3"/>
    <p:sldId id="382" r:id="rId4"/>
    <p:sldId id="375" r:id="rId5"/>
    <p:sldId id="380" r:id="rId6"/>
    <p:sldId id="381" r:id="rId7"/>
    <p:sldId id="386" r:id="rId8"/>
    <p:sldId id="383" r:id="rId9"/>
    <p:sldId id="384" r:id="rId10"/>
    <p:sldId id="376" r:id="rId11"/>
    <p:sldId id="347" r:id="rId12"/>
    <p:sldId id="378" r:id="rId13"/>
    <p:sldId id="362" r:id="rId14"/>
    <p:sldId id="363" r:id="rId15"/>
    <p:sldId id="387" r:id="rId16"/>
    <p:sldId id="366" r:id="rId17"/>
    <p:sldId id="385" r:id="rId18"/>
    <p:sldId id="373" r:id="rId19"/>
    <p:sldId id="374" r:id="rId20"/>
    <p:sldId id="369" r:id="rId21"/>
    <p:sldId id="370" r:id="rId22"/>
    <p:sldId id="372" r:id="rId23"/>
    <p:sldId id="367" r:id="rId24"/>
    <p:sldId id="35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F6F9"/>
    <a:srgbClr val="E6FEE8"/>
    <a:srgbClr val="FFFFAF"/>
    <a:srgbClr val="CAF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87470" autoAdjust="0"/>
  </p:normalViewPr>
  <p:slideViewPr>
    <p:cSldViewPr snapToGrid="0">
      <p:cViewPr varScale="1">
        <p:scale>
          <a:sx n="62" d="100"/>
          <a:sy n="62" d="100"/>
        </p:scale>
        <p:origin x="632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8B80A-F233-4240-BDAF-6537AE249829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833E0-5E66-4D1D-89F5-BD860FDD8F7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126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5143E-6EB1-5AEC-EA65-B16DDB48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3B66A-4E53-E454-043D-1F742FA80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DA1B7-2DD3-6DC0-1B24-8C9FE80A3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D7023-7DB9-431E-C43C-056860850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9535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95A4-8B16-B4B8-1099-6E539E5D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684E3-26DB-0ADA-43FE-B80A3F39D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E0129-6FBE-0B2B-9D73-CC36EE257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4E83B-BDDD-B3EF-8DA1-F84C83040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36509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9EAB-62F0-E599-5812-26AD2183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B937A-9DAD-0B78-4CD8-0D97CDB5F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5E1C6-9041-C876-2B23-13DCDED4D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E2EA1-56C0-8D6F-684C-1E193E31B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2852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DC8C-C1CE-AEAF-F776-94186C649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A1635-2431-E971-60CA-A32225934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DF767-2C08-D1EB-D1DD-B13C80968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B96FA-C83A-B919-DDEA-0F847B528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89749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4EAA-B7AE-9E60-5EB9-6AFB0BD3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B19DC-2B3C-15C0-DD43-54206C7AB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F5C09-6822-05DF-2439-FF6D014C5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0F096-58D1-CB43-671C-D7239AB89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8816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C424-EA8E-B269-C46D-00275BE9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46DAA-526B-158A-AF11-A6E8E0261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416B5-7816-4E82-F077-819D37FC8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1C30F-B0AC-ECC3-3987-420208BBA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46487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ED8ED-6CFC-FBAA-4EFD-1C5BB386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C3310-EC70-E0FE-5DD7-877D11981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70EC9-4B38-2BC1-363D-7239079AE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83D9A-856A-21D7-1903-E21D07E07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1360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AA44F-F577-055C-BA0F-DA69FF41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A680F-3263-365C-2593-51B8B9082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E51E4-620F-C57E-0B01-71CD148A8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7C7F0-6139-43B1-3A78-E075945FD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24309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138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750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98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59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5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0006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77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4645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680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546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76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78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461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6750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0709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6895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76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39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D01395-AC05-405C-BAB9-E5D2B9FDBB40}" type="datetimeFigureOut">
              <a:rPr lang="en-MY" smtClean="0"/>
              <a:t>17/7/2026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8061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A8BF-74AE-1522-7BD3-7F764B4CF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Update </a:t>
            </a:r>
            <a:r>
              <a:rPr lang="en-MY" dirty="0" err="1"/>
              <a:t>Xenxible</a:t>
            </a:r>
            <a:r>
              <a:rPr lang="en-MY" dirty="0"/>
              <a:t> Project Device Identifier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6E070-33C3-873C-ADD2-09B7AAE3EB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Syaziyah</a:t>
            </a:r>
          </a:p>
        </p:txBody>
      </p:sp>
    </p:spTree>
    <p:extLst>
      <p:ext uri="{BB962C8B-B14F-4D97-AF65-F5344CB8AC3E}">
        <p14:creationId xmlns:p14="http://schemas.microsoft.com/office/powerpoint/2010/main" val="151686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14F27-55BB-84B5-7057-34EE7C3A1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1C56C2-738D-4F87-75F6-C287081A0B04}"/>
              </a:ext>
            </a:extLst>
          </p:cNvPr>
          <p:cNvSpPr txBox="1"/>
          <p:nvPr/>
        </p:nvSpPr>
        <p:spPr>
          <a:xfrm>
            <a:off x="3310526" y="3013502"/>
            <a:ext cx="5570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UDPATE 10/07/2026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432325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8F463-FE94-A19A-FF78-AAFF47F1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E72955-82BD-20F2-756A-D78120C93D0A}"/>
              </a:ext>
            </a:extLst>
          </p:cNvPr>
          <p:cNvSpPr txBox="1"/>
          <p:nvPr/>
        </p:nvSpPr>
        <p:spPr>
          <a:xfrm>
            <a:off x="4370336" y="3013502"/>
            <a:ext cx="34513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Full flowchart</a:t>
            </a:r>
          </a:p>
        </p:txBody>
      </p:sp>
    </p:spTree>
    <p:extLst>
      <p:ext uri="{BB962C8B-B14F-4D97-AF65-F5344CB8AC3E}">
        <p14:creationId xmlns:p14="http://schemas.microsoft.com/office/powerpoint/2010/main" val="287612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283BA-3DC0-6D63-5BFB-5BE9A422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577188-542A-8A3A-4EE1-35BA2F57CB63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84BF08-3E5D-3171-5ABB-DA38FE8FF86D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B9CC73-0991-75BF-5923-46B7A8E00E42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619CAD-A68F-58F0-234F-B4E2B33FF01B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 (Logic)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FD65D02-D6D8-CDF7-7819-93525F558A6D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6B83D8-4114-0226-B808-E5D6685E840F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337188-D19F-9FA5-2A9F-0DA7453CF108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60ACDEB-806E-A983-A5AA-3D7E7EB00BAE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1AA0C6-3DB7-BFC5-4B02-E75ACCC03490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5F8D740-8572-ED9D-BC02-AAF774BE2334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18A06AD-10B2-78BC-A266-1DB786372659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80764CB-22CC-8DF4-DD78-B33474CC34E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8A6E997-26E7-69B5-95CC-DCBF799744F0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B151CC7-7645-23DA-7B3A-836A6174EFC7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38C68A-D1AA-1E18-B9B4-1C7AA86A5EC2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</p:spTree>
    <p:extLst>
      <p:ext uri="{BB962C8B-B14F-4D97-AF65-F5344CB8AC3E}">
        <p14:creationId xmlns:p14="http://schemas.microsoft.com/office/powerpoint/2010/main" val="3433560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043C2-1C0A-0131-6811-F65857B5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2652D-CC66-D75D-6654-2D845D5869D3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C1A1F2-24F1-6366-1EFD-2E5D57A11CA1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134F3C-AE36-6714-9474-E6BDBFB1839A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9BEADC-3F77-226F-CDFD-06390D10FA67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 (Logic)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B30F94-2609-9DEE-62BD-2C2E1556240D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24A5B4-63B3-B424-2026-808BFC4ABC6A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FE9A51-6C78-68D2-E10C-FB17E844D604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0F49E33-3A58-74A2-192B-FC4D816BC6CC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7233B2-68AB-C0D1-35DD-ED8E30675B7A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41B4FA2-3554-B176-70C4-27F34A969C35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6042B3-CB02-F8FC-4339-153342D76FA9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F367050-41B3-9E58-D3C2-2ECD881E5D4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1059DC0-E073-0409-48E2-045BF02E41D5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7764549-F6A3-BEF9-F18D-63F36B2CAA2A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9DBA3F-5F9D-73C3-17F4-6C01745009AB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DB4641-B417-58B6-5762-EBF601BE3C19}"/>
              </a:ext>
            </a:extLst>
          </p:cNvPr>
          <p:cNvSpPr/>
          <p:nvPr/>
        </p:nvSpPr>
        <p:spPr>
          <a:xfrm>
            <a:off x="73579" y="1345324"/>
            <a:ext cx="6834503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6EDD2-93A5-2135-84A1-3A2DE7609A03}"/>
              </a:ext>
            </a:extLst>
          </p:cNvPr>
          <p:cNvSpPr txBox="1"/>
          <p:nvPr/>
        </p:nvSpPr>
        <p:spPr>
          <a:xfrm>
            <a:off x="234027" y="636166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1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1441521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7656E-1D33-F928-6402-8EE9BC1B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A57C37-B754-44D6-88F5-A7EDE4025614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8A9742-9D7B-2215-70B4-61D08E845347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7B30F1B-44EA-EB0C-1EDA-F376195ADB20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375F1A-3C06-980D-6098-8625A7F09348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 (Logic)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859672C-A951-B513-0882-144ECA3BA596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BBFBD5-BC37-3B86-E8EC-F20C9277953D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4B4DF8-95AD-BF96-6AD5-B5C22FF272B8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A9DFD9A-493B-7579-812E-F5F3BFD76F13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503661-C56B-3487-9CDE-D1212A8C79FC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34C5453-E5C8-19EE-0112-5CD6439C0862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B9E99C0-9927-A2C8-5D6D-647A59ABCF5C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B2D1A65-E4AD-70CA-1CDA-CCAB95A79D37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0475E98-AE4E-4E87-82CE-147A62557B1B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C96411E-D33C-874C-0718-65D2E177CFFC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2D5755-F36B-FFE6-25C0-F5AAA0F39E68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3004BF-DD05-A3D9-528B-1561A17A6C4B}"/>
              </a:ext>
            </a:extLst>
          </p:cNvPr>
          <p:cNvSpPr/>
          <p:nvPr/>
        </p:nvSpPr>
        <p:spPr>
          <a:xfrm>
            <a:off x="7143136" y="1282497"/>
            <a:ext cx="4894692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EEDE3-83AB-0D3D-9293-A758BAC14DB2}"/>
              </a:ext>
            </a:extLst>
          </p:cNvPr>
          <p:cNvSpPr txBox="1"/>
          <p:nvPr/>
        </p:nvSpPr>
        <p:spPr>
          <a:xfrm>
            <a:off x="8819570" y="498490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25454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F7DA7-1D11-5B45-3B62-F12ED03B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E5218-EB90-6968-1B12-9DADDD7CE485}"/>
              </a:ext>
            </a:extLst>
          </p:cNvPr>
          <p:cNvSpPr txBox="1"/>
          <p:nvPr/>
        </p:nvSpPr>
        <p:spPr>
          <a:xfrm>
            <a:off x="4432578" y="1886554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>
              <a:buAutoNum type="arabicParenR"/>
            </a:pPr>
            <a:endParaRPr lang="en-MY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1AF95-DAB9-9A85-F9DC-62C7CB76D961}"/>
              </a:ext>
            </a:extLst>
          </p:cNvPr>
          <p:cNvSpPr txBox="1"/>
          <p:nvPr/>
        </p:nvSpPr>
        <p:spPr>
          <a:xfrm>
            <a:off x="7590502" y="4298335"/>
            <a:ext cx="2969283" cy="615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2</a:t>
            </a:r>
          </a:p>
          <a:p>
            <a:pPr algn="ctr"/>
            <a:r>
              <a:rPr lang="en-MY" dirty="0"/>
              <a:t>Kick and replace mechanism</a:t>
            </a:r>
            <a:endParaRPr lang="en-MY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B5FF7B-B52B-3A68-ADCC-95C546C92F82}"/>
              </a:ext>
            </a:extLst>
          </p:cNvPr>
          <p:cNvSpPr txBox="1"/>
          <p:nvPr/>
        </p:nvSpPr>
        <p:spPr>
          <a:xfrm>
            <a:off x="2521446" y="3429000"/>
            <a:ext cx="2217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FULL </a:t>
            </a:r>
            <a:endParaRPr lang="en-MY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F9F9A-0BEC-2EC2-5274-A53A6C3A645C}"/>
              </a:ext>
            </a:extLst>
          </p:cNvPr>
          <p:cNvSpPr txBox="1"/>
          <p:nvPr/>
        </p:nvSpPr>
        <p:spPr>
          <a:xfrm>
            <a:off x="7590502" y="3429000"/>
            <a:ext cx="289068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VACANT </a:t>
            </a:r>
            <a:endParaRPr lang="en-MY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A6028-8576-7C72-5DD1-21696B4C391A}"/>
              </a:ext>
            </a:extLst>
          </p:cNvPr>
          <p:cNvSpPr txBox="1"/>
          <p:nvPr/>
        </p:nvSpPr>
        <p:spPr>
          <a:xfrm>
            <a:off x="2521447" y="4289301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3</a:t>
            </a:r>
            <a:endParaRPr lang="en-MY" sz="1050" b="1" dirty="0"/>
          </a:p>
          <a:p>
            <a:pPr algn="ctr"/>
            <a:r>
              <a:rPr lang="en-MY" sz="1600" dirty="0"/>
              <a:t>Conflict Case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5C6E45-ECA8-475B-D000-B08E75527FFD}"/>
              </a:ext>
            </a:extLst>
          </p:cNvPr>
          <p:cNvSpPr txBox="1"/>
          <p:nvPr/>
        </p:nvSpPr>
        <p:spPr>
          <a:xfrm>
            <a:off x="2521446" y="5719895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4</a:t>
            </a:r>
            <a:endParaRPr lang="en-MY" sz="1050" b="1" dirty="0"/>
          </a:p>
          <a:p>
            <a:pPr algn="ctr"/>
            <a:r>
              <a:rPr lang="en-MY" sz="1600" dirty="0"/>
              <a:t>Solve Conflict 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1F26D2-AB3E-176D-DF1A-6292C8D1D42C}"/>
              </a:ext>
            </a:extLst>
          </p:cNvPr>
          <p:cNvSpPr txBox="1"/>
          <p:nvPr/>
        </p:nvSpPr>
        <p:spPr>
          <a:xfrm>
            <a:off x="5207564" y="36403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PREDICTION</a:t>
            </a:r>
            <a:endParaRPr lang="en-MY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CE8864-E00B-386A-FCE8-088A85B5ED9E}"/>
              </a:ext>
            </a:extLst>
          </p:cNvPr>
          <p:cNvSpPr txBox="1"/>
          <p:nvPr/>
        </p:nvSpPr>
        <p:spPr>
          <a:xfrm>
            <a:off x="5207564" y="110480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LOGIC</a:t>
            </a:r>
            <a:endParaRPr lang="en-MY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C2B3D6-1126-AF74-314B-926982F5C8B5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6282434" y="702589"/>
            <a:ext cx="0" cy="40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12242E-86A1-2C3D-9C3C-4920CE89D76E}"/>
              </a:ext>
            </a:extLst>
          </p:cNvPr>
          <p:cNvCxnSpPr>
            <a:stCxn id="22" idx="2"/>
            <a:endCxn id="2" idx="0"/>
          </p:cNvCxnSpPr>
          <p:nvPr/>
        </p:nvCxnSpPr>
        <p:spPr>
          <a:xfrm>
            <a:off x="6282434" y="1443359"/>
            <a:ext cx="0" cy="443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7EEF9D-341E-A751-EE4A-8438734AFF31}"/>
              </a:ext>
            </a:extLst>
          </p:cNvPr>
          <p:cNvCxnSpPr>
            <a:stCxn id="2" idx="2"/>
            <a:endCxn id="7" idx="0"/>
          </p:cNvCxnSpPr>
          <p:nvPr/>
        </p:nvCxnSpPr>
        <p:spPr>
          <a:xfrm flipH="1">
            <a:off x="3630297" y="2632912"/>
            <a:ext cx="2652137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4E7B75-DDE2-B034-3C13-BF698151EBB7}"/>
              </a:ext>
            </a:extLst>
          </p:cNvPr>
          <p:cNvCxnSpPr>
            <a:stCxn id="2" idx="2"/>
            <a:endCxn id="11" idx="0"/>
          </p:cNvCxnSpPr>
          <p:nvPr/>
        </p:nvCxnSpPr>
        <p:spPr>
          <a:xfrm>
            <a:off x="6282434" y="2632912"/>
            <a:ext cx="2753410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6F051B-C5C4-E775-EE52-467757019DFA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3630297" y="3767554"/>
            <a:ext cx="1" cy="52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659810-BDBD-5F9D-6653-88446B23662B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3630297" y="4874076"/>
            <a:ext cx="1" cy="84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AF9D62E-A29F-A753-737D-3615D2148A28}"/>
              </a:ext>
            </a:extLst>
          </p:cNvPr>
          <p:cNvCxnSpPr>
            <a:stCxn id="11" idx="2"/>
            <a:endCxn id="5" idx="0"/>
          </p:cNvCxnSpPr>
          <p:nvPr/>
        </p:nvCxnSpPr>
        <p:spPr>
          <a:xfrm>
            <a:off x="9035844" y="3767554"/>
            <a:ext cx="39300" cy="530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A12A31-72D7-6738-145F-618D37428487}"/>
              </a:ext>
            </a:extLst>
          </p:cNvPr>
          <p:cNvSpPr txBox="1"/>
          <p:nvPr/>
        </p:nvSpPr>
        <p:spPr>
          <a:xfrm>
            <a:off x="442825" y="230164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95388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7F6BA-3492-63F3-D785-4B5DF2A3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188357-3633-E56C-42CA-8B2BF6BDCB92}"/>
              </a:ext>
            </a:extLst>
          </p:cNvPr>
          <p:cNvSpPr txBox="1"/>
          <p:nvPr/>
        </p:nvSpPr>
        <p:spPr>
          <a:xfrm>
            <a:off x="4756224" y="2368330"/>
            <a:ext cx="3117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Approach 1</a:t>
            </a:r>
          </a:p>
        </p:txBody>
      </p:sp>
    </p:spTree>
    <p:extLst>
      <p:ext uri="{BB962C8B-B14F-4D97-AF65-F5344CB8AC3E}">
        <p14:creationId xmlns:p14="http://schemas.microsoft.com/office/powerpoint/2010/main" val="202639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6C9B0-778F-1AAB-6381-C68F7A7A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ED547-20E1-B03C-A900-6FBB82A63718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1C0FFF-BA08-65E3-2254-640F1B0DACF1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95719FB-9069-AB74-D1F0-8512C387AFBA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516794-52DB-CD3F-E69D-59A39DA33EF8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 (Logic)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67C5DF-BAB9-3B34-305F-275B4B730C5C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1506BF-3F2B-5153-D442-90A540C85E07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0B4600-DB22-D34B-E02A-AB1F02F5E03C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B6821B-8F1A-C77C-0ACA-1827455AA419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7785E5-1367-F838-04AD-15FE6B264B2B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BCDA64E-F0FC-B63C-7A24-40FD8BFEE1CF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73377B0-55B3-B6AE-F730-90CD7AE12D91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62672F3-F933-9CAE-2ACF-91F9822831C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2B6D11-EE8D-E028-81B2-BDA4ADD49574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3312578-1956-BA51-A99F-513175148F56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5A5DD5-7EA1-B5F0-CB2D-5E54C21159D0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00FD0-F211-B060-32E1-DF7562EA91C1}"/>
              </a:ext>
            </a:extLst>
          </p:cNvPr>
          <p:cNvSpPr/>
          <p:nvPr/>
        </p:nvSpPr>
        <p:spPr>
          <a:xfrm>
            <a:off x="73579" y="1345324"/>
            <a:ext cx="6834503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95E75-7F75-63A1-BD8E-2344CB6B4B7E}"/>
              </a:ext>
            </a:extLst>
          </p:cNvPr>
          <p:cNvSpPr txBox="1"/>
          <p:nvPr/>
        </p:nvSpPr>
        <p:spPr>
          <a:xfrm>
            <a:off x="234027" y="636166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1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366391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8A95E-B525-91C0-7B0D-B0DC17AD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03B38-6E13-BEC7-4F3E-792FFC9998BA}"/>
              </a:ext>
            </a:extLst>
          </p:cNvPr>
          <p:cNvSpPr txBox="1"/>
          <p:nvPr/>
        </p:nvSpPr>
        <p:spPr>
          <a:xfrm>
            <a:off x="589547" y="421631"/>
            <a:ext cx="1101290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Approach 10/07/2026: </a:t>
            </a:r>
          </a:p>
          <a:p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 Run prediction model</a:t>
            </a:r>
          </a:p>
          <a:p>
            <a:pPr marL="342900" indent="-342900">
              <a:buAutoNum type="arabicParenR"/>
            </a:pPr>
            <a:r>
              <a:rPr lang="en-MY" sz="2400" dirty="0"/>
              <a:t>Logic sort the model into section and cluster based on the prediction result</a:t>
            </a:r>
          </a:p>
          <a:p>
            <a:pPr marL="342900" indent="-342900">
              <a:buAutoNum type="arabicParenR"/>
            </a:pPr>
            <a:r>
              <a:rPr lang="en-MY" sz="2400" dirty="0"/>
              <a:t>Left the UNKNOWN cluster</a:t>
            </a:r>
          </a:p>
          <a:p>
            <a:pPr marL="342900" indent="-342900">
              <a:buAutoNum type="arabicParenR"/>
            </a:pPr>
            <a:r>
              <a:rPr lang="en-MY" sz="2400" b="1" dirty="0"/>
              <a:t>UNKNOWN cluster		</a:t>
            </a:r>
          </a:p>
          <a:p>
            <a:r>
              <a:rPr lang="en-MY" sz="2400" b="1" dirty="0"/>
              <a:t>	</a:t>
            </a:r>
            <a:r>
              <a:rPr lang="en-MY" sz="2400" dirty="0"/>
              <a:t>-Check the top 3 highest percentage</a:t>
            </a:r>
          </a:p>
          <a:p>
            <a:r>
              <a:rPr lang="en-MY" sz="2400" dirty="0"/>
              <a:t>	-Load the top 3 cluster obtain from the highest percentage</a:t>
            </a:r>
          </a:p>
          <a:p>
            <a:r>
              <a:rPr lang="en-MY" sz="2400" dirty="0"/>
              <a:t>	-Match the pattern algorithm</a:t>
            </a:r>
          </a:p>
          <a:p>
            <a:r>
              <a:rPr lang="en-MY" sz="2400" dirty="0"/>
              <a:t>	-Is the equipment exist in the cluster algorithm reference? Yes/No</a:t>
            </a:r>
          </a:p>
          <a:p>
            <a:pPr lvl="5"/>
            <a:r>
              <a:rPr lang="en-MY" sz="2400" dirty="0"/>
              <a:t>-NO = EXCLUDE THE CLUSTER</a:t>
            </a:r>
          </a:p>
          <a:p>
            <a:pPr lvl="5"/>
            <a:r>
              <a:rPr lang="en-MY" sz="2400" dirty="0"/>
              <a:t>-YES = Proceed with the selection.</a:t>
            </a:r>
          </a:p>
          <a:p>
            <a:pPr lvl="5"/>
            <a:endParaRPr lang="en-MY" sz="2400" dirty="0"/>
          </a:p>
          <a:p>
            <a:pPr marL="452438" lvl="5"/>
            <a:r>
              <a:rPr lang="en-MY" sz="2400" dirty="0"/>
              <a:t>-If there is more than 1 similar device type across cluster, which cluster should choose? = choose the cluster in which no Device Type inside.</a:t>
            </a:r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3211271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5A408-2D03-9835-2AC1-A72ACACD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75B230-E049-31DC-B1D5-CB81BC29B6CD}"/>
              </a:ext>
            </a:extLst>
          </p:cNvPr>
          <p:cNvCxnSpPr>
            <a:stCxn id="15" idx="2"/>
            <a:endCxn id="27" idx="0"/>
          </p:cNvCxnSpPr>
          <p:nvPr/>
        </p:nvCxnSpPr>
        <p:spPr>
          <a:xfrm>
            <a:off x="6075826" y="1055991"/>
            <a:ext cx="15643" cy="40352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16254E1-B53A-29C0-7C80-33451301E1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65" b="40294"/>
          <a:stretch>
            <a:fillRect/>
          </a:stretch>
        </p:blipFill>
        <p:spPr>
          <a:xfrm>
            <a:off x="3667048" y="174826"/>
            <a:ext cx="4817555" cy="881165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7C72E2-6377-53BC-6BAD-C5C6B9CB0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894"/>
          <a:stretch>
            <a:fillRect/>
          </a:stretch>
        </p:blipFill>
        <p:spPr>
          <a:xfrm>
            <a:off x="3687223" y="1319056"/>
            <a:ext cx="4817554" cy="78547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D012C11-DD3C-59A3-7DCF-7C5A91BE9D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704"/>
          <a:stretch>
            <a:fillRect/>
          </a:stretch>
        </p:blipFill>
        <p:spPr>
          <a:xfrm>
            <a:off x="3687223" y="2388902"/>
            <a:ext cx="4848840" cy="622867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1CC056C-6B12-F76F-37A2-8A0F79CEB0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3537"/>
          <a:stretch>
            <a:fillRect/>
          </a:stretch>
        </p:blipFill>
        <p:spPr>
          <a:xfrm>
            <a:off x="3151451" y="3345280"/>
            <a:ext cx="5920384" cy="1398924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89158B4-EB3D-8BF6-747E-3C4E54185C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4578"/>
          <a:stretch>
            <a:fillRect/>
          </a:stretch>
        </p:blipFill>
        <p:spPr>
          <a:xfrm>
            <a:off x="3111103" y="5091243"/>
            <a:ext cx="5960732" cy="106596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8745FA-D2EE-7B0E-3E5D-B99292C654CE}"/>
              </a:ext>
            </a:extLst>
          </p:cNvPr>
          <p:cNvSpPr txBox="1"/>
          <p:nvPr/>
        </p:nvSpPr>
        <p:spPr>
          <a:xfrm>
            <a:off x="932688" y="43074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TYPE</a:t>
            </a:r>
            <a:endParaRPr lang="en-MY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F4DCE-F4A3-E9A9-5A6D-FB6200DC0BA4}"/>
              </a:ext>
            </a:extLst>
          </p:cNvPr>
          <p:cNvSpPr txBox="1"/>
          <p:nvPr/>
        </p:nvSpPr>
        <p:spPr>
          <a:xfrm>
            <a:off x="932688" y="1663055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SECTION</a:t>
            </a:r>
            <a:endParaRPr lang="en-MY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AA610F-6002-A575-99E7-EDAE6DCF5371}"/>
              </a:ext>
            </a:extLst>
          </p:cNvPr>
          <p:cNvSpPr txBox="1"/>
          <p:nvPr/>
        </p:nvSpPr>
        <p:spPr>
          <a:xfrm>
            <a:off x="941861" y="2331003"/>
            <a:ext cx="1950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DEVICE CLUSTER</a:t>
            </a:r>
            <a:endParaRPr lang="en-MY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FF958F-9B36-AFEF-4C23-47571195818C}"/>
              </a:ext>
            </a:extLst>
          </p:cNvPr>
          <p:cNvSpPr txBox="1"/>
          <p:nvPr/>
        </p:nvSpPr>
        <p:spPr>
          <a:xfrm>
            <a:off x="639659" y="3536735"/>
            <a:ext cx="19505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SECTION CLUSTER </a:t>
            </a:r>
          </a:p>
          <a:p>
            <a:pPr algn="ctr"/>
            <a:r>
              <a:rPr lang="en-US" dirty="0"/>
              <a:t>GROUPING</a:t>
            </a:r>
            <a:endParaRPr lang="en-MY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2F33F9-2A46-81D1-336A-7CFC6239B342}"/>
              </a:ext>
            </a:extLst>
          </p:cNvPr>
          <p:cNvSpPr txBox="1"/>
          <p:nvPr/>
        </p:nvSpPr>
        <p:spPr>
          <a:xfrm>
            <a:off x="1188215" y="5298672"/>
            <a:ext cx="131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707336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74729-F516-32DE-B97B-97D35BF76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ED8025-3E0D-496F-3C63-0DCE33238EA1}"/>
              </a:ext>
            </a:extLst>
          </p:cNvPr>
          <p:cNvCxnSpPr>
            <a:cxnSpLocks/>
          </p:cNvCxnSpPr>
          <p:nvPr/>
        </p:nvCxnSpPr>
        <p:spPr>
          <a:xfrm>
            <a:off x="6080357" y="1099771"/>
            <a:ext cx="15642" cy="22235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37325975-00F6-0BFB-375E-C259323FB8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578"/>
          <a:stretch>
            <a:fillRect/>
          </a:stretch>
        </p:blipFill>
        <p:spPr>
          <a:xfrm>
            <a:off x="3361441" y="258223"/>
            <a:ext cx="5960732" cy="106596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1FC3206-2247-6EBE-F263-B1E76D7D67D4}"/>
              </a:ext>
            </a:extLst>
          </p:cNvPr>
          <p:cNvSpPr txBox="1"/>
          <p:nvPr/>
        </p:nvSpPr>
        <p:spPr>
          <a:xfrm>
            <a:off x="1198047" y="606538"/>
            <a:ext cx="131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12372-3E2F-D013-6DB4-78E08FE8A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35"/>
          <a:stretch>
            <a:fillRect/>
          </a:stretch>
        </p:blipFill>
        <p:spPr>
          <a:xfrm>
            <a:off x="3667711" y="1646392"/>
            <a:ext cx="4856577" cy="12347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290165-1867-F08B-E984-96790212A1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2731"/>
          <a:stretch>
            <a:fillRect/>
          </a:stretch>
        </p:blipFill>
        <p:spPr>
          <a:xfrm>
            <a:off x="3005612" y="3429000"/>
            <a:ext cx="6987022" cy="19689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E3ED68-9901-B30F-22CE-30DCEF351113}"/>
              </a:ext>
            </a:extLst>
          </p:cNvPr>
          <p:cNvSpPr txBox="1"/>
          <p:nvPr/>
        </p:nvSpPr>
        <p:spPr>
          <a:xfrm>
            <a:off x="678392" y="1872025"/>
            <a:ext cx="2611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ENTER THE DEVICE ID</a:t>
            </a:r>
            <a:endParaRPr lang="en-MY" dirty="0"/>
          </a:p>
          <a:p>
            <a:pPr algn="ctr"/>
            <a:r>
              <a:rPr lang="en-MY" dirty="0"/>
              <a:t>with UNKNOWN CLUSTER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71C43D-9E17-439F-1487-75DD753DBD50}"/>
              </a:ext>
            </a:extLst>
          </p:cNvPr>
          <p:cNvSpPr txBox="1"/>
          <p:nvPr/>
        </p:nvSpPr>
        <p:spPr>
          <a:xfrm>
            <a:off x="678392" y="3878517"/>
            <a:ext cx="2101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LOGIC suggest </a:t>
            </a:r>
          </a:p>
          <a:p>
            <a:pPr algn="ctr"/>
            <a:r>
              <a:rPr lang="en-US" dirty="0"/>
              <a:t>the CLUSTER location</a:t>
            </a:r>
          </a:p>
        </p:txBody>
      </p:sp>
    </p:spTree>
    <p:extLst>
      <p:ext uri="{BB962C8B-B14F-4D97-AF65-F5344CB8AC3E}">
        <p14:creationId xmlns:p14="http://schemas.microsoft.com/office/powerpoint/2010/main" val="1741046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877E2-3EDB-5370-7C79-9287D2C26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39EE39-AD13-7999-E2BE-02E1F05C6CB4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F5BE5-C6C7-6E32-D654-F02D55C7E8D4}"/>
              </a:ext>
            </a:extLst>
          </p:cNvPr>
          <p:cNvSpPr txBox="1"/>
          <p:nvPr/>
        </p:nvSpPr>
        <p:spPr>
          <a:xfrm>
            <a:off x="2345544" y="497348"/>
            <a:ext cx="80958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3600" b="1" dirty="0"/>
              <a:t>EXAMPLE </a:t>
            </a:r>
          </a:p>
          <a:p>
            <a:r>
              <a:rPr lang="en-MY" sz="3600" dirty="0"/>
              <a:t>FIT211 – SECTION3 CLUSTER </a:t>
            </a:r>
            <a:r>
              <a:rPr lang="en-MY" sz="3600" b="1" dirty="0"/>
              <a:t>UNKNOWN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3BA64-A98B-32A3-C1E4-7D6A9403D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56" y="2489387"/>
            <a:ext cx="10130087" cy="2123225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37944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1AC8C-E364-A9B8-EA64-08756DC31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5776E3-8A83-36B9-CE56-2755EFC459E9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ACD21-7EE6-BBA1-CCA7-A93CCC90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86" b="5161"/>
          <a:stretch>
            <a:fillRect/>
          </a:stretch>
        </p:blipFill>
        <p:spPr>
          <a:xfrm>
            <a:off x="1778010" y="2532438"/>
            <a:ext cx="9122033" cy="4197546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E8CB6E-C590-0D36-1FD5-FE8F02247761}"/>
              </a:ext>
            </a:extLst>
          </p:cNvPr>
          <p:cNvSpPr txBox="1"/>
          <p:nvPr/>
        </p:nvSpPr>
        <p:spPr>
          <a:xfrm>
            <a:off x="3497320" y="167542"/>
            <a:ext cx="5952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FIT211 – SECTION3 CLUSTER?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9D3CAF-296D-C716-48B5-6258804CF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99" y="813873"/>
            <a:ext cx="10577937" cy="152474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4075E4-44D3-7F69-60AB-EBF3A0265132}"/>
              </a:ext>
            </a:extLst>
          </p:cNvPr>
          <p:cNvSpPr/>
          <p:nvPr/>
        </p:nvSpPr>
        <p:spPr>
          <a:xfrm>
            <a:off x="1700735" y="6441196"/>
            <a:ext cx="9122033" cy="22038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506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6361B-89CC-BE79-D948-9449C06B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CA10BF-3509-1D7A-F08C-337194C405A4}"/>
              </a:ext>
            </a:extLst>
          </p:cNvPr>
          <p:cNvSpPr txBox="1"/>
          <p:nvPr/>
        </p:nvSpPr>
        <p:spPr>
          <a:xfrm>
            <a:off x="4756224" y="2368330"/>
            <a:ext cx="3117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Approach 2</a:t>
            </a:r>
          </a:p>
        </p:txBody>
      </p:sp>
    </p:spTree>
    <p:extLst>
      <p:ext uri="{BB962C8B-B14F-4D97-AF65-F5344CB8AC3E}">
        <p14:creationId xmlns:p14="http://schemas.microsoft.com/office/powerpoint/2010/main" val="4089977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CD03E-DF03-EB30-2974-01D2618E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B4FFC-6DA4-06E7-6AC1-8C8811F4E03D}"/>
              </a:ext>
            </a:extLst>
          </p:cNvPr>
          <p:cNvSpPr txBox="1"/>
          <p:nvPr/>
        </p:nvSpPr>
        <p:spPr>
          <a:xfrm>
            <a:off x="750615" y="2052769"/>
            <a:ext cx="1101290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6000" b="1" dirty="0"/>
              <a:t>LOGIC ALGORITHM </a:t>
            </a:r>
          </a:p>
          <a:p>
            <a:pPr algn="ctr"/>
            <a:r>
              <a:rPr lang="en-MY" sz="6000" b="1" dirty="0"/>
              <a:t>[16/7/2026]</a:t>
            </a:r>
            <a:endParaRPr lang="en-MY" sz="6000" dirty="0"/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2800326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AB716-0434-82D3-7724-BD2D15FC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D9FEC-6233-A9F5-BFDA-781D83945E9A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9F68F3-5B98-C2BA-CEF5-735F6D475BCE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3A62A51-B83E-4A18-6ADE-254EB86497C9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D30301-5CBE-2C3B-9B49-065E20C6EE97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984AF2-08B2-CC6E-FEFA-9BE10B140986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0B2C85-6FCB-68BC-9CFF-750FF78E27B5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F9AF32-00B7-36D4-900C-32833CEAC437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B5F409-B20A-06E4-0009-304582C4BAED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731D2B-A1CC-AD60-225C-691C4AA2E92C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01A69F7-A45C-74A2-01F5-B7DDE0DBCB22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97D5F55-85FC-83C5-45A6-67F5D0C23950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58011C1-C01D-2BCF-59CF-61C40EF7131E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86E27D2-A1AA-7BA3-3AAD-8EAC504C2735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5DBCB8A-5B64-49DA-1AE3-12AA2EF73A31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B6CAF6-112D-4C35-8BBF-06475F945169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8CB533-881D-BC1D-523D-D5BDF0630919}"/>
              </a:ext>
            </a:extLst>
          </p:cNvPr>
          <p:cNvSpPr/>
          <p:nvPr/>
        </p:nvSpPr>
        <p:spPr>
          <a:xfrm>
            <a:off x="7143136" y="1282497"/>
            <a:ext cx="4894692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DA38-4AF0-4B88-88A4-D6557F5009E6}"/>
              </a:ext>
            </a:extLst>
          </p:cNvPr>
          <p:cNvSpPr txBox="1"/>
          <p:nvPr/>
        </p:nvSpPr>
        <p:spPr>
          <a:xfrm>
            <a:off x="8819570" y="498490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4124314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06154A-EB9F-B3C4-3389-5FA1D77D0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19CA6-B064-42DB-28ED-D438AF5D6281}"/>
              </a:ext>
            </a:extLst>
          </p:cNvPr>
          <p:cNvSpPr txBox="1"/>
          <p:nvPr/>
        </p:nvSpPr>
        <p:spPr>
          <a:xfrm>
            <a:off x="4432578" y="1886554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>
              <a:buAutoNum type="arabicParenR"/>
            </a:pPr>
            <a:endParaRPr lang="en-MY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F6A97-ED01-B4C1-6A2C-81CE9E1C6769}"/>
              </a:ext>
            </a:extLst>
          </p:cNvPr>
          <p:cNvSpPr txBox="1"/>
          <p:nvPr/>
        </p:nvSpPr>
        <p:spPr>
          <a:xfrm>
            <a:off x="7590502" y="4298335"/>
            <a:ext cx="2969283" cy="615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2</a:t>
            </a:r>
          </a:p>
          <a:p>
            <a:pPr algn="ctr"/>
            <a:r>
              <a:rPr lang="en-MY" dirty="0"/>
              <a:t>Kick and replace mechanism</a:t>
            </a:r>
            <a:endParaRPr lang="en-MY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F243A1-589D-8051-7730-7E05960A8118}"/>
              </a:ext>
            </a:extLst>
          </p:cNvPr>
          <p:cNvSpPr txBox="1"/>
          <p:nvPr/>
        </p:nvSpPr>
        <p:spPr>
          <a:xfrm>
            <a:off x="2521446" y="3429000"/>
            <a:ext cx="2217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FULL </a:t>
            </a:r>
            <a:endParaRPr lang="en-MY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8F996-DF0D-5980-E4D1-AE03D19B3EE2}"/>
              </a:ext>
            </a:extLst>
          </p:cNvPr>
          <p:cNvSpPr txBox="1"/>
          <p:nvPr/>
        </p:nvSpPr>
        <p:spPr>
          <a:xfrm>
            <a:off x="7590502" y="3429000"/>
            <a:ext cx="289068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VACANT </a:t>
            </a:r>
            <a:endParaRPr lang="en-MY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6B53B5-7892-467C-0620-4088683C3DDA}"/>
              </a:ext>
            </a:extLst>
          </p:cNvPr>
          <p:cNvSpPr txBox="1"/>
          <p:nvPr/>
        </p:nvSpPr>
        <p:spPr>
          <a:xfrm>
            <a:off x="2521447" y="4289301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3</a:t>
            </a:r>
            <a:endParaRPr lang="en-MY" sz="1050" b="1" dirty="0"/>
          </a:p>
          <a:p>
            <a:pPr algn="ctr"/>
            <a:r>
              <a:rPr lang="en-MY" sz="1600" dirty="0"/>
              <a:t>Conflict Case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2B7A4A-4636-431A-3F32-00CD1B1DA56F}"/>
              </a:ext>
            </a:extLst>
          </p:cNvPr>
          <p:cNvSpPr txBox="1"/>
          <p:nvPr/>
        </p:nvSpPr>
        <p:spPr>
          <a:xfrm>
            <a:off x="2521446" y="5719895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4</a:t>
            </a:r>
            <a:endParaRPr lang="en-MY" sz="1050" b="1" dirty="0"/>
          </a:p>
          <a:p>
            <a:pPr algn="ctr"/>
            <a:r>
              <a:rPr lang="en-MY" sz="1600" dirty="0"/>
              <a:t>Solve Conflict 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551FEC-3DE5-864A-18B0-CB3314629A29}"/>
              </a:ext>
            </a:extLst>
          </p:cNvPr>
          <p:cNvSpPr txBox="1"/>
          <p:nvPr/>
        </p:nvSpPr>
        <p:spPr>
          <a:xfrm>
            <a:off x="5207564" y="36403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PREDICTION</a:t>
            </a:r>
            <a:endParaRPr lang="en-MY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6FFC7D-CCBD-4D8B-01CD-B7723C8ED368}"/>
              </a:ext>
            </a:extLst>
          </p:cNvPr>
          <p:cNvSpPr txBox="1"/>
          <p:nvPr/>
        </p:nvSpPr>
        <p:spPr>
          <a:xfrm>
            <a:off x="5207564" y="110480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LOGIC</a:t>
            </a:r>
            <a:endParaRPr lang="en-MY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1F9274-9384-B5A8-0751-9294C7E3E40F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6282434" y="702589"/>
            <a:ext cx="0" cy="40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196750-047E-1226-3D87-C7984B1C1D10}"/>
              </a:ext>
            </a:extLst>
          </p:cNvPr>
          <p:cNvCxnSpPr>
            <a:stCxn id="22" idx="2"/>
            <a:endCxn id="2" idx="0"/>
          </p:cNvCxnSpPr>
          <p:nvPr/>
        </p:nvCxnSpPr>
        <p:spPr>
          <a:xfrm>
            <a:off x="6282434" y="1443359"/>
            <a:ext cx="0" cy="443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C521E4-A09B-62FF-0530-3B6D1C0617F2}"/>
              </a:ext>
            </a:extLst>
          </p:cNvPr>
          <p:cNvCxnSpPr>
            <a:stCxn id="2" idx="2"/>
            <a:endCxn id="7" idx="0"/>
          </p:cNvCxnSpPr>
          <p:nvPr/>
        </p:nvCxnSpPr>
        <p:spPr>
          <a:xfrm flipH="1">
            <a:off x="3630297" y="2632912"/>
            <a:ext cx="2652137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90CDED-87D1-E335-E23F-E17ED4E0783F}"/>
              </a:ext>
            </a:extLst>
          </p:cNvPr>
          <p:cNvCxnSpPr>
            <a:stCxn id="2" idx="2"/>
            <a:endCxn id="11" idx="0"/>
          </p:cNvCxnSpPr>
          <p:nvPr/>
        </p:nvCxnSpPr>
        <p:spPr>
          <a:xfrm>
            <a:off x="6282434" y="2632912"/>
            <a:ext cx="2753410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6829E2-9D1D-68D0-98E2-7B7E1B626C8B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3630297" y="3767554"/>
            <a:ext cx="1" cy="52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7F46135-A239-FA62-C258-88855C360ACA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3630297" y="4874076"/>
            <a:ext cx="1" cy="84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D51B9D3-47CE-3D5B-5D45-56C62759CA17}"/>
              </a:ext>
            </a:extLst>
          </p:cNvPr>
          <p:cNvCxnSpPr>
            <a:stCxn id="11" idx="2"/>
            <a:endCxn id="5" idx="0"/>
          </p:cNvCxnSpPr>
          <p:nvPr/>
        </p:nvCxnSpPr>
        <p:spPr>
          <a:xfrm>
            <a:off x="9035844" y="3767554"/>
            <a:ext cx="39300" cy="530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18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4CD2D-017C-5E68-F516-C3582DEC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D22EBB-2B4B-BAA1-CD4C-14130B0B6811}"/>
              </a:ext>
            </a:extLst>
          </p:cNvPr>
          <p:cNvSpPr txBox="1"/>
          <p:nvPr/>
        </p:nvSpPr>
        <p:spPr>
          <a:xfrm>
            <a:off x="681789" y="558266"/>
            <a:ext cx="1101290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Current Approach : </a:t>
            </a:r>
          </a:p>
          <a:p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 Choose 1 customer = OILTEK</a:t>
            </a:r>
          </a:p>
          <a:p>
            <a:pPr marL="342900" indent="-342900">
              <a:buAutoNum type="arabicParenR"/>
            </a:pPr>
            <a:r>
              <a:rPr lang="en-MY" sz="2400" dirty="0"/>
              <a:t>Choose 1 section from OILTEK = SECTION 2</a:t>
            </a:r>
          </a:p>
          <a:p>
            <a:pPr marL="342900" indent="-342900">
              <a:buAutoNum type="arabicParenR"/>
            </a:pPr>
            <a:r>
              <a:rPr lang="en-MY" sz="2400" dirty="0"/>
              <a:t>Extract the pattern for all cluster at section 2</a:t>
            </a:r>
          </a:p>
          <a:p>
            <a:pPr marL="342900" indent="-342900">
              <a:buAutoNum type="arabicParenR"/>
            </a:pPr>
            <a:r>
              <a:rPr lang="en-MY" sz="2400" dirty="0"/>
              <a:t>Create the specific value device cluster for section 2 (N=100)</a:t>
            </a:r>
          </a:p>
          <a:p>
            <a:pPr marL="342900" indent="-342900">
              <a:buAutoNum type="arabicParenR"/>
            </a:pPr>
            <a:r>
              <a:rPr lang="en-MY" sz="2400" dirty="0"/>
              <a:t>Introduce the pattern specific cluster into LOGIC</a:t>
            </a:r>
          </a:p>
          <a:p>
            <a:pPr marL="342900" indent="-342900">
              <a:buAutoNum type="arabicParenR"/>
            </a:pPr>
            <a:r>
              <a:rPr lang="en-MY" sz="2400" dirty="0"/>
              <a:t>Run the list of Device ID from the model prediction</a:t>
            </a:r>
          </a:p>
          <a:p>
            <a:pPr marL="342900" indent="-342900">
              <a:buAutoNum type="arabicParenR"/>
            </a:pPr>
            <a:r>
              <a:rPr lang="en-MY" sz="2400" dirty="0"/>
              <a:t>Logic assign the device id based on the Pattern LOGIC</a:t>
            </a:r>
          </a:p>
          <a:p>
            <a:pPr marL="342900" indent="-342900">
              <a:buAutoNum type="arabicParenR"/>
            </a:pPr>
            <a:r>
              <a:rPr lang="en-MY" sz="2400" dirty="0"/>
              <a:t>Detect the cluster = Full or Vacant</a:t>
            </a:r>
          </a:p>
          <a:p>
            <a:pPr marL="342900" indent="-342900">
              <a:buAutoNum type="arabicParenR"/>
            </a:pPr>
            <a:r>
              <a:rPr lang="en-MY" sz="2400" dirty="0"/>
              <a:t>Kick and replace Device ID</a:t>
            </a:r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1808776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DCC23-7101-5156-3F94-F344EB5E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C0A6E5-EEB8-2BF5-6868-83FA38F00E82}"/>
              </a:ext>
            </a:extLst>
          </p:cNvPr>
          <p:cNvSpPr/>
          <p:nvPr/>
        </p:nvSpPr>
        <p:spPr>
          <a:xfrm>
            <a:off x="42278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9F94B1-F19A-BCAC-52A5-5BBD470A2F91}"/>
              </a:ext>
            </a:extLst>
          </p:cNvPr>
          <p:cNvSpPr/>
          <p:nvPr/>
        </p:nvSpPr>
        <p:spPr>
          <a:xfrm>
            <a:off x="294967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522782-2217-21F0-24E5-2E655F5318C5}"/>
              </a:ext>
            </a:extLst>
          </p:cNvPr>
          <p:cNvSpPr/>
          <p:nvPr/>
        </p:nvSpPr>
        <p:spPr>
          <a:xfrm>
            <a:off x="5609303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E1AF03-DF29-7674-CC0D-BFF13309AA40}"/>
              </a:ext>
            </a:extLst>
          </p:cNvPr>
          <p:cNvSpPr/>
          <p:nvPr/>
        </p:nvSpPr>
        <p:spPr>
          <a:xfrm>
            <a:off x="8382000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0C981-5938-60DD-0C0E-C6B6D456D750}"/>
              </a:ext>
            </a:extLst>
          </p:cNvPr>
          <p:cNvSpPr/>
          <p:nvPr/>
        </p:nvSpPr>
        <p:spPr>
          <a:xfrm>
            <a:off x="422787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73FFB6-4101-7F5C-E034-818E8BF55F18}"/>
              </a:ext>
            </a:extLst>
          </p:cNvPr>
          <p:cNvSpPr/>
          <p:nvPr/>
        </p:nvSpPr>
        <p:spPr>
          <a:xfrm>
            <a:off x="2949677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B444EC-5C7A-2511-90BE-FDFCC3BB167E}"/>
              </a:ext>
            </a:extLst>
          </p:cNvPr>
          <p:cNvSpPr/>
          <p:nvPr/>
        </p:nvSpPr>
        <p:spPr>
          <a:xfrm>
            <a:off x="5609303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CA667F-EE02-5AED-05E6-ACDC8ADCBC2C}"/>
              </a:ext>
            </a:extLst>
          </p:cNvPr>
          <p:cNvSpPr/>
          <p:nvPr/>
        </p:nvSpPr>
        <p:spPr>
          <a:xfrm>
            <a:off x="8382000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3240943-5DF6-F13D-0FCB-079F603B9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907084"/>
              </p:ext>
            </p:extLst>
          </p:nvPr>
        </p:nvGraphicFramePr>
        <p:xfrm>
          <a:off x="702595" y="830456"/>
          <a:ext cx="1696475" cy="2416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 dirty="0">
                          <a:effectLst/>
                        </a:rPr>
                        <a:t>Fan</a:t>
                      </a:r>
                      <a:endParaRPr lang="en-MY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On/Off Valve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6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High Level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6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Low Level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Control Valve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Level Transmitter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2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Pump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5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Pressure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3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Pressure Transmitter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2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Vibrator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 dirty="0">
                          <a:effectLst/>
                        </a:rPr>
                        <a:t>4</a:t>
                      </a:r>
                      <a:endParaRPr lang="en-MY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A01B1B6-C439-F5A1-D5E3-F4FC45F56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124499"/>
              </p:ext>
            </p:extLst>
          </p:nvPr>
        </p:nvGraphicFramePr>
        <p:xfrm>
          <a:off x="3224826" y="848236"/>
          <a:ext cx="1671791" cy="588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Control Valve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5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205174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614B888-CA3C-0003-5BC2-D6B9C6574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463043"/>
              </p:ext>
            </p:extLst>
          </p:nvPr>
        </p:nvGraphicFramePr>
        <p:xfrm>
          <a:off x="5820706" y="867635"/>
          <a:ext cx="1671791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4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36E96DB-D785-6187-7999-27ABF6C5A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068917"/>
              </p:ext>
            </p:extLst>
          </p:nvPr>
        </p:nvGraphicFramePr>
        <p:xfrm>
          <a:off x="8657149" y="830456"/>
          <a:ext cx="1671791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6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383C989-B744-9717-192A-D99F13A52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90996"/>
              </p:ext>
            </p:extLst>
          </p:nvPr>
        </p:nvGraphicFramePr>
        <p:xfrm>
          <a:off x="605707" y="4080934"/>
          <a:ext cx="1856249" cy="956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9549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Pump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4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Heater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2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39242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Temperature Transmitter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3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Low Level Switch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4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DE7005D-197D-13D5-A7DA-AAAB79235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829038"/>
              </p:ext>
            </p:extLst>
          </p:nvPr>
        </p:nvGraphicFramePr>
        <p:xfrm>
          <a:off x="3082413" y="4131229"/>
          <a:ext cx="1886462" cy="577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1037">
                  <a:extLst>
                    <a:ext uri="{9D8B030D-6E8A-4147-A177-3AD203B41FA5}">
                      <a16:colId xmlns:a16="http://schemas.microsoft.com/office/drawing/2014/main" val="4153902939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663589806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Control Valve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7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600769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7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9147634"/>
                  </a:ext>
                </a:extLst>
              </a:tr>
              <a:tr h="471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3257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5F0FB8D-7C7A-9A3D-0FE9-A87E97FCD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627874"/>
              </p:ext>
            </p:extLst>
          </p:nvPr>
        </p:nvGraphicFramePr>
        <p:xfrm>
          <a:off x="8604044" y="4298788"/>
          <a:ext cx="1778000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15">
                  <a:extLst>
                    <a:ext uri="{9D8B030D-6E8A-4147-A177-3AD203B41FA5}">
                      <a16:colId xmlns:a16="http://schemas.microsoft.com/office/drawing/2014/main" val="356100816"/>
                    </a:ext>
                  </a:extLst>
                </a:gridCol>
                <a:gridCol w="456385">
                  <a:extLst>
                    <a:ext uri="{9D8B030D-6E8A-4147-A177-3AD203B41FA5}">
                      <a16:colId xmlns:a16="http://schemas.microsoft.com/office/drawing/2014/main" val="382215392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Control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7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338522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7730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D2B1AC0-18D7-3523-DCEE-0E6CD4145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287063"/>
              </p:ext>
            </p:extLst>
          </p:nvPr>
        </p:nvGraphicFramePr>
        <p:xfrm>
          <a:off x="5849796" y="4155229"/>
          <a:ext cx="1813959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6065">
                  <a:extLst>
                    <a:ext uri="{9D8B030D-6E8A-4147-A177-3AD203B41FA5}">
                      <a16:colId xmlns:a16="http://schemas.microsoft.com/office/drawing/2014/main" val="2677801371"/>
                    </a:ext>
                  </a:extLst>
                </a:gridCol>
                <a:gridCol w="337894">
                  <a:extLst>
                    <a:ext uri="{9D8B030D-6E8A-4147-A177-3AD203B41FA5}">
                      <a16:colId xmlns:a16="http://schemas.microsoft.com/office/drawing/2014/main" val="373308778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6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64449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45508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E79D4A8-78A4-1643-EFCA-487B47D3DFAE}"/>
              </a:ext>
            </a:extLst>
          </p:cNvPr>
          <p:cNvSpPr txBox="1"/>
          <p:nvPr/>
        </p:nvSpPr>
        <p:spPr>
          <a:xfrm>
            <a:off x="3864305" y="28551"/>
            <a:ext cx="391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Section 2 OILTEK (REFERENCE, N=100)</a:t>
            </a:r>
            <a:endParaRPr lang="en-MY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FC2582-7D7F-FF14-193D-165054A1F676}"/>
              </a:ext>
            </a:extLst>
          </p:cNvPr>
          <p:cNvSpPr txBox="1"/>
          <p:nvPr/>
        </p:nvSpPr>
        <p:spPr>
          <a:xfrm>
            <a:off x="10256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4F0F17-A52C-E97F-D3AA-9403FDCCA6AF}"/>
              </a:ext>
            </a:extLst>
          </p:cNvPr>
          <p:cNvSpPr txBox="1"/>
          <p:nvPr/>
        </p:nvSpPr>
        <p:spPr>
          <a:xfrm>
            <a:off x="33878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2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E0821D-DE48-6488-1CBA-344A50D5713B}"/>
              </a:ext>
            </a:extLst>
          </p:cNvPr>
          <p:cNvSpPr txBox="1"/>
          <p:nvPr/>
        </p:nvSpPr>
        <p:spPr>
          <a:xfrm>
            <a:off x="6150682" y="4611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3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207A2D-DA38-BFEB-02F1-31280AEE6115}"/>
              </a:ext>
            </a:extLst>
          </p:cNvPr>
          <p:cNvSpPr txBox="1"/>
          <p:nvPr/>
        </p:nvSpPr>
        <p:spPr>
          <a:xfrm>
            <a:off x="8923379" y="47116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4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77B2D3-2CF2-5F86-E140-D65125FD90DD}"/>
              </a:ext>
            </a:extLst>
          </p:cNvPr>
          <p:cNvSpPr txBox="1"/>
          <p:nvPr/>
        </p:nvSpPr>
        <p:spPr>
          <a:xfrm>
            <a:off x="927735" y="3677227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1C486E-DFE8-613D-2FA6-E0BB30D623C7}"/>
              </a:ext>
            </a:extLst>
          </p:cNvPr>
          <p:cNvSpPr txBox="1"/>
          <p:nvPr/>
        </p:nvSpPr>
        <p:spPr>
          <a:xfrm>
            <a:off x="3515713" y="3702375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6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C6AB54-3B78-2212-ABC8-ECF53DE8E626}"/>
              </a:ext>
            </a:extLst>
          </p:cNvPr>
          <p:cNvSpPr txBox="1"/>
          <p:nvPr/>
        </p:nvSpPr>
        <p:spPr>
          <a:xfrm>
            <a:off x="6150681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50D409-0CD4-720D-8CDB-84B1313BD190}"/>
              </a:ext>
            </a:extLst>
          </p:cNvPr>
          <p:cNvSpPr txBox="1"/>
          <p:nvPr/>
        </p:nvSpPr>
        <p:spPr>
          <a:xfrm>
            <a:off x="8886948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8</a:t>
            </a:r>
            <a:endParaRPr lang="en-MY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598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31A60-DB26-433A-2BB2-29AA6B263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7409DA-B930-7F00-D16F-85BC4A389ABA}"/>
              </a:ext>
            </a:extLst>
          </p:cNvPr>
          <p:cNvSpPr/>
          <p:nvPr/>
        </p:nvSpPr>
        <p:spPr>
          <a:xfrm>
            <a:off x="422787" y="46112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137C7-3615-4C35-9CF3-17E1E67A3AD5}"/>
              </a:ext>
            </a:extLst>
          </p:cNvPr>
          <p:cNvSpPr/>
          <p:nvPr/>
        </p:nvSpPr>
        <p:spPr>
          <a:xfrm>
            <a:off x="294967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A0098-28ED-E487-2F2B-77DA68E29D9C}"/>
              </a:ext>
            </a:extLst>
          </p:cNvPr>
          <p:cNvSpPr/>
          <p:nvPr/>
        </p:nvSpPr>
        <p:spPr>
          <a:xfrm>
            <a:off x="5609303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D7BC4-01D8-7C87-7B89-4BC14F1D80B7}"/>
              </a:ext>
            </a:extLst>
          </p:cNvPr>
          <p:cNvSpPr/>
          <p:nvPr/>
        </p:nvSpPr>
        <p:spPr>
          <a:xfrm>
            <a:off x="8382000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1C31D7-AB7B-E7C0-1D1D-25A449C1E748}"/>
              </a:ext>
            </a:extLst>
          </p:cNvPr>
          <p:cNvSpPr/>
          <p:nvPr/>
        </p:nvSpPr>
        <p:spPr>
          <a:xfrm>
            <a:off x="422787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C4949-0A8B-3D44-AAC7-9AEC038930BA}"/>
              </a:ext>
            </a:extLst>
          </p:cNvPr>
          <p:cNvSpPr/>
          <p:nvPr/>
        </p:nvSpPr>
        <p:spPr>
          <a:xfrm>
            <a:off x="2949677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684DD5-BC14-397B-27D2-B00021EF22AB}"/>
              </a:ext>
            </a:extLst>
          </p:cNvPr>
          <p:cNvSpPr/>
          <p:nvPr/>
        </p:nvSpPr>
        <p:spPr>
          <a:xfrm>
            <a:off x="5609303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BA312B-615F-F92D-BD72-9D4B498B120B}"/>
              </a:ext>
            </a:extLst>
          </p:cNvPr>
          <p:cNvSpPr/>
          <p:nvPr/>
        </p:nvSpPr>
        <p:spPr>
          <a:xfrm>
            <a:off x="8382000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F0CECC4-B5C4-3AE1-0E5D-4ADEC720C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46662"/>
              </p:ext>
            </p:extLst>
          </p:nvPr>
        </p:nvGraphicFramePr>
        <p:xfrm>
          <a:off x="3257405" y="2708019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9/10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25C133B-A8A9-CC08-3ECF-54B6D87D3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991994"/>
              </p:ext>
            </p:extLst>
          </p:nvPr>
        </p:nvGraphicFramePr>
        <p:xfrm>
          <a:off x="5920879" y="3019019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561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643230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4871766-9B70-A8B4-FD4C-3AAF07C8B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72145"/>
              </p:ext>
            </p:extLst>
          </p:nvPr>
        </p:nvGraphicFramePr>
        <p:xfrm>
          <a:off x="8758749" y="2977451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7691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814100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454BC2B-D474-160E-F1CB-59E3603AE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69910"/>
              </p:ext>
            </p:extLst>
          </p:nvPr>
        </p:nvGraphicFramePr>
        <p:xfrm>
          <a:off x="605705" y="6053606"/>
          <a:ext cx="1856249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6745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639504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13/13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6BC6377-5164-86C1-E8C7-6661E730AF0B}"/>
              </a:ext>
            </a:extLst>
          </p:cNvPr>
          <p:cNvSpPr txBox="1"/>
          <p:nvPr/>
        </p:nvSpPr>
        <p:spPr>
          <a:xfrm>
            <a:off x="3828378" y="65730"/>
            <a:ext cx="3534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Section 2 OILTEK – EXAMPLE CASE</a:t>
            </a:r>
            <a:endParaRPr lang="en-MY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0782DD-73F6-9B80-7D7D-EC5DAAFE7FD0}"/>
              </a:ext>
            </a:extLst>
          </p:cNvPr>
          <p:cNvSpPr txBox="1"/>
          <p:nvPr/>
        </p:nvSpPr>
        <p:spPr>
          <a:xfrm>
            <a:off x="10256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0D7FD9-84B9-6268-5B07-995E0B4B5028}"/>
              </a:ext>
            </a:extLst>
          </p:cNvPr>
          <p:cNvSpPr txBox="1"/>
          <p:nvPr/>
        </p:nvSpPr>
        <p:spPr>
          <a:xfrm>
            <a:off x="33878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2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8A4FE6-5477-3192-606B-877DE454897A}"/>
              </a:ext>
            </a:extLst>
          </p:cNvPr>
          <p:cNvSpPr txBox="1"/>
          <p:nvPr/>
        </p:nvSpPr>
        <p:spPr>
          <a:xfrm>
            <a:off x="6150682" y="4611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3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9FDC98-74E7-1DED-E18B-CDB5DA69AAAF}"/>
              </a:ext>
            </a:extLst>
          </p:cNvPr>
          <p:cNvSpPr txBox="1"/>
          <p:nvPr/>
        </p:nvSpPr>
        <p:spPr>
          <a:xfrm>
            <a:off x="8923379" y="47116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4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26CEC3-25B0-F93E-9980-D3B68C03F6B7}"/>
              </a:ext>
            </a:extLst>
          </p:cNvPr>
          <p:cNvSpPr txBox="1"/>
          <p:nvPr/>
        </p:nvSpPr>
        <p:spPr>
          <a:xfrm>
            <a:off x="927735" y="3677227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A8279A-0C6D-ADA4-32C8-824D3B439E72}"/>
              </a:ext>
            </a:extLst>
          </p:cNvPr>
          <p:cNvSpPr txBox="1"/>
          <p:nvPr/>
        </p:nvSpPr>
        <p:spPr>
          <a:xfrm>
            <a:off x="3515713" y="3702375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6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19EEAF-44E3-CD66-C9D5-E67C3EFBBBC6}"/>
              </a:ext>
            </a:extLst>
          </p:cNvPr>
          <p:cNvSpPr txBox="1"/>
          <p:nvPr/>
        </p:nvSpPr>
        <p:spPr>
          <a:xfrm>
            <a:off x="6150681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71B683-9217-7811-92AA-5532D55C16D4}"/>
              </a:ext>
            </a:extLst>
          </p:cNvPr>
          <p:cNvSpPr txBox="1"/>
          <p:nvPr/>
        </p:nvSpPr>
        <p:spPr>
          <a:xfrm>
            <a:off x="8886948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8</a:t>
            </a:r>
            <a:endParaRPr lang="en-MY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2B3DA-9445-E47B-E934-F2DAAD60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95" y="804394"/>
            <a:ext cx="1541820" cy="208222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D3A642-B007-DB43-DDD4-669CD6B99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513151"/>
              </p:ext>
            </p:extLst>
          </p:nvPr>
        </p:nvGraphicFramePr>
        <p:xfrm>
          <a:off x="752014" y="3019019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226">
                  <a:extLst>
                    <a:ext uri="{9D8B030D-6E8A-4147-A177-3AD203B41FA5}">
                      <a16:colId xmlns:a16="http://schemas.microsoft.com/office/drawing/2014/main" val="365470756"/>
                    </a:ext>
                  </a:extLst>
                </a:gridCol>
                <a:gridCol w="757565">
                  <a:extLst>
                    <a:ext uri="{9D8B030D-6E8A-4147-A177-3AD203B41FA5}">
                      <a16:colId xmlns:a16="http://schemas.microsoft.com/office/drawing/2014/main" val="67469857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40/40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96851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974674-C3FE-8E3E-B92A-0DD06392E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485" y="921866"/>
            <a:ext cx="2030211" cy="6992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1A18E0-FF4D-1687-9677-0A071DB05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390" y="978048"/>
            <a:ext cx="2117915" cy="3045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EEF368B-FD7E-61C4-A898-1BB1F8818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871" y="978048"/>
            <a:ext cx="1939206" cy="41623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9B3328B-27CF-637F-039A-42A923457C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13" y="4155229"/>
            <a:ext cx="2034431" cy="93556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4B5B2FC-828C-FF7C-8C53-110193FA7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0763" y="4284450"/>
            <a:ext cx="1973987" cy="628237"/>
          </a:xfrm>
          <a:prstGeom prst="rect">
            <a:avLst/>
          </a:prstGeom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DEDD31F-4B42-AABF-E904-1868A27B4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78031"/>
              </p:ext>
            </p:extLst>
          </p:nvPr>
        </p:nvGraphicFramePr>
        <p:xfrm>
          <a:off x="3285912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8/14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E8CE5F9-E5C5-E03B-53CC-263F69A59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611316"/>
              </p:ext>
            </p:extLst>
          </p:nvPr>
        </p:nvGraphicFramePr>
        <p:xfrm>
          <a:off x="5884451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45CAD91-EC7A-1D61-2590-A6E0151AA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765942"/>
              </p:ext>
            </p:extLst>
          </p:nvPr>
        </p:nvGraphicFramePr>
        <p:xfrm>
          <a:off x="8657147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49" name="Picture 48">
            <a:extLst>
              <a:ext uri="{FF2B5EF4-FFF2-40B4-BE49-F238E27FC236}">
                <a16:creationId xmlns:a16="http://schemas.microsoft.com/office/drawing/2014/main" id="{6AABEE25-2B8F-8CFF-C80A-3B55D38F7C1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197" t="58660" r="34038" b="-10701"/>
          <a:stretch>
            <a:fillRect/>
          </a:stretch>
        </p:blipFill>
        <p:spPr>
          <a:xfrm>
            <a:off x="8580354" y="4295323"/>
            <a:ext cx="1898240" cy="34193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C8BA08D-FDDF-6553-EDC4-92AB2E80217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259" t="3519" r="32976" b="44440"/>
          <a:stretch>
            <a:fillRect/>
          </a:stretch>
        </p:blipFill>
        <p:spPr>
          <a:xfrm>
            <a:off x="5771226" y="4273990"/>
            <a:ext cx="1898240" cy="34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90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8FE5E-9235-FE2C-D1B9-8B66F240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432F2-D359-04E7-5D5F-BD36FB11822A}"/>
              </a:ext>
            </a:extLst>
          </p:cNvPr>
          <p:cNvSpPr txBox="1"/>
          <p:nvPr/>
        </p:nvSpPr>
        <p:spPr>
          <a:xfrm>
            <a:off x="4015846" y="174501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 algn="ctr">
              <a:buAutoNum type="arabicParenR"/>
            </a:pPr>
            <a:endParaRPr lang="en-MY" sz="105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3C16AC-2A6C-56C9-4DD4-CF0522866051}"/>
              </a:ext>
            </a:extLst>
          </p:cNvPr>
          <p:cNvCxnSpPr>
            <a:cxnSpLocks/>
            <a:stCxn id="2" idx="2"/>
            <a:endCxn id="10" idx="3"/>
          </p:cNvCxnSpPr>
          <p:nvPr/>
        </p:nvCxnSpPr>
        <p:spPr>
          <a:xfrm flipH="1">
            <a:off x="3588774" y="920859"/>
            <a:ext cx="2276928" cy="195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628257-0EF6-B96A-76C5-096E155C261A}"/>
              </a:ext>
            </a:extLst>
          </p:cNvPr>
          <p:cNvCxnSpPr>
            <a:cxnSpLocks/>
            <a:stCxn id="2" idx="2"/>
            <a:endCxn id="12" idx="1"/>
          </p:cNvCxnSpPr>
          <p:nvPr/>
        </p:nvCxnSpPr>
        <p:spPr>
          <a:xfrm>
            <a:off x="5865702" y="920859"/>
            <a:ext cx="2737526" cy="301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D3CAD14-4E8B-3F0F-4849-E6CC7683CD4A}"/>
              </a:ext>
            </a:extLst>
          </p:cNvPr>
          <p:cNvSpPr txBox="1"/>
          <p:nvPr/>
        </p:nvSpPr>
        <p:spPr>
          <a:xfrm>
            <a:off x="2821226" y="946858"/>
            <a:ext cx="76754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415714-BC1A-CBCF-2CA7-28DDD2506FE3}"/>
              </a:ext>
            </a:extLst>
          </p:cNvPr>
          <p:cNvSpPr txBox="1"/>
          <p:nvPr/>
        </p:nvSpPr>
        <p:spPr>
          <a:xfrm>
            <a:off x="8603228" y="930348"/>
            <a:ext cx="1146090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(Cluster)</a:t>
            </a:r>
            <a:endParaRPr lang="en-MY" sz="105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9071D3-1697-3034-4D28-D203632E5D93}"/>
              </a:ext>
            </a:extLst>
          </p:cNvPr>
          <p:cNvCxnSpPr>
            <a:cxnSpLocks/>
            <a:stCxn id="10" idx="2"/>
            <a:endCxn id="19" idx="0"/>
          </p:cNvCxnSpPr>
          <p:nvPr/>
        </p:nvCxnSpPr>
        <p:spPr>
          <a:xfrm flipH="1">
            <a:off x="3202273" y="1285412"/>
            <a:ext cx="2727" cy="229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52A3BF-6C09-5117-9AB3-6996AD925B57}"/>
              </a:ext>
            </a:extLst>
          </p:cNvPr>
          <p:cNvSpPr txBox="1"/>
          <p:nvPr/>
        </p:nvSpPr>
        <p:spPr>
          <a:xfrm>
            <a:off x="1653694" y="1515123"/>
            <a:ext cx="3097158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New Device ID coming</a:t>
            </a:r>
          </a:p>
          <a:p>
            <a:r>
              <a:rPr lang="en-MY" sz="1200" dirty="0"/>
              <a:t>= compare the percentage</a:t>
            </a:r>
          </a:p>
          <a:p>
            <a:r>
              <a:rPr lang="en-MY" sz="1200" dirty="0"/>
              <a:t>= </a:t>
            </a:r>
            <a:r>
              <a:rPr lang="en-MY" sz="1200" b="1" dirty="0"/>
              <a:t>kick and replace</a:t>
            </a:r>
          </a:p>
          <a:p>
            <a:r>
              <a:rPr lang="en-MY" sz="1200" dirty="0"/>
              <a:t>= the highest percentage win.</a:t>
            </a:r>
          </a:p>
          <a:p>
            <a:pPr algn="ctr"/>
            <a:r>
              <a:rPr lang="en-MY" sz="1200" b="1" dirty="0">
                <a:solidFill>
                  <a:srgbClr val="FF0000"/>
                </a:solidFill>
              </a:rPr>
              <a:t>So the loser will go?</a:t>
            </a:r>
            <a:endParaRPr lang="en-MY" sz="9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E48D95-8362-C555-F986-15DA316DE344}"/>
              </a:ext>
            </a:extLst>
          </p:cNvPr>
          <p:cNvSpPr txBox="1"/>
          <p:nvPr/>
        </p:nvSpPr>
        <p:spPr>
          <a:xfrm>
            <a:off x="7234465" y="1782027"/>
            <a:ext cx="386130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Floating device ID fill up the vacant</a:t>
            </a:r>
          </a:p>
          <a:p>
            <a:r>
              <a:rPr lang="en-MY" sz="1200" dirty="0"/>
              <a:t>= pick the highest percentage on the respective reference</a:t>
            </a:r>
          </a:p>
          <a:p>
            <a:pPr algn="ctr"/>
            <a:r>
              <a:rPr lang="en-MY" sz="1200" b="1" dirty="0">
                <a:solidFill>
                  <a:srgbClr val="FF0000"/>
                </a:solidFill>
              </a:rPr>
              <a:t>What if still vacant?</a:t>
            </a:r>
            <a:endParaRPr lang="en-MY" sz="900" b="1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8B5664D-FA50-1C25-06EF-8D187D9D13CC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 flipH="1">
            <a:off x="9165116" y="1515123"/>
            <a:ext cx="11157" cy="266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41F4F85-66D0-6390-3B03-4B390D34BA81}"/>
              </a:ext>
            </a:extLst>
          </p:cNvPr>
          <p:cNvSpPr/>
          <p:nvPr/>
        </p:nvSpPr>
        <p:spPr>
          <a:xfrm>
            <a:off x="279330" y="2626846"/>
            <a:ext cx="2222090" cy="2518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E7A7785-EFE8-5C7D-CDED-FCDDEC7F570E}"/>
              </a:ext>
            </a:extLst>
          </p:cNvPr>
          <p:cNvSpPr/>
          <p:nvPr/>
        </p:nvSpPr>
        <p:spPr>
          <a:xfrm>
            <a:off x="2697325" y="2628455"/>
            <a:ext cx="2222090" cy="1495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6341516F-3984-AE36-9F59-9E66384C1173}"/>
              </a:ext>
            </a:extLst>
          </p:cNvPr>
          <p:cNvGraphicFramePr>
            <a:graphicFrameLocks noGrp="1"/>
          </p:cNvGraphicFramePr>
          <p:nvPr/>
        </p:nvGraphicFramePr>
        <p:xfrm>
          <a:off x="542137" y="2971921"/>
          <a:ext cx="1696475" cy="2081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3344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Control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Fan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High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Level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Vibrator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68117C4B-0EEB-AE64-5DBD-BDA5CFE1857D}"/>
              </a:ext>
            </a:extLst>
          </p:cNvPr>
          <p:cNvGraphicFramePr>
            <a:graphicFrameLocks noGrp="1"/>
          </p:cNvGraphicFramePr>
          <p:nvPr/>
        </p:nvGraphicFramePr>
        <p:xfrm>
          <a:off x="2880245" y="3066536"/>
          <a:ext cx="1856249" cy="946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9549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Heater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39242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Temperature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00E27BA2-22F9-79BF-D407-34450DA282ED}"/>
              </a:ext>
            </a:extLst>
          </p:cNvPr>
          <p:cNvSpPr txBox="1"/>
          <p:nvPr/>
        </p:nvSpPr>
        <p:spPr>
          <a:xfrm>
            <a:off x="882232" y="26096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6622E6-5A75-0012-D890-0A1962D6445B}"/>
              </a:ext>
            </a:extLst>
          </p:cNvPr>
          <p:cNvSpPr txBox="1"/>
          <p:nvPr/>
        </p:nvSpPr>
        <p:spPr>
          <a:xfrm>
            <a:off x="3202273" y="2662829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27AF82-5954-418A-6FD9-40670094E4CC}"/>
              </a:ext>
            </a:extLst>
          </p:cNvPr>
          <p:cNvSpPr txBox="1"/>
          <p:nvPr/>
        </p:nvSpPr>
        <p:spPr>
          <a:xfrm>
            <a:off x="2996286" y="4158585"/>
            <a:ext cx="16241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All the percentage inside </a:t>
            </a:r>
          </a:p>
          <a:p>
            <a:r>
              <a:rPr lang="en-MY" sz="1100" dirty="0"/>
              <a:t>the cluster is 80-90%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96B17A-02B9-8B84-4017-7B3A8EFB0516}"/>
              </a:ext>
            </a:extLst>
          </p:cNvPr>
          <p:cNvSpPr txBox="1"/>
          <p:nvPr/>
        </p:nvSpPr>
        <p:spPr>
          <a:xfrm>
            <a:off x="91785" y="5136916"/>
            <a:ext cx="30971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100" dirty="0"/>
              <a:t>All the percentage inside the cluster is 91-99 %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C4264E8-78ED-995A-14FE-BAE2974DCC5F}"/>
              </a:ext>
            </a:extLst>
          </p:cNvPr>
          <p:cNvSpPr/>
          <p:nvPr/>
        </p:nvSpPr>
        <p:spPr>
          <a:xfrm>
            <a:off x="9535808" y="2534910"/>
            <a:ext cx="2222090" cy="1744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E7F00F6-C5A7-39DC-673A-2B8001BD1A32}"/>
              </a:ext>
            </a:extLst>
          </p:cNvPr>
          <p:cNvSpPr txBox="1"/>
          <p:nvPr/>
        </p:nvSpPr>
        <p:spPr>
          <a:xfrm>
            <a:off x="10058851" y="2699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id="{98B17890-2A3F-F406-DC85-315CDA071F04}"/>
              </a:ext>
            </a:extLst>
          </p:cNvPr>
          <p:cNvGraphicFramePr>
            <a:graphicFrameLocks noGrp="1"/>
          </p:cNvGraphicFramePr>
          <p:nvPr/>
        </p:nvGraphicFramePr>
        <p:xfrm>
          <a:off x="9749318" y="3516295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97" name="Picture 96">
            <a:extLst>
              <a:ext uri="{FF2B5EF4-FFF2-40B4-BE49-F238E27FC236}">
                <a16:creationId xmlns:a16="http://schemas.microsoft.com/office/drawing/2014/main" id="{5076DBF8-A3DE-AE79-9979-E95FE582E9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650649" y="3038767"/>
            <a:ext cx="1898240" cy="341934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D649D32B-B83A-6C71-16B4-E26730FF9A66}"/>
              </a:ext>
            </a:extLst>
          </p:cNvPr>
          <p:cNvSpPr/>
          <p:nvPr/>
        </p:nvSpPr>
        <p:spPr>
          <a:xfrm>
            <a:off x="6973624" y="2541891"/>
            <a:ext cx="2222090" cy="2518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7CF241B6-65C1-A102-7022-029048BE25BB}"/>
              </a:ext>
            </a:extLst>
          </p:cNvPr>
          <p:cNvGraphicFramePr>
            <a:graphicFrameLocks noGrp="1"/>
          </p:cNvGraphicFramePr>
          <p:nvPr/>
        </p:nvGraphicFramePr>
        <p:xfrm>
          <a:off x="7236431" y="2886966"/>
          <a:ext cx="1696475" cy="2081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3344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Control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Fan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High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Level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Vibrator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591D4878-353A-D947-6CAA-4B3361859608}"/>
              </a:ext>
            </a:extLst>
          </p:cNvPr>
          <p:cNvSpPr txBox="1"/>
          <p:nvPr/>
        </p:nvSpPr>
        <p:spPr>
          <a:xfrm>
            <a:off x="7576526" y="2524669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966D187-A8A1-9C1D-B5C4-F60A89391DC1}"/>
              </a:ext>
            </a:extLst>
          </p:cNvPr>
          <p:cNvSpPr txBox="1"/>
          <p:nvPr/>
        </p:nvSpPr>
        <p:spPr>
          <a:xfrm>
            <a:off x="6771196" y="5060656"/>
            <a:ext cx="29069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100" dirty="0"/>
              <a:t>All the percentage inside the cluster is 91-99 %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7DB5913-AD3E-6EA2-67DC-4BD301B8396B}"/>
              </a:ext>
            </a:extLst>
          </p:cNvPr>
          <p:cNvSpPr txBox="1"/>
          <p:nvPr/>
        </p:nvSpPr>
        <p:spPr>
          <a:xfrm>
            <a:off x="3112331" y="4664296"/>
            <a:ext cx="1441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***both cluster is</a:t>
            </a:r>
            <a:r>
              <a:rPr lang="en-MY" sz="1100" b="1" dirty="0"/>
              <a:t> FULL</a:t>
            </a:r>
          </a:p>
        </p:txBody>
      </p:sp>
    </p:spTree>
    <p:extLst>
      <p:ext uri="{BB962C8B-B14F-4D97-AF65-F5344CB8AC3E}">
        <p14:creationId xmlns:p14="http://schemas.microsoft.com/office/powerpoint/2010/main" val="687399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30734-E68C-5643-DAF1-2D5BCDC2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30DFFE-443F-CA94-0576-5A8E07A15C36}"/>
              </a:ext>
            </a:extLst>
          </p:cNvPr>
          <p:cNvSpPr txBox="1"/>
          <p:nvPr/>
        </p:nvSpPr>
        <p:spPr>
          <a:xfrm>
            <a:off x="1676747" y="312197"/>
            <a:ext cx="212480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 CLUSTER </a:t>
            </a:r>
            <a:endParaRPr lang="en-MY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241F89-ED48-4056-A69F-3480EAD2D1B5}"/>
              </a:ext>
            </a:extLst>
          </p:cNvPr>
          <p:cNvSpPr txBox="1"/>
          <p:nvPr/>
        </p:nvSpPr>
        <p:spPr>
          <a:xfrm>
            <a:off x="7965581" y="296601"/>
            <a:ext cx="2399069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CLUSTER</a:t>
            </a:r>
            <a:endParaRPr lang="en-MY" sz="105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0610068-88D2-A96D-6FD8-CD93DF834279}"/>
              </a:ext>
            </a:extLst>
          </p:cNvPr>
          <p:cNvSpPr/>
          <p:nvPr/>
        </p:nvSpPr>
        <p:spPr>
          <a:xfrm>
            <a:off x="279318" y="880381"/>
            <a:ext cx="2222090" cy="1547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D22C368-183B-36D1-1C4E-0C97D8703574}"/>
              </a:ext>
            </a:extLst>
          </p:cNvPr>
          <p:cNvSpPr/>
          <p:nvPr/>
        </p:nvSpPr>
        <p:spPr>
          <a:xfrm>
            <a:off x="2894175" y="874032"/>
            <a:ext cx="2222090" cy="1547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47729C07-47D6-7C6B-A642-AF1F5FE69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557250"/>
              </p:ext>
            </p:extLst>
          </p:nvPr>
        </p:nvGraphicFramePr>
        <p:xfrm>
          <a:off x="542137" y="1244721"/>
          <a:ext cx="1696475" cy="946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013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530462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LSL551B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70059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93.6%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LSL411B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90.6%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30E0882B-75DD-8B05-E727-B5CE76D1F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865115"/>
              </p:ext>
            </p:extLst>
          </p:nvPr>
        </p:nvGraphicFramePr>
        <p:xfrm>
          <a:off x="3077093" y="1219044"/>
          <a:ext cx="1856249" cy="973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055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558194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LL07PL1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LL07PR1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6313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LL57PL1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81.0%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3480118"/>
                  </a:ext>
                </a:extLst>
              </a:tr>
              <a:tr h="216414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LL57PR1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81.0%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EBB02BA1-4004-1E9C-1A14-58D84C3A69B8}"/>
              </a:ext>
            </a:extLst>
          </p:cNvPr>
          <p:cNvSpPr txBox="1"/>
          <p:nvPr/>
        </p:nvSpPr>
        <p:spPr>
          <a:xfrm>
            <a:off x="882232" y="8824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0421ED-0137-085E-C360-820CD732A6E7}"/>
              </a:ext>
            </a:extLst>
          </p:cNvPr>
          <p:cNvSpPr txBox="1"/>
          <p:nvPr/>
        </p:nvSpPr>
        <p:spPr>
          <a:xfrm>
            <a:off x="3399123" y="85514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0F7FE6-356A-123E-A181-C45CAAA3E299}"/>
              </a:ext>
            </a:extLst>
          </p:cNvPr>
          <p:cNvSpPr txBox="1"/>
          <p:nvPr/>
        </p:nvSpPr>
        <p:spPr>
          <a:xfrm>
            <a:off x="434102" y="3202062"/>
            <a:ext cx="4610094" cy="107721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sz="1600" dirty="0"/>
              <a:t>Case when New Device ID : 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(93%)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(86%)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(72%)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  <a:endParaRPr lang="en-MY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80A782-F859-9BC5-42BF-244D82317C78}"/>
              </a:ext>
            </a:extLst>
          </p:cNvPr>
          <p:cNvSpPr txBox="1"/>
          <p:nvPr/>
        </p:nvSpPr>
        <p:spPr>
          <a:xfrm>
            <a:off x="2813803" y="2440898"/>
            <a:ext cx="2807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50" dirty="0"/>
              <a:t>All the percentage inside the cluster is 80-90%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002C1-3773-1936-EC2A-8745433CB7C9}"/>
              </a:ext>
            </a:extLst>
          </p:cNvPr>
          <p:cNvSpPr txBox="1"/>
          <p:nvPr/>
        </p:nvSpPr>
        <p:spPr>
          <a:xfrm>
            <a:off x="157731" y="2432762"/>
            <a:ext cx="30971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All the percentage inside the cluster is 91-99 %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91F3C86-6F2E-DD0D-FF83-CC925905E973}"/>
              </a:ext>
            </a:extLst>
          </p:cNvPr>
          <p:cNvSpPr/>
          <p:nvPr/>
        </p:nvSpPr>
        <p:spPr>
          <a:xfrm>
            <a:off x="9438826" y="872125"/>
            <a:ext cx="2222090" cy="1568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D377ECD-D369-5DCC-B877-28E317C7F886}"/>
              </a:ext>
            </a:extLst>
          </p:cNvPr>
          <p:cNvSpPr txBox="1"/>
          <p:nvPr/>
        </p:nvSpPr>
        <p:spPr>
          <a:xfrm>
            <a:off x="9950816" y="101943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id="{BCB5B600-C71C-95A0-BA5B-C28F63575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3151"/>
              </p:ext>
            </p:extLst>
          </p:nvPr>
        </p:nvGraphicFramePr>
        <p:xfrm>
          <a:off x="9641283" y="1836527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97" name="Picture 96">
            <a:extLst>
              <a:ext uri="{FF2B5EF4-FFF2-40B4-BE49-F238E27FC236}">
                <a16:creationId xmlns:a16="http://schemas.microsoft.com/office/drawing/2014/main" id="{14FF2DAD-28DA-C905-8C26-8502459E37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542614" y="1358999"/>
            <a:ext cx="1898240" cy="341934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761698FB-A8BB-1AC0-7AF2-CD0F1D306B54}"/>
              </a:ext>
            </a:extLst>
          </p:cNvPr>
          <p:cNvSpPr/>
          <p:nvPr/>
        </p:nvSpPr>
        <p:spPr>
          <a:xfrm>
            <a:off x="6854536" y="872125"/>
            <a:ext cx="2222090" cy="1568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7032F983-A87C-8B05-8D75-0EDC33B22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242788"/>
              </p:ext>
            </p:extLst>
          </p:nvPr>
        </p:nvGraphicFramePr>
        <p:xfrm>
          <a:off x="7128396" y="1207198"/>
          <a:ext cx="1696475" cy="1135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0513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S412A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S482A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S602A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94.8%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S922A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92.8%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S362A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91.8%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F301FA61-1D7B-9036-2FA9-2FD84EB3448D}"/>
              </a:ext>
            </a:extLst>
          </p:cNvPr>
          <p:cNvSpPr txBox="1"/>
          <p:nvPr/>
        </p:nvSpPr>
        <p:spPr>
          <a:xfrm>
            <a:off x="7468491" y="844901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1E98E27-7D0A-EA36-AD7B-34542054A578}"/>
              </a:ext>
            </a:extLst>
          </p:cNvPr>
          <p:cNvSpPr txBox="1"/>
          <p:nvPr/>
        </p:nvSpPr>
        <p:spPr>
          <a:xfrm>
            <a:off x="6803749" y="2655574"/>
            <a:ext cx="4954149" cy="58477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sz="1600" dirty="0"/>
              <a:t>Case when New Device ID : </a:t>
            </a:r>
          </a:p>
          <a:p>
            <a:pPr marL="285750" indent="-285750">
              <a:buFontTx/>
              <a:buChar char="-"/>
            </a:pPr>
            <a:r>
              <a:rPr lang="en-MY" sz="1600" dirty="0">
                <a:solidFill>
                  <a:srgbClr val="000000"/>
                </a:solidFill>
                <a:latin typeface="Calibri" panose="020F0502020204030204" pitchFamily="34" charset="0"/>
              </a:rPr>
              <a:t>V71ST2</a:t>
            </a:r>
            <a:r>
              <a:rPr lang="en-MY" sz="1600" dirty="0"/>
              <a:t> = On/Off Valve (93%)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286608B-01ED-A583-38B0-5CE07FC77611}"/>
              </a:ext>
            </a:extLst>
          </p:cNvPr>
          <p:cNvSpPr txBox="1"/>
          <p:nvPr/>
        </p:nvSpPr>
        <p:spPr>
          <a:xfrm>
            <a:off x="2147354" y="2709335"/>
            <a:ext cx="1441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***both cluster is</a:t>
            </a:r>
            <a:r>
              <a:rPr lang="en-MY" sz="1100" b="1" dirty="0"/>
              <a:t> FULL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B10E816-3E94-A3A4-8D22-19AEC58727A5}"/>
              </a:ext>
            </a:extLst>
          </p:cNvPr>
          <p:cNvSpPr txBox="1"/>
          <p:nvPr/>
        </p:nvSpPr>
        <p:spPr>
          <a:xfrm>
            <a:off x="434102" y="4629942"/>
            <a:ext cx="4610094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>
                <a:solidFill>
                  <a:srgbClr val="FF0000"/>
                </a:solidFill>
              </a:rPr>
              <a:t>The kick out device id is located at?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686CF80-66B8-6547-DD91-718920B07410}"/>
              </a:ext>
            </a:extLst>
          </p:cNvPr>
          <p:cNvSpPr/>
          <p:nvPr/>
        </p:nvSpPr>
        <p:spPr>
          <a:xfrm>
            <a:off x="9438826" y="4881096"/>
            <a:ext cx="2222090" cy="1568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052AB2F-4EB1-3E78-C565-482BE16B3E21}"/>
              </a:ext>
            </a:extLst>
          </p:cNvPr>
          <p:cNvSpPr txBox="1"/>
          <p:nvPr/>
        </p:nvSpPr>
        <p:spPr>
          <a:xfrm>
            <a:off x="9950816" y="4867536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130" name="Table 129">
            <a:extLst>
              <a:ext uri="{FF2B5EF4-FFF2-40B4-BE49-F238E27FC236}">
                <a16:creationId xmlns:a16="http://schemas.microsoft.com/office/drawing/2014/main" id="{A522B6FE-B2CF-FBC5-A27C-B76483E16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024334"/>
              </p:ext>
            </p:extLst>
          </p:nvPr>
        </p:nvGraphicFramePr>
        <p:xfrm>
          <a:off x="9769063" y="5958454"/>
          <a:ext cx="1671791" cy="37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1/6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132" name="Picture 131">
            <a:extLst>
              <a:ext uri="{FF2B5EF4-FFF2-40B4-BE49-F238E27FC236}">
                <a16:creationId xmlns:a16="http://schemas.microsoft.com/office/drawing/2014/main" id="{29464F60-5B1F-59D5-A061-FBA767F80C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844484" y="5580027"/>
            <a:ext cx="1386550" cy="249762"/>
          </a:xfrm>
          <a:prstGeom prst="rect">
            <a:avLst/>
          </a:prstGeom>
        </p:spPr>
      </p:pic>
      <p:sp>
        <p:nvSpPr>
          <p:cNvPr id="134" name="Rectangle 133">
            <a:extLst>
              <a:ext uri="{FF2B5EF4-FFF2-40B4-BE49-F238E27FC236}">
                <a16:creationId xmlns:a16="http://schemas.microsoft.com/office/drawing/2014/main" id="{F1F6793A-C600-FBCA-9CF0-1CF863DFA110}"/>
              </a:ext>
            </a:extLst>
          </p:cNvPr>
          <p:cNvSpPr/>
          <p:nvPr/>
        </p:nvSpPr>
        <p:spPr>
          <a:xfrm>
            <a:off x="6854536" y="4881096"/>
            <a:ext cx="2222090" cy="1568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36" name="Table 135">
            <a:extLst>
              <a:ext uri="{FF2B5EF4-FFF2-40B4-BE49-F238E27FC236}">
                <a16:creationId xmlns:a16="http://schemas.microsoft.com/office/drawing/2014/main" id="{7FD94074-F1EC-03FD-B734-D57895F25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751032"/>
              </p:ext>
            </p:extLst>
          </p:nvPr>
        </p:nvGraphicFramePr>
        <p:xfrm>
          <a:off x="7128396" y="5216169"/>
          <a:ext cx="1696475" cy="1135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0513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S412A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S482A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S602A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94.8%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V71ST2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93%</a:t>
                      </a:r>
                    </a:p>
                  </a:txBody>
                  <a:tcPr marL="6350" marR="6350" marT="635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S922A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92.8%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</a:tbl>
          </a:graphicData>
        </a:graphic>
      </p:graphicFrame>
      <p:sp>
        <p:nvSpPr>
          <p:cNvPr id="138" name="TextBox 137">
            <a:extLst>
              <a:ext uri="{FF2B5EF4-FFF2-40B4-BE49-F238E27FC236}">
                <a16:creationId xmlns:a16="http://schemas.microsoft.com/office/drawing/2014/main" id="{B7B6E253-E3CB-A067-FD46-5F2787D99BDC}"/>
              </a:ext>
            </a:extLst>
          </p:cNvPr>
          <p:cNvSpPr txBox="1"/>
          <p:nvPr/>
        </p:nvSpPr>
        <p:spPr>
          <a:xfrm>
            <a:off x="7468491" y="485387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141" name="Table 140">
            <a:extLst>
              <a:ext uri="{FF2B5EF4-FFF2-40B4-BE49-F238E27FC236}">
                <a16:creationId xmlns:a16="http://schemas.microsoft.com/office/drawing/2014/main" id="{AFE59A95-6CA7-53EF-81E8-89552EFF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290867"/>
              </p:ext>
            </p:extLst>
          </p:nvPr>
        </p:nvGraphicFramePr>
        <p:xfrm>
          <a:off x="9643496" y="5268682"/>
          <a:ext cx="1696475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049865551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128376118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S362A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91.8%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81913274"/>
                  </a:ext>
                </a:extLst>
              </a:tr>
            </a:tbl>
          </a:graphicData>
        </a:graphic>
      </p:graphicFrame>
      <p:sp>
        <p:nvSpPr>
          <p:cNvPr id="143" name="TextBox 142">
            <a:extLst>
              <a:ext uri="{FF2B5EF4-FFF2-40B4-BE49-F238E27FC236}">
                <a16:creationId xmlns:a16="http://schemas.microsoft.com/office/drawing/2014/main" id="{772351A1-D7FD-AADD-10EE-3976D1EE2D72}"/>
              </a:ext>
            </a:extLst>
          </p:cNvPr>
          <p:cNvSpPr txBox="1"/>
          <p:nvPr/>
        </p:nvSpPr>
        <p:spPr>
          <a:xfrm>
            <a:off x="8215725" y="4369105"/>
            <a:ext cx="21301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000" dirty="0"/>
              <a:t>Suggestion answer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15AC839-043B-7AE4-5815-6B07BFB84454}"/>
              </a:ext>
            </a:extLst>
          </p:cNvPr>
          <p:cNvSpPr/>
          <p:nvPr/>
        </p:nvSpPr>
        <p:spPr>
          <a:xfrm>
            <a:off x="5842000" y="0"/>
            <a:ext cx="31177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5" name="Arrow: Down 144">
            <a:extLst>
              <a:ext uri="{FF2B5EF4-FFF2-40B4-BE49-F238E27FC236}">
                <a16:creationId xmlns:a16="http://schemas.microsoft.com/office/drawing/2014/main" id="{62AA83CD-7074-43EB-0F75-6E3D4C149FAD}"/>
              </a:ext>
            </a:extLst>
          </p:cNvPr>
          <p:cNvSpPr/>
          <p:nvPr/>
        </p:nvSpPr>
        <p:spPr>
          <a:xfrm>
            <a:off x="8967019" y="3429000"/>
            <a:ext cx="527349" cy="8282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6811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64D26-3048-2900-660A-044CED86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9A646E-C02D-D53E-0E7A-0C15205F5E90}"/>
              </a:ext>
            </a:extLst>
          </p:cNvPr>
          <p:cNvSpPr txBox="1"/>
          <p:nvPr/>
        </p:nvSpPr>
        <p:spPr>
          <a:xfrm>
            <a:off x="4937670" y="2469930"/>
            <a:ext cx="2316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97471767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18861</TotalTime>
  <Words>1020</Words>
  <Application>Microsoft Office PowerPoint</Application>
  <PresentationFormat>Widescreen</PresentationFormat>
  <Paragraphs>403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Narrow</vt:lpstr>
      <vt:lpstr>Arial</vt:lpstr>
      <vt:lpstr>Calibri</vt:lpstr>
      <vt:lpstr>Tw Cen MT</vt:lpstr>
      <vt:lpstr>Droplet</vt:lpstr>
      <vt:lpstr>Update Xenxible Project Device Identifier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Siti Syaziyah Binti Samiri</dc:creator>
  <cp:lastModifiedBy>Siti Syaziyah Binti Samiri</cp:lastModifiedBy>
  <cp:revision>92</cp:revision>
  <dcterms:created xsi:type="dcterms:W3CDTF">2025-11-18T06:28:25Z</dcterms:created>
  <dcterms:modified xsi:type="dcterms:W3CDTF">2026-07-17T02:47:47Z</dcterms:modified>
</cp:coreProperties>
</file>