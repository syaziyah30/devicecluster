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87"/>
  </p:notesMasterIdLst>
  <p:sldIdLst>
    <p:sldId id="256" r:id="rId2"/>
    <p:sldId id="401" r:id="rId3"/>
    <p:sldId id="402" r:id="rId4"/>
    <p:sldId id="315" r:id="rId5"/>
    <p:sldId id="348" r:id="rId6"/>
    <p:sldId id="395" r:id="rId7"/>
    <p:sldId id="396" r:id="rId8"/>
    <p:sldId id="398" r:id="rId9"/>
    <p:sldId id="403" r:id="rId10"/>
    <p:sldId id="409" r:id="rId11"/>
    <p:sldId id="410" r:id="rId12"/>
    <p:sldId id="415" r:id="rId13"/>
    <p:sldId id="416" r:id="rId14"/>
    <p:sldId id="411" r:id="rId15"/>
    <p:sldId id="418" r:id="rId16"/>
    <p:sldId id="412" r:id="rId17"/>
    <p:sldId id="413" r:id="rId18"/>
    <p:sldId id="408" r:id="rId19"/>
    <p:sldId id="406" r:id="rId20"/>
    <p:sldId id="407" r:id="rId21"/>
    <p:sldId id="417" r:id="rId22"/>
    <p:sldId id="397" r:id="rId23"/>
    <p:sldId id="404" r:id="rId24"/>
    <p:sldId id="400" r:id="rId25"/>
    <p:sldId id="392" r:id="rId26"/>
    <p:sldId id="393" r:id="rId27"/>
    <p:sldId id="391" r:id="rId28"/>
    <p:sldId id="389" r:id="rId29"/>
    <p:sldId id="390" r:id="rId30"/>
    <p:sldId id="399" r:id="rId31"/>
    <p:sldId id="382" r:id="rId32"/>
    <p:sldId id="375" r:id="rId33"/>
    <p:sldId id="380" r:id="rId34"/>
    <p:sldId id="381" r:id="rId35"/>
    <p:sldId id="386" r:id="rId36"/>
    <p:sldId id="383" r:id="rId37"/>
    <p:sldId id="384" r:id="rId38"/>
    <p:sldId id="376" r:id="rId39"/>
    <p:sldId id="347" r:id="rId40"/>
    <p:sldId id="378" r:id="rId41"/>
    <p:sldId id="362" r:id="rId42"/>
    <p:sldId id="363" r:id="rId43"/>
    <p:sldId id="387" r:id="rId44"/>
    <p:sldId id="366" r:id="rId45"/>
    <p:sldId id="385" r:id="rId46"/>
    <p:sldId id="373" r:id="rId47"/>
    <p:sldId id="374" r:id="rId48"/>
    <p:sldId id="369" r:id="rId49"/>
    <p:sldId id="370" r:id="rId50"/>
    <p:sldId id="372" r:id="rId51"/>
    <p:sldId id="367" r:id="rId52"/>
    <p:sldId id="352" r:id="rId53"/>
    <p:sldId id="388" r:id="rId54"/>
    <p:sldId id="351" r:id="rId55"/>
    <p:sldId id="377" r:id="rId56"/>
    <p:sldId id="371" r:id="rId57"/>
    <p:sldId id="356" r:id="rId58"/>
    <p:sldId id="355" r:id="rId59"/>
    <p:sldId id="346" r:id="rId60"/>
    <p:sldId id="349" r:id="rId61"/>
    <p:sldId id="350" r:id="rId62"/>
    <p:sldId id="353" r:id="rId63"/>
    <p:sldId id="354" r:id="rId64"/>
    <p:sldId id="357" r:id="rId65"/>
    <p:sldId id="358" r:id="rId66"/>
    <p:sldId id="360" r:id="rId67"/>
    <p:sldId id="361" r:id="rId68"/>
    <p:sldId id="365" r:id="rId69"/>
    <p:sldId id="379" r:id="rId70"/>
    <p:sldId id="325" r:id="rId71"/>
    <p:sldId id="292" r:id="rId72"/>
    <p:sldId id="328" r:id="rId73"/>
    <p:sldId id="329" r:id="rId74"/>
    <p:sldId id="330" r:id="rId75"/>
    <p:sldId id="331" r:id="rId76"/>
    <p:sldId id="332" r:id="rId77"/>
    <p:sldId id="334" r:id="rId78"/>
    <p:sldId id="335" r:id="rId79"/>
    <p:sldId id="336" r:id="rId80"/>
    <p:sldId id="323" r:id="rId81"/>
    <p:sldId id="333" r:id="rId82"/>
    <p:sldId id="327" r:id="rId83"/>
    <p:sldId id="337" r:id="rId84"/>
    <p:sldId id="338" r:id="rId85"/>
    <p:sldId id="345" r:id="rId8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FEE8"/>
    <a:srgbClr val="CDF6F9"/>
    <a:srgbClr val="FFFFAF"/>
    <a:srgbClr val="CAFC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286" autoAdjust="0"/>
    <p:restoredTop sz="94404" autoAdjust="0"/>
  </p:normalViewPr>
  <p:slideViewPr>
    <p:cSldViewPr snapToGrid="0">
      <p:cViewPr varScale="1">
        <p:scale>
          <a:sx n="107" d="100"/>
          <a:sy n="107" d="100"/>
        </p:scale>
        <p:origin x="48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D8B80A-F233-4240-BDAF-6537AE249829}" type="datetimeFigureOut">
              <a:rPr lang="en-MY" smtClean="0"/>
              <a:t>4/9/2026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833E0-5E66-4D1D-89F5-BD860FDD8F7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412621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92298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DF297-4C4A-460D-D5C6-1052BAE03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B6DC2-8593-AC5C-68B3-4219E8F0D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BB3D06-BAB0-C40F-6AFF-6F3B3C2BA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88249-10B4-C9F0-56E2-A300D2002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71971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4BB0E-3305-ACF4-B9DB-3771A05F8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5AB61-A186-C05A-CE87-0AAC4CACF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039EA4-5C53-1F6E-2F8C-EEDBDF608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186D5-1C82-55C9-9C81-848494B23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181550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5143E-6EB1-5AEC-EA65-B16DDB48C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A3B66A-4E53-E454-043D-1F742FA80D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DDA1B7-2DD3-6DC0-1B24-8C9FE80A3F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D7023-7DB9-431E-C43C-056860850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95352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F95A4-8B16-B4B8-1099-6E539E5D5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D684E3-26DB-0ADA-43FE-B80A3F39D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AE0129-6FBE-0B2B-9D73-CC36EE257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C4E83B-BDDD-B3EF-8DA1-F84C830402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365099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29EAB-62F0-E599-5812-26AD21835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B937A-9DAD-0B78-4CD8-0D97CDB5F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25E1C6-9041-C876-2B23-13DCDED4D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0E2EA1-56C0-8D6F-684C-1E193E31B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42852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2DC8C-C1CE-AEAF-F776-94186C649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AA1635-2431-E971-60CA-A322259348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8DF767-2C08-D1EB-D1DD-B13C80968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B96FA-C83A-B919-DDEA-0F847B528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89749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94EAA-B7AE-9E60-5EB9-6AFB0BD3F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FB19DC-2B3C-15C0-DD43-54206C7ABD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F5C09-6822-05DF-2439-FF6D014C5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0F096-58D1-CB43-671C-D7239AB89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37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8816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FC424-EA8E-B269-C46D-00275BE9C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446DAA-526B-158A-AF11-A6E8E0261B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7416B5-7816-4E82-F077-819D37FC8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1C30F-B0AC-ECC3-3987-420208BBA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45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464875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ED8ED-6CFC-FBAA-4EFD-1C5BB3865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9C3310-EC70-E0FE-5DD7-877D11981B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C70EC9-4B38-2BC1-363D-7239079AE1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283D9A-856A-21D7-1903-E21D07E070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46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01360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48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18059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AA44F-F577-055C-BA0F-DA69FF41A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0A680F-3263-365C-2593-51B8B9082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E51E4-620F-C57E-0B01-71CD148A81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7C7F0-6139-43B1-3A78-E075945FD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50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243091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51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8138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59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892410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22F5B-9682-C56D-62BF-8071879B8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E01A1-97BB-90ED-A57B-A0DE34735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E4691-FDF2-E81F-DF8B-5645BDA44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2A4DE-690F-08F1-663C-4442E6F48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60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347933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70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922980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71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922980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454B8-8657-C20F-58A7-8F453E4CA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3914B0-D763-1ACA-2A67-D6D7E2421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E6674-47D8-50B1-8B70-FE3AFFD55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10E1C-A6AC-0A8B-FF26-0580D6C5E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72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0404000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F1655-1C27-90A4-71E8-FBD974FD2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E2A174-83FD-E504-803C-F9C8933ADE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01B9EE-8786-6B4F-F0DD-1A24E61F0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C6B27-D333-CB81-027E-D188F9EAB2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73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291547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D6A45-5345-C119-2077-2724690AF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C56EFF-512F-DCC6-60FB-9B500E0FE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7DE9F1-36AD-FE8F-9117-24D636617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4BF3F-9B0A-ED03-3308-B1B55354E5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74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643684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C51A4-DF0B-FDE9-7E77-505DF0963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F12C7-7B82-5718-D799-1E0BDF7D0D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C14063-9072-7B10-13CD-D17185884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3D2FF-9922-1F5C-63D9-3AD351D33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75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7905443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4A910-8722-BE0D-ECC6-AE331ECAD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F1B51-0D4E-F4D9-C462-F4905C8AA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1BCF9F-3AF4-EF24-64C9-01366B660C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CF6CA-73F6-4CE7-341F-2286B37A04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76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022489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3B1C6-08A7-B48E-D8A5-6541AA44C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09EC7-6617-C98F-730D-7917E77BE0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767383-9CFA-16F3-F36C-F09AD56645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DC4DE-87B6-AD78-A525-5872D2BF7E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77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802211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ED43E-08A9-9AD5-17D1-61004101E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426B85-DB9B-3A16-2A31-AFA633013F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4AFCF-8283-A79C-8CA0-9CF7E0E30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E8708-6453-57D5-13DA-E78CAD0606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78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541885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23BA2-7F7E-D5BA-743C-2EE91E241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514E0F-D08A-F797-D9AA-057E867C1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2F6581-196D-E8E3-B171-D11FAD4141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3A6234-8F53-E551-DA84-100BCDA6B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79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051666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3267B-B82B-1EDC-363F-2C9961D70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7EDB8-B816-FA3D-09DD-5351C1101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9C20B-29BD-CFE3-AAB6-D25BDE1AD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F6E11-1359-6B01-777F-A6EC05674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80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134084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26A8A5-B833-7343-7209-908FCBD75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FF2406-0A14-1D35-AADE-48E362C8DD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63FA9-DD4D-5EC8-EE1A-889D4CEABE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20576-8B22-42DB-81CB-9C73999956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81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852050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BB1E2-2CB1-5021-75E5-CF6CCD57D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700753-6D9B-7CA5-2453-C840953518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D44659-0B80-A575-79ED-8829A738DB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108B5-6282-34C4-DE56-EADE45190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6833E0-5E66-4D1D-89F5-BD860FDD8F71}" type="slidenum">
              <a:rPr lang="en-MY" smtClean="0"/>
              <a:t>82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7372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4/9/2026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07509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4/9/2026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7985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4/9/2026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75960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4/9/2026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1358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4/9/2026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000062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4/9/2026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65778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4/9/2026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46455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4/9/2026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46806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4/9/2026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85463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4/9/2026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7762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4/9/2026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878386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4/9/2026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84611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4/9/2026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26750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4/9/2026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107099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4/9/2026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66895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4/9/2026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67625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1395-AC05-405C-BAB9-E5D2B9FDBB40}" type="datetimeFigureOut">
              <a:rPr lang="en-MY" smtClean="0"/>
              <a:t>4/9/2026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4395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CD01395-AC05-405C-BAB9-E5D2B9FDBB40}" type="datetimeFigureOut">
              <a:rPr lang="en-MY" smtClean="0"/>
              <a:t>4/9/2026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14E928F-1B77-4E5E-9D54-2399041871C2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80614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../../Prediction_service/DeviceClusterServiceApp/bin/Debug/net10.0-windows/win-x64/DeviceClusterServiceApp.exe" TargetMode="External"/><Relationship Id="rId2" Type="http://schemas.openxmlformats.org/officeDocument/2006/relationships/hyperlink" Target="../../Prediction_service/DeviceClusterServiceApp/run-service-app.cmd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1.%20Flowchart%20ML%20development.xlsx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3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CA8BF-74AE-1522-7BD3-7F764B4CF1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Update </a:t>
            </a:r>
            <a:r>
              <a:rPr lang="en-MY" dirty="0" err="1"/>
              <a:t>Xenxible</a:t>
            </a:r>
            <a:r>
              <a:rPr lang="en-MY" dirty="0"/>
              <a:t> Project Device Identifier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F6E070-33C3-873C-ADD2-09B7AAE3EB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MY" dirty="0"/>
              <a:t>Syaziyah</a:t>
            </a:r>
          </a:p>
        </p:txBody>
      </p:sp>
    </p:spTree>
    <p:extLst>
      <p:ext uri="{BB962C8B-B14F-4D97-AF65-F5344CB8AC3E}">
        <p14:creationId xmlns:p14="http://schemas.microsoft.com/office/powerpoint/2010/main" val="15168619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DE19C-F5BD-B912-3E54-53724452B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DB410C-EA40-6A78-6A16-2CEC8DDAB8CC}"/>
              </a:ext>
            </a:extLst>
          </p:cNvPr>
          <p:cNvSpPr/>
          <p:nvPr/>
        </p:nvSpPr>
        <p:spPr>
          <a:xfrm>
            <a:off x="7555894" y="235052"/>
            <a:ext cx="2379453" cy="6230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  <a:p>
            <a:pPr algn="ctr">
              <a:lnSpc>
                <a:spcPts val="1400"/>
              </a:lnSpc>
            </a:pPr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</a:t>
            </a: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F783AE-E4BB-7E7F-7041-A46A51505740}"/>
              </a:ext>
            </a:extLst>
          </p:cNvPr>
          <p:cNvSpPr/>
          <p:nvPr/>
        </p:nvSpPr>
        <p:spPr>
          <a:xfrm>
            <a:off x="7012337" y="4244120"/>
            <a:ext cx="3475552" cy="5975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RESULT OUTPUT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ID,  Section, Cluster)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7A7917-7751-58A4-D13B-2017E2CC3231}"/>
              </a:ext>
            </a:extLst>
          </p:cNvPr>
          <p:cNvSpPr/>
          <p:nvPr/>
        </p:nvSpPr>
        <p:spPr>
          <a:xfrm>
            <a:off x="4365" y="318300"/>
            <a:ext cx="2312411" cy="3683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(16.04.2026)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4ADA14-556C-C309-8718-D47DA0A7B155}"/>
              </a:ext>
            </a:extLst>
          </p:cNvPr>
          <p:cNvSpPr/>
          <p:nvPr/>
        </p:nvSpPr>
        <p:spPr>
          <a:xfrm>
            <a:off x="2627196" y="3465462"/>
            <a:ext cx="2240611" cy="4788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UNKNOWN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= Assign by User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61EBCC-E49B-C93D-F2D2-210F5633FD72}"/>
              </a:ext>
            </a:extLst>
          </p:cNvPr>
          <p:cNvSpPr/>
          <p:nvPr/>
        </p:nvSpPr>
        <p:spPr>
          <a:xfrm>
            <a:off x="2627194" y="2541670"/>
            <a:ext cx="2240613" cy="3385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NEW LIST OF EQUIPMENT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5C02FA-690D-C3CB-2191-C15372D0FC28}"/>
              </a:ext>
            </a:extLst>
          </p:cNvPr>
          <p:cNvSpPr/>
          <p:nvPr/>
        </p:nvSpPr>
        <p:spPr>
          <a:xfrm>
            <a:off x="7214203" y="1909007"/>
            <a:ext cx="3076565" cy="17959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sz="1600" b="1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2DE82C8-536C-FB4F-0DF1-B2B400ED795F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 flipV="1">
            <a:off x="4867807" y="1846624"/>
            <a:ext cx="2352143" cy="86431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F19441-888D-F983-EB9B-43F03913D145}"/>
              </a:ext>
            </a:extLst>
          </p:cNvPr>
          <p:cNvCxnSpPr>
            <a:cxnSpLocks/>
            <a:stCxn id="33" idx="2"/>
            <a:endCxn id="11" idx="0"/>
          </p:cNvCxnSpPr>
          <p:nvPr/>
        </p:nvCxnSpPr>
        <p:spPr>
          <a:xfrm flipH="1">
            <a:off x="8750113" y="3704911"/>
            <a:ext cx="2373" cy="539209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50DA2D7-5321-C782-AAA8-70008D5D8EB0}"/>
              </a:ext>
            </a:extLst>
          </p:cNvPr>
          <p:cNvSpPr/>
          <p:nvPr/>
        </p:nvSpPr>
        <p:spPr>
          <a:xfrm>
            <a:off x="8279967" y="2315001"/>
            <a:ext cx="1049965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498A5A2-DD75-04DF-0A80-6D33023126E4}"/>
              </a:ext>
            </a:extLst>
          </p:cNvPr>
          <p:cNvSpPr/>
          <p:nvPr/>
        </p:nvSpPr>
        <p:spPr>
          <a:xfrm>
            <a:off x="8344749" y="2858630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900296C-AD16-20AA-03BB-D5F941E72D3A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8804949" y="2582978"/>
            <a:ext cx="1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11AFC0C-CF7A-CDF2-EC1E-07215C078581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4867807" y="3704911"/>
            <a:ext cx="2144530" cy="837962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82450F8A-D658-9FDB-7531-BCD001B299A6}"/>
              </a:ext>
            </a:extLst>
          </p:cNvPr>
          <p:cNvSpPr/>
          <p:nvPr/>
        </p:nvSpPr>
        <p:spPr>
          <a:xfrm>
            <a:off x="7483204" y="5312444"/>
            <a:ext cx="2541886" cy="288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&amp; SAVE MODEL</a:t>
            </a:r>
            <a:endParaRPr lang="en-MY" sz="1600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7316FE7-4B6A-51D9-845B-5E9B0697049A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>
            <a:off x="8750113" y="4841626"/>
            <a:ext cx="4034" cy="4708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3DC5C35-9205-120B-F8B2-E5B5DF7F3564}"/>
              </a:ext>
            </a:extLst>
          </p:cNvPr>
          <p:cNvCxnSpPr>
            <a:cxnSpLocks/>
            <a:stCxn id="3" idx="0"/>
            <a:endCxn id="15" idx="2"/>
          </p:cNvCxnSpPr>
          <p:nvPr/>
        </p:nvCxnSpPr>
        <p:spPr>
          <a:xfrm flipH="1" flipV="1">
            <a:off x="3747501" y="2880197"/>
            <a:ext cx="1" cy="585265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5FB6E3BF-51CF-78EE-4FA8-C9102DF918B9}"/>
              </a:ext>
            </a:extLst>
          </p:cNvPr>
          <p:cNvSpPr/>
          <p:nvPr/>
        </p:nvSpPr>
        <p:spPr>
          <a:xfrm>
            <a:off x="32941" y="100051"/>
            <a:ext cx="2647950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2A37EF-F5AC-7249-4426-A2982CEBE2CF}"/>
              </a:ext>
            </a:extLst>
          </p:cNvPr>
          <p:cNvSpPr/>
          <p:nvPr/>
        </p:nvSpPr>
        <p:spPr>
          <a:xfrm>
            <a:off x="7219950" y="1616505"/>
            <a:ext cx="3076575" cy="4602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ML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E69D06-D05B-E33C-20DE-DEE14E7B6417}"/>
              </a:ext>
            </a:extLst>
          </p:cNvPr>
          <p:cNvCxnSpPr>
            <a:cxnSpLocks/>
            <a:stCxn id="113" idx="2"/>
            <a:endCxn id="17" idx="0"/>
          </p:cNvCxnSpPr>
          <p:nvPr/>
        </p:nvCxnSpPr>
        <p:spPr>
          <a:xfrm>
            <a:off x="8804949" y="3096226"/>
            <a:ext cx="0" cy="1919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AA6DD49-C5F6-6CF0-EE74-8AE9853DAD96}"/>
              </a:ext>
            </a:extLst>
          </p:cNvPr>
          <p:cNvSpPr/>
          <p:nvPr/>
        </p:nvSpPr>
        <p:spPr>
          <a:xfrm>
            <a:off x="8344749" y="3288206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AF898B-511A-8BE3-2405-5D4DB8B711CD}"/>
              </a:ext>
            </a:extLst>
          </p:cNvPr>
          <p:cNvCxnSpPr>
            <a:cxnSpLocks/>
            <a:endCxn id="78" idx="3"/>
          </p:cNvCxnSpPr>
          <p:nvPr/>
        </p:nvCxnSpPr>
        <p:spPr>
          <a:xfrm flipH="1">
            <a:off x="10025090" y="5447436"/>
            <a:ext cx="1626201" cy="90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AE22A58-A49F-1575-0792-64B0D9D0AB38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10296525" y="1846623"/>
            <a:ext cx="134156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E09BE44E-278F-D525-1A62-7D7F305002BB}"/>
              </a:ext>
            </a:extLst>
          </p:cNvPr>
          <p:cNvSpPr/>
          <p:nvPr/>
        </p:nvSpPr>
        <p:spPr>
          <a:xfrm>
            <a:off x="4563687" y="1767340"/>
            <a:ext cx="159049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RETRIVE </a:t>
            </a:r>
          </a:p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[new_equipment.pkl]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73EAE23-6086-36ED-261E-56A686A69272}"/>
              </a:ext>
            </a:extLst>
          </p:cNvPr>
          <p:cNvCxnSpPr>
            <a:cxnSpLocks/>
          </p:cNvCxnSpPr>
          <p:nvPr/>
        </p:nvCxnSpPr>
        <p:spPr>
          <a:xfrm>
            <a:off x="11629621" y="1846623"/>
            <a:ext cx="21670" cy="3600813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54D4ED0E-F043-6FB3-A181-423D5E2CB353}"/>
              </a:ext>
            </a:extLst>
          </p:cNvPr>
          <p:cNvSpPr/>
          <p:nvPr/>
        </p:nvSpPr>
        <p:spPr>
          <a:xfrm>
            <a:off x="8927206" y="1003952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B9C4718B-EAAE-1FF5-27BE-67E6A56FDCC6}"/>
              </a:ext>
            </a:extLst>
          </p:cNvPr>
          <p:cNvSpPr/>
          <p:nvPr/>
        </p:nvSpPr>
        <p:spPr>
          <a:xfrm>
            <a:off x="5930200" y="4408771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1B49EEA1-3DC4-FAA7-D7AD-A27D3A2B7FF8}"/>
              </a:ext>
            </a:extLst>
          </p:cNvPr>
          <p:cNvSpPr/>
          <p:nvPr/>
        </p:nvSpPr>
        <p:spPr>
          <a:xfrm>
            <a:off x="2064214" y="2930263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8BA7A56C-0C0C-6716-598D-309AEA4E6F81}"/>
              </a:ext>
            </a:extLst>
          </p:cNvPr>
          <p:cNvCxnSpPr>
            <a:cxnSpLocks/>
          </p:cNvCxnSpPr>
          <p:nvPr/>
        </p:nvCxnSpPr>
        <p:spPr>
          <a:xfrm flipH="1">
            <a:off x="10309727" y="1844183"/>
            <a:ext cx="1341564" cy="1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6B7DD5E5-DE9D-CEE8-4DB7-9518D1987AC7}"/>
              </a:ext>
            </a:extLst>
          </p:cNvPr>
          <p:cNvCxnSpPr>
            <a:cxnSpLocks/>
          </p:cNvCxnSpPr>
          <p:nvPr/>
        </p:nvCxnSpPr>
        <p:spPr>
          <a:xfrm>
            <a:off x="8804949" y="858058"/>
            <a:ext cx="12617" cy="758447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0D4CC24-FC09-A829-CBC8-1E9A9F8CE5B8}"/>
              </a:ext>
            </a:extLst>
          </p:cNvPr>
          <p:cNvSpPr txBox="1"/>
          <p:nvPr/>
        </p:nvSpPr>
        <p:spPr>
          <a:xfrm>
            <a:off x="146431" y="5138704"/>
            <a:ext cx="571057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Process flow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(1) Input - Model – Result Output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(2) Input - Model - Output (UNKNOWN) - Assign by user – New Equipment Data  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- Model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(3) New Equipment Data - Model - Update &amp; Save Model</a:t>
            </a:r>
            <a:endParaRPr lang="en-M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557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564E01-BAA1-3A89-DFDE-C6F7EABFD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DBE3FE-6883-A227-C95A-B32903D311D5}"/>
              </a:ext>
            </a:extLst>
          </p:cNvPr>
          <p:cNvSpPr/>
          <p:nvPr/>
        </p:nvSpPr>
        <p:spPr>
          <a:xfrm>
            <a:off x="5165025" y="247650"/>
            <a:ext cx="1861951" cy="492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b="1" dirty="0"/>
              <a:t>INPUT</a:t>
            </a:r>
          </a:p>
          <a:p>
            <a:pPr algn="ctr">
              <a:lnSpc>
                <a:spcPts val="1400"/>
              </a:lnSpc>
            </a:pPr>
            <a:r>
              <a:rPr lang="en-MY" sz="1100" dirty="0"/>
              <a:t>(Customer, Project, Device ID</a:t>
            </a:r>
            <a:r>
              <a:rPr lang="en-MY" sz="1400" b="1" dirty="0"/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D2779F-9925-E325-FD88-915EA0A5D0CD}"/>
              </a:ext>
            </a:extLst>
          </p:cNvPr>
          <p:cNvSpPr/>
          <p:nvPr/>
        </p:nvSpPr>
        <p:spPr>
          <a:xfrm>
            <a:off x="4741548" y="4728283"/>
            <a:ext cx="3186725" cy="5975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dirty="0"/>
              <a:t>RESULT OUTPUT</a:t>
            </a:r>
          </a:p>
          <a:p>
            <a:pPr algn="ctr"/>
            <a:r>
              <a:rPr lang="en-MY" sz="1100" dirty="0"/>
              <a:t>(Customer, Project, Device ID, Device Type, Section)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732A7E-BA3B-19E7-859F-398584523842}"/>
              </a:ext>
            </a:extLst>
          </p:cNvPr>
          <p:cNvSpPr/>
          <p:nvPr/>
        </p:nvSpPr>
        <p:spPr>
          <a:xfrm>
            <a:off x="3467858" y="2438352"/>
            <a:ext cx="1292938" cy="2360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  <a:r>
              <a:rPr lang="en-MY" dirty="0"/>
              <a:t>REFIX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8FCEA9-F455-6C16-BB8C-382255BE9894}"/>
              </a:ext>
            </a:extLst>
          </p:cNvPr>
          <p:cNvSpPr/>
          <p:nvPr/>
        </p:nvSpPr>
        <p:spPr>
          <a:xfrm>
            <a:off x="-16886" y="493985"/>
            <a:ext cx="3353985" cy="316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CREATE ON (18.03.2026)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B690BB-103E-7C11-F8EB-CB4FE85DE712}"/>
              </a:ext>
            </a:extLst>
          </p:cNvPr>
          <p:cNvSpPr/>
          <p:nvPr/>
        </p:nvSpPr>
        <p:spPr>
          <a:xfrm>
            <a:off x="1557482" y="4760255"/>
            <a:ext cx="1610264" cy="4825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UNKNOWN</a:t>
            </a:r>
          </a:p>
          <a:p>
            <a:pPr algn="ctr"/>
            <a:r>
              <a:rPr lang="en-MY" sz="1400" dirty="0"/>
              <a:t>= Assign by User</a:t>
            </a:r>
            <a:endParaRPr lang="en-MY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0C556A-6B3D-D4B1-78B9-6C841EAFB988}"/>
              </a:ext>
            </a:extLst>
          </p:cNvPr>
          <p:cNvSpPr/>
          <p:nvPr/>
        </p:nvSpPr>
        <p:spPr>
          <a:xfrm>
            <a:off x="294568" y="1463374"/>
            <a:ext cx="1419280" cy="6350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NEW LIST EQUIPMENT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EDB00B-031B-3558-188F-1B669068451F}"/>
              </a:ext>
            </a:extLst>
          </p:cNvPr>
          <p:cNvSpPr/>
          <p:nvPr/>
        </p:nvSpPr>
        <p:spPr>
          <a:xfrm>
            <a:off x="9950620" y="1463374"/>
            <a:ext cx="1734622" cy="6432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UPDATE &amp; SAVE MODEL</a:t>
            </a:r>
            <a:endParaRPr lang="en-MY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1B2585-DD4F-3D4E-50BA-E8FFF493CA24}"/>
              </a:ext>
            </a:extLst>
          </p:cNvPr>
          <p:cNvSpPr/>
          <p:nvPr/>
        </p:nvSpPr>
        <p:spPr>
          <a:xfrm>
            <a:off x="6935647" y="2487111"/>
            <a:ext cx="1095037" cy="2360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en-MY" dirty="0"/>
              <a:t>UFFIX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E56FC65-EC4A-F4C3-1F0B-8600C821E9A3}"/>
              </a:ext>
            </a:extLst>
          </p:cNvPr>
          <p:cNvSpPr/>
          <p:nvPr/>
        </p:nvSpPr>
        <p:spPr>
          <a:xfrm>
            <a:off x="3490801" y="3928843"/>
            <a:ext cx="1383224" cy="2936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Device Type</a:t>
            </a:r>
            <a:endParaRPr lang="en-MY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3BE331-0BED-83CF-CF1D-87ACB76C2168}"/>
              </a:ext>
            </a:extLst>
          </p:cNvPr>
          <p:cNvSpPr/>
          <p:nvPr/>
        </p:nvSpPr>
        <p:spPr>
          <a:xfrm>
            <a:off x="5865017" y="4014458"/>
            <a:ext cx="920400" cy="2375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Section</a:t>
            </a:r>
            <a:endParaRPr lang="en-MY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645B15-6F0B-6044-7386-8E89F162D29E}"/>
              </a:ext>
            </a:extLst>
          </p:cNvPr>
          <p:cNvSpPr/>
          <p:nvPr/>
        </p:nvSpPr>
        <p:spPr>
          <a:xfrm>
            <a:off x="2428252" y="3053537"/>
            <a:ext cx="2991706" cy="686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SGD Classifier Hybrid Model </a:t>
            </a:r>
          </a:p>
          <a:p>
            <a:pPr algn="ctr"/>
            <a:r>
              <a:rPr lang="en-US" sz="1100" dirty="0"/>
              <a:t>- SGD Classifier </a:t>
            </a:r>
          </a:p>
          <a:p>
            <a:pPr algn="ctr"/>
            <a:r>
              <a:rPr lang="en-US" sz="1100" dirty="0"/>
              <a:t>- Composite Similarity</a:t>
            </a:r>
            <a:endParaRPr lang="en-MY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E9E6D6B-4ED8-1A25-F0A2-3C19373F09A8}"/>
              </a:ext>
            </a:extLst>
          </p:cNvPr>
          <p:cNvSpPr/>
          <p:nvPr/>
        </p:nvSpPr>
        <p:spPr>
          <a:xfrm>
            <a:off x="5726456" y="3011355"/>
            <a:ext cx="1197522" cy="2679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XGBoost</a:t>
            </a:r>
            <a:endParaRPr lang="en-MY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0AB3AE-E39A-368D-FB9D-83C2C861DB2F}"/>
              </a:ext>
            </a:extLst>
          </p:cNvPr>
          <p:cNvSpPr/>
          <p:nvPr/>
        </p:nvSpPr>
        <p:spPr>
          <a:xfrm>
            <a:off x="2316480" y="1909006"/>
            <a:ext cx="7195820" cy="2576751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b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2A7B0DA-C509-7765-1F33-5207CD1D1245}"/>
              </a:ext>
            </a:extLst>
          </p:cNvPr>
          <p:cNvCxnSpPr>
            <a:cxnSpLocks/>
            <a:stCxn id="48" idx="2"/>
            <a:endCxn id="12" idx="0"/>
          </p:cNvCxnSpPr>
          <p:nvPr/>
        </p:nvCxnSpPr>
        <p:spPr>
          <a:xfrm flipH="1">
            <a:off x="4114327" y="2019592"/>
            <a:ext cx="1995049" cy="41876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DDA82C7-6A79-0834-F36D-29F4D6E7F1DD}"/>
              </a:ext>
            </a:extLst>
          </p:cNvPr>
          <p:cNvCxnSpPr>
            <a:cxnSpLocks/>
            <a:stCxn id="48" idx="2"/>
            <a:endCxn id="28" idx="0"/>
          </p:cNvCxnSpPr>
          <p:nvPr/>
        </p:nvCxnSpPr>
        <p:spPr>
          <a:xfrm>
            <a:off x="6109376" y="2019592"/>
            <a:ext cx="1373790" cy="46751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74F79B6-40C9-023A-07D5-066E844897F7}"/>
              </a:ext>
            </a:extLst>
          </p:cNvPr>
          <p:cNvCxnSpPr>
            <a:cxnSpLocks/>
          </p:cNvCxnSpPr>
          <p:nvPr/>
        </p:nvCxnSpPr>
        <p:spPr>
          <a:xfrm>
            <a:off x="4126392" y="2685576"/>
            <a:ext cx="0" cy="36796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0086AB6-6520-9248-985A-10E16372D3A3}"/>
              </a:ext>
            </a:extLst>
          </p:cNvPr>
          <p:cNvCxnSpPr>
            <a:cxnSpLocks/>
          </p:cNvCxnSpPr>
          <p:nvPr/>
        </p:nvCxnSpPr>
        <p:spPr>
          <a:xfrm>
            <a:off x="4156249" y="3740057"/>
            <a:ext cx="0" cy="17771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73FA1BA-16B6-28C7-5B08-E0BAED39A806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6334911" y="2723137"/>
            <a:ext cx="1148255" cy="28743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BE64327-A594-A0F9-48EE-AA8619A6F8A2}"/>
              </a:ext>
            </a:extLst>
          </p:cNvPr>
          <p:cNvCxnSpPr>
            <a:cxnSpLocks/>
            <a:stCxn id="32" idx="2"/>
            <a:endCxn id="30" idx="0"/>
          </p:cNvCxnSpPr>
          <p:nvPr/>
        </p:nvCxnSpPr>
        <p:spPr>
          <a:xfrm>
            <a:off x="6325217" y="3279332"/>
            <a:ext cx="0" cy="73512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AE5BD1BD-5875-2B33-B60D-A218A3069F3D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>
            <a:off x="1713848" y="1780905"/>
            <a:ext cx="3719486" cy="856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133E43C-356A-5352-D8C3-A2937C629299}"/>
              </a:ext>
            </a:extLst>
          </p:cNvPr>
          <p:cNvCxnSpPr>
            <a:cxnSpLocks/>
            <a:stCxn id="48" idx="3"/>
            <a:endCxn id="5" idx="1"/>
          </p:cNvCxnSpPr>
          <p:nvPr/>
        </p:nvCxnSpPr>
        <p:spPr>
          <a:xfrm flipV="1">
            <a:off x="6785417" y="1784995"/>
            <a:ext cx="3165203" cy="447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1E9559C-A8DD-7924-369A-4F9D2B5100A2}"/>
              </a:ext>
            </a:extLst>
          </p:cNvPr>
          <p:cNvCxnSpPr>
            <a:cxnSpLocks/>
            <a:stCxn id="4" idx="2"/>
            <a:endCxn id="48" idx="0"/>
          </p:cNvCxnSpPr>
          <p:nvPr/>
        </p:nvCxnSpPr>
        <p:spPr>
          <a:xfrm>
            <a:off x="6096001" y="740321"/>
            <a:ext cx="13375" cy="81903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2A45D876-29DD-ADBB-A514-B337E73BD17F}"/>
              </a:ext>
            </a:extLst>
          </p:cNvPr>
          <p:cNvSpPr/>
          <p:nvPr/>
        </p:nvSpPr>
        <p:spPr>
          <a:xfrm>
            <a:off x="8078855" y="2992364"/>
            <a:ext cx="1049965" cy="2679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XGBoost</a:t>
            </a:r>
            <a:endParaRPr lang="en-MY" sz="1400" dirty="0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DF429FB-317C-A832-F169-749B844BBDB8}"/>
              </a:ext>
            </a:extLst>
          </p:cNvPr>
          <p:cNvCxnSpPr>
            <a:cxnSpLocks/>
            <a:stCxn id="28" idx="2"/>
            <a:endCxn id="104" idx="0"/>
          </p:cNvCxnSpPr>
          <p:nvPr/>
        </p:nvCxnSpPr>
        <p:spPr>
          <a:xfrm>
            <a:off x="7483166" y="2723137"/>
            <a:ext cx="1120672" cy="26922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93B1C0D6-006B-1509-41E2-1A8A5DB4876E}"/>
              </a:ext>
            </a:extLst>
          </p:cNvPr>
          <p:cNvSpPr/>
          <p:nvPr/>
        </p:nvSpPr>
        <p:spPr>
          <a:xfrm>
            <a:off x="8143637" y="4014458"/>
            <a:ext cx="920400" cy="2375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Cluster</a:t>
            </a:r>
            <a:endParaRPr lang="en-MY" dirty="0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B45A4A9C-F38C-B936-9507-8477A826CD37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8603837" y="3260341"/>
            <a:ext cx="1" cy="75411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7B601146-C144-E99D-306E-58E1A32A5C69}"/>
              </a:ext>
            </a:extLst>
          </p:cNvPr>
          <p:cNvCxnSpPr>
            <a:cxnSpLocks/>
            <a:stCxn id="113" idx="2"/>
            <a:endCxn id="11" idx="0"/>
          </p:cNvCxnSpPr>
          <p:nvPr/>
        </p:nvCxnSpPr>
        <p:spPr>
          <a:xfrm flipH="1">
            <a:off x="6334911" y="4252054"/>
            <a:ext cx="2268926" cy="47622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F6E48D5-461B-7674-CB2D-7511BCDD475B}"/>
              </a:ext>
            </a:extLst>
          </p:cNvPr>
          <p:cNvCxnSpPr>
            <a:cxnSpLocks/>
            <a:stCxn id="30" idx="2"/>
            <a:endCxn id="11" idx="0"/>
          </p:cNvCxnSpPr>
          <p:nvPr/>
        </p:nvCxnSpPr>
        <p:spPr>
          <a:xfrm>
            <a:off x="6325217" y="4252054"/>
            <a:ext cx="9694" cy="47622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05503350-D559-ED07-9550-A4DA89247889}"/>
              </a:ext>
            </a:extLst>
          </p:cNvPr>
          <p:cNvCxnSpPr>
            <a:cxnSpLocks/>
            <a:stCxn id="29" idx="2"/>
            <a:endCxn id="11" idx="0"/>
          </p:cNvCxnSpPr>
          <p:nvPr/>
        </p:nvCxnSpPr>
        <p:spPr>
          <a:xfrm>
            <a:off x="4182413" y="4222463"/>
            <a:ext cx="2152498" cy="50582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D50F6575-8D14-BD88-0EDB-A1125532BE4A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3167746" y="5001553"/>
            <a:ext cx="1573802" cy="2548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6D2373B1-E611-C850-DC58-D34188C6A52A}"/>
              </a:ext>
            </a:extLst>
          </p:cNvPr>
          <p:cNvSpPr/>
          <p:nvPr/>
        </p:nvSpPr>
        <p:spPr>
          <a:xfrm>
            <a:off x="5063967" y="5786026"/>
            <a:ext cx="2541886" cy="2880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UPDATE &amp; SAVE MODEL</a:t>
            </a:r>
            <a:endParaRPr lang="en-MY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17BB654-31A9-9DA1-013B-55718E83DB1D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 flipH="1">
            <a:off x="6334910" y="5325789"/>
            <a:ext cx="1" cy="46023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514C51B-723B-B72A-BF4E-6D5BBA83199D}"/>
              </a:ext>
            </a:extLst>
          </p:cNvPr>
          <p:cNvGrpSpPr/>
          <p:nvPr/>
        </p:nvGrpSpPr>
        <p:grpSpPr>
          <a:xfrm>
            <a:off x="972920" y="2098436"/>
            <a:ext cx="584562" cy="2928602"/>
            <a:chOff x="972920" y="2098436"/>
            <a:chExt cx="584562" cy="2928602"/>
          </a:xfrm>
        </p:grpSpPr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309169AF-E4E6-DB2D-A6ED-C259FEEE4471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 flipV="1">
              <a:off x="998294" y="2098436"/>
              <a:ext cx="5914" cy="292860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044D5271-77C4-A1AC-4D57-C76A08FF9854}"/>
                </a:ext>
              </a:extLst>
            </p:cNvPr>
            <p:cNvCxnSpPr>
              <a:cxnSpLocks/>
              <a:endCxn id="3" idx="1"/>
            </p:cNvCxnSpPr>
            <p:nvPr/>
          </p:nvCxnSpPr>
          <p:spPr>
            <a:xfrm>
              <a:off x="972920" y="5001552"/>
              <a:ext cx="584562" cy="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0" name="Rectangle 99">
            <a:extLst>
              <a:ext uri="{FF2B5EF4-FFF2-40B4-BE49-F238E27FC236}">
                <a16:creationId xmlns:a16="http://schemas.microsoft.com/office/drawing/2014/main" id="{0BE8E226-C0D9-AB17-D117-9DA0B9C24248}"/>
              </a:ext>
            </a:extLst>
          </p:cNvPr>
          <p:cNvSpPr/>
          <p:nvPr/>
        </p:nvSpPr>
        <p:spPr>
          <a:xfrm>
            <a:off x="45677" y="163290"/>
            <a:ext cx="3353985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EB8FBA6-85B0-906E-1C53-A1A2A2A14FA0}"/>
              </a:ext>
            </a:extLst>
          </p:cNvPr>
          <p:cNvSpPr/>
          <p:nvPr/>
        </p:nvSpPr>
        <p:spPr>
          <a:xfrm>
            <a:off x="5433334" y="1559355"/>
            <a:ext cx="1352083" cy="4602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ML MODEL</a:t>
            </a:r>
            <a:endParaRPr lang="en-MY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0781810-DEC4-76B2-2724-39A10B68A4D9}"/>
              </a:ext>
            </a:extLst>
          </p:cNvPr>
          <p:cNvSpPr/>
          <p:nvPr/>
        </p:nvSpPr>
        <p:spPr>
          <a:xfrm>
            <a:off x="-16887" y="730035"/>
            <a:ext cx="3353985" cy="316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(20.0.2026)</a:t>
            </a:r>
          </a:p>
        </p:txBody>
      </p:sp>
    </p:spTree>
    <p:extLst>
      <p:ext uri="{BB962C8B-B14F-4D97-AF65-F5344CB8AC3E}">
        <p14:creationId xmlns:p14="http://schemas.microsoft.com/office/powerpoint/2010/main" val="1523249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FF50E8-C2B0-9D88-2CE4-13199422C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6CFAA6D5-A483-F1D3-F473-4EB5FF643CAF}"/>
              </a:ext>
            </a:extLst>
          </p:cNvPr>
          <p:cNvSpPr txBox="1"/>
          <p:nvPr/>
        </p:nvSpPr>
        <p:spPr>
          <a:xfrm>
            <a:off x="295275" y="6446936"/>
            <a:ext cx="79248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1200" dirty="0" err="1"/>
              <a:t>Filepath</a:t>
            </a:r>
            <a:r>
              <a:rPr lang="en-MY" sz="1200" dirty="0"/>
              <a:t>  : "C:\Users\sitisyaziyah\Documents\Device_Identifier\Dummy data\</a:t>
            </a:r>
            <a:r>
              <a:rPr lang="en-MY" sz="1200" dirty="0" err="1"/>
              <a:t>Oiltek</a:t>
            </a:r>
            <a:r>
              <a:rPr lang="en-MY" sz="1200" dirty="0"/>
              <a:t> - structured data.xlsx“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83CBDE-1BA2-B6EE-EF7D-4C4EAB60B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445" y="1801640"/>
            <a:ext cx="7049475" cy="429098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05E45FF-768C-F053-BFFD-3176BF216B90}"/>
              </a:ext>
            </a:extLst>
          </p:cNvPr>
          <p:cNvSpPr/>
          <p:nvPr/>
        </p:nvSpPr>
        <p:spPr>
          <a:xfrm>
            <a:off x="4498993" y="966447"/>
            <a:ext cx="2369561" cy="7334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P</a:t>
            </a:r>
            <a:r>
              <a:rPr lang="en-MY" sz="1400" dirty="0"/>
              <a:t>ROJECT 		: A1706</a:t>
            </a:r>
          </a:p>
          <a:p>
            <a:r>
              <a:rPr lang="en-MY" sz="1400" dirty="0"/>
              <a:t>CUSTOMER 		: </a:t>
            </a:r>
            <a:r>
              <a:rPr lang="en-MY" sz="1400" b="1" dirty="0"/>
              <a:t>OILTEK</a:t>
            </a:r>
          </a:p>
          <a:p>
            <a:r>
              <a:rPr lang="en-MY" sz="1400" dirty="0"/>
              <a:t>TOTAL DEVICE 	: 130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873DC8-6958-BDE3-BB2B-08C22786164B}"/>
              </a:ext>
            </a:extLst>
          </p:cNvPr>
          <p:cNvSpPr/>
          <p:nvPr/>
        </p:nvSpPr>
        <p:spPr>
          <a:xfrm>
            <a:off x="2270791" y="156793"/>
            <a:ext cx="7376129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OILTEK – USING IN TRAINING</a:t>
            </a:r>
          </a:p>
        </p:txBody>
      </p:sp>
    </p:spTree>
    <p:extLst>
      <p:ext uri="{BB962C8B-B14F-4D97-AF65-F5344CB8AC3E}">
        <p14:creationId xmlns:p14="http://schemas.microsoft.com/office/powerpoint/2010/main" val="3555587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614F27-55BB-84B5-7057-34EE7C3A1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1C56C2-738D-4F87-75F6-C287081A0B04}"/>
              </a:ext>
            </a:extLst>
          </p:cNvPr>
          <p:cNvSpPr txBox="1"/>
          <p:nvPr/>
        </p:nvSpPr>
        <p:spPr>
          <a:xfrm>
            <a:off x="3310526" y="3013502"/>
            <a:ext cx="56079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UPDATE 31/07/2026</a:t>
            </a:r>
            <a:endParaRPr lang="en-MY" sz="4800" dirty="0"/>
          </a:p>
        </p:txBody>
      </p:sp>
    </p:spTree>
    <p:extLst>
      <p:ext uri="{BB962C8B-B14F-4D97-AF65-F5344CB8AC3E}">
        <p14:creationId xmlns:p14="http://schemas.microsoft.com/office/powerpoint/2010/main" val="4323250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8C113C-B87D-CD4B-1931-679B6E557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4D15BE-FBEA-3EF9-2626-521D3F2BAD5A}"/>
              </a:ext>
            </a:extLst>
          </p:cNvPr>
          <p:cNvSpPr txBox="1"/>
          <p:nvPr/>
        </p:nvSpPr>
        <p:spPr>
          <a:xfrm>
            <a:off x="5338406" y="147579"/>
            <a:ext cx="19678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UPDATE</a:t>
            </a:r>
            <a:endParaRPr lang="en-MY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2011B46-21E8-AB21-3693-8E49ED9C54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807611"/>
              </p:ext>
            </p:extLst>
          </p:nvPr>
        </p:nvGraphicFramePr>
        <p:xfrm>
          <a:off x="385482" y="1095529"/>
          <a:ext cx="11506151" cy="31271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4072824541"/>
                    </a:ext>
                  </a:extLst>
                </a:gridCol>
                <a:gridCol w="4229075">
                  <a:extLst>
                    <a:ext uri="{9D8B030D-6E8A-4147-A177-3AD203B41FA5}">
                      <a16:colId xmlns:a16="http://schemas.microsoft.com/office/drawing/2014/main" val="2332927466"/>
                    </a:ext>
                  </a:extLst>
                </a:gridCol>
                <a:gridCol w="2876538">
                  <a:extLst>
                    <a:ext uri="{9D8B030D-6E8A-4147-A177-3AD203B41FA5}">
                      <a16:colId xmlns:a16="http://schemas.microsoft.com/office/drawing/2014/main" val="3256781175"/>
                    </a:ext>
                  </a:extLst>
                </a:gridCol>
                <a:gridCol w="2876538">
                  <a:extLst>
                    <a:ext uri="{9D8B030D-6E8A-4147-A177-3AD203B41FA5}">
                      <a16:colId xmlns:a16="http://schemas.microsoft.com/office/drawing/2014/main" val="1731047570"/>
                    </a:ext>
                  </a:extLst>
                </a:gridCol>
              </a:tblGrid>
              <a:tr h="707119">
                <a:tc>
                  <a:txBody>
                    <a:bodyPr/>
                    <a:lstStyle/>
                    <a:p>
                      <a:pPr algn="ctr"/>
                      <a:r>
                        <a:rPr lang="en-MY" sz="2000" b="1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Progress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Details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Status</a:t>
                      </a:r>
                      <a:endParaRPr lang="en-MY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419256"/>
                  </a:ext>
                </a:extLst>
              </a:tr>
              <a:tr h="707119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2000" dirty="0"/>
                        <a:t>31/07/26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1. Draft flowchart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Stage 1- Stage 3  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Pending on Stanley review</a:t>
                      </a:r>
                      <a:endParaRPr lang="en-MY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288696"/>
                  </a:ext>
                </a:extLst>
              </a:tr>
              <a:tr h="78037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31/07/26</a:t>
                      </a:r>
                    </a:p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2. Using Dummy data for logic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Refer to the slide “</a:t>
                      </a:r>
                      <a:r>
                        <a:rPr lang="en-US" sz="2000" b="1" dirty="0"/>
                        <a:t>Movement of dataset [UDPATE 04/08/26]</a:t>
                      </a:r>
                      <a:r>
                        <a:rPr lang="en-US" sz="2000" dirty="0"/>
                        <a:t>”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Completed </a:t>
                      </a:r>
                      <a:r>
                        <a:rPr lang="en-MY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968784"/>
                  </a:ext>
                </a:extLst>
              </a:tr>
              <a:tr h="7071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31/07/26</a:t>
                      </a:r>
                    </a:p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2000" dirty="0"/>
                        <a:t>3. </a:t>
                      </a:r>
                      <a:r>
                        <a:rPr lang="en-MY" sz="2000"/>
                        <a:t>Cleaning README.md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Synch with </a:t>
                      </a:r>
                      <a:r>
                        <a:rPr lang="en-US" sz="2000" dirty="0" err="1"/>
                        <a:t>devops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Completed </a:t>
                      </a:r>
                      <a:r>
                        <a:rPr lang="en-MY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  <a:p>
                      <a:endParaRPr lang="en-M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9267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063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9B7289-C22B-CEC8-2E59-1F5B5CBD5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EE185B-50E1-542E-A641-62A2876DAA51}"/>
              </a:ext>
            </a:extLst>
          </p:cNvPr>
          <p:cNvSpPr txBox="1"/>
          <p:nvPr/>
        </p:nvSpPr>
        <p:spPr>
          <a:xfrm>
            <a:off x="4266968" y="262162"/>
            <a:ext cx="4477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UPDATE 04/08/26</a:t>
            </a:r>
            <a:endParaRPr lang="en-MY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DA3272E-DC3E-A661-9364-C0EE26E9F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172594"/>
              </p:ext>
            </p:extLst>
          </p:nvPr>
        </p:nvGraphicFramePr>
        <p:xfrm>
          <a:off x="396558" y="1078903"/>
          <a:ext cx="11398884" cy="50951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32242">
                  <a:extLst>
                    <a:ext uri="{9D8B030D-6E8A-4147-A177-3AD203B41FA5}">
                      <a16:colId xmlns:a16="http://schemas.microsoft.com/office/drawing/2014/main" val="401461631"/>
                    </a:ext>
                  </a:extLst>
                </a:gridCol>
                <a:gridCol w="4877078">
                  <a:extLst>
                    <a:ext uri="{9D8B030D-6E8A-4147-A177-3AD203B41FA5}">
                      <a16:colId xmlns:a16="http://schemas.microsoft.com/office/drawing/2014/main" val="2332927466"/>
                    </a:ext>
                  </a:extLst>
                </a:gridCol>
                <a:gridCol w="2896205">
                  <a:extLst>
                    <a:ext uri="{9D8B030D-6E8A-4147-A177-3AD203B41FA5}">
                      <a16:colId xmlns:a16="http://schemas.microsoft.com/office/drawing/2014/main" val="3256781175"/>
                    </a:ext>
                  </a:extLst>
                </a:gridCol>
                <a:gridCol w="2193359">
                  <a:extLst>
                    <a:ext uri="{9D8B030D-6E8A-4147-A177-3AD203B41FA5}">
                      <a16:colId xmlns:a16="http://schemas.microsoft.com/office/drawing/2014/main" val="1731047570"/>
                    </a:ext>
                  </a:extLst>
                </a:gridCol>
              </a:tblGrid>
              <a:tr h="462221">
                <a:tc>
                  <a:txBody>
                    <a:bodyPr/>
                    <a:lstStyle/>
                    <a:p>
                      <a:pPr algn="ctr"/>
                      <a:r>
                        <a:rPr lang="en-MY" sz="2000" b="1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Progress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Details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Status</a:t>
                      </a:r>
                      <a:endParaRPr lang="en-MY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419256"/>
                  </a:ext>
                </a:extLst>
              </a:tr>
              <a:tr h="707119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2000" dirty="0"/>
                        <a:t>04/08/26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buAutoNum type="arabicPeriod"/>
                      </a:pPr>
                      <a:r>
                        <a:rPr lang="en-US" sz="2000" dirty="0"/>
                        <a:t>Update full flowchart ML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2000" dirty="0"/>
                        <a:t>Source : flowchart ML developmemt.xlsx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Model development</a:t>
                      </a:r>
                    </a:p>
                    <a:p>
                      <a:r>
                        <a:rPr lang="en-US" sz="2000" dirty="0"/>
                        <a:t>Model application</a:t>
                      </a:r>
                    </a:p>
                    <a:p>
                      <a:r>
                        <a:rPr lang="en-US" sz="2000" dirty="0"/>
                        <a:t>Result of model evaluation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On drafting </a:t>
                      </a:r>
                      <a:r>
                        <a:rPr lang="en-US" sz="2000" dirty="0"/>
                        <a:t>– preparation for training</a:t>
                      </a:r>
                      <a:endParaRPr lang="en-M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288696"/>
                  </a:ext>
                </a:extLst>
              </a:tr>
              <a:tr h="4800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04/08/26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2. Draft flowchart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Stage 1- Stage 3  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Pending on Stanley review</a:t>
                      </a:r>
                      <a:endParaRPr lang="en-MY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968784"/>
                  </a:ext>
                </a:extLst>
              </a:tr>
              <a:tr h="70711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04/08/26</a:t>
                      </a: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Source dataset for </a:t>
                      </a:r>
                      <a:r>
                        <a:rPr lang="en-US" sz="2000" b="1" dirty="0"/>
                        <a:t>TRAINING MODEL</a:t>
                      </a:r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en-US" sz="2000" b="1" dirty="0"/>
                        <a:t>SGD Classifier : 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US" sz="1600" dirty="0"/>
                        <a:t>C:\Users\sitisyaziyah\Documents\Device_Identifier_MainFolder\Dataset\output\masterfile.csv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MY" sz="2000" b="1" dirty="0" err="1"/>
                        <a:t>XGBoost</a:t>
                      </a:r>
                      <a:endParaRPr lang="en-MY" sz="2000" b="1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C:</a:t>
                      </a:r>
                      <a:r>
                        <a:rPr lang="en-MY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r>
                        <a:rPr lang="en-MY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Users\sitisyaziyah\source</a:t>
                      </a:r>
                      <a:r>
                        <a:rPr lang="en-MY" sz="14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\r</a:t>
                      </a:r>
                      <a:r>
                        <a:rPr lang="en-MY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epos\DeviceCluster\1.training_model\dummy_data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SGD Classifier : </a:t>
                      </a:r>
                    </a:p>
                    <a:p>
                      <a:r>
                        <a:rPr lang="en-MY" sz="2000" dirty="0"/>
                        <a:t>Wilmar, </a:t>
                      </a:r>
                      <a:r>
                        <a:rPr lang="en-MY" sz="2000" dirty="0" err="1"/>
                        <a:t>Oiltek</a:t>
                      </a:r>
                      <a:r>
                        <a:rPr lang="en-MY" sz="2000" dirty="0"/>
                        <a:t>, UGS</a:t>
                      </a:r>
                    </a:p>
                    <a:p>
                      <a:endParaRPr lang="en-MY" sz="20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XG Boost: </a:t>
                      </a:r>
                    </a:p>
                    <a:p>
                      <a:r>
                        <a:rPr lang="en-MY" sz="2000" b="1" dirty="0">
                          <a:highlight>
                            <a:srgbClr val="FFFF00"/>
                          </a:highlight>
                        </a:rPr>
                        <a:t>Wilmar, </a:t>
                      </a:r>
                      <a:r>
                        <a:rPr lang="en-MY" sz="2000" b="1" dirty="0" err="1">
                          <a:highlight>
                            <a:srgbClr val="FFFF00"/>
                          </a:highlight>
                        </a:rPr>
                        <a:t>Oiltek</a:t>
                      </a:r>
                      <a:r>
                        <a:rPr lang="en-MY" sz="2000" b="1" dirty="0">
                          <a:highlight>
                            <a:srgbClr val="FFFF00"/>
                          </a:highlight>
                        </a:rPr>
                        <a:t>, UGS (edit!!)</a:t>
                      </a:r>
                    </a:p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Completed </a:t>
                      </a:r>
                      <a:r>
                        <a:rPr lang="en-MY" sz="1800" b="1" i="0" kern="1200" dirty="0">
                          <a:solidFill>
                            <a:schemeClr val="tx1"/>
                          </a:solidFill>
                          <a:effectLst/>
                          <a:highlight>
                            <a:srgbClr val="00FF00"/>
                          </a:highlight>
                          <a:latin typeface="+mn-lt"/>
                          <a:ea typeface="+mn-ea"/>
                          <a:cs typeface="+mn-cs"/>
                        </a:rPr>
                        <a:t>✅</a:t>
                      </a:r>
                    </a:p>
                    <a:p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926794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04/08/26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3. Logic </a:t>
                      </a:r>
                      <a:r>
                        <a:rPr lang="en-US" sz="2000" dirty="0" err="1"/>
                        <a:t>dll</a:t>
                      </a:r>
                      <a:r>
                        <a:rPr lang="en-US" sz="2000" dirty="0"/>
                        <a:t> development in visual studio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In progressing </a:t>
                      </a:r>
                    </a:p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(start : 5/8/2026)</a:t>
                      </a:r>
                      <a:endParaRPr lang="en-MY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039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9430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0A6E28-33C1-A980-D209-65EA9C322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F361D5-9992-2F6E-C922-35F2C5ED6E39}"/>
              </a:ext>
            </a:extLst>
          </p:cNvPr>
          <p:cNvSpPr txBox="1"/>
          <p:nvPr/>
        </p:nvSpPr>
        <p:spPr>
          <a:xfrm>
            <a:off x="4266968" y="262162"/>
            <a:ext cx="4477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UPDATE 05/08/26</a:t>
            </a:r>
            <a:endParaRPr lang="en-MY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82EF32A-22DD-A218-B782-6C041282D8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264295"/>
              </p:ext>
            </p:extLst>
          </p:nvPr>
        </p:nvGraphicFramePr>
        <p:xfrm>
          <a:off x="396558" y="1078903"/>
          <a:ext cx="11398884" cy="30835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2595">
                  <a:extLst>
                    <a:ext uri="{9D8B030D-6E8A-4147-A177-3AD203B41FA5}">
                      <a16:colId xmlns:a16="http://schemas.microsoft.com/office/drawing/2014/main" val="2131101823"/>
                    </a:ext>
                  </a:extLst>
                </a:gridCol>
                <a:gridCol w="6917929">
                  <a:extLst>
                    <a:ext uri="{9D8B030D-6E8A-4147-A177-3AD203B41FA5}">
                      <a16:colId xmlns:a16="http://schemas.microsoft.com/office/drawing/2014/main" val="2332927466"/>
                    </a:ext>
                  </a:extLst>
                </a:gridCol>
                <a:gridCol w="1514659">
                  <a:extLst>
                    <a:ext uri="{9D8B030D-6E8A-4147-A177-3AD203B41FA5}">
                      <a16:colId xmlns:a16="http://schemas.microsoft.com/office/drawing/2014/main" val="3256781175"/>
                    </a:ext>
                  </a:extLst>
                </a:gridCol>
                <a:gridCol w="1623701">
                  <a:extLst>
                    <a:ext uri="{9D8B030D-6E8A-4147-A177-3AD203B41FA5}">
                      <a16:colId xmlns:a16="http://schemas.microsoft.com/office/drawing/2014/main" val="1731047570"/>
                    </a:ext>
                  </a:extLst>
                </a:gridCol>
              </a:tblGrid>
              <a:tr h="462221">
                <a:tc>
                  <a:txBody>
                    <a:bodyPr/>
                    <a:lstStyle/>
                    <a:p>
                      <a:pPr algn="ctr"/>
                      <a:r>
                        <a:rPr lang="en-MY" sz="2000" b="1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Progress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Details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Status</a:t>
                      </a:r>
                      <a:endParaRPr lang="en-MY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419256"/>
                  </a:ext>
                </a:extLst>
              </a:tr>
              <a:tr h="808762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2000" dirty="0"/>
                        <a:t>05/08/26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/>
                        <a:t>Decision of 2 </a:t>
                      </a:r>
                      <a:r>
                        <a:rPr lang="en-US" sz="2000" dirty="0" err="1"/>
                        <a:t>methode</a:t>
                      </a:r>
                      <a:r>
                        <a:rPr lang="en-US" sz="2000" dirty="0"/>
                        <a:t> in cluster logic :</a:t>
                      </a:r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en-US" sz="2000" dirty="0"/>
                        <a:t>Max (highest predicted cluster) choose it independently </a:t>
                      </a:r>
                    </a:p>
                    <a:p>
                      <a:pPr marL="342900" indent="-342900">
                        <a:buFontTx/>
                        <a:buChar char="-"/>
                      </a:pPr>
                      <a:r>
                        <a:rPr lang="en-US" sz="2000" dirty="0"/>
                        <a:t>Constraint based similarity (consider the percentage first then select the most fit one)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In planning </a:t>
                      </a:r>
                    </a:p>
                    <a:p>
                      <a:r>
                        <a:rPr lang="en-US" dirty="0"/>
                        <a:t>Not execute in coding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288696"/>
                  </a:ext>
                </a:extLst>
              </a:tr>
              <a:tr h="4800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05/08/26</a:t>
                      </a:r>
                    </a:p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Logic </a:t>
                      </a:r>
                      <a:r>
                        <a:rPr lang="en-US" sz="2000" dirty="0" err="1"/>
                        <a:t>dll</a:t>
                      </a:r>
                      <a:r>
                        <a:rPr lang="en-US" sz="2000" dirty="0"/>
                        <a:t> development in visual studio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In progressing </a:t>
                      </a:r>
                    </a:p>
                    <a:p>
                      <a:r>
                        <a:rPr lang="en-US" sz="2000" dirty="0">
                          <a:solidFill>
                            <a:srgbClr val="FF0000"/>
                          </a:solidFill>
                        </a:rPr>
                        <a:t>(start : 5/8/2026)</a:t>
                      </a:r>
                      <a:endParaRPr lang="en-MY" sz="2000" dirty="0">
                        <a:solidFill>
                          <a:srgbClr val="FF0000"/>
                        </a:solidFill>
                      </a:endParaRPr>
                    </a:p>
                    <a:p>
                      <a:endParaRPr lang="en-MY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9687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7450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18CEF4-4974-5CA2-F4D2-846E2325C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E9AEDC-0371-CF15-7F99-40589C3D4E1D}"/>
              </a:ext>
            </a:extLst>
          </p:cNvPr>
          <p:cNvSpPr txBox="1"/>
          <p:nvPr/>
        </p:nvSpPr>
        <p:spPr>
          <a:xfrm>
            <a:off x="4266968" y="262162"/>
            <a:ext cx="4477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UPDATE 17/08/26</a:t>
            </a:r>
            <a:endParaRPr lang="en-MY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2DBCB02-C780-88E3-7338-F97D8CCD24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7888777"/>
              </p:ext>
            </p:extLst>
          </p:nvPr>
        </p:nvGraphicFramePr>
        <p:xfrm>
          <a:off x="396558" y="1078903"/>
          <a:ext cx="11398884" cy="52171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9842">
                  <a:extLst>
                    <a:ext uri="{9D8B030D-6E8A-4147-A177-3AD203B41FA5}">
                      <a16:colId xmlns:a16="http://schemas.microsoft.com/office/drawing/2014/main" val="2764151871"/>
                    </a:ext>
                  </a:extLst>
                </a:gridCol>
                <a:gridCol w="6069106">
                  <a:extLst>
                    <a:ext uri="{9D8B030D-6E8A-4147-A177-3AD203B41FA5}">
                      <a16:colId xmlns:a16="http://schemas.microsoft.com/office/drawing/2014/main" val="2332927466"/>
                    </a:ext>
                  </a:extLst>
                </a:gridCol>
                <a:gridCol w="2581835">
                  <a:extLst>
                    <a:ext uri="{9D8B030D-6E8A-4147-A177-3AD203B41FA5}">
                      <a16:colId xmlns:a16="http://schemas.microsoft.com/office/drawing/2014/main" val="3256781175"/>
                    </a:ext>
                  </a:extLst>
                </a:gridCol>
                <a:gridCol w="1468101">
                  <a:extLst>
                    <a:ext uri="{9D8B030D-6E8A-4147-A177-3AD203B41FA5}">
                      <a16:colId xmlns:a16="http://schemas.microsoft.com/office/drawing/2014/main" val="1731047570"/>
                    </a:ext>
                  </a:extLst>
                </a:gridCol>
              </a:tblGrid>
              <a:tr h="462221">
                <a:tc>
                  <a:txBody>
                    <a:bodyPr/>
                    <a:lstStyle/>
                    <a:p>
                      <a:pPr algn="ctr"/>
                      <a:r>
                        <a:rPr lang="en-MY" sz="2000" b="1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Progress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Details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Status</a:t>
                      </a:r>
                      <a:endParaRPr lang="en-MY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419256"/>
                  </a:ext>
                </a:extLst>
              </a:tr>
              <a:tr h="808762">
                <a:tc rowSpan="2"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2000" dirty="0"/>
                        <a:t>17/08/26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/>
                        <a:t>Build up new pipeline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v"/>
                      </a:pPr>
                      <a:r>
                        <a:rPr lang="en-US" sz="2000" dirty="0"/>
                        <a:t>EQUIPMENT TYPE = Logic function – no model involve</a:t>
                      </a:r>
                    </a:p>
                    <a:p>
                      <a:pPr marL="342900" indent="-342900">
                        <a:buFontTx/>
                        <a:buChar char="-"/>
                      </a:pP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2000" dirty="0"/>
                        <a:t>Script “predict_equipment.py”</a:t>
                      </a:r>
                    </a:p>
                    <a:p>
                      <a:r>
                        <a:rPr lang="en-MY" sz="2000" dirty="0"/>
                        <a:t>Integrated inside C#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highlight>
                            <a:srgbClr val="00FF00"/>
                          </a:highlight>
                        </a:rPr>
                        <a:t>Complete in pipeline C#</a:t>
                      </a:r>
                      <a:endParaRPr lang="en-MY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288696"/>
                  </a:ext>
                </a:extLst>
              </a:tr>
              <a:tr h="480015">
                <a:tc vMerge="1"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US" sz="2000" dirty="0"/>
                        <a:t>Section and Cluster = </a:t>
                      </a:r>
                      <a:r>
                        <a:rPr lang="en-US" sz="2000" dirty="0" err="1"/>
                        <a:t>XGBoost</a:t>
                      </a:r>
                      <a:r>
                        <a:rPr lang="en-US" sz="2000" dirty="0"/>
                        <a:t> Model</a:t>
                      </a:r>
                    </a:p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2000" dirty="0"/>
                        <a:t>Proceed as previous model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MY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968784"/>
                  </a:ext>
                </a:extLst>
              </a:tr>
              <a:tr h="707119">
                <a:tc>
                  <a:txBody>
                    <a:bodyPr/>
                    <a:lstStyle/>
                    <a:p>
                      <a:r>
                        <a:rPr lang="en-MY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Handle JSON file in </a:t>
                      </a:r>
                      <a:r>
                        <a:rPr lang="en-MY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c#</a:t>
                      </a:r>
                      <a:endParaRPr lang="en-MY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MY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A9998_devices.json = Name based on the project from SQL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MY" b="1" dirty="0" err="1"/>
                        <a:t>unallocated_device_ids.json</a:t>
                      </a:r>
                      <a:r>
                        <a:rPr lang="en-MY" dirty="0"/>
                        <a:t> </a:t>
                      </a:r>
                      <a:r>
                        <a:rPr lang="en-MY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</a:t>
                      </a:r>
                      <a:r>
                        <a:rPr lang="en-MY" dirty="0"/>
                        <a:t>Single file, Dedupe key and unique (</a:t>
                      </a:r>
                      <a:r>
                        <a:rPr lang="en-MY" dirty="0" err="1"/>
                        <a:t>DeviceId</a:t>
                      </a:r>
                      <a:r>
                        <a:rPr lang="en-MY" dirty="0"/>
                        <a:t> + </a:t>
                      </a:r>
                      <a:r>
                        <a:rPr lang="en-MY" dirty="0" err="1"/>
                        <a:t>ProjectCode</a:t>
                      </a:r>
                      <a:r>
                        <a:rPr lang="en-MY" dirty="0"/>
                        <a:t>), Status lifecycle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MY" b="1" dirty="0" err="1"/>
                        <a:t>floating_deviceid.json</a:t>
                      </a:r>
                      <a:r>
                        <a:rPr lang="en-MY" dirty="0"/>
                        <a:t> = Used in quota allocation, contain percentage prediction of cluster, Single file</a:t>
                      </a:r>
                      <a:endParaRPr lang="en-MY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Complete in pipeline C#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  <a:p>
                      <a:endParaRPr lang="en-M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926794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18/08/26</a:t>
                      </a:r>
                    </a:p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2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Handle JSON file in </a:t>
                      </a:r>
                      <a:r>
                        <a:rPr lang="en-MY" sz="20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c#</a:t>
                      </a:r>
                      <a:endParaRPr lang="en-MY" sz="20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MY" sz="2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A9998_devices.json               = model.dll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MY" sz="2000" b="1" dirty="0" err="1"/>
                        <a:t>unallocated_device_ids.json</a:t>
                      </a:r>
                      <a:r>
                        <a:rPr lang="en-MY" sz="2000" dirty="0"/>
                        <a:t> </a:t>
                      </a:r>
                      <a:r>
                        <a:rPr lang="en-MY" sz="2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 logic.dll</a:t>
                      </a:r>
                      <a:endParaRPr lang="en-MY" sz="2000" dirty="0"/>
                    </a:p>
                    <a:p>
                      <a:pPr marL="285750" indent="-285750">
                        <a:buFont typeface="Wingdings" panose="05000000000000000000" pitchFamily="2" charset="2"/>
                        <a:buChar char="v"/>
                      </a:pPr>
                      <a:r>
                        <a:rPr lang="en-MY" sz="2000" b="1" dirty="0" err="1"/>
                        <a:t>floating_deviceid.json</a:t>
                      </a:r>
                      <a:r>
                        <a:rPr lang="en-MY" sz="2000" dirty="0"/>
                        <a:t>          = logic.dll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Complete in pipeline C#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  <a:p>
                      <a:endParaRPr lang="en-MY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0393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881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4AB38A-E6EB-1AA3-D409-6ACA93095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01485D-69BC-608C-5D06-ED83988F2B2E}"/>
              </a:ext>
            </a:extLst>
          </p:cNvPr>
          <p:cNvSpPr txBox="1"/>
          <p:nvPr/>
        </p:nvSpPr>
        <p:spPr>
          <a:xfrm>
            <a:off x="4266968" y="262162"/>
            <a:ext cx="4477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UPDATE 19/08/26</a:t>
            </a:r>
            <a:endParaRPr lang="en-MY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727185F-046E-311D-0BC1-FED8DBA8B8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653658"/>
              </p:ext>
            </p:extLst>
          </p:nvPr>
        </p:nvGraphicFramePr>
        <p:xfrm>
          <a:off x="253122" y="1105797"/>
          <a:ext cx="11398884" cy="47050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9842">
                  <a:extLst>
                    <a:ext uri="{9D8B030D-6E8A-4147-A177-3AD203B41FA5}">
                      <a16:colId xmlns:a16="http://schemas.microsoft.com/office/drawing/2014/main" val="2764151871"/>
                    </a:ext>
                  </a:extLst>
                </a:gridCol>
                <a:gridCol w="6069106">
                  <a:extLst>
                    <a:ext uri="{9D8B030D-6E8A-4147-A177-3AD203B41FA5}">
                      <a16:colId xmlns:a16="http://schemas.microsoft.com/office/drawing/2014/main" val="2332927466"/>
                    </a:ext>
                  </a:extLst>
                </a:gridCol>
                <a:gridCol w="2581835">
                  <a:extLst>
                    <a:ext uri="{9D8B030D-6E8A-4147-A177-3AD203B41FA5}">
                      <a16:colId xmlns:a16="http://schemas.microsoft.com/office/drawing/2014/main" val="3256781175"/>
                    </a:ext>
                  </a:extLst>
                </a:gridCol>
                <a:gridCol w="1468101">
                  <a:extLst>
                    <a:ext uri="{9D8B030D-6E8A-4147-A177-3AD203B41FA5}">
                      <a16:colId xmlns:a16="http://schemas.microsoft.com/office/drawing/2014/main" val="1731047570"/>
                    </a:ext>
                  </a:extLst>
                </a:gridCol>
              </a:tblGrid>
              <a:tr h="462221">
                <a:tc>
                  <a:txBody>
                    <a:bodyPr/>
                    <a:lstStyle/>
                    <a:p>
                      <a:pPr algn="ctr"/>
                      <a:r>
                        <a:rPr lang="en-MY" sz="2000" b="1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Progress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Details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Status</a:t>
                      </a:r>
                      <a:endParaRPr lang="en-MY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419256"/>
                  </a:ext>
                </a:extLst>
              </a:tr>
              <a:tr h="707119">
                <a:tc>
                  <a:txBody>
                    <a:bodyPr/>
                    <a:lstStyle/>
                    <a:p>
                      <a:r>
                        <a:rPr lang="en-MY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Change dbo.</a:t>
                      </a:r>
                      <a:r>
                        <a:rPr lang="en-MY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DummySection2OiltekA9998 into </a:t>
                      </a:r>
                      <a:r>
                        <a:rPr lang="en-MY" sz="18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dbo.DummyTestingData</a:t>
                      </a:r>
                      <a:r>
                        <a:rPr lang="en-MY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(1 project)</a:t>
                      </a:r>
                      <a:endParaRPr lang="en-MY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Complete change for all related path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  <a:p>
                      <a:endParaRPr lang="en-MY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1926794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Add class function in </a:t>
                      </a:r>
                      <a:r>
                        <a:rPr lang="en-US" sz="2000" dirty="0" err="1"/>
                        <a:t>PythonSQL</a:t>
                      </a:r>
                      <a:r>
                        <a:rPr lang="en-US" sz="2000" dirty="0"/>
                        <a:t> [</a:t>
                      </a:r>
                      <a:r>
                        <a:rPr lang="en-US" sz="2000" dirty="0" err="1"/>
                        <a:t>LoadProjectDataAsync</a:t>
                      </a:r>
                      <a:r>
                        <a:rPr lang="en-US" sz="2000" dirty="0"/>
                        <a:t>]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9039389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2000" dirty="0"/>
                        <a:t>Add multiple project with many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525841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19/08/26</a:t>
                      </a:r>
                      <a:endParaRPr kumimoji="0" lang="en-MY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Check </a:t>
                      </a:r>
                      <a:r>
                        <a:rPr lang="en-US" sz="2000" dirty="0" err="1"/>
                        <a:t>json</a:t>
                      </a:r>
                      <a:r>
                        <a:rPr lang="en-US" sz="2000" dirty="0"/>
                        <a:t> make sure unique for 1 entry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MY" sz="20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unallocated_device_ids.json</a:t>
                      </a:r>
                      <a:endParaRPr lang="en-MY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MY" sz="20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floating_deviceid.json</a:t>
                      </a:r>
                      <a:endParaRPr lang="en-MY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9919462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19/08/26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Pattern hardcoded in assign cluster –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GetDraftQuotas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PROBLEM : current example only applicable for SCETION 2 only.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ACTION : need to create dummy pattern for cluster quota allocation for ALL the section = by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CustomerCode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TYPE FILE : SQL [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dbo.PatternCluster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]</a:t>
                      </a:r>
                      <a:endParaRPr lang="en-MY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811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8323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EE936E-7DB2-ED25-8B50-F5EE90D66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9C0D96-2408-2461-3DCC-2FE24422B204}"/>
              </a:ext>
            </a:extLst>
          </p:cNvPr>
          <p:cNvSpPr txBox="1"/>
          <p:nvPr/>
        </p:nvSpPr>
        <p:spPr>
          <a:xfrm>
            <a:off x="4266968" y="262162"/>
            <a:ext cx="4477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UPDATE 20/08/26</a:t>
            </a:r>
            <a:endParaRPr lang="en-MY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351EC3-0C0E-52AB-92B5-838E5ACF56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736482"/>
              </p:ext>
            </p:extLst>
          </p:nvPr>
        </p:nvGraphicFramePr>
        <p:xfrm>
          <a:off x="253122" y="1105797"/>
          <a:ext cx="11398884" cy="50147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9842">
                  <a:extLst>
                    <a:ext uri="{9D8B030D-6E8A-4147-A177-3AD203B41FA5}">
                      <a16:colId xmlns:a16="http://schemas.microsoft.com/office/drawing/2014/main" val="2764151871"/>
                    </a:ext>
                  </a:extLst>
                </a:gridCol>
                <a:gridCol w="6069106">
                  <a:extLst>
                    <a:ext uri="{9D8B030D-6E8A-4147-A177-3AD203B41FA5}">
                      <a16:colId xmlns:a16="http://schemas.microsoft.com/office/drawing/2014/main" val="2332927466"/>
                    </a:ext>
                  </a:extLst>
                </a:gridCol>
                <a:gridCol w="2581835">
                  <a:extLst>
                    <a:ext uri="{9D8B030D-6E8A-4147-A177-3AD203B41FA5}">
                      <a16:colId xmlns:a16="http://schemas.microsoft.com/office/drawing/2014/main" val="3256781175"/>
                    </a:ext>
                  </a:extLst>
                </a:gridCol>
                <a:gridCol w="1468101">
                  <a:extLst>
                    <a:ext uri="{9D8B030D-6E8A-4147-A177-3AD203B41FA5}">
                      <a16:colId xmlns:a16="http://schemas.microsoft.com/office/drawing/2014/main" val="1731047570"/>
                    </a:ext>
                  </a:extLst>
                </a:gridCol>
              </a:tblGrid>
              <a:tr h="462221">
                <a:tc>
                  <a:txBody>
                    <a:bodyPr/>
                    <a:lstStyle/>
                    <a:p>
                      <a:pPr algn="ctr"/>
                      <a:r>
                        <a:rPr lang="en-MY" sz="2000" b="1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Progress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Details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Status</a:t>
                      </a:r>
                      <a:endParaRPr lang="en-MY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419256"/>
                  </a:ext>
                </a:extLst>
              </a:tr>
              <a:tr h="432225">
                <a:tc>
                  <a:txBody>
                    <a:bodyPr/>
                    <a:lstStyle/>
                    <a:p>
                      <a:r>
                        <a:rPr lang="en-MY" sz="2000" dirty="0"/>
                        <a:t>21/08/26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Setup the output console aps for fulfilled and vacant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559121"/>
                  </a:ext>
                </a:extLst>
              </a:tr>
              <a:tr h="4322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dirty="0"/>
                        <a:t>21/08/26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Sync </a:t>
                      </a:r>
                      <a:r>
                        <a:rPr lang="en-US" sz="2000" dirty="0" err="1"/>
                        <a:t>mindmap</a:t>
                      </a:r>
                      <a:r>
                        <a:rPr lang="en-US" sz="2000" dirty="0"/>
                        <a:t> and coding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156964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dirty="0"/>
                        <a:t>21/08/26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Add </a:t>
                      </a:r>
                      <a:r>
                        <a:rPr lang="en-US" sz="2000" dirty="0" err="1"/>
                        <a:t>dbo.DeviceReviewQueue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268440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dirty="0"/>
                        <a:t>21/08/26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Setup output </a:t>
                      </a:r>
                      <a:r>
                        <a:rPr lang="en-US" sz="2000" dirty="0" err="1"/>
                        <a:t>dbo</a:t>
                      </a:r>
                      <a:r>
                        <a:rPr lang="en-US" sz="2000" dirty="0"/>
                        <a:t> in SQL – </a:t>
                      </a:r>
                      <a:r>
                        <a:rPr lang="en-US" sz="2000" dirty="0" err="1"/>
                        <a:t>dbo.OutputDeviceAssignment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796841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dirty="0"/>
                        <a:t>21/08/26</a:t>
                      </a:r>
                      <a:endParaRPr lang="en-MY" sz="20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Insert Output </a:t>
                      </a:r>
                      <a:r>
                        <a:rPr lang="en-MY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db</a:t>
                      </a:r>
                      <a:r>
                        <a:rPr lang="en-MY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SQL return back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377886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26/08/26</a:t>
                      </a:r>
                      <a:endParaRPr lang="en-MY" sz="20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Question : Should I save in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json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or SQL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If inside JSON, how the UI can detect and relate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Suggestion = save in SQL so that easier to map</a:t>
                      </a:r>
                      <a:endParaRPr lang="en-MY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2961280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rgbClr val="FF0000"/>
                          </a:solidFill>
                        </a:rPr>
                        <a:t>PENDING</a:t>
                      </a:r>
                      <a:endParaRPr lang="en-MY" sz="20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Using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Nuget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to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andover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the </a:t>
                      </a:r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dll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library</a:t>
                      </a:r>
                      <a:endParaRPr lang="en-MY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FF0000"/>
                          </a:solidFill>
                        </a:rPr>
                        <a:t>PENDING</a:t>
                      </a:r>
                      <a:endParaRPr lang="en-MY" sz="2000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230252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27/08/26</a:t>
                      </a:r>
                      <a:endParaRPr lang="en-MY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Draft system architecture of ML</a:t>
                      </a:r>
                      <a:endParaRPr lang="en-MY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509140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28/08/26</a:t>
                      </a:r>
                      <a:endParaRPr lang="en-MY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8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Create flowchart.md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422384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1800" b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2287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4071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E3F0BD-C1A5-47FF-D239-F18BB0C5C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6BF3E9-51AC-8DEB-2D9A-4B99F3CC0225}"/>
              </a:ext>
            </a:extLst>
          </p:cNvPr>
          <p:cNvSpPr txBox="1"/>
          <p:nvPr/>
        </p:nvSpPr>
        <p:spPr>
          <a:xfrm>
            <a:off x="4266968" y="262162"/>
            <a:ext cx="4477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UPDATE 01/09/26</a:t>
            </a:r>
            <a:endParaRPr lang="en-MY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23C4FE1-EEBB-6A51-2ADC-60EE6DAE4E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4998548"/>
              </p:ext>
            </p:extLst>
          </p:nvPr>
        </p:nvGraphicFramePr>
        <p:xfrm>
          <a:off x="271050" y="908493"/>
          <a:ext cx="11669936" cy="59486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0275">
                  <a:extLst>
                    <a:ext uri="{9D8B030D-6E8A-4147-A177-3AD203B41FA5}">
                      <a16:colId xmlns:a16="http://schemas.microsoft.com/office/drawing/2014/main" val="2764151871"/>
                    </a:ext>
                  </a:extLst>
                </a:gridCol>
                <a:gridCol w="7966398">
                  <a:extLst>
                    <a:ext uri="{9D8B030D-6E8A-4147-A177-3AD203B41FA5}">
                      <a16:colId xmlns:a16="http://schemas.microsoft.com/office/drawing/2014/main" val="2332927466"/>
                    </a:ext>
                  </a:extLst>
                </a:gridCol>
                <a:gridCol w="1073811">
                  <a:extLst>
                    <a:ext uri="{9D8B030D-6E8A-4147-A177-3AD203B41FA5}">
                      <a16:colId xmlns:a16="http://schemas.microsoft.com/office/drawing/2014/main" val="3256781175"/>
                    </a:ext>
                  </a:extLst>
                </a:gridCol>
                <a:gridCol w="1319452">
                  <a:extLst>
                    <a:ext uri="{9D8B030D-6E8A-4147-A177-3AD203B41FA5}">
                      <a16:colId xmlns:a16="http://schemas.microsoft.com/office/drawing/2014/main" val="1731047570"/>
                    </a:ext>
                  </a:extLst>
                </a:gridCol>
              </a:tblGrid>
              <a:tr h="462221">
                <a:tc>
                  <a:txBody>
                    <a:bodyPr/>
                    <a:lstStyle/>
                    <a:p>
                      <a:pPr algn="ctr"/>
                      <a:r>
                        <a:rPr lang="en-MY" sz="2000" b="1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Progress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Details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Status</a:t>
                      </a:r>
                      <a:endParaRPr lang="en-MY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419256"/>
                  </a:ext>
                </a:extLst>
              </a:tr>
              <a:tr h="432225">
                <a:tc>
                  <a:txBody>
                    <a:bodyPr/>
                    <a:lstStyle/>
                    <a:p>
                      <a:r>
                        <a:rPr lang="en-MY" sz="2000" dirty="0"/>
                        <a:t>01/09/26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2000" dirty="0"/>
                        <a:t>Run thru the PC server port 8000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CMD files 1 click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hlinkClick r:id="rId2" action="ppaction://hlinkfile"/>
                        </a:rPr>
                        <a:t>"C:\Users\sitisyaziyah\source\repos\DeviceCluster\Prediction_service\DeviceClusterServiceApp\</a:t>
                      </a:r>
                      <a:r>
                        <a:rPr lang="en-US" sz="1600" b="1" dirty="0">
                          <a:highlight>
                            <a:srgbClr val="000080"/>
                          </a:highlight>
                          <a:hlinkClick r:id="rId2" action="ppaction://hlinkfile"/>
                        </a:rPr>
                        <a:t>run-service-app.cmd</a:t>
                      </a:r>
                      <a:r>
                        <a:rPr lang="en-US" sz="1600" dirty="0"/>
                        <a:t>“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exe files : </a:t>
                      </a:r>
                    </a:p>
                    <a:p>
                      <a:r>
                        <a:rPr lang="en-MY" sz="1600" dirty="0">
                          <a:solidFill>
                            <a:srgbClr val="ED87A6"/>
                          </a:solidFill>
                          <a:hlinkClick r:id="rId3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"C:\Users\sitisyaziyah\source\repos\DeviceCluster\Prediction_service\DeviceClusterServiceApp\bin\Debug\net10.0-windows\win-x64\</a:t>
                      </a:r>
                      <a:r>
                        <a:rPr lang="en-MY" sz="1600" b="1" dirty="0">
                          <a:solidFill>
                            <a:schemeClr val="tx2"/>
                          </a:solidFill>
                          <a:highlight>
                            <a:srgbClr val="FF00FF"/>
                          </a:highlight>
                          <a:hlinkClick r:id="rId3" action="ppaction://hlinkfile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DeviceClusterServiceApp.exe</a:t>
                      </a:r>
                      <a:r>
                        <a:rPr lang="en-MY" sz="1600" dirty="0">
                          <a:highlight>
                            <a:srgbClr val="FF00FF"/>
                          </a:highlight>
                        </a:rPr>
                        <a:t>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559121"/>
                  </a:ext>
                </a:extLst>
              </a:tr>
              <a:tr h="4322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dirty="0"/>
                        <a:t>01/09/26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Server </a:t>
                      </a:r>
                      <a:r>
                        <a:rPr lang="en-MY" sz="2000" dirty="0"/>
                        <a:t>: </a:t>
                      </a:r>
                      <a:r>
                        <a:rPr lang="en-MY" sz="2000" b="1" dirty="0"/>
                        <a:t>128.100.8.213</a:t>
                      </a:r>
                    </a:p>
                    <a:p>
                      <a:pPr marL="342900" indent="-342900">
                        <a:buFont typeface="Wingdings" panose="05000000000000000000" pitchFamily="2" charset="2"/>
                        <a:buChar char="v"/>
                      </a:pPr>
                      <a:r>
                        <a:rPr lang="en-MY" sz="2000" b="1" dirty="0"/>
                        <a:t>Port : 80 </a:t>
                      </a:r>
                      <a:r>
                        <a:rPr lang="en-MY" sz="2000" dirty="0"/>
                        <a:t>[Azure </a:t>
                      </a:r>
                      <a:r>
                        <a:rPr lang="en-MY" sz="2000" dirty="0" err="1"/>
                        <a:t>Devops</a:t>
                      </a:r>
                      <a:r>
                        <a:rPr lang="en-MY" sz="2000" dirty="0"/>
                        <a:t>] </a:t>
                      </a:r>
                      <a:endParaRPr lang="en-MY" sz="2000" b="1" dirty="0"/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MY" sz="2000" b="1" dirty="0"/>
                        <a:t>Port : 8000 </a:t>
                      </a:r>
                      <a:r>
                        <a:rPr lang="en-MY" sz="2000" dirty="0"/>
                        <a:t>[ML_SERVICE_URL] </a:t>
                      </a:r>
                      <a:r>
                        <a:rPr lang="en-MY" sz="2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Service : http://</a:t>
                      </a:r>
                      <a:r>
                        <a:rPr lang="en-MY" sz="2000" b="1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128.100.8.213:8000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MY" sz="1600" dirty="0"/>
                        <a:t>Python 3.13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MY" sz="1600" dirty="0"/>
                        <a:t>ML package - </a:t>
                      </a:r>
                      <a:r>
                        <a:rPr lang="en-MY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scikit-learn</a:t>
                      </a:r>
                      <a:r>
                        <a:rPr lang="en-MY" sz="1600" dirty="0"/>
                        <a:t>, </a:t>
                      </a:r>
                      <a:r>
                        <a:rPr lang="en-MY" sz="16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lang="en-MY" sz="1600" dirty="0"/>
                        <a:t>, </a:t>
                      </a:r>
                      <a:r>
                        <a:rPr lang="en-MY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pandas</a:t>
                      </a:r>
                      <a:r>
                        <a:rPr lang="en-MY" sz="1600" dirty="0"/>
                        <a:t>, </a:t>
                      </a:r>
                      <a:r>
                        <a:rPr lang="en-MY" sz="16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numpy</a:t>
                      </a:r>
                      <a:r>
                        <a:rPr lang="en-MY" sz="1600" dirty="0"/>
                        <a:t>, </a:t>
                      </a:r>
                      <a:r>
                        <a:rPr lang="en-MY" sz="16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scipy</a:t>
                      </a:r>
                      <a:r>
                        <a:rPr lang="en-MY" sz="1600" dirty="0"/>
                        <a:t>, </a:t>
                      </a:r>
                      <a:r>
                        <a:rPr lang="en-MY" sz="16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joblib</a:t>
                      </a:r>
                      <a:r>
                        <a:rPr lang="en-MY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MY" sz="16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fastapi</a:t>
                      </a:r>
                      <a:r>
                        <a:rPr lang="en-MY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MY" sz="16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uvicorn</a:t>
                      </a:r>
                      <a:endParaRPr lang="en-MY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156964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dirty="0"/>
                        <a:t>01/09/26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2000" dirty="0"/>
                        <a:t>Finalize DeviceIdentiferProgress.pptx</a:t>
                      </a:r>
                    </a:p>
                    <a:p>
                      <a:r>
                        <a:rPr lang="en-MY" sz="2000" dirty="0" err="1"/>
                        <a:t>Filepath</a:t>
                      </a:r>
                      <a:r>
                        <a:rPr lang="en-MY" sz="2000" dirty="0"/>
                        <a:t> : </a:t>
                      </a:r>
                      <a:r>
                        <a:rPr lang="en-MY" sz="1400" dirty="0"/>
                        <a:t>"C:\Users\sitisyaziyah\source\repos\DeviceCluster\handoff\</a:t>
                      </a:r>
                      <a:r>
                        <a:rPr lang="en-MY" sz="1400" b="1" dirty="0">
                          <a:highlight>
                            <a:srgbClr val="FFFF00"/>
                          </a:highlight>
                        </a:rPr>
                        <a:t>DeviceIdentifierProgress.pptx</a:t>
                      </a:r>
                      <a:r>
                        <a:rPr lang="en-MY" sz="1400" dirty="0"/>
                        <a:t>"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268440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dirty="0"/>
                        <a:t>01/09/26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2000" dirty="0"/>
                        <a:t>Register the ML service as a Windows service (via NSSM)</a:t>
                      </a:r>
                    </a:p>
                    <a:p>
                      <a:pPr lvl="0" rtl="0"/>
                      <a:r>
                        <a:rPr lang="en-MY" sz="1100" dirty="0"/>
                        <a:t>Register the ML service as a Windows service using NSSMCurrently started by hand in a PowerShell window on </a:t>
                      </a:r>
                      <a:r>
                        <a:rPr lang="en-MY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SSSBPD01</a:t>
                      </a:r>
                      <a:r>
                        <a:rPr lang="en-MY" sz="1100" dirty="0"/>
                        <a:t> — it stops when that window closes, when the user logs off, or when the server reboots</a:t>
                      </a:r>
                    </a:p>
                    <a:p>
                      <a:pPr lvl="0" rtl="0"/>
                      <a:r>
                        <a:rPr lang="en-MY" sz="1100" dirty="0"/>
                        <a:t>NSSM wraps </a:t>
                      </a:r>
                      <a:r>
                        <a:rPr lang="en-MY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python -m </a:t>
                      </a:r>
                      <a:r>
                        <a:rPr lang="en-MY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uvicorn</a:t>
                      </a:r>
                      <a:r>
                        <a:rPr lang="en-MY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MY" sz="105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service:app</a:t>
                      </a:r>
                      <a:r>
                        <a:rPr lang="en-MY" sz="10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--host 0.0.0.0 --port 8000</a:t>
                      </a:r>
                      <a:r>
                        <a:rPr lang="en-MY" sz="1100" dirty="0"/>
                        <a:t> so Windows starts it automatically at boot and restarts it if it fails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796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9012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C9D5CE-63BD-6CB1-BA52-041D6DFC5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47267A-4613-BF9E-FD68-45BD90451905}"/>
              </a:ext>
            </a:extLst>
          </p:cNvPr>
          <p:cNvSpPr txBox="1"/>
          <p:nvPr/>
        </p:nvSpPr>
        <p:spPr>
          <a:xfrm>
            <a:off x="4266968" y="262162"/>
            <a:ext cx="4477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UPDATE 02/09/26</a:t>
            </a:r>
            <a:endParaRPr lang="en-MY" sz="36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EF4027A-1CAF-05DC-1805-77218F127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9067430"/>
              </p:ext>
            </p:extLst>
          </p:nvPr>
        </p:nvGraphicFramePr>
        <p:xfrm>
          <a:off x="253122" y="1105797"/>
          <a:ext cx="11398884" cy="448558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9842">
                  <a:extLst>
                    <a:ext uri="{9D8B030D-6E8A-4147-A177-3AD203B41FA5}">
                      <a16:colId xmlns:a16="http://schemas.microsoft.com/office/drawing/2014/main" val="2764151871"/>
                    </a:ext>
                  </a:extLst>
                </a:gridCol>
                <a:gridCol w="7593107">
                  <a:extLst>
                    <a:ext uri="{9D8B030D-6E8A-4147-A177-3AD203B41FA5}">
                      <a16:colId xmlns:a16="http://schemas.microsoft.com/office/drawing/2014/main" val="2332927466"/>
                    </a:ext>
                  </a:extLst>
                </a:gridCol>
                <a:gridCol w="1057834">
                  <a:extLst>
                    <a:ext uri="{9D8B030D-6E8A-4147-A177-3AD203B41FA5}">
                      <a16:colId xmlns:a16="http://schemas.microsoft.com/office/drawing/2014/main" val="3256781175"/>
                    </a:ext>
                  </a:extLst>
                </a:gridCol>
                <a:gridCol w="1468101">
                  <a:extLst>
                    <a:ext uri="{9D8B030D-6E8A-4147-A177-3AD203B41FA5}">
                      <a16:colId xmlns:a16="http://schemas.microsoft.com/office/drawing/2014/main" val="1731047570"/>
                    </a:ext>
                  </a:extLst>
                </a:gridCol>
              </a:tblGrid>
              <a:tr h="462221">
                <a:tc>
                  <a:txBody>
                    <a:bodyPr/>
                    <a:lstStyle/>
                    <a:p>
                      <a:pPr algn="ctr"/>
                      <a:r>
                        <a:rPr lang="en-MY" sz="2000" b="1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Progress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Details</a:t>
                      </a:r>
                      <a:endParaRPr lang="en-MY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/>
                        <a:t>Status</a:t>
                      </a:r>
                      <a:endParaRPr lang="en-MY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419256"/>
                  </a:ext>
                </a:extLst>
              </a:tr>
              <a:tr h="432225">
                <a:tc>
                  <a:txBody>
                    <a:bodyPr/>
                    <a:lstStyle/>
                    <a:p>
                      <a:r>
                        <a:rPr lang="en-MY" sz="2000" dirty="0"/>
                        <a:t>02/09/26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Revise documentation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MY" sz="2000" dirty="0"/>
                        <a:t>handoff\DeviceIdentifier-API-FullReference.docx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MY" sz="2000" dirty="0"/>
                        <a:t>handoff\DeviceIdentifier-API-QuickReference.docx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559121"/>
                  </a:ext>
                </a:extLst>
              </a:tr>
              <a:tr h="43222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2000" dirty="0"/>
                        <a:t>02/09/26</a:t>
                      </a:r>
                    </a:p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Revise </a:t>
                      </a:r>
                      <a:r>
                        <a:rPr lang="en-US" sz="2000" b="1" dirty="0"/>
                        <a:t>slide presentation </a:t>
                      </a:r>
                      <a:r>
                        <a:rPr lang="en-US" sz="2000" dirty="0"/>
                        <a:t>PPTX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MY" sz="2000" dirty="0"/>
                        <a:t>handoff\DeviceCluster-Briefing.pptx</a:t>
                      </a:r>
                    </a:p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MY" sz="2000" dirty="0"/>
                        <a:t>handoff\DeviceIdentifierProgress.pptx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156964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02/09/26</a:t>
                      </a:r>
                      <a:endParaRPr kumimoji="0" lang="en-MY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2000" dirty="0"/>
                        <a:t>Entry point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MY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DevicePipeline.RunAsync</a:t>
                      </a:r>
                      <a:r>
                        <a:rPr lang="en-MY" sz="2000" b="1" dirty="0"/>
                        <a:t> </a:t>
                      </a:r>
                      <a:r>
                        <a:rPr lang="en-MY" sz="2000" dirty="0"/>
                        <a:t>in </a:t>
                      </a:r>
                      <a:r>
                        <a:rPr lang="en-MY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Logic.dll</a:t>
                      </a:r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0268440"/>
                  </a:ext>
                </a:extLst>
              </a:tr>
              <a:tr h="3794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MY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02/09/26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2000" dirty="0"/>
                        <a:t>End point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MY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DevicePipelineResult</a:t>
                      </a:r>
                      <a:r>
                        <a:rPr lang="en-MY" sz="2000" dirty="0"/>
                        <a:t> with the assigned, unknown and unallocated devices, and writes the same results to </a:t>
                      </a:r>
                      <a:r>
                        <a:rPr lang="en-MY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dbo.OutputDeviceAssignment</a:t>
                      </a:r>
                      <a:r>
                        <a:rPr lang="en-MY" sz="2000" b="1" dirty="0"/>
                        <a:t> </a:t>
                      </a:r>
                      <a:r>
                        <a:rPr lang="en-MY" sz="2000" dirty="0"/>
                        <a:t>and </a:t>
                      </a:r>
                      <a:r>
                        <a:rPr lang="en-MY" sz="18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dbo.DeviceReviewQueue</a:t>
                      </a:r>
                      <a:r>
                        <a:rPr lang="en-MY" sz="20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highlight>
                            <a:srgbClr val="00FF00"/>
                          </a:highlight>
                        </a:rPr>
                        <a:t>Synch in Git</a:t>
                      </a: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MY" sz="2000" dirty="0">
                        <a:highlight>
                          <a:srgbClr val="00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57968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65598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074516-6CC0-6962-F4FB-B6AF3A65E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21DEBC-6CE4-50BB-ED04-2005E53AA1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45" r="13134"/>
          <a:stretch>
            <a:fillRect/>
          </a:stretch>
        </p:blipFill>
        <p:spPr>
          <a:xfrm>
            <a:off x="2458459" y="304800"/>
            <a:ext cx="7456506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381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BEB389-9CEC-34F1-DD03-ACDB85195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AF8E737-0264-407F-B960-B302C0A70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733" y="651660"/>
            <a:ext cx="9635334" cy="539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976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AA86A1-E797-4C32-71BD-3485E4069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609802-65A4-2942-3E3A-860EC4ECA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892" y="2833206"/>
            <a:ext cx="9608215" cy="344208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5D3251-3E05-0B49-FC33-A6E9D388D6B3}"/>
              </a:ext>
            </a:extLst>
          </p:cNvPr>
          <p:cNvSpPr txBox="1"/>
          <p:nvPr/>
        </p:nvSpPr>
        <p:spPr>
          <a:xfrm>
            <a:off x="2618668" y="782115"/>
            <a:ext cx="7452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Result – </a:t>
            </a:r>
            <a:r>
              <a:rPr lang="en-US" sz="3600" dirty="0" err="1"/>
              <a:t>dbo.OutputDeviceAssignment</a:t>
            </a:r>
            <a:endParaRPr lang="en-MY" sz="3600" dirty="0"/>
          </a:p>
        </p:txBody>
      </p:sp>
    </p:spTree>
    <p:extLst>
      <p:ext uri="{BB962C8B-B14F-4D97-AF65-F5344CB8AC3E}">
        <p14:creationId xmlns:p14="http://schemas.microsoft.com/office/powerpoint/2010/main" val="3662416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FA872F-E69A-2D92-F627-6B0BDCF92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98DF7DE-50DE-1F0B-DFAE-878F7CB8100C}"/>
              </a:ext>
            </a:extLst>
          </p:cNvPr>
          <p:cNvSpPr txBox="1"/>
          <p:nvPr/>
        </p:nvSpPr>
        <p:spPr>
          <a:xfrm>
            <a:off x="2618668" y="782115"/>
            <a:ext cx="7452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Result – </a:t>
            </a:r>
            <a:r>
              <a:rPr lang="en-US" sz="3600" dirty="0" err="1"/>
              <a:t>dbo.DeviceReviewQueue</a:t>
            </a:r>
            <a:endParaRPr lang="en-MY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0674F0-DA47-4400-515D-D32A78450A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299"/>
          <a:stretch>
            <a:fillRect/>
          </a:stretch>
        </p:blipFill>
        <p:spPr>
          <a:xfrm>
            <a:off x="1284186" y="2099615"/>
            <a:ext cx="9479402" cy="3841799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653041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B83E33-3A33-201B-7189-951E3CBB8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5A449B-8EB3-DDD5-58A4-5BB43CB57EE9}"/>
              </a:ext>
            </a:extLst>
          </p:cNvPr>
          <p:cNvSpPr txBox="1"/>
          <p:nvPr/>
        </p:nvSpPr>
        <p:spPr>
          <a:xfrm>
            <a:off x="2904566" y="262161"/>
            <a:ext cx="57778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/>
              <a:t>JSON file</a:t>
            </a:r>
          </a:p>
          <a:p>
            <a:pPr algn="ctr"/>
            <a:r>
              <a:rPr lang="en-US" sz="1200" dirty="0"/>
              <a:t>** has been removed from the script since and change into SQL </a:t>
            </a:r>
            <a:r>
              <a:rPr lang="en-US" sz="1200" dirty="0" err="1"/>
              <a:t>dbo</a:t>
            </a:r>
            <a:r>
              <a:rPr lang="en-US" sz="1200" dirty="0"/>
              <a:t> table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3F34C5-78E3-A69E-A1CD-7613D5F36F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0631062"/>
              </p:ext>
            </p:extLst>
          </p:nvPr>
        </p:nvGraphicFramePr>
        <p:xfrm>
          <a:off x="333375" y="1174746"/>
          <a:ext cx="11525249" cy="46857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903133">
                  <a:extLst>
                    <a:ext uri="{9D8B030D-6E8A-4147-A177-3AD203B41FA5}">
                      <a16:colId xmlns:a16="http://schemas.microsoft.com/office/drawing/2014/main" val="3269983278"/>
                    </a:ext>
                  </a:extLst>
                </a:gridCol>
                <a:gridCol w="4483709">
                  <a:extLst>
                    <a:ext uri="{9D8B030D-6E8A-4147-A177-3AD203B41FA5}">
                      <a16:colId xmlns:a16="http://schemas.microsoft.com/office/drawing/2014/main" val="2764151871"/>
                    </a:ext>
                  </a:extLst>
                </a:gridCol>
                <a:gridCol w="4138407">
                  <a:extLst>
                    <a:ext uri="{9D8B030D-6E8A-4147-A177-3AD203B41FA5}">
                      <a16:colId xmlns:a16="http://schemas.microsoft.com/office/drawing/2014/main" val="2332927466"/>
                    </a:ext>
                  </a:extLst>
                </a:gridCol>
              </a:tblGrid>
              <a:tr h="46222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MY" sz="1400" dirty="0"/>
                    </a:p>
                  </a:txBody>
                  <a:tcPr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800" b="1" dirty="0" err="1">
                          <a:latin typeface="+mj-lt"/>
                        </a:rPr>
                        <a:t>unallocated_device_ids.json</a:t>
                      </a:r>
                      <a:endParaRPr lang="en-MY" sz="1800" b="1" dirty="0">
                        <a:latin typeface="+mj-lt"/>
                      </a:endParaRPr>
                    </a:p>
                  </a:txBody>
                  <a:tcPr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800" b="1" dirty="0" err="1">
                          <a:latin typeface="+mj-lt"/>
                        </a:rPr>
                        <a:t>floating_deviceid.json</a:t>
                      </a:r>
                      <a:endParaRPr lang="en-MY" sz="1800" b="1" dirty="0">
                        <a:latin typeface="+mj-lt"/>
                      </a:endParaRPr>
                    </a:p>
                  </a:txBody>
                  <a:tcPr anchor="ctr"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1419256"/>
                  </a:ext>
                </a:extLst>
              </a:tr>
              <a:tr h="480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b="1" dirty="0"/>
                        <a:t>Trigger condition</a:t>
                      </a:r>
                      <a:endParaRPr lang="en-MY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Known prediction (</a:t>
                      </a:r>
                      <a:r>
                        <a:rPr lang="en-MY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DeviceType</a:t>
                      </a: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/Section/Cluster all valid) but no quota bucket had room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Any of </a:t>
                      </a:r>
                      <a:r>
                        <a:rPr lang="en-MY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DeviceType</a:t>
                      </a: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/Section/Cluster is </a:t>
                      </a:r>
                      <a:r>
                        <a:rPr lang="en-MY" sz="1400" b="1" dirty="0">
                          <a:solidFill>
                            <a:srgbClr val="FF000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UNKNOWN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0005915"/>
                  </a:ext>
                </a:extLst>
              </a:tr>
              <a:tr h="480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b="1"/>
                        <a:t>Timing</a:t>
                      </a:r>
                      <a:endParaRPr lang="en-MY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After quota allocation (from </a:t>
                      </a:r>
                      <a:r>
                        <a:rPr lang="en-MY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AllocationResult.Floating</a:t>
                      </a: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After quota allocation (from AllocationResult.Floating) — same moment as left, not a different stage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3388533"/>
                  </a:ext>
                </a:extLst>
              </a:tr>
              <a:tr h="480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b="1"/>
                        <a:t>Percentage / confidence</a:t>
                      </a:r>
                      <a:endParaRPr lang="en-MY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stored — entry has no Score/Confidence 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stored — same, no Score/Confidence field either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4563702"/>
                  </a:ext>
                </a:extLst>
              </a:tr>
              <a:tr h="480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b="1"/>
                        <a:t>File scope</a:t>
                      </a:r>
                      <a:endParaRPr lang="en-MY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Single file, shared across all projects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Single file, shared across all projects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3895558"/>
                  </a:ext>
                </a:extLst>
              </a:tr>
              <a:tr h="480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b="1"/>
                        <a:t>Dedupe key</a:t>
                      </a:r>
                      <a:endParaRPr lang="en-MY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DeviceId</a:t>
                      </a: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 </a:t>
                      </a:r>
                      <a:r>
                        <a:rPr lang="en-MY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ProjectCode</a:t>
                      </a:r>
                      <a:endParaRPr lang="en-MY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DeviceId</a:t>
                      </a: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+ </a:t>
                      </a:r>
                      <a:r>
                        <a:rPr lang="en-MY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ProjectCode</a:t>
                      </a:r>
                      <a:endParaRPr lang="en-MY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4295568"/>
                  </a:ext>
                </a:extLst>
              </a:tr>
              <a:tr h="480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b="1"/>
                        <a:t>Status lifecycle</a:t>
                      </a:r>
                      <a:endParaRPr lang="en-MY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"pending" → "assigned" (via MarkAsAssigned, once a human manually places it)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"pending" only — nothing in the code ever updates 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7272679"/>
                  </a:ext>
                </a:extLst>
              </a:tr>
              <a:tr h="4800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b="1"/>
                        <a:t>Assembly</a:t>
                      </a:r>
                      <a:endParaRPr lang="en-MY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Logic.dll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Logic.dll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172134"/>
                  </a:ext>
                </a:extLst>
              </a:tr>
              <a:tr h="4974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b="1"/>
                        <a:t>Write method</a:t>
                      </a:r>
                      <a:endParaRPr lang="en-MY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LogicAssignment.DumpUnallocated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4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LogicAssignment.DumpFloating</a:t>
                      </a:r>
                      <a:endParaRPr lang="en-MY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0826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34272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FC284B-2AA5-0753-672D-DCAD5C8F6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FB2FB6B-0110-F956-4CA1-53BB47DCDBED}"/>
              </a:ext>
            </a:extLst>
          </p:cNvPr>
          <p:cNvSpPr txBox="1"/>
          <p:nvPr/>
        </p:nvSpPr>
        <p:spPr>
          <a:xfrm>
            <a:off x="1571624" y="681262"/>
            <a:ext cx="9229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How the </a:t>
            </a:r>
            <a:r>
              <a:rPr lang="en-US" sz="3600" dirty="0" err="1"/>
              <a:t>cluster_floating_device_ids.json</a:t>
            </a:r>
            <a:r>
              <a:rPr lang="en-US" sz="3600" dirty="0"/>
              <a:t> obtain?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D2531-41AF-5362-6F80-BF0315594145}"/>
              </a:ext>
            </a:extLst>
          </p:cNvPr>
          <p:cNvSpPr txBox="1"/>
          <p:nvPr/>
        </p:nvSpPr>
        <p:spPr>
          <a:xfrm>
            <a:off x="857249" y="2287191"/>
            <a:ext cx="1019174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MY" b="1" dirty="0"/>
              <a:t>2. The quota allocator already tried — it doesn't retry from the file</a:t>
            </a:r>
            <a:endParaRPr lang="en-MY" dirty="0"/>
          </a:p>
          <a:p>
            <a:pPr rtl="0">
              <a:buNone/>
            </a:pPr>
            <a:r>
              <a:rPr lang="en-MY" dirty="0"/>
              <a:t>The allocator isn't a queue that keeps attempting to place floating devices later. It runs its own internal two-pass process </a:t>
            </a:r>
            <a:r>
              <a:rPr lang="en-MY" i="1" dirty="0"/>
              <a:t>before</a:t>
            </a:r>
            <a:r>
              <a:rPr lang="en-MY" dirty="0"/>
              <a:t> anything is written to </a:t>
            </a:r>
            <a:r>
              <a:rPr lang="en-MY" dirty="0" err="1">
                <a:latin typeface="Courier New" panose="02070309020205020404" pitchFamily="49" charset="0"/>
              </a:rPr>
              <a:t>floating_deviceid.json</a:t>
            </a:r>
            <a:r>
              <a:rPr lang="en-MY" dirty="0"/>
              <a:t>: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MY" b="1" dirty="0"/>
              <a:t>Step 1</a:t>
            </a:r>
            <a:r>
              <a:rPr lang="en-MY" dirty="0"/>
              <a:t> (lines 116-162): direct match on </a:t>
            </a:r>
            <a:r>
              <a:rPr lang="en-MY" dirty="0">
                <a:latin typeface="Courier New" panose="02070309020205020404" pitchFamily="49" charset="0"/>
              </a:rPr>
              <a:t>Section + Cluster + </a:t>
            </a:r>
            <a:r>
              <a:rPr lang="en-MY" dirty="0" err="1">
                <a:latin typeface="Courier New" panose="02070309020205020404" pitchFamily="49" charset="0"/>
              </a:rPr>
              <a:t>DeviceType</a:t>
            </a:r>
            <a:r>
              <a:rPr lang="en-MY" dirty="0"/>
              <a:t>, top-N by score.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MY" b="1" dirty="0"/>
              <a:t>Step 2</a:t>
            </a:r>
            <a:r>
              <a:rPr lang="en-MY" dirty="0"/>
              <a:t> (lines 164-170): whatever's left becomes the internal "floating pool" for that section.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MY" b="1" dirty="0"/>
              <a:t>Step 3</a:t>
            </a:r>
            <a:r>
              <a:rPr lang="en-MY" dirty="0"/>
              <a:t> (lines 172-214): backfill — pulls from that same floating pool to fill remaining deficits, matched loosely by </a:t>
            </a:r>
            <a:r>
              <a:rPr lang="en-MY" dirty="0">
                <a:latin typeface="Courier New" panose="02070309020205020404" pitchFamily="49" charset="0"/>
              </a:rPr>
              <a:t>Section + </a:t>
            </a:r>
            <a:r>
              <a:rPr lang="en-MY" dirty="0" err="1">
                <a:latin typeface="Courier New" panose="02070309020205020404" pitchFamily="49" charset="0"/>
              </a:rPr>
              <a:t>DeviceType</a:t>
            </a:r>
            <a:r>
              <a:rPr lang="en-MY" dirty="0"/>
              <a:t> (ignoring the originally predicted cluster).</a:t>
            </a:r>
          </a:p>
        </p:txBody>
      </p:sp>
    </p:spTree>
    <p:extLst>
      <p:ext uri="{BB962C8B-B14F-4D97-AF65-F5344CB8AC3E}">
        <p14:creationId xmlns:p14="http://schemas.microsoft.com/office/powerpoint/2010/main" val="16311984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9432CB-B4CC-04E1-DEBD-C71D7F85B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9A62446-AFEE-0946-2114-DA4F091B5DA6}"/>
              </a:ext>
            </a:extLst>
          </p:cNvPr>
          <p:cNvSpPr txBox="1"/>
          <p:nvPr/>
        </p:nvSpPr>
        <p:spPr>
          <a:xfrm>
            <a:off x="1000125" y="1694497"/>
            <a:ext cx="101917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b="1" dirty="0" err="1"/>
              <a:t>floating_deviceid.json</a:t>
            </a:r>
            <a:r>
              <a:rPr lang="en-MY" dirty="0"/>
              <a:t> ← devices where </a:t>
            </a:r>
            <a:r>
              <a:rPr lang="en-MY" dirty="0" err="1"/>
              <a:t>DeviceType</a:t>
            </a:r>
            <a:r>
              <a:rPr lang="en-MY" dirty="0"/>
              <a:t> == "UNKNOWN" </a:t>
            </a:r>
            <a:r>
              <a:rPr lang="en-MY" b="1" dirty="0"/>
              <a:t>or</a:t>
            </a:r>
            <a:r>
              <a:rPr lang="en-MY" dirty="0"/>
              <a:t> Section == "UNKNOWN" </a:t>
            </a:r>
            <a:r>
              <a:rPr lang="en-MY" b="1" dirty="0"/>
              <a:t>or</a:t>
            </a:r>
            <a:r>
              <a:rPr lang="en-MY" dirty="0"/>
              <a:t> Cluster == "UNKNOWN“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MY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b="1" dirty="0" err="1"/>
              <a:t>unallocated_device_ids.json</a:t>
            </a:r>
            <a:r>
              <a:rPr lang="en-MY" dirty="0"/>
              <a:t> ← devices where </a:t>
            </a:r>
            <a:r>
              <a:rPr lang="en-MY" b="1" dirty="0"/>
              <a:t>all three are valid/known</a:t>
            </a:r>
            <a:r>
              <a:rPr lang="en-MY" dirty="0"/>
              <a:t>, but still didn't get claimed by any quota bucket (capacity full, or no bucket exists for that combo)</a:t>
            </a:r>
          </a:p>
        </p:txBody>
      </p:sp>
    </p:spTree>
    <p:extLst>
      <p:ext uri="{BB962C8B-B14F-4D97-AF65-F5344CB8AC3E}">
        <p14:creationId xmlns:p14="http://schemas.microsoft.com/office/powerpoint/2010/main" val="226172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BED81-3BA1-6AC0-D05F-C5511428A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7F8C1C-FC5F-8D80-B447-93B33A66F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7906" y="363071"/>
            <a:ext cx="4222376" cy="6333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044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B0C0EF-E2BF-BE1F-D4D9-5672A004A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F12169-012C-035B-0B37-20D16F503AE3}"/>
              </a:ext>
            </a:extLst>
          </p:cNvPr>
          <p:cNvSpPr txBox="1"/>
          <p:nvPr/>
        </p:nvSpPr>
        <p:spPr>
          <a:xfrm>
            <a:off x="3132084" y="283182"/>
            <a:ext cx="64533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Movement of dataset [UDPATE 04/08/26]</a:t>
            </a:r>
            <a:endParaRPr lang="en-MY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B41492-3967-A06F-AB84-3D8C5AD6A74A}"/>
              </a:ext>
            </a:extLst>
          </p:cNvPr>
          <p:cNvSpPr txBox="1"/>
          <p:nvPr/>
        </p:nvSpPr>
        <p:spPr>
          <a:xfrm>
            <a:off x="360618" y="1289608"/>
            <a:ext cx="2077798" cy="8925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Received 8 RAW excel files in zip files </a:t>
            </a:r>
            <a:r>
              <a:rPr lang="en-US" sz="1400" dirty="0"/>
              <a:t>[Dataset/1. </a:t>
            </a:r>
            <a:r>
              <a:rPr lang="en-US" sz="1400" dirty="0" err="1"/>
              <a:t>raw_data</a:t>
            </a:r>
            <a:r>
              <a:rPr lang="en-US" sz="1400" dirty="0"/>
              <a:t>]</a:t>
            </a:r>
            <a:endParaRPr lang="en-MY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6797A3C-DB22-E459-74BB-FD071866140F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2438416" y="1735884"/>
            <a:ext cx="295914" cy="4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0EA222D-3A46-A016-C00C-B155E496A76E}"/>
              </a:ext>
            </a:extLst>
          </p:cNvPr>
          <p:cNvSpPr txBox="1"/>
          <p:nvPr/>
        </p:nvSpPr>
        <p:spPr>
          <a:xfrm>
            <a:off x="2734330" y="1443974"/>
            <a:ext cx="249662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Clean each excel file</a:t>
            </a:r>
          </a:p>
          <a:p>
            <a:pPr algn="ctr"/>
            <a:r>
              <a:rPr lang="en-US" sz="1400" dirty="0"/>
              <a:t>[Dataset/2. </a:t>
            </a:r>
            <a:r>
              <a:rPr lang="en-US" sz="1400" dirty="0" err="1"/>
              <a:t>clean_data</a:t>
            </a:r>
            <a:r>
              <a:rPr lang="en-US" sz="1400" dirty="0"/>
              <a:t>]</a:t>
            </a:r>
            <a:endParaRPr lang="en-MY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9F7BA4-573B-A1B5-8482-BAEB834E4566}"/>
              </a:ext>
            </a:extLst>
          </p:cNvPr>
          <p:cNvSpPr txBox="1"/>
          <p:nvPr/>
        </p:nvSpPr>
        <p:spPr>
          <a:xfrm>
            <a:off x="5526864" y="1428107"/>
            <a:ext cx="241093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Merge into 1 csv files</a:t>
            </a:r>
          </a:p>
          <a:p>
            <a:pPr algn="ctr"/>
            <a:r>
              <a:rPr lang="en-US" sz="1400" dirty="0"/>
              <a:t>[</a:t>
            </a:r>
            <a:r>
              <a:rPr lang="en-MY" sz="1400" dirty="0"/>
              <a:t>Dataset</a:t>
            </a:r>
            <a:r>
              <a:rPr lang="en-MY" sz="1400" b="1" dirty="0"/>
              <a:t>\o</a:t>
            </a:r>
            <a:r>
              <a:rPr lang="en-MY" sz="1400" dirty="0"/>
              <a:t>utput</a:t>
            </a:r>
            <a:r>
              <a:rPr lang="en-MY" sz="1400" b="1" dirty="0"/>
              <a:t>\m</a:t>
            </a:r>
            <a:r>
              <a:rPr lang="en-MY" sz="1400" dirty="0"/>
              <a:t>asterfile.csv</a:t>
            </a:r>
            <a:r>
              <a:rPr lang="en-US" sz="1400" dirty="0"/>
              <a:t>]</a:t>
            </a:r>
            <a:endParaRPr lang="en-MY" sz="14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D462315-5951-5C82-315D-1E18348CCE52}"/>
              </a:ext>
            </a:extLst>
          </p:cNvPr>
          <p:cNvCxnSpPr>
            <a:cxnSpLocks/>
            <a:stCxn id="8" idx="3"/>
            <a:endCxn id="13" idx="1"/>
          </p:cNvCxnSpPr>
          <p:nvPr/>
        </p:nvCxnSpPr>
        <p:spPr>
          <a:xfrm flipV="1">
            <a:off x="5230950" y="1720495"/>
            <a:ext cx="295914" cy="15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B0C47FB-1DBC-FAEE-73F0-DC0738C173BE}"/>
              </a:ext>
            </a:extLst>
          </p:cNvPr>
          <p:cNvSpPr txBox="1"/>
          <p:nvPr/>
        </p:nvSpPr>
        <p:spPr>
          <a:xfrm>
            <a:off x="8319398" y="1266763"/>
            <a:ext cx="147144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Used for training SGD model</a:t>
            </a:r>
            <a:endParaRPr lang="en-MY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2569126-C902-EF93-4306-2A3D8A166E7A}"/>
              </a:ext>
            </a:extLst>
          </p:cNvPr>
          <p:cNvCxnSpPr>
            <a:cxnSpLocks/>
            <a:stCxn id="13" idx="3"/>
            <a:endCxn id="20" idx="1"/>
          </p:cNvCxnSpPr>
          <p:nvPr/>
        </p:nvCxnSpPr>
        <p:spPr>
          <a:xfrm>
            <a:off x="7937798" y="1720495"/>
            <a:ext cx="381600" cy="79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B41A58E-824F-5CCF-E4A0-A05129B4789B}"/>
              </a:ext>
            </a:extLst>
          </p:cNvPr>
          <p:cNvSpPr txBox="1"/>
          <p:nvPr/>
        </p:nvSpPr>
        <p:spPr>
          <a:xfrm>
            <a:off x="10290522" y="1551218"/>
            <a:ext cx="147144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 err="1"/>
              <a:t>master_df.pkl</a:t>
            </a:r>
            <a:endParaRPr lang="en-MY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554F045-501E-A964-9EF5-BA54A176CBA6}"/>
              </a:ext>
            </a:extLst>
          </p:cNvPr>
          <p:cNvCxnSpPr>
            <a:cxnSpLocks/>
            <a:stCxn id="20" idx="3"/>
            <a:endCxn id="47" idx="1"/>
          </p:cNvCxnSpPr>
          <p:nvPr/>
        </p:nvCxnSpPr>
        <p:spPr>
          <a:xfrm>
            <a:off x="9790845" y="1728428"/>
            <a:ext cx="499677" cy="7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6DBCF579-EC25-F117-F193-EE0FCD1E0E4F}"/>
              </a:ext>
            </a:extLst>
          </p:cNvPr>
          <p:cNvSpPr txBox="1"/>
          <p:nvPr/>
        </p:nvSpPr>
        <p:spPr>
          <a:xfrm>
            <a:off x="360618" y="806402"/>
            <a:ext cx="15456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1"/>
              <a:t>SGD Classifier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FD05E5B-D5E8-52FB-2D7D-8A861382E0FC}"/>
              </a:ext>
            </a:extLst>
          </p:cNvPr>
          <p:cNvSpPr txBox="1"/>
          <p:nvPr/>
        </p:nvSpPr>
        <p:spPr>
          <a:xfrm>
            <a:off x="360618" y="3244334"/>
            <a:ext cx="1004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noProof="1"/>
              <a:t>XGBoost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BFF2471-CD09-F631-B61E-8BB6B05F210F}"/>
              </a:ext>
            </a:extLst>
          </p:cNvPr>
          <p:cNvSpPr txBox="1"/>
          <p:nvPr/>
        </p:nvSpPr>
        <p:spPr>
          <a:xfrm>
            <a:off x="277215" y="3875620"/>
            <a:ext cx="2771466" cy="1446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Dummy data</a:t>
            </a:r>
          </a:p>
          <a:p>
            <a:pPr algn="ctr"/>
            <a:r>
              <a:rPr lang="en-US" sz="1400" dirty="0"/>
              <a:t>[</a:t>
            </a:r>
            <a:r>
              <a:rPr lang="en-MY" sz="1400" b="1" dirty="0"/>
              <a:t>r</a:t>
            </a:r>
            <a:r>
              <a:rPr lang="en-MY" sz="1400" dirty="0"/>
              <a:t>epos\</a:t>
            </a:r>
            <a:r>
              <a:rPr lang="en-MY" sz="1400" dirty="0" err="1"/>
              <a:t>DeviceCluster</a:t>
            </a:r>
            <a:r>
              <a:rPr lang="en-MY" sz="1400" dirty="0"/>
              <a:t>\1.training_model\</a:t>
            </a:r>
            <a:r>
              <a:rPr lang="en-MY" sz="1400" dirty="0" err="1"/>
              <a:t>dummy_data</a:t>
            </a:r>
            <a:r>
              <a:rPr lang="en-US" sz="1400" dirty="0"/>
              <a:t>]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UGS (A1706-A1995)</a:t>
            </a:r>
          </a:p>
          <a:p>
            <a:pPr algn="ctr"/>
            <a:r>
              <a:rPr lang="en-MY" sz="1400" dirty="0" err="1"/>
              <a:t>Oiltek</a:t>
            </a:r>
            <a:r>
              <a:rPr lang="en-MY" sz="1400" dirty="0"/>
              <a:t> (A2027-A8885)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7412BAF-F98B-43A4-BA69-C23842C63EA5}"/>
              </a:ext>
            </a:extLst>
          </p:cNvPr>
          <p:cNvSpPr txBox="1"/>
          <p:nvPr/>
        </p:nvSpPr>
        <p:spPr>
          <a:xfrm>
            <a:off x="3982640" y="4275729"/>
            <a:ext cx="1838822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Used for training XGB model</a:t>
            </a:r>
            <a:endParaRPr lang="en-MY" dirty="0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56D47BF-E73D-21FF-E411-9256D55B60EE}"/>
              </a:ext>
            </a:extLst>
          </p:cNvPr>
          <p:cNvCxnSpPr>
            <a:cxnSpLocks/>
            <a:stCxn id="61" idx="3"/>
            <a:endCxn id="70" idx="1"/>
          </p:cNvCxnSpPr>
          <p:nvPr/>
        </p:nvCxnSpPr>
        <p:spPr>
          <a:xfrm>
            <a:off x="3048681" y="4598895"/>
            <a:ext cx="9339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1608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116A72-918E-0144-C1C0-6BE3686A0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AA1AF1-B921-6E24-D7B1-C4B5D36D637B}"/>
              </a:ext>
            </a:extLst>
          </p:cNvPr>
          <p:cNvSpPr txBox="1"/>
          <p:nvPr/>
        </p:nvSpPr>
        <p:spPr>
          <a:xfrm>
            <a:off x="2922496" y="274781"/>
            <a:ext cx="73263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Full Flowchart DLL Library Model (18/082026)</a:t>
            </a:r>
            <a:endParaRPr lang="en-MY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CBB67C-16B6-D6DE-3710-AFCFDB7079AF}"/>
              </a:ext>
            </a:extLst>
          </p:cNvPr>
          <p:cNvSpPr txBox="1"/>
          <p:nvPr/>
        </p:nvSpPr>
        <p:spPr>
          <a:xfrm>
            <a:off x="360617" y="1289608"/>
            <a:ext cx="369479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SQL Database</a:t>
            </a:r>
          </a:p>
          <a:p>
            <a:pPr algn="ctr"/>
            <a:r>
              <a:rPr lang="en-US" dirty="0"/>
              <a:t>{</a:t>
            </a:r>
            <a:r>
              <a:rPr lang="en-US" dirty="0" err="1"/>
              <a:t>ProjectCode</a:t>
            </a:r>
            <a:r>
              <a:rPr lang="en-US" dirty="0"/>
              <a:t>, </a:t>
            </a:r>
            <a:r>
              <a:rPr lang="en-US" dirty="0" err="1"/>
              <a:t>CustomerCode</a:t>
            </a:r>
            <a:r>
              <a:rPr lang="en-US" dirty="0"/>
              <a:t>, </a:t>
            </a:r>
            <a:r>
              <a:rPr lang="en-US" dirty="0" err="1"/>
              <a:t>DataIds</a:t>
            </a:r>
            <a:r>
              <a:rPr lang="en-US" dirty="0"/>
              <a:t>}</a:t>
            </a:r>
            <a:endParaRPr lang="en-MY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15916D2-7E87-B0A7-4264-E75A9840B2D5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4055416" y="1612774"/>
            <a:ext cx="15208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33E434E-45E2-361F-72D2-E33FCF4BBF72}"/>
              </a:ext>
            </a:extLst>
          </p:cNvPr>
          <p:cNvSpPr txBox="1"/>
          <p:nvPr/>
        </p:nvSpPr>
        <p:spPr>
          <a:xfrm>
            <a:off x="5576220" y="1289608"/>
            <a:ext cx="249662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JSON File</a:t>
            </a:r>
          </a:p>
          <a:p>
            <a:pPr algn="ctr"/>
            <a:r>
              <a:rPr lang="en-US" sz="1400" dirty="0"/>
              <a:t>[Dataset/2. </a:t>
            </a:r>
            <a:r>
              <a:rPr lang="en-US" sz="1400" dirty="0" err="1"/>
              <a:t>clean_data</a:t>
            </a:r>
            <a:r>
              <a:rPr lang="en-US" sz="1400" dirty="0"/>
              <a:t>]</a:t>
            </a:r>
            <a:endParaRPr lang="en-MY" sz="1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5EC90D-6F35-4996-8241-0A94CBFED27D}"/>
              </a:ext>
            </a:extLst>
          </p:cNvPr>
          <p:cNvSpPr/>
          <p:nvPr/>
        </p:nvSpPr>
        <p:spPr>
          <a:xfrm>
            <a:off x="677644" y="2944063"/>
            <a:ext cx="4489704" cy="297264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u="sng" dirty="0"/>
              <a:t>TRAINING DATASET</a:t>
            </a:r>
          </a:p>
          <a:p>
            <a:pPr algn="ctr"/>
            <a:endParaRPr lang="en-MY" b="1" u="sng" dirty="0"/>
          </a:p>
          <a:p>
            <a:pPr algn="ctr"/>
            <a:r>
              <a:rPr lang="en-MY" u="sng" dirty="0"/>
              <a:t>OILTEK </a:t>
            </a:r>
          </a:p>
          <a:p>
            <a:r>
              <a:rPr lang="en-MY" b="1" dirty="0"/>
              <a:t>A1706 (REFERENCE)</a:t>
            </a:r>
          </a:p>
          <a:p>
            <a:r>
              <a:rPr lang="en-MY" dirty="0"/>
              <a:t>A9991, A9992, A9993, A9994, A9995</a:t>
            </a:r>
          </a:p>
          <a:p>
            <a:r>
              <a:rPr lang="en-MY" dirty="0"/>
              <a:t>[Source SQL </a:t>
            </a:r>
            <a:r>
              <a:rPr lang="en-MY" dirty="0" err="1"/>
              <a:t>db</a:t>
            </a:r>
            <a:r>
              <a:rPr lang="en-MY" dirty="0"/>
              <a:t> = A9998]</a:t>
            </a:r>
          </a:p>
          <a:p>
            <a:endParaRPr lang="en-MY" dirty="0"/>
          </a:p>
          <a:p>
            <a:pPr algn="ctr"/>
            <a:r>
              <a:rPr lang="en-MY" u="sng" dirty="0"/>
              <a:t>UGS</a:t>
            </a:r>
          </a:p>
          <a:p>
            <a:r>
              <a:rPr lang="en-MY" b="1" dirty="0"/>
              <a:t>A2027 (REFERENCE)</a:t>
            </a:r>
          </a:p>
          <a:p>
            <a:r>
              <a:rPr lang="en-MY" dirty="0"/>
              <a:t>A8881, A8882. A8883, A8884, A8885</a:t>
            </a:r>
          </a:p>
        </p:txBody>
      </p:sp>
    </p:spTree>
    <p:extLst>
      <p:ext uri="{BB962C8B-B14F-4D97-AF65-F5344CB8AC3E}">
        <p14:creationId xmlns:p14="http://schemas.microsoft.com/office/powerpoint/2010/main" val="2234319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4993CD-ABA8-D564-1015-9B87B0101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4344B5-4C40-2B46-55DB-B267BCB71AB1}"/>
              </a:ext>
            </a:extLst>
          </p:cNvPr>
          <p:cNvSpPr txBox="1"/>
          <p:nvPr/>
        </p:nvSpPr>
        <p:spPr>
          <a:xfrm>
            <a:off x="3284484" y="2555575"/>
            <a:ext cx="64533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Full flowchart</a:t>
            </a:r>
          </a:p>
          <a:p>
            <a:r>
              <a:rPr lang="en-US" sz="2800" dirty="0">
                <a:solidFill>
                  <a:schemeClr val="accent1"/>
                </a:solidFill>
                <a:hlinkClick r:id="rId2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Flowchart ML development.xlsx</a:t>
            </a:r>
            <a:endParaRPr lang="en-MY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61623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417279-FFF0-6BF9-FE2D-8E9D18E28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2F77FC3-E448-268A-CA5D-899EBF724E73}"/>
              </a:ext>
            </a:extLst>
          </p:cNvPr>
          <p:cNvSpPr txBox="1"/>
          <p:nvPr/>
        </p:nvSpPr>
        <p:spPr>
          <a:xfrm>
            <a:off x="669194" y="2419505"/>
            <a:ext cx="1112163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b="1" dirty="0" err="1"/>
              <a:t>clu_proba_raw</a:t>
            </a:r>
            <a:r>
              <a:rPr lang="en-MY" b="1" dirty="0"/>
              <a:t>           = </a:t>
            </a:r>
            <a:r>
              <a:rPr lang="en-MY" b="1" dirty="0" err="1"/>
              <a:t>model_cluster.predict_proba</a:t>
            </a:r>
            <a:r>
              <a:rPr lang="en-MY" b="1" dirty="0"/>
              <a:t>(</a:t>
            </a:r>
            <a:r>
              <a:rPr lang="en-MY" b="1" dirty="0" err="1"/>
              <a:t>X_clu</a:t>
            </a:r>
            <a:r>
              <a:rPr lang="en-MY" b="1" dirty="0"/>
              <a:t>)   	</a:t>
            </a:r>
            <a:r>
              <a:rPr lang="en-MY" dirty="0"/>
              <a:t># ← full probability array, one score per cluster class</a:t>
            </a:r>
          </a:p>
          <a:p>
            <a:endParaRPr lang="en-MY" dirty="0"/>
          </a:p>
          <a:p>
            <a:endParaRPr lang="en-MY" dirty="0"/>
          </a:p>
          <a:p>
            <a:r>
              <a:rPr lang="en-MY" b="1" dirty="0" err="1"/>
              <a:t>clu_pred_enc</a:t>
            </a:r>
            <a:r>
              <a:rPr lang="en-MY" b="1" dirty="0"/>
              <a:t>            = </a:t>
            </a:r>
            <a:r>
              <a:rPr lang="en-MY" b="1" dirty="0" err="1"/>
              <a:t>np.argmax</a:t>
            </a:r>
            <a:r>
              <a:rPr lang="en-MY" b="1" dirty="0"/>
              <a:t>(</a:t>
            </a:r>
            <a:r>
              <a:rPr lang="en-MY" b="1" dirty="0" err="1"/>
              <a:t>clu_proba_raw</a:t>
            </a:r>
            <a:r>
              <a:rPr lang="en-MY" b="1" dirty="0"/>
              <a:t>, axis=1)  </a:t>
            </a:r>
            <a:r>
              <a:rPr lang="en-MY" dirty="0"/>
              <a:t>   	# ← THIS is where it picks the max</a:t>
            </a:r>
          </a:p>
          <a:p>
            <a:endParaRPr lang="en-MY" dirty="0"/>
          </a:p>
          <a:p>
            <a:endParaRPr lang="en-MY" dirty="0"/>
          </a:p>
          <a:p>
            <a:r>
              <a:rPr lang="en-MY" b="1" dirty="0" err="1"/>
              <a:t>clu_conf_raw</a:t>
            </a:r>
            <a:r>
              <a:rPr lang="en-MY" b="1" dirty="0"/>
              <a:t>            = </a:t>
            </a:r>
            <a:r>
              <a:rPr lang="en-MY" b="1" dirty="0" err="1"/>
              <a:t>clu_proba_raw.max</a:t>
            </a:r>
            <a:r>
              <a:rPr lang="en-MY" b="1" dirty="0"/>
              <a:t>(axis=1)            	</a:t>
            </a:r>
            <a:r>
              <a:rPr lang="en-MY" dirty="0"/>
              <a:t># ← and this grabs the max value itself</a:t>
            </a:r>
          </a:p>
        </p:txBody>
      </p:sp>
    </p:spTree>
    <p:extLst>
      <p:ext uri="{BB962C8B-B14F-4D97-AF65-F5344CB8AC3E}">
        <p14:creationId xmlns:p14="http://schemas.microsoft.com/office/powerpoint/2010/main" val="27019312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6FCF45-ABF1-2E1D-3EB7-070DB7041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15891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E0CA2-D7B5-F6C6-5FEE-891560CA1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440EA0-0488-0289-9DA2-174F6A949FA3}"/>
              </a:ext>
            </a:extLst>
          </p:cNvPr>
          <p:cNvSpPr txBox="1"/>
          <p:nvPr/>
        </p:nvSpPr>
        <p:spPr>
          <a:xfrm>
            <a:off x="3310526" y="3013502"/>
            <a:ext cx="5570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UDPATE 10/07/2026</a:t>
            </a:r>
            <a:endParaRPr lang="en-MY" sz="4800" dirty="0"/>
          </a:p>
        </p:txBody>
      </p:sp>
    </p:spTree>
    <p:extLst>
      <p:ext uri="{BB962C8B-B14F-4D97-AF65-F5344CB8AC3E}">
        <p14:creationId xmlns:p14="http://schemas.microsoft.com/office/powerpoint/2010/main" val="26268465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2640D1-542D-7C4F-6A12-1D02CE65E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D31E10-7869-40D6-92E4-D49052B29F1F}"/>
              </a:ext>
            </a:extLst>
          </p:cNvPr>
          <p:cNvSpPr txBox="1"/>
          <p:nvPr/>
        </p:nvSpPr>
        <p:spPr>
          <a:xfrm>
            <a:off x="758107" y="469998"/>
            <a:ext cx="1038285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To do list 20/07/2026</a:t>
            </a:r>
          </a:p>
          <a:p>
            <a:endParaRPr lang="en-US" sz="2800" dirty="0"/>
          </a:p>
          <a:p>
            <a:pPr marL="914400" indent="-914400">
              <a:buFont typeface="+mj-lt"/>
              <a:buAutoNum type="arabicPeriod"/>
            </a:pPr>
            <a:r>
              <a:rPr lang="en-US" sz="2800" dirty="0"/>
              <a:t>Confirmation training with HR</a:t>
            </a:r>
          </a:p>
          <a:p>
            <a:pPr marL="914400" indent="-914400">
              <a:buFont typeface="+mj-lt"/>
              <a:buAutoNum type="arabicPeriod"/>
            </a:pPr>
            <a:r>
              <a:rPr lang="en-MY" sz="2800" dirty="0"/>
              <a:t>Extract the pattern dataset of Section 2 Cluster OILTEK</a:t>
            </a:r>
          </a:p>
          <a:p>
            <a:pPr marL="914400" indent="-914400">
              <a:buFont typeface="+mj-lt"/>
              <a:buAutoNum type="arabicPeriod"/>
            </a:pPr>
            <a:r>
              <a:rPr lang="en-MY" sz="2800" dirty="0"/>
              <a:t>Transform into tabulation dataset</a:t>
            </a:r>
          </a:p>
          <a:p>
            <a:pPr marL="914400" indent="-914400">
              <a:buFont typeface="+mj-lt"/>
              <a:buAutoNum type="arabicPeriod"/>
            </a:pPr>
            <a:r>
              <a:rPr lang="en-MY" sz="2800" dirty="0"/>
              <a:t>Ask </a:t>
            </a:r>
            <a:r>
              <a:rPr lang="en-MY" sz="2800" dirty="0" err="1"/>
              <a:t>claude</a:t>
            </a:r>
            <a:r>
              <a:rPr lang="en-MY" sz="2800" dirty="0"/>
              <a:t> to find which line of python script predict_sectioncluster.py that showing all the percentage prediction for each cluster before showing/pickup the highest percentage</a:t>
            </a:r>
          </a:p>
          <a:p>
            <a:pPr marL="914400" indent="-914400">
              <a:buFont typeface="+mj-lt"/>
              <a:buAutoNum type="arabicPeriod"/>
            </a:pPr>
            <a:r>
              <a:rPr lang="en-MY" sz="2800" dirty="0"/>
              <a:t>Find the line in python script of the predict_sectioncuster.py that give percentage of all the possibilities in the cluster.</a:t>
            </a:r>
          </a:p>
          <a:p>
            <a:pPr marL="914400" indent="-914400">
              <a:buFont typeface="+mj-lt"/>
              <a:buAutoNum type="arabicPeriod"/>
            </a:pPr>
            <a:r>
              <a:rPr lang="en-MY" sz="2800" dirty="0"/>
              <a:t>Setup in descending order</a:t>
            </a:r>
          </a:p>
          <a:p>
            <a:pPr marL="914400" indent="-914400">
              <a:buFont typeface="+mj-lt"/>
              <a:buAutoNum type="arabicPeriod"/>
            </a:pPr>
            <a:r>
              <a:rPr lang="en-MY" sz="2800" dirty="0"/>
              <a:t>List out all the possibilities of dataset that might bring confusing </a:t>
            </a:r>
          </a:p>
        </p:txBody>
      </p:sp>
    </p:spTree>
    <p:extLst>
      <p:ext uri="{BB962C8B-B14F-4D97-AF65-F5344CB8AC3E}">
        <p14:creationId xmlns:p14="http://schemas.microsoft.com/office/powerpoint/2010/main" val="36498619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BA455F-C5FB-E31C-F4C9-C7C20CB83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E0A5CF-E1ED-D92D-C5E8-63D63DA3B39F}"/>
              </a:ext>
            </a:extLst>
          </p:cNvPr>
          <p:cNvSpPr txBox="1"/>
          <p:nvPr/>
        </p:nvSpPr>
        <p:spPr>
          <a:xfrm>
            <a:off x="758107" y="469998"/>
            <a:ext cx="10382859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MY" dirty="0"/>
          </a:p>
          <a:p>
            <a:pPr algn="ctr"/>
            <a:r>
              <a:rPr lang="en-MY" sz="3600" dirty="0"/>
              <a:t>TAKE NOTE THIS 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MY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MY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MY" dirty="0"/>
              <a:t>Script that </a:t>
            </a:r>
            <a:r>
              <a:rPr lang="en-MY" dirty="0" err="1"/>
              <a:t>pikup</a:t>
            </a:r>
            <a:r>
              <a:rPr lang="en-MY" dirty="0"/>
              <a:t> the max prediction percentage</a:t>
            </a:r>
          </a:p>
          <a:p>
            <a:r>
              <a:rPr lang="en-MY" dirty="0"/>
              <a:t> ratio    = </a:t>
            </a:r>
            <a:r>
              <a:rPr lang="en-MY" dirty="0" err="1"/>
              <a:t>np.maximum</a:t>
            </a:r>
            <a:r>
              <a:rPr lang="en-MY" dirty="0"/>
              <a:t>(0, </a:t>
            </a:r>
            <a:r>
              <a:rPr lang="en-MY" dirty="0" err="1"/>
              <a:t>avg_dist</a:t>
            </a:r>
            <a:r>
              <a:rPr lang="en-MY" dirty="0"/>
              <a:t> - </a:t>
            </a:r>
            <a:r>
              <a:rPr lang="en-MY" dirty="0" err="1"/>
              <a:t>ood_threshold</a:t>
            </a:r>
            <a:r>
              <a:rPr lang="en-MY" dirty="0"/>
              <a:t>) / </a:t>
            </a:r>
            <a:r>
              <a:rPr lang="en-MY" dirty="0" err="1"/>
              <a:t>ood_threshold</a:t>
            </a:r>
            <a:endParaRPr lang="en-MY" dirty="0"/>
          </a:p>
          <a:p>
            <a:r>
              <a:rPr lang="en-MY" dirty="0"/>
              <a:t>    adjusted = </a:t>
            </a:r>
            <a:r>
              <a:rPr lang="en-MY" dirty="0" err="1"/>
              <a:t>conf_raw</a:t>
            </a:r>
            <a:r>
              <a:rPr lang="en-MY" dirty="0"/>
              <a:t> / (1 + ratio)</a:t>
            </a:r>
          </a:p>
          <a:p>
            <a:endParaRPr lang="en-MY" dirty="0"/>
          </a:p>
          <a:p>
            <a:endParaRPr lang="en-MY" dirty="0"/>
          </a:p>
          <a:p>
            <a:r>
              <a:rPr lang="en-MY" dirty="0"/>
              <a:t>Or this script:</a:t>
            </a:r>
          </a:p>
          <a:p>
            <a:r>
              <a:rPr lang="en-MY" dirty="0"/>
              <a:t>    # ── Section prediction (single best, same as predict()) ────────────</a:t>
            </a:r>
          </a:p>
          <a:p>
            <a:r>
              <a:rPr lang="en-MY" dirty="0"/>
              <a:t>    </a:t>
            </a:r>
            <a:r>
              <a:rPr lang="en-MY" dirty="0" err="1"/>
              <a:t>X_sec</a:t>
            </a:r>
            <a:r>
              <a:rPr lang="en-MY" dirty="0"/>
              <a:t> = </a:t>
            </a:r>
            <a:r>
              <a:rPr lang="en-MY" dirty="0" err="1"/>
              <a:t>df_feat</a:t>
            </a:r>
            <a:r>
              <a:rPr lang="en-MY" dirty="0"/>
              <a:t>[</a:t>
            </a:r>
            <a:r>
              <a:rPr lang="en-MY" dirty="0" err="1"/>
              <a:t>section_features</a:t>
            </a:r>
            <a:r>
              <a:rPr lang="en-MY" dirty="0"/>
              <a:t>].apply(</a:t>
            </a:r>
            <a:r>
              <a:rPr lang="en-MY" dirty="0" err="1"/>
              <a:t>pd.to_numeric</a:t>
            </a:r>
            <a:r>
              <a:rPr lang="en-MY" dirty="0"/>
              <a:t>, errors="coerce").</a:t>
            </a:r>
            <a:r>
              <a:rPr lang="en-MY" dirty="0" err="1"/>
              <a:t>fillna</a:t>
            </a:r>
            <a:r>
              <a:rPr lang="en-MY" dirty="0"/>
              <a:t>(0)</a:t>
            </a:r>
          </a:p>
          <a:p>
            <a:r>
              <a:rPr lang="en-MY" dirty="0"/>
              <a:t>    </a:t>
            </a:r>
            <a:r>
              <a:rPr lang="en-MY" dirty="0" err="1"/>
              <a:t>sec_proba_raw</a:t>
            </a:r>
            <a:r>
              <a:rPr lang="en-MY" dirty="0"/>
              <a:t> = </a:t>
            </a:r>
            <a:r>
              <a:rPr lang="en-MY" dirty="0" err="1"/>
              <a:t>model_section.predict_proba</a:t>
            </a:r>
            <a:r>
              <a:rPr lang="en-MY" dirty="0"/>
              <a:t>(</a:t>
            </a:r>
            <a:r>
              <a:rPr lang="en-MY" dirty="0" err="1"/>
              <a:t>X_sec</a:t>
            </a:r>
            <a:r>
              <a:rPr lang="en-MY" dirty="0"/>
              <a:t>)</a:t>
            </a:r>
          </a:p>
          <a:p>
            <a:r>
              <a:rPr lang="en-MY" dirty="0"/>
              <a:t>    </a:t>
            </a:r>
            <a:r>
              <a:rPr lang="en-MY" dirty="0" err="1"/>
              <a:t>sec_pred_enc</a:t>
            </a:r>
            <a:r>
              <a:rPr lang="en-MY" dirty="0"/>
              <a:t>  = </a:t>
            </a:r>
            <a:r>
              <a:rPr lang="en-MY" dirty="0" err="1"/>
              <a:t>np.argmax</a:t>
            </a:r>
            <a:r>
              <a:rPr lang="en-MY" dirty="0"/>
              <a:t>(</a:t>
            </a:r>
            <a:r>
              <a:rPr lang="en-MY" dirty="0" err="1"/>
              <a:t>sec_proba_raw</a:t>
            </a:r>
            <a:r>
              <a:rPr lang="en-MY" dirty="0"/>
              <a:t>, axis=1)</a:t>
            </a:r>
          </a:p>
          <a:p>
            <a:endParaRPr lang="en-MY" dirty="0"/>
          </a:p>
          <a:p>
            <a:br>
              <a:rPr lang="en-MY" dirty="0"/>
            </a:br>
            <a:endParaRPr lang="en-MY" dirty="0"/>
          </a:p>
          <a:p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26560452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B5533F-1B89-B99B-0D65-01371B3D6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2DA0EB-4492-1CBD-9585-FFC415099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9523" y="231006"/>
            <a:ext cx="4043626" cy="639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233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20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F8F463-FE94-A19A-FF78-AAFF47F1E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E72955-82BD-20F2-756A-D78120C93D0A}"/>
              </a:ext>
            </a:extLst>
          </p:cNvPr>
          <p:cNvSpPr txBox="1"/>
          <p:nvPr/>
        </p:nvSpPr>
        <p:spPr>
          <a:xfrm>
            <a:off x="3788228" y="2621617"/>
            <a:ext cx="538842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solidFill>
                  <a:schemeClr val="bg1"/>
                </a:solidFill>
              </a:rPr>
              <a:t>Full flowchart</a:t>
            </a:r>
          </a:p>
        </p:txBody>
      </p:sp>
    </p:spTree>
    <p:extLst>
      <p:ext uri="{BB962C8B-B14F-4D97-AF65-F5344CB8AC3E}">
        <p14:creationId xmlns:p14="http://schemas.microsoft.com/office/powerpoint/2010/main" val="28761221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F283BA-3DC0-6D63-5BFB-5BE9A4221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577188-542A-8A3A-4EE1-35BA2F57CB63}"/>
              </a:ext>
            </a:extLst>
          </p:cNvPr>
          <p:cNvSpPr txBox="1"/>
          <p:nvPr/>
        </p:nvSpPr>
        <p:spPr>
          <a:xfrm>
            <a:off x="4015846" y="174501"/>
            <a:ext cx="369971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2400" b="1" dirty="0"/>
              <a:t>PREDICTION 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184BF08-3E5D-3171-5ABB-DA38FE8FF86D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5865702" y="636166"/>
            <a:ext cx="3666607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3B9CC73-0991-75BF-5923-46B7A8E00E42}"/>
              </a:ext>
            </a:extLst>
          </p:cNvPr>
          <p:cNvSpPr txBox="1"/>
          <p:nvPr/>
        </p:nvSpPr>
        <p:spPr>
          <a:xfrm>
            <a:off x="8104813" y="1766638"/>
            <a:ext cx="2854992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KNOWN SECTION &amp; CLUSTER</a:t>
            </a:r>
            <a:endParaRPr lang="en-MY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2619CAD-A68F-58F0-234F-B4E2B33FF01B}"/>
              </a:ext>
            </a:extLst>
          </p:cNvPr>
          <p:cNvSpPr txBox="1"/>
          <p:nvPr/>
        </p:nvSpPr>
        <p:spPr>
          <a:xfrm>
            <a:off x="8392428" y="2721113"/>
            <a:ext cx="2279761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CLUSTER</a:t>
            </a:r>
            <a:endParaRPr lang="en-MY" sz="14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FD65D02-D6D8-CDF7-7819-93525F558A6D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>
            <a:off x="9532309" y="2105192"/>
            <a:ext cx="0" cy="615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96B83D8-4114-0226-B808-E5D6685E840F}"/>
              </a:ext>
            </a:extLst>
          </p:cNvPr>
          <p:cNvSpPr txBox="1"/>
          <p:nvPr/>
        </p:nvSpPr>
        <p:spPr>
          <a:xfrm>
            <a:off x="2836543" y="1766638"/>
            <a:ext cx="204803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UNKNOWN</a:t>
            </a:r>
            <a:endParaRPr lang="en-MY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3337188-D19F-9FA5-2A9F-0DA7453CF108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1621451" y="2105192"/>
            <a:ext cx="2239111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60ACDEB-806E-A983-A5AA-3D7E7EB00BAE}"/>
              </a:ext>
            </a:extLst>
          </p:cNvPr>
          <p:cNvSpPr txBox="1"/>
          <p:nvPr/>
        </p:nvSpPr>
        <p:spPr>
          <a:xfrm>
            <a:off x="154172" y="2921168"/>
            <a:ext cx="2934557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</a:t>
            </a:r>
            <a:r>
              <a:rPr lang="en-MY" sz="2000" b="1" dirty="0" err="1">
                <a:solidFill>
                  <a:schemeClr val="tx1"/>
                </a:solidFill>
              </a:rPr>
              <a:t>quipment</a:t>
            </a:r>
            <a:r>
              <a:rPr lang="en-MY" sz="2000" b="1" dirty="0">
                <a:solidFill>
                  <a:schemeClr val="tx1"/>
                </a:solidFill>
              </a:rPr>
              <a:t> Type, Section</a:t>
            </a: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Assign by the User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1AA0C6-3DB7-BFC5-4B02-E75ACCC03490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3860562" y="636166"/>
            <a:ext cx="2005140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5F8D740-8572-ED9D-BC02-AAF774BE2334}"/>
              </a:ext>
            </a:extLst>
          </p:cNvPr>
          <p:cNvCxnSpPr>
            <a:cxnSpLocks/>
            <a:stCxn id="11" idx="2"/>
            <a:endCxn id="37" idx="0"/>
          </p:cNvCxnSpPr>
          <p:nvPr/>
        </p:nvCxnSpPr>
        <p:spPr>
          <a:xfrm>
            <a:off x="3860562" y="2105192"/>
            <a:ext cx="947315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18A06AD-10B2-78BC-A266-1DB786372659}"/>
              </a:ext>
            </a:extLst>
          </p:cNvPr>
          <p:cNvSpPr txBox="1"/>
          <p:nvPr/>
        </p:nvSpPr>
        <p:spPr>
          <a:xfrm>
            <a:off x="3244450" y="2921168"/>
            <a:ext cx="3126853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Cluster</a:t>
            </a:r>
            <a:endParaRPr lang="en-MY" sz="2000" b="1" dirty="0">
              <a:solidFill>
                <a:schemeClr val="tx1"/>
              </a:solidFill>
            </a:endParaRP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Logic (within same section)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180764CB-22CC-8DF4-DD78-B33474CC34EB}"/>
              </a:ext>
            </a:extLst>
          </p:cNvPr>
          <p:cNvCxnSpPr>
            <a:cxnSpLocks/>
            <a:stCxn id="24" idx="2"/>
            <a:endCxn id="72" idx="3"/>
          </p:cNvCxnSpPr>
          <p:nvPr/>
        </p:nvCxnSpPr>
        <p:spPr>
          <a:xfrm flipH="1">
            <a:off x="8335580" y="3121223"/>
            <a:ext cx="1196729" cy="81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8A6E997-26E7-69B5-95CC-DCBF799744F0}"/>
              </a:ext>
            </a:extLst>
          </p:cNvPr>
          <p:cNvCxnSpPr>
            <a:cxnSpLocks/>
            <a:stCxn id="24" idx="2"/>
            <a:endCxn id="73" idx="1"/>
          </p:cNvCxnSpPr>
          <p:nvPr/>
        </p:nvCxnSpPr>
        <p:spPr>
          <a:xfrm>
            <a:off x="9532309" y="3121223"/>
            <a:ext cx="1139880" cy="78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BB151CC7-7645-23DA-7B3A-836A6174EFC7}"/>
              </a:ext>
            </a:extLst>
          </p:cNvPr>
          <p:cNvSpPr txBox="1"/>
          <p:nvPr/>
        </p:nvSpPr>
        <p:spPr>
          <a:xfrm>
            <a:off x="7568032" y="3767554"/>
            <a:ext cx="76754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</a:t>
            </a:r>
            <a:endParaRPr lang="en-MY" sz="105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A38C68A-D1AA-1E18-B9B4-1C7AA86A5EC2}"/>
              </a:ext>
            </a:extLst>
          </p:cNvPr>
          <p:cNvSpPr txBox="1"/>
          <p:nvPr/>
        </p:nvSpPr>
        <p:spPr>
          <a:xfrm>
            <a:off x="10672189" y="3736778"/>
            <a:ext cx="114609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</a:t>
            </a:r>
            <a:endParaRPr lang="en-MY" sz="1050" dirty="0"/>
          </a:p>
        </p:txBody>
      </p:sp>
    </p:spTree>
    <p:extLst>
      <p:ext uri="{BB962C8B-B14F-4D97-AF65-F5344CB8AC3E}">
        <p14:creationId xmlns:p14="http://schemas.microsoft.com/office/powerpoint/2010/main" val="343356015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1043C2-1C0A-0131-6811-F65857B5D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42652D-CC66-D75D-6654-2D845D5869D3}"/>
              </a:ext>
            </a:extLst>
          </p:cNvPr>
          <p:cNvSpPr txBox="1"/>
          <p:nvPr/>
        </p:nvSpPr>
        <p:spPr>
          <a:xfrm>
            <a:off x="4015846" y="174501"/>
            <a:ext cx="369971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2400" b="1" dirty="0"/>
              <a:t>PREDICTION 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4C1A1F2-24F1-6366-1EFD-2E5D57A11CA1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5865702" y="636166"/>
            <a:ext cx="3666607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0134F3C-AE36-6714-9474-E6BDBFB1839A}"/>
              </a:ext>
            </a:extLst>
          </p:cNvPr>
          <p:cNvSpPr txBox="1"/>
          <p:nvPr/>
        </p:nvSpPr>
        <p:spPr>
          <a:xfrm>
            <a:off x="8104813" y="1766638"/>
            <a:ext cx="2854992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KNOWN SECTION &amp; CLUSTER</a:t>
            </a:r>
            <a:endParaRPr lang="en-MY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9BEADC-3F77-226F-CDFD-06390D10FA67}"/>
              </a:ext>
            </a:extLst>
          </p:cNvPr>
          <p:cNvSpPr txBox="1"/>
          <p:nvPr/>
        </p:nvSpPr>
        <p:spPr>
          <a:xfrm>
            <a:off x="8392428" y="2721113"/>
            <a:ext cx="2279761" cy="4001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CLUSTER</a:t>
            </a:r>
            <a:endParaRPr lang="en-MY" sz="14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FB30F94-2609-9DEE-62BD-2C2E1556240D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>
            <a:off x="9532309" y="2105192"/>
            <a:ext cx="0" cy="615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C24A5B4-63B3-B424-2026-808BFC4ABC6A}"/>
              </a:ext>
            </a:extLst>
          </p:cNvPr>
          <p:cNvSpPr txBox="1"/>
          <p:nvPr/>
        </p:nvSpPr>
        <p:spPr>
          <a:xfrm>
            <a:off x="2836543" y="1766638"/>
            <a:ext cx="204803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UNKNOWN</a:t>
            </a:r>
            <a:endParaRPr lang="en-MY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AFE9A51-6C78-68D2-E10C-FB17E844D604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1621451" y="2105192"/>
            <a:ext cx="2239111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0F49E33-3A58-74A2-192B-FC4D816BC6CC}"/>
              </a:ext>
            </a:extLst>
          </p:cNvPr>
          <p:cNvSpPr txBox="1"/>
          <p:nvPr/>
        </p:nvSpPr>
        <p:spPr>
          <a:xfrm>
            <a:off x="154172" y="2921168"/>
            <a:ext cx="2934557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</a:t>
            </a:r>
            <a:r>
              <a:rPr lang="en-MY" sz="2000" b="1" dirty="0" err="1">
                <a:solidFill>
                  <a:schemeClr val="tx1"/>
                </a:solidFill>
              </a:rPr>
              <a:t>quipment</a:t>
            </a:r>
            <a:r>
              <a:rPr lang="en-MY" sz="2000" b="1" dirty="0">
                <a:solidFill>
                  <a:schemeClr val="tx1"/>
                </a:solidFill>
              </a:rPr>
              <a:t> Type, Section</a:t>
            </a: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Assign by the User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7233B2-68AB-C0D1-35DD-ED8E30675B7A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3860562" y="636166"/>
            <a:ext cx="2005140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41B4FA2-3554-B176-70C4-27F34A969C35}"/>
              </a:ext>
            </a:extLst>
          </p:cNvPr>
          <p:cNvCxnSpPr>
            <a:cxnSpLocks/>
            <a:stCxn id="11" idx="2"/>
            <a:endCxn id="37" idx="0"/>
          </p:cNvCxnSpPr>
          <p:nvPr/>
        </p:nvCxnSpPr>
        <p:spPr>
          <a:xfrm>
            <a:off x="3860562" y="2105192"/>
            <a:ext cx="947315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76042B3-CB02-F8FC-4339-153342D76FA9}"/>
              </a:ext>
            </a:extLst>
          </p:cNvPr>
          <p:cNvSpPr txBox="1"/>
          <p:nvPr/>
        </p:nvSpPr>
        <p:spPr>
          <a:xfrm>
            <a:off x="3244450" y="2921168"/>
            <a:ext cx="3126853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Cluster</a:t>
            </a:r>
            <a:endParaRPr lang="en-MY" sz="2000" b="1" dirty="0">
              <a:solidFill>
                <a:schemeClr val="tx1"/>
              </a:solidFill>
            </a:endParaRP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Logic (within same section)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DF367050-41B3-9E58-D3C2-2ECD881E5D4B}"/>
              </a:ext>
            </a:extLst>
          </p:cNvPr>
          <p:cNvCxnSpPr>
            <a:cxnSpLocks/>
            <a:stCxn id="24" idx="2"/>
            <a:endCxn id="72" idx="3"/>
          </p:cNvCxnSpPr>
          <p:nvPr/>
        </p:nvCxnSpPr>
        <p:spPr>
          <a:xfrm flipH="1">
            <a:off x="8335580" y="3121223"/>
            <a:ext cx="1196729" cy="81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1059DC0-E073-0409-48E2-045BF02E41D5}"/>
              </a:ext>
            </a:extLst>
          </p:cNvPr>
          <p:cNvCxnSpPr>
            <a:cxnSpLocks/>
            <a:stCxn id="24" idx="2"/>
            <a:endCxn id="73" idx="1"/>
          </p:cNvCxnSpPr>
          <p:nvPr/>
        </p:nvCxnSpPr>
        <p:spPr>
          <a:xfrm>
            <a:off x="9532309" y="3121223"/>
            <a:ext cx="1139880" cy="78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7764549-F6A3-BEF9-F18D-63F36B2CAA2A}"/>
              </a:ext>
            </a:extLst>
          </p:cNvPr>
          <p:cNvSpPr txBox="1"/>
          <p:nvPr/>
        </p:nvSpPr>
        <p:spPr>
          <a:xfrm>
            <a:off x="7568032" y="3767554"/>
            <a:ext cx="767548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</a:t>
            </a:r>
            <a:endParaRPr lang="en-MY" sz="105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59DBA3F-5F9D-73C3-17F4-6C01745009AB}"/>
              </a:ext>
            </a:extLst>
          </p:cNvPr>
          <p:cNvSpPr txBox="1"/>
          <p:nvPr/>
        </p:nvSpPr>
        <p:spPr>
          <a:xfrm>
            <a:off x="10672189" y="3736778"/>
            <a:ext cx="1146090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</a:t>
            </a:r>
            <a:endParaRPr lang="en-MY" sz="10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DB4641-B417-58B6-5762-EBF601BE3C19}"/>
              </a:ext>
            </a:extLst>
          </p:cNvPr>
          <p:cNvSpPr/>
          <p:nvPr/>
        </p:nvSpPr>
        <p:spPr>
          <a:xfrm>
            <a:off x="73579" y="1345324"/>
            <a:ext cx="6834503" cy="34789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46EDD2-93A5-2135-84A1-3A2DE7609A03}"/>
              </a:ext>
            </a:extLst>
          </p:cNvPr>
          <p:cNvSpPr txBox="1"/>
          <p:nvPr/>
        </p:nvSpPr>
        <p:spPr>
          <a:xfrm>
            <a:off x="234027" y="636166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Approach 1</a:t>
            </a:r>
            <a:endParaRPr lang="en-MY" sz="3600" b="1" dirty="0"/>
          </a:p>
        </p:txBody>
      </p:sp>
    </p:spTree>
    <p:extLst>
      <p:ext uri="{BB962C8B-B14F-4D97-AF65-F5344CB8AC3E}">
        <p14:creationId xmlns:p14="http://schemas.microsoft.com/office/powerpoint/2010/main" val="14415212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67656E-1D33-F928-6402-8EE9BC1BD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A57C37-B754-44D6-88F5-A7EDE4025614}"/>
              </a:ext>
            </a:extLst>
          </p:cNvPr>
          <p:cNvSpPr txBox="1"/>
          <p:nvPr/>
        </p:nvSpPr>
        <p:spPr>
          <a:xfrm>
            <a:off x="4015846" y="174501"/>
            <a:ext cx="369971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2400" b="1" dirty="0"/>
              <a:t>PREDICTION 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F8A9742-9D7B-2215-70B4-61D08E845347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5865702" y="636166"/>
            <a:ext cx="3666607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7B30F1B-44EA-EB0C-1EDA-F376195ADB20}"/>
              </a:ext>
            </a:extLst>
          </p:cNvPr>
          <p:cNvSpPr txBox="1"/>
          <p:nvPr/>
        </p:nvSpPr>
        <p:spPr>
          <a:xfrm>
            <a:off x="8104813" y="1766638"/>
            <a:ext cx="2854992" cy="338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KNOWN SECTION &amp; CLUSTER</a:t>
            </a:r>
            <a:endParaRPr lang="en-MY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375F1A-3C06-980D-6098-8625A7F09348}"/>
              </a:ext>
            </a:extLst>
          </p:cNvPr>
          <p:cNvSpPr txBox="1"/>
          <p:nvPr/>
        </p:nvSpPr>
        <p:spPr>
          <a:xfrm>
            <a:off x="8392428" y="2721113"/>
            <a:ext cx="2279761" cy="4001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CLUSTER</a:t>
            </a:r>
            <a:endParaRPr lang="en-MY" sz="14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859672C-A951-B513-0882-144ECA3BA596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>
            <a:off x="9532309" y="2105192"/>
            <a:ext cx="0" cy="615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6BBFBD5-BC37-3B86-E8EC-F20C9277953D}"/>
              </a:ext>
            </a:extLst>
          </p:cNvPr>
          <p:cNvSpPr txBox="1"/>
          <p:nvPr/>
        </p:nvSpPr>
        <p:spPr>
          <a:xfrm>
            <a:off x="2836543" y="1766638"/>
            <a:ext cx="2048038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UNKNOWN</a:t>
            </a:r>
            <a:endParaRPr lang="en-MY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4B4DF8-95AD-BF96-6AD5-B5C22FF272B8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1621451" y="2105192"/>
            <a:ext cx="2239111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A9DFD9A-493B-7579-812E-F5F3BFD76F13}"/>
              </a:ext>
            </a:extLst>
          </p:cNvPr>
          <p:cNvSpPr txBox="1"/>
          <p:nvPr/>
        </p:nvSpPr>
        <p:spPr>
          <a:xfrm>
            <a:off x="154172" y="2921168"/>
            <a:ext cx="2934557" cy="101566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</a:t>
            </a:r>
            <a:r>
              <a:rPr lang="en-MY" sz="2000" b="1" dirty="0" err="1">
                <a:solidFill>
                  <a:schemeClr val="tx1"/>
                </a:solidFill>
              </a:rPr>
              <a:t>quipment</a:t>
            </a:r>
            <a:r>
              <a:rPr lang="en-MY" sz="2000" b="1" dirty="0">
                <a:solidFill>
                  <a:schemeClr val="tx1"/>
                </a:solidFill>
              </a:rPr>
              <a:t> Type, Section</a:t>
            </a: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Assign by the User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2503661-C56B-3487-9CDE-D1212A8C79FC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3860562" y="636166"/>
            <a:ext cx="2005140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34C5453-E5C8-19EE-0112-5CD6439C0862}"/>
              </a:ext>
            </a:extLst>
          </p:cNvPr>
          <p:cNvCxnSpPr>
            <a:cxnSpLocks/>
            <a:stCxn id="11" idx="2"/>
            <a:endCxn id="37" idx="0"/>
          </p:cNvCxnSpPr>
          <p:nvPr/>
        </p:nvCxnSpPr>
        <p:spPr>
          <a:xfrm>
            <a:off x="3860562" y="2105192"/>
            <a:ext cx="947315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B9E99C0-9927-A2C8-5D6D-647A59ABCF5C}"/>
              </a:ext>
            </a:extLst>
          </p:cNvPr>
          <p:cNvSpPr txBox="1"/>
          <p:nvPr/>
        </p:nvSpPr>
        <p:spPr>
          <a:xfrm>
            <a:off x="3244450" y="2921168"/>
            <a:ext cx="3126853" cy="101566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Cluster</a:t>
            </a:r>
            <a:endParaRPr lang="en-MY" sz="2000" b="1" dirty="0">
              <a:solidFill>
                <a:schemeClr val="tx1"/>
              </a:solidFill>
            </a:endParaRP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Logic (within same section)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8B2D1A65-E4AD-70CA-1CDA-CCAB95A79D37}"/>
              </a:ext>
            </a:extLst>
          </p:cNvPr>
          <p:cNvCxnSpPr>
            <a:cxnSpLocks/>
            <a:stCxn id="24" idx="2"/>
            <a:endCxn id="72" idx="3"/>
          </p:cNvCxnSpPr>
          <p:nvPr/>
        </p:nvCxnSpPr>
        <p:spPr>
          <a:xfrm flipH="1">
            <a:off x="8335580" y="3121223"/>
            <a:ext cx="1196729" cy="81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0475E98-AE4E-4E87-82CE-147A62557B1B}"/>
              </a:ext>
            </a:extLst>
          </p:cNvPr>
          <p:cNvCxnSpPr>
            <a:cxnSpLocks/>
            <a:stCxn id="24" idx="2"/>
            <a:endCxn id="73" idx="1"/>
          </p:cNvCxnSpPr>
          <p:nvPr/>
        </p:nvCxnSpPr>
        <p:spPr>
          <a:xfrm>
            <a:off x="9532309" y="3121223"/>
            <a:ext cx="1139880" cy="78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9C96411E-D33C-874C-0718-65D2E177CFFC}"/>
              </a:ext>
            </a:extLst>
          </p:cNvPr>
          <p:cNvSpPr txBox="1"/>
          <p:nvPr/>
        </p:nvSpPr>
        <p:spPr>
          <a:xfrm>
            <a:off x="7568032" y="3767554"/>
            <a:ext cx="767548" cy="338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</a:t>
            </a:r>
            <a:endParaRPr lang="en-MY" sz="105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D2D5755-F36B-FFE6-25C0-F5AAA0F39E68}"/>
              </a:ext>
            </a:extLst>
          </p:cNvPr>
          <p:cNvSpPr txBox="1"/>
          <p:nvPr/>
        </p:nvSpPr>
        <p:spPr>
          <a:xfrm>
            <a:off x="10672189" y="3736778"/>
            <a:ext cx="1146090" cy="338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</a:t>
            </a:r>
            <a:endParaRPr lang="en-MY" sz="10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3004BF-DD05-A3D9-528B-1561A17A6C4B}"/>
              </a:ext>
            </a:extLst>
          </p:cNvPr>
          <p:cNvSpPr/>
          <p:nvPr/>
        </p:nvSpPr>
        <p:spPr>
          <a:xfrm>
            <a:off x="7143136" y="1282497"/>
            <a:ext cx="4894692" cy="34789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EEDE3-83AB-0D3D-9293-A758BAC14DB2}"/>
              </a:ext>
            </a:extLst>
          </p:cNvPr>
          <p:cNvSpPr txBox="1"/>
          <p:nvPr/>
        </p:nvSpPr>
        <p:spPr>
          <a:xfrm>
            <a:off x="8819570" y="498490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Approach 2</a:t>
            </a:r>
            <a:endParaRPr lang="en-MY" sz="3600" b="1" dirty="0"/>
          </a:p>
        </p:txBody>
      </p:sp>
    </p:spTree>
    <p:extLst>
      <p:ext uri="{BB962C8B-B14F-4D97-AF65-F5344CB8AC3E}">
        <p14:creationId xmlns:p14="http://schemas.microsoft.com/office/powerpoint/2010/main" val="2545441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7F7DA7-1D11-5B45-3B62-F12ED03B0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2E5218-EB90-6968-1B12-9DADDD7CE485}"/>
              </a:ext>
            </a:extLst>
          </p:cNvPr>
          <p:cNvSpPr txBox="1"/>
          <p:nvPr/>
        </p:nvSpPr>
        <p:spPr>
          <a:xfrm>
            <a:off x="4432578" y="1886554"/>
            <a:ext cx="3699711" cy="7463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1</a:t>
            </a:r>
          </a:p>
          <a:p>
            <a:pPr algn="ctr"/>
            <a:r>
              <a:rPr lang="en-MY" sz="1600" dirty="0"/>
              <a:t>Highest Percentage fill up the Cluster</a:t>
            </a:r>
          </a:p>
          <a:p>
            <a:pPr marL="342900" indent="-342900">
              <a:buAutoNum type="arabicParenR"/>
            </a:pPr>
            <a:endParaRPr lang="en-MY"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A1AF95-DAB9-9A85-F9DC-62C7CB76D961}"/>
              </a:ext>
            </a:extLst>
          </p:cNvPr>
          <p:cNvSpPr txBox="1"/>
          <p:nvPr/>
        </p:nvSpPr>
        <p:spPr>
          <a:xfrm>
            <a:off x="7590502" y="4298335"/>
            <a:ext cx="2969283" cy="6155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2</a:t>
            </a:r>
          </a:p>
          <a:p>
            <a:pPr algn="ctr"/>
            <a:r>
              <a:rPr lang="en-MY" dirty="0"/>
              <a:t>Kick and replace mechanism</a:t>
            </a:r>
            <a:endParaRPr lang="en-MY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B5FF7B-B52B-3A68-ADCC-95C546C92F82}"/>
              </a:ext>
            </a:extLst>
          </p:cNvPr>
          <p:cNvSpPr txBox="1"/>
          <p:nvPr/>
        </p:nvSpPr>
        <p:spPr>
          <a:xfrm>
            <a:off x="2521446" y="3429000"/>
            <a:ext cx="2217701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CLUSTER = FULL </a:t>
            </a:r>
            <a:endParaRPr lang="en-MY" sz="10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FF9F9A-0BEC-2EC2-5274-A53A6C3A645C}"/>
              </a:ext>
            </a:extLst>
          </p:cNvPr>
          <p:cNvSpPr txBox="1"/>
          <p:nvPr/>
        </p:nvSpPr>
        <p:spPr>
          <a:xfrm>
            <a:off x="7590502" y="3429000"/>
            <a:ext cx="2890683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CLUSTER = VACANT </a:t>
            </a:r>
            <a:endParaRPr lang="en-MY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FA6028-8576-7C72-5DD1-21696B4C391A}"/>
              </a:ext>
            </a:extLst>
          </p:cNvPr>
          <p:cNvSpPr txBox="1"/>
          <p:nvPr/>
        </p:nvSpPr>
        <p:spPr>
          <a:xfrm>
            <a:off x="2521447" y="4289301"/>
            <a:ext cx="2217701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3</a:t>
            </a:r>
            <a:endParaRPr lang="en-MY" sz="1050" b="1" dirty="0"/>
          </a:p>
          <a:p>
            <a:pPr algn="ctr"/>
            <a:r>
              <a:rPr lang="en-MY" sz="1600" dirty="0"/>
              <a:t>Conflict Case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5C6E45-ECA8-475B-D000-B08E75527FFD}"/>
              </a:ext>
            </a:extLst>
          </p:cNvPr>
          <p:cNvSpPr txBox="1"/>
          <p:nvPr/>
        </p:nvSpPr>
        <p:spPr>
          <a:xfrm>
            <a:off x="2521446" y="5719895"/>
            <a:ext cx="2217701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4</a:t>
            </a:r>
            <a:endParaRPr lang="en-MY" sz="1050" b="1" dirty="0"/>
          </a:p>
          <a:p>
            <a:pPr algn="ctr"/>
            <a:r>
              <a:rPr lang="en-MY" sz="1600" dirty="0"/>
              <a:t>Solve Conflict Case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1F26D2-AB3E-176D-DF1A-6292C8D1D42C}"/>
              </a:ext>
            </a:extLst>
          </p:cNvPr>
          <p:cNvSpPr txBox="1"/>
          <p:nvPr/>
        </p:nvSpPr>
        <p:spPr>
          <a:xfrm>
            <a:off x="5207564" y="364035"/>
            <a:ext cx="214974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PREDICTION</a:t>
            </a:r>
            <a:endParaRPr lang="en-MY" sz="10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DCE8864-E00B-386A-FCE8-088A85B5ED9E}"/>
              </a:ext>
            </a:extLst>
          </p:cNvPr>
          <p:cNvSpPr txBox="1"/>
          <p:nvPr/>
        </p:nvSpPr>
        <p:spPr>
          <a:xfrm>
            <a:off x="5207564" y="1104805"/>
            <a:ext cx="214974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LOGIC</a:t>
            </a:r>
            <a:endParaRPr lang="en-MY" sz="105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3C2B3D6-1126-AF74-314B-926982F5C8B5}"/>
              </a:ext>
            </a:extLst>
          </p:cNvPr>
          <p:cNvCxnSpPr>
            <a:stCxn id="20" idx="2"/>
            <a:endCxn id="22" idx="0"/>
          </p:cNvCxnSpPr>
          <p:nvPr/>
        </p:nvCxnSpPr>
        <p:spPr>
          <a:xfrm>
            <a:off x="6282434" y="702589"/>
            <a:ext cx="0" cy="402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F12242E-86A1-2C3D-9C3C-4920CE89D76E}"/>
              </a:ext>
            </a:extLst>
          </p:cNvPr>
          <p:cNvCxnSpPr>
            <a:stCxn id="22" idx="2"/>
            <a:endCxn id="2" idx="0"/>
          </p:cNvCxnSpPr>
          <p:nvPr/>
        </p:nvCxnSpPr>
        <p:spPr>
          <a:xfrm>
            <a:off x="6282434" y="1443359"/>
            <a:ext cx="0" cy="443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17EEF9D-341E-A751-EE4A-8438734AFF31}"/>
              </a:ext>
            </a:extLst>
          </p:cNvPr>
          <p:cNvCxnSpPr>
            <a:stCxn id="2" idx="2"/>
            <a:endCxn id="7" idx="0"/>
          </p:cNvCxnSpPr>
          <p:nvPr/>
        </p:nvCxnSpPr>
        <p:spPr>
          <a:xfrm flipH="1">
            <a:off x="3630297" y="2632912"/>
            <a:ext cx="2652137" cy="796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F4E7B75-DDE2-B034-3C13-BF698151EBB7}"/>
              </a:ext>
            </a:extLst>
          </p:cNvPr>
          <p:cNvCxnSpPr>
            <a:stCxn id="2" idx="2"/>
            <a:endCxn id="11" idx="0"/>
          </p:cNvCxnSpPr>
          <p:nvPr/>
        </p:nvCxnSpPr>
        <p:spPr>
          <a:xfrm>
            <a:off x="6282434" y="2632912"/>
            <a:ext cx="2753410" cy="796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B6F051B-C5C4-E775-EE52-467757019DFA}"/>
              </a:ext>
            </a:extLst>
          </p:cNvPr>
          <p:cNvCxnSpPr>
            <a:stCxn id="7" idx="2"/>
            <a:endCxn id="14" idx="0"/>
          </p:cNvCxnSpPr>
          <p:nvPr/>
        </p:nvCxnSpPr>
        <p:spPr>
          <a:xfrm>
            <a:off x="3630297" y="3767554"/>
            <a:ext cx="1" cy="521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6659810-BDBD-5F9D-6653-88446B23662B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 flipH="1">
            <a:off x="3630297" y="4874076"/>
            <a:ext cx="1" cy="845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AF9D62E-A29F-A753-737D-3615D2148A28}"/>
              </a:ext>
            </a:extLst>
          </p:cNvPr>
          <p:cNvCxnSpPr>
            <a:stCxn id="11" idx="2"/>
            <a:endCxn id="5" idx="0"/>
          </p:cNvCxnSpPr>
          <p:nvPr/>
        </p:nvCxnSpPr>
        <p:spPr>
          <a:xfrm>
            <a:off x="9035844" y="3767554"/>
            <a:ext cx="39300" cy="530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1A12A31-72D7-6738-145F-618D37428487}"/>
              </a:ext>
            </a:extLst>
          </p:cNvPr>
          <p:cNvSpPr txBox="1"/>
          <p:nvPr/>
        </p:nvSpPr>
        <p:spPr>
          <a:xfrm>
            <a:off x="442825" y="230164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Approach 2</a:t>
            </a:r>
            <a:endParaRPr lang="en-MY" sz="3600" b="1" dirty="0"/>
          </a:p>
        </p:txBody>
      </p:sp>
    </p:spTree>
    <p:extLst>
      <p:ext uri="{BB962C8B-B14F-4D97-AF65-F5344CB8AC3E}">
        <p14:creationId xmlns:p14="http://schemas.microsoft.com/office/powerpoint/2010/main" val="9538849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77F6BA-3492-63F3-D785-4B5DF2A38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188357-3633-E56C-42CA-8B2BF6BDCB92}"/>
              </a:ext>
            </a:extLst>
          </p:cNvPr>
          <p:cNvSpPr txBox="1"/>
          <p:nvPr/>
        </p:nvSpPr>
        <p:spPr>
          <a:xfrm>
            <a:off x="4756224" y="2368330"/>
            <a:ext cx="31176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Approach 1</a:t>
            </a:r>
          </a:p>
        </p:txBody>
      </p:sp>
    </p:spTree>
    <p:extLst>
      <p:ext uri="{BB962C8B-B14F-4D97-AF65-F5344CB8AC3E}">
        <p14:creationId xmlns:p14="http://schemas.microsoft.com/office/powerpoint/2010/main" val="20263942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B6C9B0-778F-1AAB-6381-C68F7A7AA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BED547-20E1-B03C-A900-6FBB82A63718}"/>
              </a:ext>
            </a:extLst>
          </p:cNvPr>
          <p:cNvSpPr txBox="1"/>
          <p:nvPr/>
        </p:nvSpPr>
        <p:spPr>
          <a:xfrm>
            <a:off x="4015846" y="174501"/>
            <a:ext cx="369971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2400" b="1" dirty="0"/>
              <a:t>PREDICTION 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31C0FFF-BA08-65E3-2254-640F1B0DACF1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5865702" y="636166"/>
            <a:ext cx="3666607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95719FB-9069-AB74-D1F0-8512C387AFBA}"/>
              </a:ext>
            </a:extLst>
          </p:cNvPr>
          <p:cNvSpPr txBox="1"/>
          <p:nvPr/>
        </p:nvSpPr>
        <p:spPr>
          <a:xfrm>
            <a:off x="8104813" y="1766638"/>
            <a:ext cx="2854992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KNOWN SECTION &amp; CLUSTER</a:t>
            </a:r>
            <a:endParaRPr lang="en-MY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516794-52DB-CD3F-E69D-59A39DA33EF8}"/>
              </a:ext>
            </a:extLst>
          </p:cNvPr>
          <p:cNvSpPr txBox="1"/>
          <p:nvPr/>
        </p:nvSpPr>
        <p:spPr>
          <a:xfrm>
            <a:off x="8392428" y="2721113"/>
            <a:ext cx="2279761" cy="4001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CLUSTER</a:t>
            </a:r>
            <a:endParaRPr lang="en-MY" sz="14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867C5DF-BAB9-3B34-305F-275B4B730C5C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>
            <a:off x="9532309" y="2105192"/>
            <a:ext cx="0" cy="615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11506BF-3F2B-5153-D442-90A540C85E07}"/>
              </a:ext>
            </a:extLst>
          </p:cNvPr>
          <p:cNvSpPr txBox="1"/>
          <p:nvPr/>
        </p:nvSpPr>
        <p:spPr>
          <a:xfrm>
            <a:off x="2836543" y="1766638"/>
            <a:ext cx="204803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UNKNOWN</a:t>
            </a:r>
            <a:endParaRPr lang="en-MY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0B4600-DB22-D34B-E02A-AB1F02F5E03C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1621451" y="2105192"/>
            <a:ext cx="2239111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6B6821B-8F1A-C77C-0ACA-1827455AA419}"/>
              </a:ext>
            </a:extLst>
          </p:cNvPr>
          <p:cNvSpPr txBox="1"/>
          <p:nvPr/>
        </p:nvSpPr>
        <p:spPr>
          <a:xfrm>
            <a:off x="154172" y="2921168"/>
            <a:ext cx="2934557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</a:t>
            </a:r>
            <a:r>
              <a:rPr lang="en-MY" sz="2000" b="1" dirty="0" err="1">
                <a:solidFill>
                  <a:schemeClr val="tx1"/>
                </a:solidFill>
              </a:rPr>
              <a:t>quipment</a:t>
            </a:r>
            <a:r>
              <a:rPr lang="en-MY" sz="2000" b="1" dirty="0">
                <a:solidFill>
                  <a:schemeClr val="tx1"/>
                </a:solidFill>
              </a:rPr>
              <a:t> Type, Section</a:t>
            </a: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Assign by the User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87785E5-1367-F838-04AD-15FE6B264B2B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3860562" y="636166"/>
            <a:ext cx="2005140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BCDA64E-F0FC-B63C-7A24-40FD8BFEE1CF}"/>
              </a:ext>
            </a:extLst>
          </p:cNvPr>
          <p:cNvCxnSpPr>
            <a:cxnSpLocks/>
            <a:stCxn id="11" idx="2"/>
            <a:endCxn id="37" idx="0"/>
          </p:cNvCxnSpPr>
          <p:nvPr/>
        </p:nvCxnSpPr>
        <p:spPr>
          <a:xfrm>
            <a:off x="3860562" y="2105192"/>
            <a:ext cx="947315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73377B0-55B3-B6AE-F730-90CD7AE12D91}"/>
              </a:ext>
            </a:extLst>
          </p:cNvPr>
          <p:cNvSpPr txBox="1"/>
          <p:nvPr/>
        </p:nvSpPr>
        <p:spPr>
          <a:xfrm>
            <a:off x="3244450" y="2921168"/>
            <a:ext cx="3126853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Cluster</a:t>
            </a:r>
            <a:endParaRPr lang="en-MY" sz="2000" b="1" dirty="0">
              <a:solidFill>
                <a:schemeClr val="tx1"/>
              </a:solidFill>
            </a:endParaRP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Logic (within same section)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62672F3-F933-9CAE-2ACF-91F9822831CB}"/>
              </a:ext>
            </a:extLst>
          </p:cNvPr>
          <p:cNvCxnSpPr>
            <a:cxnSpLocks/>
            <a:stCxn id="24" idx="2"/>
            <a:endCxn id="72" idx="3"/>
          </p:cNvCxnSpPr>
          <p:nvPr/>
        </p:nvCxnSpPr>
        <p:spPr>
          <a:xfrm flipH="1">
            <a:off x="8335580" y="3121223"/>
            <a:ext cx="1196729" cy="81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222B6D11-EE8D-E028-81B2-BDA4ADD49574}"/>
              </a:ext>
            </a:extLst>
          </p:cNvPr>
          <p:cNvCxnSpPr>
            <a:cxnSpLocks/>
            <a:stCxn id="24" idx="2"/>
            <a:endCxn id="73" idx="1"/>
          </p:cNvCxnSpPr>
          <p:nvPr/>
        </p:nvCxnSpPr>
        <p:spPr>
          <a:xfrm>
            <a:off x="9532309" y="3121223"/>
            <a:ext cx="1139880" cy="78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23312578-1956-BA51-A99F-513175148F56}"/>
              </a:ext>
            </a:extLst>
          </p:cNvPr>
          <p:cNvSpPr txBox="1"/>
          <p:nvPr/>
        </p:nvSpPr>
        <p:spPr>
          <a:xfrm>
            <a:off x="7568032" y="3767554"/>
            <a:ext cx="767548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</a:t>
            </a:r>
            <a:endParaRPr lang="en-MY" sz="105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F5A5DD5-7EA1-B5F0-CB2D-5E54C21159D0}"/>
              </a:ext>
            </a:extLst>
          </p:cNvPr>
          <p:cNvSpPr txBox="1"/>
          <p:nvPr/>
        </p:nvSpPr>
        <p:spPr>
          <a:xfrm>
            <a:off x="10672189" y="3736778"/>
            <a:ext cx="1146090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</a:t>
            </a:r>
            <a:endParaRPr lang="en-MY" sz="10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D00FD0-F211-B060-32E1-DF7562EA91C1}"/>
              </a:ext>
            </a:extLst>
          </p:cNvPr>
          <p:cNvSpPr/>
          <p:nvPr/>
        </p:nvSpPr>
        <p:spPr>
          <a:xfrm>
            <a:off x="73579" y="1345324"/>
            <a:ext cx="6834503" cy="34789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795E75-7F75-63A1-BD8E-2344CB6B4B7E}"/>
              </a:ext>
            </a:extLst>
          </p:cNvPr>
          <p:cNvSpPr txBox="1"/>
          <p:nvPr/>
        </p:nvSpPr>
        <p:spPr>
          <a:xfrm>
            <a:off x="234027" y="636166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Approach 1</a:t>
            </a:r>
            <a:endParaRPr lang="en-MY" sz="3600" b="1" dirty="0"/>
          </a:p>
        </p:txBody>
      </p:sp>
    </p:spTree>
    <p:extLst>
      <p:ext uri="{BB962C8B-B14F-4D97-AF65-F5344CB8AC3E}">
        <p14:creationId xmlns:p14="http://schemas.microsoft.com/office/powerpoint/2010/main" val="36639115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68A95E-B525-91C0-7B0D-B0DC17AD2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A03B38-6E13-BEC7-4F3E-792FFC9998BA}"/>
              </a:ext>
            </a:extLst>
          </p:cNvPr>
          <p:cNvSpPr txBox="1"/>
          <p:nvPr/>
        </p:nvSpPr>
        <p:spPr>
          <a:xfrm>
            <a:off x="589547" y="421631"/>
            <a:ext cx="11012906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Approach 10/07/2026: </a:t>
            </a:r>
          </a:p>
          <a:p>
            <a:endParaRPr lang="en-MY" sz="2400" dirty="0"/>
          </a:p>
          <a:p>
            <a:pPr marL="342900" indent="-342900">
              <a:buAutoNum type="arabicParenR"/>
            </a:pPr>
            <a:r>
              <a:rPr lang="en-MY" sz="2400" dirty="0"/>
              <a:t> Run prediction model</a:t>
            </a:r>
          </a:p>
          <a:p>
            <a:pPr marL="342900" indent="-342900">
              <a:buAutoNum type="arabicParenR"/>
            </a:pPr>
            <a:r>
              <a:rPr lang="en-MY" sz="2400" dirty="0"/>
              <a:t>Logic sort the model into section and cluster based on the prediction result</a:t>
            </a:r>
          </a:p>
          <a:p>
            <a:pPr marL="342900" indent="-342900">
              <a:buAutoNum type="arabicParenR"/>
            </a:pPr>
            <a:r>
              <a:rPr lang="en-MY" sz="2400" dirty="0"/>
              <a:t>Left the UNKNOWN cluster</a:t>
            </a:r>
          </a:p>
          <a:p>
            <a:pPr marL="342900" indent="-342900">
              <a:buAutoNum type="arabicParenR"/>
            </a:pPr>
            <a:r>
              <a:rPr lang="en-MY" sz="2400" b="1" dirty="0"/>
              <a:t>UNKNOWN cluster		</a:t>
            </a:r>
          </a:p>
          <a:p>
            <a:r>
              <a:rPr lang="en-MY" sz="2400" b="1" dirty="0"/>
              <a:t>	</a:t>
            </a:r>
            <a:r>
              <a:rPr lang="en-MY" sz="2400" dirty="0"/>
              <a:t>-Check the top 3 highest percentage</a:t>
            </a:r>
          </a:p>
          <a:p>
            <a:r>
              <a:rPr lang="en-MY" sz="2400" dirty="0"/>
              <a:t>	-Load the top 3 cluster obtain from the highest percentage</a:t>
            </a:r>
          </a:p>
          <a:p>
            <a:r>
              <a:rPr lang="en-MY" sz="2400" dirty="0"/>
              <a:t>	-Match the pattern algorithm</a:t>
            </a:r>
          </a:p>
          <a:p>
            <a:r>
              <a:rPr lang="en-MY" sz="2400" dirty="0"/>
              <a:t>	-Is the equipment exist in the cluster algorithm reference? Yes/No</a:t>
            </a:r>
          </a:p>
          <a:p>
            <a:pPr lvl="5"/>
            <a:r>
              <a:rPr lang="en-MY" sz="2400" dirty="0"/>
              <a:t>-NO = EXCLUDE THE CLUSTER</a:t>
            </a:r>
          </a:p>
          <a:p>
            <a:pPr lvl="5"/>
            <a:r>
              <a:rPr lang="en-MY" sz="2400" dirty="0"/>
              <a:t>-YES = Proceed with the selection.</a:t>
            </a:r>
          </a:p>
          <a:p>
            <a:pPr lvl="5"/>
            <a:endParaRPr lang="en-MY" sz="2400" dirty="0"/>
          </a:p>
          <a:p>
            <a:pPr marL="452438" lvl="5"/>
            <a:r>
              <a:rPr lang="en-MY" sz="2400" dirty="0"/>
              <a:t>-If there is more than 1 similar device type across cluster, which cluster should choose? = choose the cluster in which no Device Type inside.</a:t>
            </a:r>
          </a:p>
          <a:p>
            <a:pPr marL="342900" indent="-342900">
              <a:buAutoNum type="arabicParenR"/>
            </a:pPr>
            <a:endParaRPr lang="en-MY" sz="1400" dirty="0"/>
          </a:p>
        </p:txBody>
      </p:sp>
    </p:spTree>
    <p:extLst>
      <p:ext uri="{BB962C8B-B14F-4D97-AF65-F5344CB8AC3E}">
        <p14:creationId xmlns:p14="http://schemas.microsoft.com/office/powerpoint/2010/main" val="32112713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75A408-2D03-9835-2AC1-A72ACACD0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A75B230-E049-31DC-B1D5-CB81BC29B6CD}"/>
              </a:ext>
            </a:extLst>
          </p:cNvPr>
          <p:cNvCxnSpPr>
            <a:stCxn id="15" idx="2"/>
            <a:endCxn id="27" idx="0"/>
          </p:cNvCxnSpPr>
          <p:nvPr/>
        </p:nvCxnSpPr>
        <p:spPr>
          <a:xfrm>
            <a:off x="6075826" y="1055991"/>
            <a:ext cx="15643" cy="403525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D16254E1-B53A-29C0-7C80-33451301E1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65" b="40294"/>
          <a:stretch>
            <a:fillRect/>
          </a:stretch>
        </p:blipFill>
        <p:spPr>
          <a:xfrm>
            <a:off x="3667048" y="174826"/>
            <a:ext cx="4817555" cy="881165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D7C72E2-6377-53BC-6BAD-C5C6B9CB06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3894"/>
          <a:stretch>
            <a:fillRect/>
          </a:stretch>
        </p:blipFill>
        <p:spPr>
          <a:xfrm>
            <a:off x="3687223" y="1319056"/>
            <a:ext cx="4817554" cy="785472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D012C11-DD3C-59A3-7DCF-7C5A91BE9D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704"/>
          <a:stretch>
            <a:fillRect/>
          </a:stretch>
        </p:blipFill>
        <p:spPr>
          <a:xfrm>
            <a:off x="3687223" y="2388902"/>
            <a:ext cx="4848840" cy="622867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1CC056C-6B12-F76F-37A2-8A0F79CEB0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43537"/>
          <a:stretch>
            <a:fillRect/>
          </a:stretch>
        </p:blipFill>
        <p:spPr>
          <a:xfrm>
            <a:off x="3151451" y="3345280"/>
            <a:ext cx="5920384" cy="1398924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89158B4-EB3D-8BF6-747E-3C4E54185C2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54578"/>
          <a:stretch>
            <a:fillRect/>
          </a:stretch>
        </p:blipFill>
        <p:spPr>
          <a:xfrm>
            <a:off x="3111103" y="5091243"/>
            <a:ext cx="5960732" cy="1065962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8745FA-D2EE-7B0E-3E5D-B99292C654CE}"/>
              </a:ext>
            </a:extLst>
          </p:cNvPr>
          <p:cNvSpPr txBox="1"/>
          <p:nvPr/>
        </p:nvSpPr>
        <p:spPr>
          <a:xfrm>
            <a:off x="932688" y="430742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TYPE</a:t>
            </a:r>
            <a:endParaRPr lang="en-MY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5F4DCE-F4A3-E9A9-5A6D-FB6200DC0BA4}"/>
              </a:ext>
            </a:extLst>
          </p:cNvPr>
          <p:cNvSpPr txBox="1"/>
          <p:nvPr/>
        </p:nvSpPr>
        <p:spPr>
          <a:xfrm>
            <a:off x="932688" y="1663055"/>
            <a:ext cx="17604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DEVICE SECTION</a:t>
            </a:r>
            <a:endParaRPr lang="en-MY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AA610F-6002-A575-99E7-EDAE6DCF5371}"/>
              </a:ext>
            </a:extLst>
          </p:cNvPr>
          <p:cNvSpPr txBox="1"/>
          <p:nvPr/>
        </p:nvSpPr>
        <p:spPr>
          <a:xfrm>
            <a:off x="941861" y="2331003"/>
            <a:ext cx="19505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/>
              <a:t>DEVICE CLUSTER</a:t>
            </a:r>
            <a:endParaRPr lang="en-MY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FF958F-9B36-AFEF-4C23-47571195818C}"/>
              </a:ext>
            </a:extLst>
          </p:cNvPr>
          <p:cNvSpPr txBox="1"/>
          <p:nvPr/>
        </p:nvSpPr>
        <p:spPr>
          <a:xfrm>
            <a:off x="639659" y="3536735"/>
            <a:ext cx="19505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SECTION CLUSTER </a:t>
            </a:r>
          </a:p>
          <a:p>
            <a:pPr algn="ctr"/>
            <a:r>
              <a:rPr lang="en-US" dirty="0"/>
              <a:t>GROUPING</a:t>
            </a:r>
            <a:endParaRPr lang="en-MY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2F33F9-2A46-81D1-336A-7CFC6239B342}"/>
              </a:ext>
            </a:extLst>
          </p:cNvPr>
          <p:cNvSpPr txBox="1"/>
          <p:nvPr/>
        </p:nvSpPr>
        <p:spPr>
          <a:xfrm>
            <a:off x="1188215" y="5298672"/>
            <a:ext cx="1316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UNKNOWN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7073364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174729-F516-32DE-B97B-97D35BF76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8ED8025-3E0D-496F-3C63-0DCE33238EA1}"/>
              </a:ext>
            </a:extLst>
          </p:cNvPr>
          <p:cNvCxnSpPr>
            <a:cxnSpLocks/>
          </p:cNvCxnSpPr>
          <p:nvPr/>
        </p:nvCxnSpPr>
        <p:spPr>
          <a:xfrm>
            <a:off x="6080357" y="1099771"/>
            <a:ext cx="15642" cy="222353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37325975-00F6-0BFB-375E-C259323FB8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578"/>
          <a:stretch>
            <a:fillRect/>
          </a:stretch>
        </p:blipFill>
        <p:spPr>
          <a:xfrm>
            <a:off x="3361441" y="258223"/>
            <a:ext cx="5960732" cy="1065962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1FC3206-2247-6EBE-F263-B1E76D7D67D4}"/>
              </a:ext>
            </a:extLst>
          </p:cNvPr>
          <p:cNvSpPr txBox="1"/>
          <p:nvPr/>
        </p:nvSpPr>
        <p:spPr>
          <a:xfrm>
            <a:off x="1198047" y="606538"/>
            <a:ext cx="1316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UNKNOWN</a:t>
            </a:r>
            <a:endParaRPr lang="en-MY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12372-3E2F-D013-6DB4-78E08FE8AC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35"/>
          <a:stretch>
            <a:fillRect/>
          </a:stretch>
        </p:blipFill>
        <p:spPr>
          <a:xfrm>
            <a:off x="3667711" y="1646392"/>
            <a:ext cx="4856577" cy="123476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290165-1867-F08B-E984-96790212A1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2731"/>
          <a:stretch>
            <a:fillRect/>
          </a:stretch>
        </p:blipFill>
        <p:spPr>
          <a:xfrm>
            <a:off x="3005612" y="3429000"/>
            <a:ext cx="6987022" cy="1968910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6E3ED68-9901-B30F-22CE-30DCEF351113}"/>
              </a:ext>
            </a:extLst>
          </p:cNvPr>
          <p:cNvSpPr txBox="1"/>
          <p:nvPr/>
        </p:nvSpPr>
        <p:spPr>
          <a:xfrm>
            <a:off x="678392" y="1872025"/>
            <a:ext cx="26111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ENTER THE DEVICE ID</a:t>
            </a:r>
            <a:endParaRPr lang="en-MY" dirty="0"/>
          </a:p>
          <a:p>
            <a:pPr algn="ctr"/>
            <a:r>
              <a:rPr lang="en-MY" dirty="0"/>
              <a:t>with UNKNOWN CLUSTER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71C43D-9E17-439F-1487-75DD753DBD50}"/>
              </a:ext>
            </a:extLst>
          </p:cNvPr>
          <p:cNvSpPr txBox="1"/>
          <p:nvPr/>
        </p:nvSpPr>
        <p:spPr>
          <a:xfrm>
            <a:off x="678392" y="3878517"/>
            <a:ext cx="21012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LOGIC suggest </a:t>
            </a:r>
          </a:p>
          <a:p>
            <a:pPr algn="ctr"/>
            <a:r>
              <a:rPr lang="en-US" dirty="0"/>
              <a:t>the CLUSTER location</a:t>
            </a:r>
          </a:p>
        </p:txBody>
      </p:sp>
    </p:spTree>
    <p:extLst>
      <p:ext uri="{BB962C8B-B14F-4D97-AF65-F5344CB8AC3E}">
        <p14:creationId xmlns:p14="http://schemas.microsoft.com/office/powerpoint/2010/main" val="17410462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877E2-3EDB-5370-7C79-9287D2C26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539EE39-AD13-7999-E2BE-02E1F05C6CB4}"/>
              </a:ext>
            </a:extLst>
          </p:cNvPr>
          <p:cNvSpPr txBox="1"/>
          <p:nvPr/>
        </p:nvSpPr>
        <p:spPr>
          <a:xfrm>
            <a:off x="109728" y="128016"/>
            <a:ext cx="300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GENERATED ON 14/07/2026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CF5BE5-C6C7-6E32-D654-F02D55C7E8D4}"/>
              </a:ext>
            </a:extLst>
          </p:cNvPr>
          <p:cNvSpPr txBox="1"/>
          <p:nvPr/>
        </p:nvSpPr>
        <p:spPr>
          <a:xfrm>
            <a:off x="2345544" y="497348"/>
            <a:ext cx="809580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3600" b="1" dirty="0"/>
              <a:t>EXAMPLE </a:t>
            </a:r>
          </a:p>
          <a:p>
            <a:r>
              <a:rPr lang="en-MY" sz="3600" dirty="0"/>
              <a:t>FIT211 – SECTION3 CLUSTER </a:t>
            </a:r>
            <a:r>
              <a:rPr lang="en-MY" sz="3600" b="1" dirty="0"/>
              <a:t>UNKNOWN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E3BA64-A98B-32A3-C1E4-7D6A9403D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956" y="2489387"/>
            <a:ext cx="10130087" cy="2123225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40379441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1AC8C-E364-A9B8-EA64-08756DC31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F5776E3-8A83-36B9-CE56-2755EFC459E9}"/>
              </a:ext>
            </a:extLst>
          </p:cNvPr>
          <p:cNvSpPr txBox="1"/>
          <p:nvPr/>
        </p:nvSpPr>
        <p:spPr>
          <a:xfrm>
            <a:off x="109728" y="128016"/>
            <a:ext cx="300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GENERATED ON 14/07/2026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7ACD21-7EE6-BBA1-CCA7-A93CCC90DB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86" b="5161"/>
          <a:stretch>
            <a:fillRect/>
          </a:stretch>
        </p:blipFill>
        <p:spPr>
          <a:xfrm>
            <a:off x="1778010" y="2532438"/>
            <a:ext cx="9122033" cy="4197546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E8CB6E-C590-0D36-1FD5-FE8F02247761}"/>
              </a:ext>
            </a:extLst>
          </p:cNvPr>
          <p:cNvSpPr txBox="1"/>
          <p:nvPr/>
        </p:nvSpPr>
        <p:spPr>
          <a:xfrm>
            <a:off x="3497320" y="167542"/>
            <a:ext cx="59522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3600" b="1" dirty="0"/>
              <a:t>FIT211 – SECTION3 CLUSTER?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9D3CAF-296D-C716-48B5-6258804CF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99" y="813873"/>
            <a:ext cx="10577937" cy="1524747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04075E4-44D3-7F69-60AB-EBF3A0265132}"/>
              </a:ext>
            </a:extLst>
          </p:cNvPr>
          <p:cNvSpPr/>
          <p:nvPr/>
        </p:nvSpPr>
        <p:spPr>
          <a:xfrm>
            <a:off x="1700735" y="6441196"/>
            <a:ext cx="9122033" cy="22038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50660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56361B-89CC-BE79-D948-9449C06B3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5CA10BF-3509-1D7A-F08C-337194C405A4}"/>
              </a:ext>
            </a:extLst>
          </p:cNvPr>
          <p:cNvSpPr txBox="1"/>
          <p:nvPr/>
        </p:nvSpPr>
        <p:spPr>
          <a:xfrm>
            <a:off x="4756224" y="2368330"/>
            <a:ext cx="31176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Approach 2</a:t>
            </a:r>
          </a:p>
        </p:txBody>
      </p:sp>
    </p:spTree>
    <p:extLst>
      <p:ext uri="{BB962C8B-B14F-4D97-AF65-F5344CB8AC3E}">
        <p14:creationId xmlns:p14="http://schemas.microsoft.com/office/powerpoint/2010/main" val="408997761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8CD03E-DF03-EB30-2974-01D2618E0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8B4FFC-6DA4-06E7-6AC1-8C8811F4E03D}"/>
              </a:ext>
            </a:extLst>
          </p:cNvPr>
          <p:cNvSpPr txBox="1"/>
          <p:nvPr/>
        </p:nvSpPr>
        <p:spPr>
          <a:xfrm>
            <a:off x="750615" y="2052769"/>
            <a:ext cx="1101290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6000" b="1" dirty="0"/>
              <a:t>LOGIC ALGORITHM </a:t>
            </a:r>
          </a:p>
          <a:p>
            <a:pPr algn="ctr"/>
            <a:r>
              <a:rPr lang="en-MY" sz="6000" b="1" dirty="0"/>
              <a:t>[16/7/2026]</a:t>
            </a:r>
            <a:endParaRPr lang="en-MY" sz="6000" dirty="0"/>
          </a:p>
          <a:p>
            <a:pPr marL="342900" indent="-342900">
              <a:buAutoNum type="arabicParenR"/>
            </a:pPr>
            <a:endParaRPr lang="en-MY" sz="2400" dirty="0"/>
          </a:p>
          <a:p>
            <a:pPr marL="342900" indent="-342900">
              <a:buAutoNum type="arabicParenR"/>
            </a:pPr>
            <a:endParaRPr lang="en-MY" sz="1400" dirty="0"/>
          </a:p>
        </p:txBody>
      </p:sp>
    </p:spTree>
    <p:extLst>
      <p:ext uri="{BB962C8B-B14F-4D97-AF65-F5344CB8AC3E}">
        <p14:creationId xmlns:p14="http://schemas.microsoft.com/office/powerpoint/2010/main" val="28003268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4AB716-0434-82D3-7724-BD2D15FCE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DD9FEC-6233-A9F5-BFDA-781D83945E9A}"/>
              </a:ext>
            </a:extLst>
          </p:cNvPr>
          <p:cNvSpPr txBox="1"/>
          <p:nvPr/>
        </p:nvSpPr>
        <p:spPr>
          <a:xfrm>
            <a:off x="4015846" y="174501"/>
            <a:ext cx="3699711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2400" b="1" dirty="0"/>
              <a:t>PREDICTION MODEL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9F68F3-5B98-C2BA-CEF5-735F6D475BCE}"/>
              </a:ext>
            </a:extLst>
          </p:cNvPr>
          <p:cNvCxnSpPr>
            <a:cxnSpLocks/>
            <a:stCxn id="2" idx="2"/>
            <a:endCxn id="12" idx="0"/>
          </p:cNvCxnSpPr>
          <p:nvPr/>
        </p:nvCxnSpPr>
        <p:spPr>
          <a:xfrm>
            <a:off x="5865702" y="636166"/>
            <a:ext cx="3666607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3A62A51-B83E-4A18-6ADE-254EB86497C9}"/>
              </a:ext>
            </a:extLst>
          </p:cNvPr>
          <p:cNvSpPr txBox="1"/>
          <p:nvPr/>
        </p:nvSpPr>
        <p:spPr>
          <a:xfrm>
            <a:off x="8104813" y="1766638"/>
            <a:ext cx="2854992" cy="338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KNOWN SECTION &amp; CLUSTER</a:t>
            </a:r>
            <a:endParaRPr lang="en-MY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D30301-5CBE-2C3B-9B49-065E20C6EE97}"/>
              </a:ext>
            </a:extLst>
          </p:cNvPr>
          <p:cNvSpPr txBox="1"/>
          <p:nvPr/>
        </p:nvSpPr>
        <p:spPr>
          <a:xfrm>
            <a:off x="8392428" y="2721113"/>
            <a:ext cx="2279761" cy="4001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CLUSTER</a:t>
            </a:r>
            <a:endParaRPr lang="en-MY" sz="1400" dirty="0">
              <a:solidFill>
                <a:schemeClr val="tx1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1984AF2-08B2-CC6E-FEFA-9BE10B140986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>
            <a:off x="9532309" y="2105192"/>
            <a:ext cx="0" cy="615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20B2C85-6FCB-68BC-9CFF-750FF78E27B5}"/>
              </a:ext>
            </a:extLst>
          </p:cNvPr>
          <p:cNvSpPr txBox="1"/>
          <p:nvPr/>
        </p:nvSpPr>
        <p:spPr>
          <a:xfrm>
            <a:off x="2836543" y="1766638"/>
            <a:ext cx="2048038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UNKNOWN</a:t>
            </a:r>
            <a:endParaRPr lang="en-MY" sz="105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FF9AF32-00B7-36D4-900C-32833CEAC437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1621451" y="2105192"/>
            <a:ext cx="2239111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4B5F409-B20A-06E4-0009-304582C4BAED}"/>
              </a:ext>
            </a:extLst>
          </p:cNvPr>
          <p:cNvSpPr txBox="1"/>
          <p:nvPr/>
        </p:nvSpPr>
        <p:spPr>
          <a:xfrm>
            <a:off x="154172" y="2921168"/>
            <a:ext cx="2934557" cy="101566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E</a:t>
            </a:r>
            <a:r>
              <a:rPr lang="en-MY" sz="2000" b="1" dirty="0" err="1">
                <a:solidFill>
                  <a:schemeClr val="tx1"/>
                </a:solidFill>
              </a:rPr>
              <a:t>quipment</a:t>
            </a:r>
            <a:r>
              <a:rPr lang="en-MY" sz="2000" b="1" dirty="0">
                <a:solidFill>
                  <a:schemeClr val="tx1"/>
                </a:solidFill>
              </a:rPr>
              <a:t> Type, Section</a:t>
            </a: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Assign by the User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7731D2B-A1CC-AD60-225C-691C4AA2E92C}"/>
              </a:ext>
            </a:extLst>
          </p:cNvPr>
          <p:cNvCxnSpPr>
            <a:cxnSpLocks/>
            <a:stCxn id="2" idx="2"/>
            <a:endCxn id="11" idx="0"/>
          </p:cNvCxnSpPr>
          <p:nvPr/>
        </p:nvCxnSpPr>
        <p:spPr>
          <a:xfrm flipH="1">
            <a:off x="3860562" y="636166"/>
            <a:ext cx="2005140" cy="11304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01A69F7-A45C-74A2-01F5-B7DDE0DBCB22}"/>
              </a:ext>
            </a:extLst>
          </p:cNvPr>
          <p:cNvCxnSpPr>
            <a:cxnSpLocks/>
            <a:stCxn id="11" idx="2"/>
            <a:endCxn id="37" idx="0"/>
          </p:cNvCxnSpPr>
          <p:nvPr/>
        </p:nvCxnSpPr>
        <p:spPr>
          <a:xfrm>
            <a:off x="3860562" y="2105192"/>
            <a:ext cx="947315" cy="815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97D5F55-85FC-83C5-45A6-67F5D0C23950}"/>
              </a:ext>
            </a:extLst>
          </p:cNvPr>
          <p:cNvSpPr txBox="1"/>
          <p:nvPr/>
        </p:nvSpPr>
        <p:spPr>
          <a:xfrm>
            <a:off x="3244450" y="2921168"/>
            <a:ext cx="3126853" cy="101566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/>
                </a:solidFill>
              </a:rPr>
              <a:t>Cluster</a:t>
            </a:r>
            <a:endParaRPr lang="en-MY" sz="2000" b="1" dirty="0">
              <a:solidFill>
                <a:schemeClr val="tx1"/>
              </a:solidFill>
            </a:endParaRPr>
          </a:p>
          <a:p>
            <a:pPr algn="ctr"/>
            <a:endParaRPr lang="en-MY" sz="2000" dirty="0">
              <a:solidFill>
                <a:schemeClr val="tx1"/>
              </a:solidFill>
            </a:endParaRPr>
          </a:p>
          <a:p>
            <a:pPr algn="ctr"/>
            <a:r>
              <a:rPr lang="en-MY" sz="2000" dirty="0">
                <a:solidFill>
                  <a:schemeClr val="tx1"/>
                </a:solidFill>
              </a:rPr>
              <a:t>= Logic (within same section)</a:t>
            </a:r>
            <a:endParaRPr lang="en-MY" sz="1200" dirty="0">
              <a:solidFill>
                <a:schemeClr val="tx1"/>
              </a:solidFill>
            </a:endParaRP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958011C1-C01D-2BCF-59CF-61C40EF7131E}"/>
              </a:ext>
            </a:extLst>
          </p:cNvPr>
          <p:cNvCxnSpPr>
            <a:cxnSpLocks/>
            <a:stCxn id="24" idx="2"/>
            <a:endCxn id="72" idx="3"/>
          </p:cNvCxnSpPr>
          <p:nvPr/>
        </p:nvCxnSpPr>
        <p:spPr>
          <a:xfrm flipH="1">
            <a:off x="8335580" y="3121223"/>
            <a:ext cx="1196729" cy="815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86E27D2-A1AA-7BA3-3AAD-8EAC504C2735}"/>
              </a:ext>
            </a:extLst>
          </p:cNvPr>
          <p:cNvCxnSpPr>
            <a:cxnSpLocks/>
            <a:stCxn id="24" idx="2"/>
            <a:endCxn id="73" idx="1"/>
          </p:cNvCxnSpPr>
          <p:nvPr/>
        </p:nvCxnSpPr>
        <p:spPr>
          <a:xfrm>
            <a:off x="9532309" y="3121223"/>
            <a:ext cx="1139880" cy="78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5DBCB8A-5B64-49DA-1AE3-12AA2EF73A31}"/>
              </a:ext>
            </a:extLst>
          </p:cNvPr>
          <p:cNvSpPr txBox="1"/>
          <p:nvPr/>
        </p:nvSpPr>
        <p:spPr>
          <a:xfrm>
            <a:off x="7568032" y="3767554"/>
            <a:ext cx="767548" cy="338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</a:t>
            </a:r>
            <a:endParaRPr lang="en-MY" sz="105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6B6CAF6-112D-4C35-8BBF-06475F945169}"/>
              </a:ext>
            </a:extLst>
          </p:cNvPr>
          <p:cNvSpPr txBox="1"/>
          <p:nvPr/>
        </p:nvSpPr>
        <p:spPr>
          <a:xfrm>
            <a:off x="10672189" y="3736778"/>
            <a:ext cx="1146090" cy="33855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</a:t>
            </a:r>
            <a:endParaRPr lang="en-MY" sz="105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8CB533-881D-BC1D-523D-D5BDF0630919}"/>
              </a:ext>
            </a:extLst>
          </p:cNvPr>
          <p:cNvSpPr/>
          <p:nvPr/>
        </p:nvSpPr>
        <p:spPr>
          <a:xfrm>
            <a:off x="7143136" y="1282497"/>
            <a:ext cx="4894692" cy="3478924"/>
          </a:xfrm>
          <a:prstGeom prst="rect">
            <a:avLst/>
          </a:prstGeom>
          <a:noFill/>
          <a:ln w="762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C7DA38-4AF0-4B88-88A4-D6557F5009E6}"/>
              </a:ext>
            </a:extLst>
          </p:cNvPr>
          <p:cNvSpPr txBox="1"/>
          <p:nvPr/>
        </p:nvSpPr>
        <p:spPr>
          <a:xfrm>
            <a:off x="8819570" y="498490"/>
            <a:ext cx="24256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Approach 2</a:t>
            </a:r>
            <a:endParaRPr lang="en-MY" sz="3600" b="1" dirty="0"/>
          </a:p>
        </p:txBody>
      </p:sp>
    </p:spTree>
    <p:extLst>
      <p:ext uri="{BB962C8B-B14F-4D97-AF65-F5344CB8AC3E}">
        <p14:creationId xmlns:p14="http://schemas.microsoft.com/office/powerpoint/2010/main" val="41243149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06154A-EB9F-B3C4-3389-5FA1D77D0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619CA6-B064-42DB-28ED-D438AF5D6281}"/>
              </a:ext>
            </a:extLst>
          </p:cNvPr>
          <p:cNvSpPr txBox="1"/>
          <p:nvPr/>
        </p:nvSpPr>
        <p:spPr>
          <a:xfrm>
            <a:off x="4432578" y="1886554"/>
            <a:ext cx="3699711" cy="7463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1</a:t>
            </a:r>
          </a:p>
          <a:p>
            <a:pPr algn="ctr"/>
            <a:r>
              <a:rPr lang="en-MY" sz="1600" dirty="0"/>
              <a:t>Highest Percentage fill up the Cluster</a:t>
            </a:r>
          </a:p>
          <a:p>
            <a:pPr marL="342900" indent="-342900">
              <a:buAutoNum type="arabicParenR"/>
            </a:pPr>
            <a:endParaRPr lang="en-MY"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5F6A97-ED01-B4C1-6A2C-81CE9E1C6769}"/>
              </a:ext>
            </a:extLst>
          </p:cNvPr>
          <p:cNvSpPr txBox="1"/>
          <p:nvPr/>
        </p:nvSpPr>
        <p:spPr>
          <a:xfrm>
            <a:off x="7590502" y="4298335"/>
            <a:ext cx="2969283" cy="61555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2</a:t>
            </a:r>
          </a:p>
          <a:p>
            <a:pPr algn="ctr"/>
            <a:r>
              <a:rPr lang="en-MY" dirty="0"/>
              <a:t>Kick and replace mechanism</a:t>
            </a:r>
            <a:endParaRPr lang="en-MY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F243A1-589D-8051-7730-7E05960A8118}"/>
              </a:ext>
            </a:extLst>
          </p:cNvPr>
          <p:cNvSpPr txBox="1"/>
          <p:nvPr/>
        </p:nvSpPr>
        <p:spPr>
          <a:xfrm>
            <a:off x="2521446" y="3429000"/>
            <a:ext cx="2217701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CLUSTER = FULL </a:t>
            </a:r>
            <a:endParaRPr lang="en-MY" sz="10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58F996-DF0D-5980-E4D1-AE03D19B3EE2}"/>
              </a:ext>
            </a:extLst>
          </p:cNvPr>
          <p:cNvSpPr txBox="1"/>
          <p:nvPr/>
        </p:nvSpPr>
        <p:spPr>
          <a:xfrm>
            <a:off x="7590502" y="3429000"/>
            <a:ext cx="2890683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CLUSTER = VACANT </a:t>
            </a:r>
            <a:endParaRPr lang="en-MY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6B53B5-7892-467C-0620-4088683C3DDA}"/>
              </a:ext>
            </a:extLst>
          </p:cNvPr>
          <p:cNvSpPr txBox="1"/>
          <p:nvPr/>
        </p:nvSpPr>
        <p:spPr>
          <a:xfrm>
            <a:off x="2521447" y="4289301"/>
            <a:ext cx="2217701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3</a:t>
            </a:r>
            <a:endParaRPr lang="en-MY" sz="1050" b="1" dirty="0"/>
          </a:p>
          <a:p>
            <a:pPr algn="ctr"/>
            <a:r>
              <a:rPr lang="en-MY" sz="1600" dirty="0"/>
              <a:t>Conflict Case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2B7A4A-4636-431A-3F32-00CD1B1DA56F}"/>
              </a:ext>
            </a:extLst>
          </p:cNvPr>
          <p:cNvSpPr txBox="1"/>
          <p:nvPr/>
        </p:nvSpPr>
        <p:spPr>
          <a:xfrm>
            <a:off x="2521446" y="5719895"/>
            <a:ext cx="2217701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4</a:t>
            </a:r>
            <a:endParaRPr lang="en-MY" sz="1050" b="1" dirty="0"/>
          </a:p>
          <a:p>
            <a:pPr algn="ctr"/>
            <a:r>
              <a:rPr lang="en-MY" sz="1600" dirty="0"/>
              <a:t>Solve Conflict Case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551FEC-3DE5-864A-18B0-CB3314629A29}"/>
              </a:ext>
            </a:extLst>
          </p:cNvPr>
          <p:cNvSpPr txBox="1"/>
          <p:nvPr/>
        </p:nvSpPr>
        <p:spPr>
          <a:xfrm>
            <a:off x="5207564" y="364035"/>
            <a:ext cx="214974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PREDICTION</a:t>
            </a:r>
            <a:endParaRPr lang="en-MY" sz="105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A6FFC7D-CCBD-4D8B-01CD-B7723C8ED368}"/>
              </a:ext>
            </a:extLst>
          </p:cNvPr>
          <p:cNvSpPr txBox="1"/>
          <p:nvPr/>
        </p:nvSpPr>
        <p:spPr>
          <a:xfrm>
            <a:off x="5207564" y="1104805"/>
            <a:ext cx="2149740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LOGIC</a:t>
            </a:r>
            <a:endParaRPr lang="en-MY" sz="1050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B1F9274-9384-B5A8-0751-9294C7E3E40F}"/>
              </a:ext>
            </a:extLst>
          </p:cNvPr>
          <p:cNvCxnSpPr>
            <a:stCxn id="20" idx="2"/>
            <a:endCxn id="22" idx="0"/>
          </p:cNvCxnSpPr>
          <p:nvPr/>
        </p:nvCxnSpPr>
        <p:spPr>
          <a:xfrm>
            <a:off x="6282434" y="702589"/>
            <a:ext cx="0" cy="402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8196750-047E-1226-3D87-C7984B1C1D10}"/>
              </a:ext>
            </a:extLst>
          </p:cNvPr>
          <p:cNvCxnSpPr>
            <a:stCxn id="22" idx="2"/>
            <a:endCxn id="2" idx="0"/>
          </p:cNvCxnSpPr>
          <p:nvPr/>
        </p:nvCxnSpPr>
        <p:spPr>
          <a:xfrm>
            <a:off x="6282434" y="1443359"/>
            <a:ext cx="0" cy="4431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2C521E4-A09B-62FF-0530-3B6D1C0617F2}"/>
              </a:ext>
            </a:extLst>
          </p:cNvPr>
          <p:cNvCxnSpPr>
            <a:stCxn id="2" idx="2"/>
            <a:endCxn id="7" idx="0"/>
          </p:cNvCxnSpPr>
          <p:nvPr/>
        </p:nvCxnSpPr>
        <p:spPr>
          <a:xfrm flipH="1">
            <a:off x="3630297" y="2632912"/>
            <a:ext cx="2652137" cy="796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190CDED-87D1-E335-E23F-E17ED4E0783F}"/>
              </a:ext>
            </a:extLst>
          </p:cNvPr>
          <p:cNvCxnSpPr>
            <a:stCxn id="2" idx="2"/>
            <a:endCxn id="11" idx="0"/>
          </p:cNvCxnSpPr>
          <p:nvPr/>
        </p:nvCxnSpPr>
        <p:spPr>
          <a:xfrm>
            <a:off x="6282434" y="2632912"/>
            <a:ext cx="2753410" cy="796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E6829E2-9D1D-68D0-98E2-7B7E1B626C8B}"/>
              </a:ext>
            </a:extLst>
          </p:cNvPr>
          <p:cNvCxnSpPr>
            <a:stCxn id="7" idx="2"/>
            <a:endCxn id="14" idx="0"/>
          </p:cNvCxnSpPr>
          <p:nvPr/>
        </p:nvCxnSpPr>
        <p:spPr>
          <a:xfrm>
            <a:off x="3630297" y="3767554"/>
            <a:ext cx="1" cy="5217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07F46135-A239-FA62-C258-88855C360ACA}"/>
              </a:ext>
            </a:extLst>
          </p:cNvPr>
          <p:cNvCxnSpPr>
            <a:stCxn id="14" idx="2"/>
            <a:endCxn id="16" idx="0"/>
          </p:cNvCxnSpPr>
          <p:nvPr/>
        </p:nvCxnSpPr>
        <p:spPr>
          <a:xfrm flipH="1">
            <a:off x="3630297" y="4874076"/>
            <a:ext cx="1" cy="845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D51B9D3-47CE-3D5B-5D45-56C62759CA17}"/>
              </a:ext>
            </a:extLst>
          </p:cNvPr>
          <p:cNvCxnSpPr>
            <a:stCxn id="11" idx="2"/>
            <a:endCxn id="5" idx="0"/>
          </p:cNvCxnSpPr>
          <p:nvPr/>
        </p:nvCxnSpPr>
        <p:spPr>
          <a:xfrm>
            <a:off x="9035844" y="3767554"/>
            <a:ext cx="39300" cy="530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2189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84CD2D-017C-5E68-F516-C3582DEC5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D22EBB-2B4B-BAA1-CD4C-14130B0B6811}"/>
              </a:ext>
            </a:extLst>
          </p:cNvPr>
          <p:cNvSpPr txBox="1"/>
          <p:nvPr/>
        </p:nvSpPr>
        <p:spPr>
          <a:xfrm>
            <a:off x="681789" y="558266"/>
            <a:ext cx="11012906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Current Approach : </a:t>
            </a:r>
          </a:p>
          <a:p>
            <a:endParaRPr lang="en-MY" sz="2400" dirty="0"/>
          </a:p>
          <a:p>
            <a:pPr marL="342900" indent="-342900">
              <a:buAutoNum type="arabicParenR"/>
            </a:pPr>
            <a:r>
              <a:rPr lang="en-MY" sz="2400" dirty="0"/>
              <a:t> Choose 1 customer = OILTEK</a:t>
            </a:r>
          </a:p>
          <a:p>
            <a:pPr marL="342900" indent="-342900">
              <a:buAutoNum type="arabicParenR"/>
            </a:pPr>
            <a:r>
              <a:rPr lang="en-MY" sz="2400" dirty="0"/>
              <a:t>Choose 1 section from OILTEK = SECTION 2</a:t>
            </a:r>
          </a:p>
          <a:p>
            <a:pPr marL="342900" indent="-342900">
              <a:buAutoNum type="arabicParenR"/>
            </a:pPr>
            <a:r>
              <a:rPr lang="en-MY" sz="2400" dirty="0"/>
              <a:t>Extract the pattern for all cluster at section 2</a:t>
            </a:r>
          </a:p>
          <a:p>
            <a:pPr marL="342900" indent="-342900">
              <a:buAutoNum type="arabicParenR"/>
            </a:pPr>
            <a:r>
              <a:rPr lang="en-MY" sz="2400" dirty="0"/>
              <a:t>Create the specific value device cluster for section 2 (N=100)</a:t>
            </a:r>
          </a:p>
          <a:p>
            <a:pPr marL="342900" indent="-342900">
              <a:buAutoNum type="arabicParenR"/>
            </a:pPr>
            <a:r>
              <a:rPr lang="en-MY" sz="2400" dirty="0"/>
              <a:t>Introduce the pattern specific cluster into LOGIC</a:t>
            </a:r>
          </a:p>
          <a:p>
            <a:pPr marL="342900" indent="-342900">
              <a:buAutoNum type="arabicParenR"/>
            </a:pPr>
            <a:r>
              <a:rPr lang="en-MY" sz="2400" dirty="0"/>
              <a:t>Run the list of Device ID from the model prediction</a:t>
            </a:r>
          </a:p>
          <a:p>
            <a:pPr marL="342900" indent="-342900">
              <a:buAutoNum type="arabicParenR"/>
            </a:pPr>
            <a:r>
              <a:rPr lang="en-MY" sz="2400" dirty="0"/>
              <a:t>Logic assign the device id based on the Pattern LOGIC</a:t>
            </a:r>
          </a:p>
          <a:p>
            <a:pPr marL="342900" indent="-342900">
              <a:buAutoNum type="arabicParenR"/>
            </a:pPr>
            <a:r>
              <a:rPr lang="en-MY" sz="2400" dirty="0"/>
              <a:t>Detect the cluster = Full or Vacant</a:t>
            </a:r>
          </a:p>
          <a:p>
            <a:pPr marL="342900" indent="-342900">
              <a:buAutoNum type="arabicParenR"/>
            </a:pPr>
            <a:r>
              <a:rPr lang="en-MY" sz="2400" dirty="0"/>
              <a:t>Kick and replace Device ID</a:t>
            </a:r>
          </a:p>
          <a:p>
            <a:pPr marL="342900" indent="-342900">
              <a:buAutoNum type="arabicParenR"/>
            </a:pPr>
            <a:endParaRPr lang="en-MY" sz="2400" dirty="0"/>
          </a:p>
          <a:p>
            <a:pPr marL="342900" indent="-342900">
              <a:buAutoNum type="arabicParenR"/>
            </a:pPr>
            <a:endParaRPr lang="en-MY" sz="2400" dirty="0"/>
          </a:p>
          <a:p>
            <a:pPr marL="342900" indent="-342900">
              <a:buAutoNum type="arabicParenR"/>
            </a:pPr>
            <a:endParaRPr lang="en-MY" sz="1400" dirty="0"/>
          </a:p>
        </p:txBody>
      </p:sp>
    </p:spTree>
    <p:extLst>
      <p:ext uri="{BB962C8B-B14F-4D97-AF65-F5344CB8AC3E}">
        <p14:creationId xmlns:p14="http://schemas.microsoft.com/office/powerpoint/2010/main" val="180877666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7DCC23-7101-5156-3F94-F344EB5E6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4C0A6E5-EEB8-2BF5-6868-83FA38F00E82}"/>
              </a:ext>
            </a:extLst>
          </p:cNvPr>
          <p:cNvSpPr/>
          <p:nvPr/>
        </p:nvSpPr>
        <p:spPr>
          <a:xfrm>
            <a:off x="422787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9F94B1-F19A-BCAC-52A5-5BBD470A2F91}"/>
              </a:ext>
            </a:extLst>
          </p:cNvPr>
          <p:cNvSpPr/>
          <p:nvPr/>
        </p:nvSpPr>
        <p:spPr>
          <a:xfrm>
            <a:off x="2949677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522782-2217-21F0-24E5-2E655F5318C5}"/>
              </a:ext>
            </a:extLst>
          </p:cNvPr>
          <p:cNvSpPr/>
          <p:nvPr/>
        </p:nvSpPr>
        <p:spPr>
          <a:xfrm>
            <a:off x="5609303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8E1AF03-DF29-7674-CC0D-BFF13309AA40}"/>
              </a:ext>
            </a:extLst>
          </p:cNvPr>
          <p:cNvSpPr/>
          <p:nvPr/>
        </p:nvSpPr>
        <p:spPr>
          <a:xfrm>
            <a:off x="8382000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E0C981-5938-60DD-0C0E-C6B6D456D750}"/>
              </a:ext>
            </a:extLst>
          </p:cNvPr>
          <p:cNvSpPr/>
          <p:nvPr/>
        </p:nvSpPr>
        <p:spPr>
          <a:xfrm>
            <a:off x="422787" y="3642852"/>
            <a:ext cx="2222090" cy="167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C73FFB6-4101-7F5C-E034-818E8BF55F18}"/>
              </a:ext>
            </a:extLst>
          </p:cNvPr>
          <p:cNvSpPr/>
          <p:nvPr/>
        </p:nvSpPr>
        <p:spPr>
          <a:xfrm>
            <a:off x="2949677" y="3642852"/>
            <a:ext cx="2222090" cy="167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0B444EC-5C7A-2511-90BE-FDFCC3BB167E}"/>
              </a:ext>
            </a:extLst>
          </p:cNvPr>
          <p:cNvSpPr/>
          <p:nvPr/>
        </p:nvSpPr>
        <p:spPr>
          <a:xfrm>
            <a:off x="5609303" y="3642852"/>
            <a:ext cx="2222090" cy="167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CA667F-EE02-5AED-05E6-ACDC8ADCBC2C}"/>
              </a:ext>
            </a:extLst>
          </p:cNvPr>
          <p:cNvSpPr/>
          <p:nvPr/>
        </p:nvSpPr>
        <p:spPr>
          <a:xfrm>
            <a:off x="8382000" y="3642852"/>
            <a:ext cx="2222090" cy="1676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3240943-5DF6-F13D-0FCB-079F603B90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0907084"/>
              </p:ext>
            </p:extLst>
          </p:nvPr>
        </p:nvGraphicFramePr>
        <p:xfrm>
          <a:off x="702595" y="830456"/>
          <a:ext cx="1696475" cy="24168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1005">
                  <a:extLst>
                    <a:ext uri="{9D8B030D-6E8A-4147-A177-3AD203B41FA5}">
                      <a16:colId xmlns:a16="http://schemas.microsoft.com/office/drawing/2014/main" val="3252498324"/>
                    </a:ext>
                  </a:extLst>
                </a:gridCol>
                <a:gridCol w="265470">
                  <a:extLst>
                    <a:ext uri="{9D8B030D-6E8A-4147-A177-3AD203B41FA5}">
                      <a16:colId xmlns:a16="http://schemas.microsoft.com/office/drawing/2014/main" val="3845258045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 dirty="0">
                          <a:effectLst/>
                        </a:rPr>
                        <a:t>Fan</a:t>
                      </a:r>
                      <a:endParaRPr lang="en-MY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4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679341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On/Off Valve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6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43292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High Level Switch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6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99014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Low Level Switch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4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62170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Control Valve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4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35542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Level Transmitter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2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098382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Pump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5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75141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Pressure Switch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3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02613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Pressure Transmitter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2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212272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400" u="none" strike="noStrike">
                          <a:effectLst/>
                        </a:rPr>
                        <a:t>Vibrator</a:t>
                      </a:r>
                      <a:endParaRPr lang="en-MY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400" u="none" strike="noStrike" dirty="0">
                          <a:effectLst/>
                        </a:rPr>
                        <a:t>4</a:t>
                      </a:r>
                      <a:endParaRPr lang="en-MY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269736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819372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A01B1B6-C439-F5A1-D5E3-F4FC45F562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5124499"/>
              </p:ext>
            </p:extLst>
          </p:nvPr>
        </p:nvGraphicFramePr>
        <p:xfrm>
          <a:off x="3224826" y="848236"/>
          <a:ext cx="1671791" cy="5880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2556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229235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On/Off Valve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5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312361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Control Valve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5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12051740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D614B888-CA3C-0003-5BC2-D6B9C65745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463043"/>
              </p:ext>
            </p:extLst>
          </p:nvPr>
        </p:nvGraphicFramePr>
        <p:xfrm>
          <a:off x="5820706" y="867635"/>
          <a:ext cx="1671791" cy="403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2556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229235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On/Off Valve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4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312361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36E96DB-D785-6187-7999-27ABF6C5AD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068917"/>
              </p:ext>
            </p:extLst>
          </p:nvPr>
        </p:nvGraphicFramePr>
        <p:xfrm>
          <a:off x="8657149" y="830456"/>
          <a:ext cx="1671791" cy="403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2556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229235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On/Off Valve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6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83123619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1383C989-B744-9717-192A-D99F13A52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490996"/>
              </p:ext>
            </p:extLst>
          </p:nvPr>
        </p:nvGraphicFramePr>
        <p:xfrm>
          <a:off x="605707" y="4080934"/>
          <a:ext cx="1856249" cy="9563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9549">
                  <a:extLst>
                    <a:ext uri="{9D8B030D-6E8A-4147-A177-3AD203B41FA5}">
                      <a16:colId xmlns:a16="http://schemas.microsoft.com/office/drawing/2014/main" val="4198705536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82450716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Pump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4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721676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Heater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2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392423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Temperature Transmitter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3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4181679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Low Level Switch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4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995610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028657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DE7005D-197D-13D5-A7DA-AAAB79235C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7829038"/>
              </p:ext>
            </p:extLst>
          </p:nvPr>
        </p:nvGraphicFramePr>
        <p:xfrm>
          <a:off x="3082413" y="4131229"/>
          <a:ext cx="1886462" cy="577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1037">
                  <a:extLst>
                    <a:ext uri="{9D8B030D-6E8A-4147-A177-3AD203B41FA5}">
                      <a16:colId xmlns:a16="http://schemas.microsoft.com/office/drawing/2014/main" val="4153902939"/>
                    </a:ext>
                  </a:extLst>
                </a:gridCol>
                <a:gridCol w="225425">
                  <a:extLst>
                    <a:ext uri="{9D8B030D-6E8A-4147-A177-3AD203B41FA5}">
                      <a16:colId xmlns:a16="http://schemas.microsoft.com/office/drawing/2014/main" val="2663589806"/>
                    </a:ext>
                  </a:extLst>
                </a:gridCol>
              </a:tblGrid>
              <a:tr h="1333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Control Valve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>
                          <a:effectLst/>
                        </a:rPr>
                        <a:t>7</a:t>
                      </a:r>
                      <a:endParaRPr lang="en-MY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600769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On/Off Valve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7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79147634"/>
                  </a:ext>
                </a:extLst>
              </a:tr>
              <a:tr h="471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332576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F5F0FB8D-7C7A-9A3D-0FE9-A87E97FCD4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2627874"/>
              </p:ext>
            </p:extLst>
          </p:nvPr>
        </p:nvGraphicFramePr>
        <p:xfrm>
          <a:off x="8604044" y="4298788"/>
          <a:ext cx="1778000" cy="403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1615">
                  <a:extLst>
                    <a:ext uri="{9D8B030D-6E8A-4147-A177-3AD203B41FA5}">
                      <a16:colId xmlns:a16="http://schemas.microsoft.com/office/drawing/2014/main" val="356100816"/>
                    </a:ext>
                  </a:extLst>
                </a:gridCol>
                <a:gridCol w="456385">
                  <a:extLst>
                    <a:ext uri="{9D8B030D-6E8A-4147-A177-3AD203B41FA5}">
                      <a16:colId xmlns:a16="http://schemas.microsoft.com/office/drawing/2014/main" val="3822153922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Control Valve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7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43385226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3773050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DD2B1AC0-18D7-3523-DCEE-0E6CD41452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6287063"/>
              </p:ext>
            </p:extLst>
          </p:nvPr>
        </p:nvGraphicFramePr>
        <p:xfrm>
          <a:off x="5849796" y="4155229"/>
          <a:ext cx="1813959" cy="403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6065">
                  <a:extLst>
                    <a:ext uri="{9D8B030D-6E8A-4147-A177-3AD203B41FA5}">
                      <a16:colId xmlns:a16="http://schemas.microsoft.com/office/drawing/2014/main" val="2677801371"/>
                    </a:ext>
                  </a:extLst>
                </a:gridCol>
                <a:gridCol w="337894">
                  <a:extLst>
                    <a:ext uri="{9D8B030D-6E8A-4147-A177-3AD203B41FA5}">
                      <a16:colId xmlns:a16="http://schemas.microsoft.com/office/drawing/2014/main" val="373308778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On/Off Valve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MY" sz="1100" u="none" strike="noStrike" dirty="0">
                          <a:effectLst/>
                        </a:rPr>
                        <a:t>6</a:t>
                      </a:r>
                      <a:endParaRPr lang="en-MY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2644495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455087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DE79D4A8-78A4-1643-EFCA-487B47D3DFAE}"/>
              </a:ext>
            </a:extLst>
          </p:cNvPr>
          <p:cNvSpPr txBox="1"/>
          <p:nvPr/>
        </p:nvSpPr>
        <p:spPr>
          <a:xfrm>
            <a:off x="3864305" y="28551"/>
            <a:ext cx="3912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Section 2 OILTEK (REFERENCE, N=100)</a:t>
            </a:r>
            <a:endParaRPr lang="en-MY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FC2582-7D7F-FF14-193D-165054A1F676}"/>
              </a:ext>
            </a:extLst>
          </p:cNvPr>
          <p:cNvSpPr txBox="1"/>
          <p:nvPr/>
        </p:nvSpPr>
        <p:spPr>
          <a:xfrm>
            <a:off x="1025689" y="43506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4F0F17-A52C-E97F-D3AA-9403FDCCA6AF}"/>
              </a:ext>
            </a:extLst>
          </p:cNvPr>
          <p:cNvSpPr txBox="1"/>
          <p:nvPr/>
        </p:nvSpPr>
        <p:spPr>
          <a:xfrm>
            <a:off x="3387889" y="43506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2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E0821D-DE48-6488-1CBA-344A50D5713B}"/>
              </a:ext>
            </a:extLst>
          </p:cNvPr>
          <p:cNvSpPr txBox="1"/>
          <p:nvPr/>
        </p:nvSpPr>
        <p:spPr>
          <a:xfrm>
            <a:off x="6150682" y="461124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3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207A2D-DA38-BFEB-02F1-31280AEE6115}"/>
              </a:ext>
            </a:extLst>
          </p:cNvPr>
          <p:cNvSpPr txBox="1"/>
          <p:nvPr/>
        </p:nvSpPr>
        <p:spPr>
          <a:xfrm>
            <a:off x="8923379" y="471160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4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077B2D3-2CF2-5F86-E140-D65125FD90DD}"/>
              </a:ext>
            </a:extLst>
          </p:cNvPr>
          <p:cNvSpPr txBox="1"/>
          <p:nvPr/>
        </p:nvSpPr>
        <p:spPr>
          <a:xfrm>
            <a:off x="927735" y="3677227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5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1C486E-DFE8-613D-2FA6-E0BB30D623C7}"/>
              </a:ext>
            </a:extLst>
          </p:cNvPr>
          <p:cNvSpPr txBox="1"/>
          <p:nvPr/>
        </p:nvSpPr>
        <p:spPr>
          <a:xfrm>
            <a:off x="3515713" y="3702375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6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EC6AB54-3B78-2212-ABC8-ECF53DE8E626}"/>
              </a:ext>
            </a:extLst>
          </p:cNvPr>
          <p:cNvSpPr txBox="1"/>
          <p:nvPr/>
        </p:nvSpPr>
        <p:spPr>
          <a:xfrm>
            <a:off x="6150681" y="3701198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7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E50D409-0CD4-720D-8CDB-84B1313BD190}"/>
              </a:ext>
            </a:extLst>
          </p:cNvPr>
          <p:cNvSpPr txBox="1"/>
          <p:nvPr/>
        </p:nvSpPr>
        <p:spPr>
          <a:xfrm>
            <a:off x="8886948" y="3701198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8</a:t>
            </a:r>
            <a:endParaRPr lang="en-MY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15987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31A60-DB26-433A-2BB2-29AA6B263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C7409DA-B930-7F00-D16F-85BC4A389ABA}"/>
              </a:ext>
            </a:extLst>
          </p:cNvPr>
          <p:cNvSpPr/>
          <p:nvPr/>
        </p:nvSpPr>
        <p:spPr>
          <a:xfrm>
            <a:off x="422787" y="46112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2137C7-3615-4C35-9CF3-17E1E67A3AD5}"/>
              </a:ext>
            </a:extLst>
          </p:cNvPr>
          <p:cNvSpPr/>
          <p:nvPr/>
        </p:nvSpPr>
        <p:spPr>
          <a:xfrm>
            <a:off x="2949677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FA0098-28ED-E487-2F2B-77DA68E29D9C}"/>
              </a:ext>
            </a:extLst>
          </p:cNvPr>
          <p:cNvSpPr/>
          <p:nvPr/>
        </p:nvSpPr>
        <p:spPr>
          <a:xfrm>
            <a:off x="5609303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3D7BC4-01D8-7C87-7B89-4BC14F1D80B7}"/>
              </a:ext>
            </a:extLst>
          </p:cNvPr>
          <p:cNvSpPr/>
          <p:nvPr/>
        </p:nvSpPr>
        <p:spPr>
          <a:xfrm>
            <a:off x="8382000" y="452284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1C31D7-AB7B-E7C0-1D1D-25A449C1E748}"/>
              </a:ext>
            </a:extLst>
          </p:cNvPr>
          <p:cNvSpPr/>
          <p:nvPr/>
        </p:nvSpPr>
        <p:spPr>
          <a:xfrm>
            <a:off x="422787" y="3642852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6C4949-0A8B-3D44-AAC7-9AEC038930BA}"/>
              </a:ext>
            </a:extLst>
          </p:cNvPr>
          <p:cNvSpPr/>
          <p:nvPr/>
        </p:nvSpPr>
        <p:spPr>
          <a:xfrm>
            <a:off x="2949677" y="3642852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684DD5-BC14-397B-27D2-B00021EF22AB}"/>
              </a:ext>
            </a:extLst>
          </p:cNvPr>
          <p:cNvSpPr/>
          <p:nvPr/>
        </p:nvSpPr>
        <p:spPr>
          <a:xfrm>
            <a:off x="5609303" y="3642852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BA312B-615F-F92D-BD72-9D4B498B120B}"/>
              </a:ext>
            </a:extLst>
          </p:cNvPr>
          <p:cNvSpPr/>
          <p:nvPr/>
        </p:nvSpPr>
        <p:spPr>
          <a:xfrm>
            <a:off x="8382000" y="3642852"/>
            <a:ext cx="2222090" cy="28906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CF0CECC4-B5C4-3AE1-0E5D-4ADEC720C2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46662"/>
              </p:ext>
            </p:extLst>
          </p:nvPr>
        </p:nvGraphicFramePr>
        <p:xfrm>
          <a:off x="3257405" y="2708019"/>
          <a:ext cx="1671791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9/10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625C133B-A8A9-CC08-3ECF-54B6D87D3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9991994"/>
              </p:ext>
            </p:extLst>
          </p:nvPr>
        </p:nvGraphicFramePr>
        <p:xfrm>
          <a:off x="5920879" y="3019019"/>
          <a:ext cx="1671791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28561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643230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4/4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84871766-9B70-A8B4-FD4C-3AAF07C8B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0872145"/>
              </p:ext>
            </p:extLst>
          </p:nvPr>
        </p:nvGraphicFramePr>
        <p:xfrm>
          <a:off x="8758749" y="2977451"/>
          <a:ext cx="1671791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57691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814100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6/6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454BC2B-D474-160E-F1CB-59E3603AEB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069910"/>
              </p:ext>
            </p:extLst>
          </p:nvPr>
        </p:nvGraphicFramePr>
        <p:xfrm>
          <a:off x="605705" y="6053606"/>
          <a:ext cx="1856249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16745">
                  <a:extLst>
                    <a:ext uri="{9D8B030D-6E8A-4147-A177-3AD203B41FA5}">
                      <a16:colId xmlns:a16="http://schemas.microsoft.com/office/drawing/2014/main" val="4198705536"/>
                    </a:ext>
                  </a:extLst>
                </a:gridCol>
                <a:gridCol w="639504">
                  <a:extLst>
                    <a:ext uri="{9D8B030D-6E8A-4147-A177-3AD203B41FA5}">
                      <a16:colId xmlns:a16="http://schemas.microsoft.com/office/drawing/2014/main" val="282450716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13/13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028657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16BC6377-5164-86C1-E8C7-6661E730AF0B}"/>
              </a:ext>
            </a:extLst>
          </p:cNvPr>
          <p:cNvSpPr txBox="1"/>
          <p:nvPr/>
        </p:nvSpPr>
        <p:spPr>
          <a:xfrm>
            <a:off x="3828378" y="65730"/>
            <a:ext cx="3534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Section 2 OILTEK – EXAMPLE CASE</a:t>
            </a:r>
            <a:endParaRPr lang="en-MY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0782DD-73F6-9B80-7D7D-EC5DAAFE7FD0}"/>
              </a:ext>
            </a:extLst>
          </p:cNvPr>
          <p:cNvSpPr txBox="1"/>
          <p:nvPr/>
        </p:nvSpPr>
        <p:spPr>
          <a:xfrm>
            <a:off x="1025689" y="43506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70D7FD9-84B9-6268-5B07-995E0B4B5028}"/>
              </a:ext>
            </a:extLst>
          </p:cNvPr>
          <p:cNvSpPr txBox="1"/>
          <p:nvPr/>
        </p:nvSpPr>
        <p:spPr>
          <a:xfrm>
            <a:off x="3387889" y="43506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2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8A4FE6-5477-3192-606B-877DE454897A}"/>
              </a:ext>
            </a:extLst>
          </p:cNvPr>
          <p:cNvSpPr txBox="1"/>
          <p:nvPr/>
        </p:nvSpPr>
        <p:spPr>
          <a:xfrm>
            <a:off x="6150682" y="461124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3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9FDC98-74E7-1DED-E18B-CDB5DA69AAAF}"/>
              </a:ext>
            </a:extLst>
          </p:cNvPr>
          <p:cNvSpPr txBox="1"/>
          <p:nvPr/>
        </p:nvSpPr>
        <p:spPr>
          <a:xfrm>
            <a:off x="8923379" y="471160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4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26CEC3-25B0-F93E-9980-D3B68C03F6B7}"/>
              </a:ext>
            </a:extLst>
          </p:cNvPr>
          <p:cNvSpPr txBox="1"/>
          <p:nvPr/>
        </p:nvSpPr>
        <p:spPr>
          <a:xfrm>
            <a:off x="927735" y="3677227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5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EA8279A-0C6D-ADA4-32C8-824D3B439E72}"/>
              </a:ext>
            </a:extLst>
          </p:cNvPr>
          <p:cNvSpPr txBox="1"/>
          <p:nvPr/>
        </p:nvSpPr>
        <p:spPr>
          <a:xfrm>
            <a:off x="3515713" y="3702375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6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819EEAF-44E3-CD66-C9D5-E67C3EFBBBC6}"/>
              </a:ext>
            </a:extLst>
          </p:cNvPr>
          <p:cNvSpPr txBox="1"/>
          <p:nvPr/>
        </p:nvSpPr>
        <p:spPr>
          <a:xfrm>
            <a:off x="6150681" y="3701198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7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271B683-9217-7811-92AA-5532D55C16D4}"/>
              </a:ext>
            </a:extLst>
          </p:cNvPr>
          <p:cNvSpPr txBox="1"/>
          <p:nvPr/>
        </p:nvSpPr>
        <p:spPr>
          <a:xfrm>
            <a:off x="8886948" y="3701198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8</a:t>
            </a:r>
            <a:endParaRPr lang="en-MY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82B3DA-9445-E47B-E934-F2DAAD605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395" y="804394"/>
            <a:ext cx="1541820" cy="2082225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6D3A642-B007-DB43-DDD4-669CD6B99C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5513151"/>
              </p:ext>
            </p:extLst>
          </p:nvPr>
        </p:nvGraphicFramePr>
        <p:xfrm>
          <a:off x="752014" y="3019019"/>
          <a:ext cx="1671791" cy="219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226">
                  <a:extLst>
                    <a:ext uri="{9D8B030D-6E8A-4147-A177-3AD203B41FA5}">
                      <a16:colId xmlns:a16="http://schemas.microsoft.com/office/drawing/2014/main" val="365470756"/>
                    </a:ext>
                  </a:extLst>
                </a:gridCol>
                <a:gridCol w="757565">
                  <a:extLst>
                    <a:ext uri="{9D8B030D-6E8A-4147-A177-3AD203B41FA5}">
                      <a16:colId xmlns:a16="http://schemas.microsoft.com/office/drawing/2014/main" val="674698577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40/40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4968515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BA974674-C3FE-8E3E-B92A-0DD06392E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8485" y="921866"/>
            <a:ext cx="2030211" cy="6992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61A18E0-FF4D-1687-9677-0A071DB05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1390" y="978048"/>
            <a:ext cx="2117915" cy="30458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EEF368B-FD7E-61C4-A898-1BB1F88185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9871" y="978048"/>
            <a:ext cx="1939206" cy="41623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59B3328B-27CF-637F-039A-42A923457C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613" y="4155229"/>
            <a:ext cx="2034431" cy="93556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B4B5B2FC-828C-FF7C-8C53-110193FA71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0763" y="4284450"/>
            <a:ext cx="1973987" cy="628237"/>
          </a:xfrm>
          <a:prstGeom prst="rect">
            <a:avLst/>
          </a:prstGeom>
        </p:spPr>
      </p:pic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ADEDD31F-4B42-AABF-E904-1868A27B4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178031"/>
              </p:ext>
            </p:extLst>
          </p:nvPr>
        </p:nvGraphicFramePr>
        <p:xfrm>
          <a:off x="3285912" y="5833896"/>
          <a:ext cx="1671791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8/14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4E8CE5F9-E5C5-E03B-53CC-263F69A59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611316"/>
              </p:ext>
            </p:extLst>
          </p:nvPr>
        </p:nvGraphicFramePr>
        <p:xfrm>
          <a:off x="5884451" y="5833896"/>
          <a:ext cx="1671791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0/6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545CAD91-EC7A-1D61-2590-A6E0151AA7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765942"/>
              </p:ext>
            </p:extLst>
          </p:nvPr>
        </p:nvGraphicFramePr>
        <p:xfrm>
          <a:off x="8657147" y="5833896"/>
          <a:ext cx="1671791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0/7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pic>
        <p:nvPicPr>
          <p:cNvPr id="49" name="Picture 48">
            <a:extLst>
              <a:ext uri="{FF2B5EF4-FFF2-40B4-BE49-F238E27FC236}">
                <a16:creationId xmlns:a16="http://schemas.microsoft.com/office/drawing/2014/main" id="{6AABEE25-2B8F-8CFF-C80A-3B55D38F7C1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8197" t="58660" r="34038" b="-10701"/>
          <a:stretch>
            <a:fillRect/>
          </a:stretch>
        </p:blipFill>
        <p:spPr>
          <a:xfrm>
            <a:off x="8580354" y="4295323"/>
            <a:ext cx="1898240" cy="341934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3C8BA08D-FDDF-6553-EDC4-92AB2E80217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9259" t="3519" r="32976" b="44440"/>
          <a:stretch>
            <a:fillRect/>
          </a:stretch>
        </p:blipFill>
        <p:spPr>
          <a:xfrm>
            <a:off x="5771226" y="4273990"/>
            <a:ext cx="1898240" cy="34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0904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18FE5E-9235-FE2C-D1B9-8B66F240D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E432F2-D359-04E7-5D5F-BD36FB11822A}"/>
              </a:ext>
            </a:extLst>
          </p:cNvPr>
          <p:cNvSpPr txBox="1"/>
          <p:nvPr/>
        </p:nvSpPr>
        <p:spPr>
          <a:xfrm>
            <a:off x="4015846" y="174501"/>
            <a:ext cx="3699711" cy="7463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/>
              <a:t>STAGE 1</a:t>
            </a:r>
          </a:p>
          <a:p>
            <a:pPr algn="ctr"/>
            <a:r>
              <a:rPr lang="en-MY" sz="1600" dirty="0"/>
              <a:t>Highest Percentage fill up the Cluster</a:t>
            </a:r>
          </a:p>
          <a:p>
            <a:pPr marL="342900" indent="-342900" algn="ctr">
              <a:buAutoNum type="arabicParenR"/>
            </a:pPr>
            <a:endParaRPr lang="en-MY" sz="105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D3C16AC-2A6C-56C9-4DD4-CF0522866051}"/>
              </a:ext>
            </a:extLst>
          </p:cNvPr>
          <p:cNvCxnSpPr>
            <a:cxnSpLocks/>
            <a:stCxn id="2" idx="2"/>
            <a:endCxn id="10" idx="3"/>
          </p:cNvCxnSpPr>
          <p:nvPr/>
        </p:nvCxnSpPr>
        <p:spPr>
          <a:xfrm flipH="1">
            <a:off x="3588774" y="920859"/>
            <a:ext cx="2276928" cy="195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628257-0EF6-B96A-76C5-096E155C261A}"/>
              </a:ext>
            </a:extLst>
          </p:cNvPr>
          <p:cNvCxnSpPr>
            <a:cxnSpLocks/>
            <a:stCxn id="2" idx="2"/>
            <a:endCxn id="12" idx="1"/>
          </p:cNvCxnSpPr>
          <p:nvPr/>
        </p:nvCxnSpPr>
        <p:spPr>
          <a:xfrm>
            <a:off x="5865702" y="920859"/>
            <a:ext cx="2737526" cy="301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D3CAD14-4E8B-3F0F-4849-E6CC7683CD4A}"/>
              </a:ext>
            </a:extLst>
          </p:cNvPr>
          <p:cNvSpPr txBox="1"/>
          <p:nvPr/>
        </p:nvSpPr>
        <p:spPr>
          <a:xfrm>
            <a:off x="2821226" y="946858"/>
            <a:ext cx="767548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</a:t>
            </a:r>
            <a:endParaRPr lang="en-MY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415714-BC1A-CBCF-2CA7-28DDD2506FE3}"/>
              </a:ext>
            </a:extLst>
          </p:cNvPr>
          <p:cNvSpPr txBox="1"/>
          <p:nvPr/>
        </p:nvSpPr>
        <p:spPr>
          <a:xfrm>
            <a:off x="8603228" y="930348"/>
            <a:ext cx="1146090" cy="5847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(Cluster)</a:t>
            </a:r>
            <a:endParaRPr lang="en-MY" sz="105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D9071D3-1697-3034-4D28-D203632E5D93}"/>
              </a:ext>
            </a:extLst>
          </p:cNvPr>
          <p:cNvCxnSpPr>
            <a:cxnSpLocks/>
            <a:stCxn id="10" idx="2"/>
            <a:endCxn id="19" idx="0"/>
          </p:cNvCxnSpPr>
          <p:nvPr/>
        </p:nvCxnSpPr>
        <p:spPr>
          <a:xfrm flipH="1">
            <a:off x="3202273" y="1285412"/>
            <a:ext cx="2727" cy="2297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352A3BF-6C09-5117-9AB3-6996AD925B57}"/>
              </a:ext>
            </a:extLst>
          </p:cNvPr>
          <p:cNvSpPr txBox="1"/>
          <p:nvPr/>
        </p:nvSpPr>
        <p:spPr>
          <a:xfrm>
            <a:off x="1653694" y="1515123"/>
            <a:ext cx="3097158" cy="10156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New Device ID coming</a:t>
            </a:r>
          </a:p>
          <a:p>
            <a:r>
              <a:rPr lang="en-MY" sz="1200" dirty="0"/>
              <a:t>= compare the percentage</a:t>
            </a:r>
          </a:p>
          <a:p>
            <a:r>
              <a:rPr lang="en-MY" sz="1200" dirty="0"/>
              <a:t>= </a:t>
            </a:r>
            <a:r>
              <a:rPr lang="en-MY" sz="1200" b="1" dirty="0"/>
              <a:t>kick and replace</a:t>
            </a:r>
          </a:p>
          <a:p>
            <a:r>
              <a:rPr lang="en-MY" sz="1200" dirty="0"/>
              <a:t>= the highest percentage win.</a:t>
            </a:r>
          </a:p>
          <a:p>
            <a:pPr algn="ctr"/>
            <a:r>
              <a:rPr lang="en-MY" sz="1200" b="1" dirty="0">
                <a:solidFill>
                  <a:srgbClr val="FF0000"/>
                </a:solidFill>
              </a:rPr>
              <a:t>So the loser will go?</a:t>
            </a:r>
            <a:endParaRPr lang="en-MY" sz="900" b="1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E48D95-8362-C555-F986-15DA316DE344}"/>
              </a:ext>
            </a:extLst>
          </p:cNvPr>
          <p:cNvSpPr txBox="1"/>
          <p:nvPr/>
        </p:nvSpPr>
        <p:spPr>
          <a:xfrm>
            <a:off x="7234465" y="1782027"/>
            <a:ext cx="3861302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200" dirty="0"/>
              <a:t>Floating device ID fill up the vacant</a:t>
            </a:r>
          </a:p>
          <a:p>
            <a:r>
              <a:rPr lang="en-MY" sz="1200" dirty="0"/>
              <a:t>= pick the highest percentage on the respective reference</a:t>
            </a:r>
          </a:p>
          <a:p>
            <a:pPr algn="ctr"/>
            <a:r>
              <a:rPr lang="en-MY" sz="1200" b="1" dirty="0">
                <a:solidFill>
                  <a:srgbClr val="FF0000"/>
                </a:solidFill>
              </a:rPr>
              <a:t>What if still vacant?</a:t>
            </a:r>
            <a:endParaRPr lang="en-MY" sz="900" b="1" dirty="0">
              <a:solidFill>
                <a:srgbClr val="FF0000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8B5664D-FA50-1C25-06EF-8D187D9D13CC}"/>
              </a:ext>
            </a:extLst>
          </p:cNvPr>
          <p:cNvCxnSpPr>
            <a:cxnSpLocks/>
            <a:stCxn id="12" idx="2"/>
            <a:endCxn id="24" idx="0"/>
          </p:cNvCxnSpPr>
          <p:nvPr/>
        </p:nvCxnSpPr>
        <p:spPr>
          <a:xfrm flipH="1">
            <a:off x="9165116" y="1515123"/>
            <a:ext cx="11157" cy="266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E41F4F85-66D0-6390-3B03-4B390D34BA81}"/>
              </a:ext>
            </a:extLst>
          </p:cNvPr>
          <p:cNvSpPr/>
          <p:nvPr/>
        </p:nvSpPr>
        <p:spPr>
          <a:xfrm>
            <a:off x="279330" y="2626846"/>
            <a:ext cx="2222090" cy="2518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E7A7785-EFE8-5C7D-CDED-FCDDEC7F570E}"/>
              </a:ext>
            </a:extLst>
          </p:cNvPr>
          <p:cNvSpPr/>
          <p:nvPr/>
        </p:nvSpPr>
        <p:spPr>
          <a:xfrm>
            <a:off x="2697325" y="2628455"/>
            <a:ext cx="2222090" cy="14957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6341516F-3984-AE36-9F59-9E66384C1173}"/>
              </a:ext>
            </a:extLst>
          </p:cNvPr>
          <p:cNvGraphicFramePr>
            <a:graphicFrameLocks noGrp="1"/>
          </p:cNvGraphicFramePr>
          <p:nvPr/>
        </p:nvGraphicFramePr>
        <p:xfrm>
          <a:off x="542137" y="2971921"/>
          <a:ext cx="1696475" cy="20815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1005">
                  <a:extLst>
                    <a:ext uri="{9D8B030D-6E8A-4147-A177-3AD203B41FA5}">
                      <a16:colId xmlns:a16="http://schemas.microsoft.com/office/drawing/2014/main" val="3252498324"/>
                    </a:ext>
                  </a:extLst>
                </a:gridCol>
                <a:gridCol w="265470">
                  <a:extLst>
                    <a:ext uri="{9D8B030D-6E8A-4147-A177-3AD203B41FA5}">
                      <a16:colId xmlns:a16="http://schemas.microsoft.com/office/drawing/2014/main" val="3845258045"/>
                    </a:ext>
                  </a:extLst>
                </a:gridCol>
              </a:tblGrid>
              <a:tr h="3344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Control Valve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679341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Fan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43292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High Level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99014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Level Transmitter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62170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Low Level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35542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On/Off Valve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098382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Pressure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75141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Pressure Transmitter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02613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Pump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212272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Vibrator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269736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819372"/>
                  </a:ext>
                </a:extLst>
              </a:tr>
            </a:tbl>
          </a:graphicData>
        </a:graphic>
      </p:graphicFrame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68117C4B-0EEB-AE64-5DBD-BDA5CFE1857D}"/>
              </a:ext>
            </a:extLst>
          </p:cNvPr>
          <p:cNvGraphicFramePr>
            <a:graphicFrameLocks noGrp="1"/>
          </p:cNvGraphicFramePr>
          <p:nvPr/>
        </p:nvGraphicFramePr>
        <p:xfrm>
          <a:off x="2880245" y="3066536"/>
          <a:ext cx="1856249" cy="9461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89549">
                  <a:extLst>
                    <a:ext uri="{9D8B030D-6E8A-4147-A177-3AD203B41FA5}">
                      <a16:colId xmlns:a16="http://schemas.microsoft.com/office/drawing/2014/main" val="4198705536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82450716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Heater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721676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Low Level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392423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Pump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4181679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Temperature Transmitter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9956104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9028657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00E27BA2-22F9-79BF-D407-34450DA282ED}"/>
              </a:ext>
            </a:extLst>
          </p:cNvPr>
          <p:cNvSpPr txBox="1"/>
          <p:nvPr/>
        </p:nvSpPr>
        <p:spPr>
          <a:xfrm>
            <a:off x="882232" y="2609624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D6622E6-5A75-0012-D890-0A1962D6445B}"/>
              </a:ext>
            </a:extLst>
          </p:cNvPr>
          <p:cNvSpPr txBox="1"/>
          <p:nvPr/>
        </p:nvSpPr>
        <p:spPr>
          <a:xfrm>
            <a:off x="3202273" y="2662829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5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E27AF82-5954-418A-6FD9-40670094E4CC}"/>
              </a:ext>
            </a:extLst>
          </p:cNvPr>
          <p:cNvSpPr txBox="1"/>
          <p:nvPr/>
        </p:nvSpPr>
        <p:spPr>
          <a:xfrm>
            <a:off x="2996286" y="4158585"/>
            <a:ext cx="16241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100" dirty="0"/>
              <a:t>All the percentage inside </a:t>
            </a:r>
          </a:p>
          <a:p>
            <a:r>
              <a:rPr lang="en-MY" sz="1100" dirty="0"/>
              <a:t>the cluster is 80-90%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396B17A-02B9-8B84-4017-7B3A8EFB0516}"/>
              </a:ext>
            </a:extLst>
          </p:cNvPr>
          <p:cNvSpPr txBox="1"/>
          <p:nvPr/>
        </p:nvSpPr>
        <p:spPr>
          <a:xfrm>
            <a:off x="91785" y="5136916"/>
            <a:ext cx="30971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100" dirty="0"/>
              <a:t>All the percentage inside the cluster is 91-99 %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C4264E8-78ED-995A-14FE-BAE2974DCC5F}"/>
              </a:ext>
            </a:extLst>
          </p:cNvPr>
          <p:cNvSpPr/>
          <p:nvPr/>
        </p:nvSpPr>
        <p:spPr>
          <a:xfrm>
            <a:off x="9535808" y="2534910"/>
            <a:ext cx="2222090" cy="17443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E7F00F6-C5A7-39DC-673A-2B8001BD1A32}"/>
              </a:ext>
            </a:extLst>
          </p:cNvPr>
          <p:cNvSpPr txBox="1"/>
          <p:nvPr/>
        </p:nvSpPr>
        <p:spPr>
          <a:xfrm>
            <a:off x="10058851" y="2699198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7</a:t>
            </a:r>
            <a:endParaRPr lang="en-MY" b="1" dirty="0">
              <a:solidFill>
                <a:schemeClr val="bg1"/>
              </a:solidFill>
            </a:endParaRPr>
          </a:p>
        </p:txBody>
      </p:sp>
      <p:graphicFrame>
        <p:nvGraphicFramePr>
          <p:cNvPr id="95" name="Table 94">
            <a:extLst>
              <a:ext uri="{FF2B5EF4-FFF2-40B4-BE49-F238E27FC236}">
                <a16:creationId xmlns:a16="http://schemas.microsoft.com/office/drawing/2014/main" id="{98B17890-2A3F-F406-DC85-315CDA071F04}"/>
              </a:ext>
            </a:extLst>
          </p:cNvPr>
          <p:cNvGraphicFramePr>
            <a:graphicFrameLocks noGrp="1"/>
          </p:cNvGraphicFramePr>
          <p:nvPr/>
        </p:nvGraphicFramePr>
        <p:xfrm>
          <a:off x="9749318" y="3516295"/>
          <a:ext cx="1671791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0/6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pic>
        <p:nvPicPr>
          <p:cNvPr id="97" name="Picture 96">
            <a:extLst>
              <a:ext uri="{FF2B5EF4-FFF2-40B4-BE49-F238E27FC236}">
                <a16:creationId xmlns:a16="http://schemas.microsoft.com/office/drawing/2014/main" id="{5076DBF8-A3DE-AE79-9979-E95FE582E9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59" t="3519" r="32976" b="44440"/>
          <a:stretch>
            <a:fillRect/>
          </a:stretch>
        </p:blipFill>
        <p:spPr>
          <a:xfrm>
            <a:off x="9650649" y="3038767"/>
            <a:ext cx="1898240" cy="341934"/>
          </a:xfrm>
          <a:prstGeom prst="rect">
            <a:avLst/>
          </a:prstGeom>
        </p:spPr>
      </p:pic>
      <p:sp>
        <p:nvSpPr>
          <p:cNvPr id="100" name="Rectangle 99">
            <a:extLst>
              <a:ext uri="{FF2B5EF4-FFF2-40B4-BE49-F238E27FC236}">
                <a16:creationId xmlns:a16="http://schemas.microsoft.com/office/drawing/2014/main" id="{D649D32B-B83A-6C71-16B4-E26730FF9A66}"/>
              </a:ext>
            </a:extLst>
          </p:cNvPr>
          <p:cNvSpPr/>
          <p:nvPr/>
        </p:nvSpPr>
        <p:spPr>
          <a:xfrm>
            <a:off x="6973624" y="2541891"/>
            <a:ext cx="2222090" cy="25187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graphicFrame>
        <p:nvGraphicFramePr>
          <p:cNvPr id="102" name="Table 101">
            <a:extLst>
              <a:ext uri="{FF2B5EF4-FFF2-40B4-BE49-F238E27FC236}">
                <a16:creationId xmlns:a16="http://schemas.microsoft.com/office/drawing/2014/main" id="{7CF241B6-65C1-A102-7022-029048BE25BB}"/>
              </a:ext>
            </a:extLst>
          </p:cNvPr>
          <p:cNvGraphicFramePr>
            <a:graphicFrameLocks noGrp="1"/>
          </p:cNvGraphicFramePr>
          <p:nvPr/>
        </p:nvGraphicFramePr>
        <p:xfrm>
          <a:off x="7236431" y="2886966"/>
          <a:ext cx="1696475" cy="20815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31005">
                  <a:extLst>
                    <a:ext uri="{9D8B030D-6E8A-4147-A177-3AD203B41FA5}">
                      <a16:colId xmlns:a16="http://schemas.microsoft.com/office/drawing/2014/main" val="3252498324"/>
                    </a:ext>
                  </a:extLst>
                </a:gridCol>
                <a:gridCol w="265470">
                  <a:extLst>
                    <a:ext uri="{9D8B030D-6E8A-4147-A177-3AD203B41FA5}">
                      <a16:colId xmlns:a16="http://schemas.microsoft.com/office/drawing/2014/main" val="3845258045"/>
                    </a:ext>
                  </a:extLst>
                </a:gridCol>
              </a:tblGrid>
              <a:tr h="33443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Control Valve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679341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Fan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43292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High Level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99014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Level Transmitter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62170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Low Level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35542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On/Off Valve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098382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Pressure Switch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3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75141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Pressure Transmitter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2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02613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Pump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5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212272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Vibrator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269736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6819372"/>
                  </a:ext>
                </a:extLst>
              </a:tr>
            </a:tbl>
          </a:graphicData>
        </a:graphic>
      </p:graphicFrame>
      <p:sp>
        <p:nvSpPr>
          <p:cNvPr id="104" name="TextBox 103">
            <a:extLst>
              <a:ext uri="{FF2B5EF4-FFF2-40B4-BE49-F238E27FC236}">
                <a16:creationId xmlns:a16="http://schemas.microsoft.com/office/drawing/2014/main" id="{591D4878-353A-D947-6CAA-4B3361859608}"/>
              </a:ext>
            </a:extLst>
          </p:cNvPr>
          <p:cNvSpPr txBox="1"/>
          <p:nvPr/>
        </p:nvSpPr>
        <p:spPr>
          <a:xfrm>
            <a:off x="7576526" y="2524669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966D187-A8A1-9C1D-B5C4-F60A89391DC1}"/>
              </a:ext>
            </a:extLst>
          </p:cNvPr>
          <p:cNvSpPr txBox="1"/>
          <p:nvPr/>
        </p:nvSpPr>
        <p:spPr>
          <a:xfrm>
            <a:off x="6771196" y="5060656"/>
            <a:ext cx="29069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100" dirty="0"/>
              <a:t>All the percentage inside the cluster is 91-99 %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7DB5913-AD3E-6EA2-67DC-4BD301B8396B}"/>
              </a:ext>
            </a:extLst>
          </p:cNvPr>
          <p:cNvSpPr txBox="1"/>
          <p:nvPr/>
        </p:nvSpPr>
        <p:spPr>
          <a:xfrm>
            <a:off x="3112331" y="4664296"/>
            <a:ext cx="14414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100" dirty="0"/>
              <a:t>***both cluster is</a:t>
            </a:r>
            <a:r>
              <a:rPr lang="en-MY" sz="1100" b="1" dirty="0"/>
              <a:t> FULL</a:t>
            </a:r>
          </a:p>
        </p:txBody>
      </p:sp>
    </p:spTree>
    <p:extLst>
      <p:ext uri="{BB962C8B-B14F-4D97-AF65-F5344CB8AC3E}">
        <p14:creationId xmlns:p14="http://schemas.microsoft.com/office/powerpoint/2010/main" val="6873990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330734-E68C-5643-DAF1-2D5BCDC23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430DFFE-443F-CA94-0576-5A8E07A15C36}"/>
              </a:ext>
            </a:extLst>
          </p:cNvPr>
          <p:cNvSpPr txBox="1"/>
          <p:nvPr/>
        </p:nvSpPr>
        <p:spPr>
          <a:xfrm>
            <a:off x="1676747" y="312197"/>
            <a:ext cx="2124803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FULL CLUSTER </a:t>
            </a:r>
            <a:endParaRPr lang="en-MY" sz="10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241F89-ED48-4056-A69F-3480EAD2D1B5}"/>
              </a:ext>
            </a:extLst>
          </p:cNvPr>
          <p:cNvSpPr txBox="1"/>
          <p:nvPr/>
        </p:nvSpPr>
        <p:spPr>
          <a:xfrm>
            <a:off x="7965581" y="296601"/>
            <a:ext cx="2399069" cy="3385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dirty="0"/>
              <a:t>VACANT CLUSTER</a:t>
            </a:r>
            <a:endParaRPr lang="en-MY" sz="105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0610068-88D2-A96D-6FD8-CD93DF834279}"/>
              </a:ext>
            </a:extLst>
          </p:cNvPr>
          <p:cNvSpPr/>
          <p:nvPr/>
        </p:nvSpPr>
        <p:spPr>
          <a:xfrm>
            <a:off x="279318" y="880381"/>
            <a:ext cx="2222090" cy="15479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D22C368-183B-36D1-1C4E-0C97D8703574}"/>
              </a:ext>
            </a:extLst>
          </p:cNvPr>
          <p:cNvSpPr/>
          <p:nvPr/>
        </p:nvSpPr>
        <p:spPr>
          <a:xfrm>
            <a:off x="2894175" y="874032"/>
            <a:ext cx="2222090" cy="15479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aphicFrame>
        <p:nvGraphicFramePr>
          <p:cNvPr id="57" name="Table 56">
            <a:extLst>
              <a:ext uri="{FF2B5EF4-FFF2-40B4-BE49-F238E27FC236}">
                <a16:creationId xmlns:a16="http://schemas.microsoft.com/office/drawing/2014/main" id="{47729C07-47D6-7C6B-A642-AF1F5FE690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557250"/>
              </p:ext>
            </p:extLst>
          </p:nvPr>
        </p:nvGraphicFramePr>
        <p:xfrm>
          <a:off x="542137" y="1244721"/>
          <a:ext cx="1696475" cy="9461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013">
                  <a:extLst>
                    <a:ext uri="{9D8B030D-6E8A-4147-A177-3AD203B41FA5}">
                      <a16:colId xmlns:a16="http://schemas.microsoft.com/office/drawing/2014/main" val="3252498324"/>
                    </a:ext>
                  </a:extLst>
                </a:gridCol>
                <a:gridCol w="530462">
                  <a:extLst>
                    <a:ext uri="{9D8B030D-6E8A-4147-A177-3AD203B41FA5}">
                      <a16:colId xmlns:a16="http://schemas.microsoft.com/office/drawing/2014/main" val="3845258045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Low Level Switch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42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LSL411A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99.6%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80983822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LSL551B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97.6%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7514103"/>
                  </a:ext>
                </a:extLst>
              </a:tr>
              <a:tr h="170059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LSL411A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93.6%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026135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LSL411B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90.6%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321227210"/>
                  </a:ext>
                </a:extLst>
              </a:tr>
            </a:tbl>
          </a:graphicData>
        </a:graphic>
      </p:graphicFrame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30E0882B-75DD-8B05-E727-B5CE76D1F9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865115"/>
              </p:ext>
            </p:extLst>
          </p:nvPr>
        </p:nvGraphicFramePr>
        <p:xfrm>
          <a:off x="3077093" y="1219044"/>
          <a:ext cx="1856249" cy="9733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8055">
                  <a:extLst>
                    <a:ext uri="{9D8B030D-6E8A-4147-A177-3AD203B41FA5}">
                      <a16:colId xmlns:a16="http://schemas.microsoft.com/office/drawing/2014/main" val="4198705536"/>
                    </a:ext>
                  </a:extLst>
                </a:gridCol>
                <a:gridCol w="558194">
                  <a:extLst>
                    <a:ext uri="{9D8B030D-6E8A-4147-A177-3AD203B41FA5}">
                      <a16:colId xmlns:a16="http://schemas.microsoft.com/office/drawing/2014/main" val="2824507169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Low Level Switch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4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21676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LL07PL1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87.6%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4181679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LL07PR1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87.6%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0631373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LL57PL1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81.0%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633480118"/>
                  </a:ext>
                </a:extLst>
              </a:tr>
              <a:tr h="216414">
                <a:tc>
                  <a:txBody>
                    <a:bodyPr/>
                    <a:lstStyle/>
                    <a:p>
                      <a:pPr marL="171450" indent="-171450" algn="l" rtl="0" fontAlgn="b">
                        <a:buFont typeface="Arial" panose="020B0604020202020204" pitchFamily="34" charset="0"/>
                        <a:buChar char="•"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LL57PR1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81.0%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99561046"/>
                  </a:ext>
                </a:extLst>
              </a:tr>
            </a:tbl>
          </a:graphicData>
        </a:graphic>
      </p:graphicFrame>
      <p:sp>
        <p:nvSpPr>
          <p:cNvPr id="61" name="TextBox 60">
            <a:extLst>
              <a:ext uri="{FF2B5EF4-FFF2-40B4-BE49-F238E27FC236}">
                <a16:creationId xmlns:a16="http://schemas.microsoft.com/office/drawing/2014/main" id="{EBB02BA1-4004-1E9C-1A14-58D84C3A69B8}"/>
              </a:ext>
            </a:extLst>
          </p:cNvPr>
          <p:cNvSpPr txBox="1"/>
          <p:nvPr/>
        </p:nvSpPr>
        <p:spPr>
          <a:xfrm>
            <a:off x="882232" y="882424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80421ED-0137-085E-C360-820CD732A6E7}"/>
              </a:ext>
            </a:extLst>
          </p:cNvPr>
          <p:cNvSpPr txBox="1"/>
          <p:nvPr/>
        </p:nvSpPr>
        <p:spPr>
          <a:xfrm>
            <a:off x="3399123" y="85514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5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40F7FE6-356A-123E-A181-C45CAAA3E299}"/>
              </a:ext>
            </a:extLst>
          </p:cNvPr>
          <p:cNvSpPr txBox="1"/>
          <p:nvPr/>
        </p:nvSpPr>
        <p:spPr>
          <a:xfrm>
            <a:off x="434102" y="3202062"/>
            <a:ext cx="4610094" cy="107721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MY" sz="1600" dirty="0"/>
              <a:t>Case when New Device ID : </a:t>
            </a:r>
          </a:p>
          <a:p>
            <a:pPr marL="285750" indent="-285750">
              <a:buFontTx/>
              <a:buChar char="-"/>
            </a:pPr>
            <a:r>
              <a:rPr lang="en-MY" sz="1600" dirty="0"/>
              <a:t>LLA561 = Low level switch (93%) = </a:t>
            </a:r>
            <a:r>
              <a:rPr lang="en-MY" sz="1600" b="1" dirty="0">
                <a:solidFill>
                  <a:srgbClr val="FF0000"/>
                </a:solidFill>
              </a:rPr>
              <a:t>Cluster?</a:t>
            </a:r>
          </a:p>
          <a:p>
            <a:pPr marL="285750" indent="-285750">
              <a:buFontTx/>
              <a:buChar char="-"/>
            </a:pPr>
            <a:r>
              <a:rPr lang="en-MY" sz="1600" dirty="0"/>
              <a:t>LLA561 = Low level switch (86%) = </a:t>
            </a:r>
            <a:r>
              <a:rPr lang="en-MY" sz="1600" b="1" dirty="0">
                <a:solidFill>
                  <a:srgbClr val="FF0000"/>
                </a:solidFill>
              </a:rPr>
              <a:t>Cluster?</a:t>
            </a:r>
          </a:p>
          <a:p>
            <a:pPr marL="285750" indent="-285750">
              <a:buFontTx/>
              <a:buChar char="-"/>
            </a:pPr>
            <a:r>
              <a:rPr lang="en-MY" sz="1600" dirty="0"/>
              <a:t>LLA561 = Low level switch (72%) = </a:t>
            </a:r>
            <a:r>
              <a:rPr lang="en-MY" sz="1600" b="1" dirty="0">
                <a:solidFill>
                  <a:srgbClr val="FF0000"/>
                </a:solidFill>
              </a:rPr>
              <a:t>Cluster?</a:t>
            </a:r>
            <a:endParaRPr lang="en-MY" sz="16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E80A782-F859-9BC5-42BF-244D82317C78}"/>
              </a:ext>
            </a:extLst>
          </p:cNvPr>
          <p:cNvSpPr txBox="1"/>
          <p:nvPr/>
        </p:nvSpPr>
        <p:spPr>
          <a:xfrm>
            <a:off x="2813803" y="2440898"/>
            <a:ext cx="2807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050" dirty="0"/>
              <a:t>All the percentage inside the cluster is 80-90%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7002C1-3773-1936-EC2A-8745433CB7C9}"/>
              </a:ext>
            </a:extLst>
          </p:cNvPr>
          <p:cNvSpPr txBox="1"/>
          <p:nvPr/>
        </p:nvSpPr>
        <p:spPr>
          <a:xfrm>
            <a:off x="157731" y="2432762"/>
            <a:ext cx="30971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1000" dirty="0"/>
              <a:t>All the percentage inside the cluster is 91-99 %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D91F3C86-6F2E-DD0D-FF83-CC925905E973}"/>
              </a:ext>
            </a:extLst>
          </p:cNvPr>
          <p:cNvSpPr/>
          <p:nvPr/>
        </p:nvSpPr>
        <p:spPr>
          <a:xfrm>
            <a:off x="9438826" y="872125"/>
            <a:ext cx="2222090" cy="15687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D377ECD-D369-5DCC-B877-28E317C7F886}"/>
              </a:ext>
            </a:extLst>
          </p:cNvPr>
          <p:cNvSpPr txBox="1"/>
          <p:nvPr/>
        </p:nvSpPr>
        <p:spPr>
          <a:xfrm>
            <a:off x="9950816" y="1019430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7</a:t>
            </a:r>
            <a:endParaRPr lang="en-MY" b="1" dirty="0">
              <a:solidFill>
                <a:schemeClr val="bg1"/>
              </a:solidFill>
            </a:endParaRPr>
          </a:p>
        </p:txBody>
      </p:sp>
      <p:graphicFrame>
        <p:nvGraphicFramePr>
          <p:cNvPr id="95" name="Table 94">
            <a:extLst>
              <a:ext uri="{FF2B5EF4-FFF2-40B4-BE49-F238E27FC236}">
                <a16:creationId xmlns:a16="http://schemas.microsoft.com/office/drawing/2014/main" id="{BCB5B600-C71C-95A0-BA5B-C28F63575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13151"/>
              </p:ext>
            </p:extLst>
          </p:nvPr>
        </p:nvGraphicFramePr>
        <p:xfrm>
          <a:off x="9641283" y="1836527"/>
          <a:ext cx="1671791" cy="43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0/6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</a:t>
                      </a:r>
                      <a:endParaRPr lang="en-MY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pic>
        <p:nvPicPr>
          <p:cNvPr id="97" name="Picture 96">
            <a:extLst>
              <a:ext uri="{FF2B5EF4-FFF2-40B4-BE49-F238E27FC236}">
                <a16:creationId xmlns:a16="http://schemas.microsoft.com/office/drawing/2014/main" id="{14FF2DAD-28DA-C905-8C26-8502459E37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59" t="3519" r="32976" b="44440"/>
          <a:stretch>
            <a:fillRect/>
          </a:stretch>
        </p:blipFill>
        <p:spPr>
          <a:xfrm>
            <a:off x="9542614" y="1358999"/>
            <a:ext cx="1898240" cy="341934"/>
          </a:xfrm>
          <a:prstGeom prst="rect">
            <a:avLst/>
          </a:prstGeom>
        </p:spPr>
      </p:pic>
      <p:sp>
        <p:nvSpPr>
          <p:cNvPr id="100" name="Rectangle 99">
            <a:extLst>
              <a:ext uri="{FF2B5EF4-FFF2-40B4-BE49-F238E27FC236}">
                <a16:creationId xmlns:a16="http://schemas.microsoft.com/office/drawing/2014/main" id="{761698FB-A8BB-1AC0-7AF2-CD0F1D306B54}"/>
              </a:ext>
            </a:extLst>
          </p:cNvPr>
          <p:cNvSpPr/>
          <p:nvPr/>
        </p:nvSpPr>
        <p:spPr>
          <a:xfrm>
            <a:off x="6854536" y="872125"/>
            <a:ext cx="2222090" cy="15687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graphicFrame>
        <p:nvGraphicFramePr>
          <p:cNvPr id="102" name="Table 101">
            <a:extLst>
              <a:ext uri="{FF2B5EF4-FFF2-40B4-BE49-F238E27FC236}">
                <a16:creationId xmlns:a16="http://schemas.microsoft.com/office/drawing/2014/main" id="{7032F983-A87C-8B05-8D75-0EDC33B227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1242788"/>
              </p:ext>
            </p:extLst>
          </p:nvPr>
        </p:nvGraphicFramePr>
        <p:xfrm>
          <a:off x="7128396" y="1207198"/>
          <a:ext cx="1696475" cy="1135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0084">
                  <a:extLst>
                    <a:ext uri="{9D8B030D-6E8A-4147-A177-3AD203B41FA5}">
                      <a16:colId xmlns:a16="http://schemas.microsoft.com/office/drawing/2014/main" val="3252498324"/>
                    </a:ext>
                  </a:extLst>
                </a:gridCol>
                <a:gridCol w="666391">
                  <a:extLst>
                    <a:ext uri="{9D8B030D-6E8A-4147-A177-3AD203B41FA5}">
                      <a16:colId xmlns:a16="http://schemas.microsoft.com/office/drawing/2014/main" val="3845258045"/>
                    </a:ext>
                  </a:extLst>
                </a:gridCol>
              </a:tblGrid>
              <a:tr h="10513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On/Off Valve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9341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S412A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99.8%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43292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S482A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97.8%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99014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S602A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94.8%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62170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S922A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92.8%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35542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S362A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91.8%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7514103"/>
                  </a:ext>
                </a:extLst>
              </a:tr>
            </a:tbl>
          </a:graphicData>
        </a:graphic>
      </p:graphicFrame>
      <p:sp>
        <p:nvSpPr>
          <p:cNvPr id="104" name="TextBox 103">
            <a:extLst>
              <a:ext uri="{FF2B5EF4-FFF2-40B4-BE49-F238E27FC236}">
                <a16:creationId xmlns:a16="http://schemas.microsoft.com/office/drawing/2014/main" id="{F301FA61-1D7B-9036-2FA9-2FD84EB3448D}"/>
              </a:ext>
            </a:extLst>
          </p:cNvPr>
          <p:cNvSpPr txBox="1"/>
          <p:nvPr/>
        </p:nvSpPr>
        <p:spPr>
          <a:xfrm>
            <a:off x="7468491" y="844901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C1E98E27-7D0A-EA36-AD7B-34542054A578}"/>
              </a:ext>
            </a:extLst>
          </p:cNvPr>
          <p:cNvSpPr txBox="1"/>
          <p:nvPr/>
        </p:nvSpPr>
        <p:spPr>
          <a:xfrm>
            <a:off x="6803749" y="2655574"/>
            <a:ext cx="4954149" cy="58477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MY" sz="1600" dirty="0"/>
              <a:t>Case when New Device ID : </a:t>
            </a:r>
          </a:p>
          <a:p>
            <a:pPr marL="285750" indent="-285750">
              <a:buFontTx/>
              <a:buChar char="-"/>
            </a:pPr>
            <a:r>
              <a:rPr lang="en-MY" sz="1600" dirty="0">
                <a:solidFill>
                  <a:srgbClr val="000000"/>
                </a:solidFill>
                <a:latin typeface="Calibri" panose="020F0502020204030204" pitchFamily="34" charset="0"/>
              </a:rPr>
              <a:t>V71ST2</a:t>
            </a:r>
            <a:r>
              <a:rPr lang="en-MY" sz="1600" dirty="0"/>
              <a:t> = On/Off Valve (93%) = </a:t>
            </a:r>
            <a:r>
              <a:rPr lang="en-MY" sz="1600" b="1" dirty="0">
                <a:solidFill>
                  <a:srgbClr val="FF0000"/>
                </a:solidFill>
              </a:rPr>
              <a:t>Cluster?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6286608B-01ED-A583-38B0-5CE07FC77611}"/>
              </a:ext>
            </a:extLst>
          </p:cNvPr>
          <p:cNvSpPr txBox="1"/>
          <p:nvPr/>
        </p:nvSpPr>
        <p:spPr>
          <a:xfrm>
            <a:off x="2147354" y="2709335"/>
            <a:ext cx="144142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1100" dirty="0"/>
              <a:t>***both cluster is</a:t>
            </a:r>
            <a:r>
              <a:rPr lang="en-MY" sz="1100" b="1" dirty="0"/>
              <a:t> FULL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B10E816-3E94-A3A4-8D22-19AEC58727A5}"/>
              </a:ext>
            </a:extLst>
          </p:cNvPr>
          <p:cNvSpPr txBox="1"/>
          <p:nvPr/>
        </p:nvSpPr>
        <p:spPr>
          <a:xfrm>
            <a:off x="434102" y="4629942"/>
            <a:ext cx="4610094" cy="33855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MY" sz="1600" b="1" dirty="0">
                <a:solidFill>
                  <a:srgbClr val="FF0000"/>
                </a:solidFill>
              </a:rPr>
              <a:t>The kick out device id is located at?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686CF80-66B8-6547-DD91-718920B07410}"/>
              </a:ext>
            </a:extLst>
          </p:cNvPr>
          <p:cNvSpPr/>
          <p:nvPr/>
        </p:nvSpPr>
        <p:spPr>
          <a:xfrm>
            <a:off x="9438826" y="4881096"/>
            <a:ext cx="2222090" cy="15687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052AB2F-4EB1-3E78-C565-482BE16B3E21}"/>
              </a:ext>
            </a:extLst>
          </p:cNvPr>
          <p:cNvSpPr txBox="1"/>
          <p:nvPr/>
        </p:nvSpPr>
        <p:spPr>
          <a:xfrm>
            <a:off x="9950816" y="4867536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7</a:t>
            </a:r>
            <a:endParaRPr lang="en-MY" b="1" dirty="0">
              <a:solidFill>
                <a:schemeClr val="bg1"/>
              </a:solidFill>
            </a:endParaRPr>
          </a:p>
        </p:txBody>
      </p:sp>
      <p:graphicFrame>
        <p:nvGraphicFramePr>
          <p:cNvPr id="130" name="Table 129">
            <a:extLst>
              <a:ext uri="{FF2B5EF4-FFF2-40B4-BE49-F238E27FC236}">
                <a16:creationId xmlns:a16="http://schemas.microsoft.com/office/drawing/2014/main" id="{A522B6FE-B2CF-FBC5-A27C-B76483E166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024334"/>
              </p:ext>
            </p:extLst>
          </p:nvPr>
        </p:nvGraphicFramePr>
        <p:xfrm>
          <a:off x="9769063" y="5958454"/>
          <a:ext cx="1671791" cy="3784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13368">
                  <a:extLst>
                    <a:ext uri="{9D8B030D-6E8A-4147-A177-3AD203B41FA5}">
                      <a16:colId xmlns:a16="http://schemas.microsoft.com/office/drawing/2014/main" val="641568575"/>
                    </a:ext>
                  </a:extLst>
                </a:gridCol>
                <a:gridCol w="558423">
                  <a:extLst>
                    <a:ext uri="{9D8B030D-6E8A-4147-A177-3AD203B41FA5}">
                      <a16:colId xmlns:a16="http://schemas.microsoft.com/office/drawing/2014/main" val="2711374783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1/6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33208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VACANT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  <a:endParaRPr lang="en-MY" sz="12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636955"/>
                  </a:ext>
                </a:extLst>
              </a:tr>
            </a:tbl>
          </a:graphicData>
        </a:graphic>
      </p:graphicFrame>
      <p:pic>
        <p:nvPicPr>
          <p:cNvPr id="132" name="Picture 131">
            <a:extLst>
              <a:ext uri="{FF2B5EF4-FFF2-40B4-BE49-F238E27FC236}">
                <a16:creationId xmlns:a16="http://schemas.microsoft.com/office/drawing/2014/main" id="{29464F60-5B1F-59D5-A061-FBA767F80C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259" t="3519" r="32976" b="44440"/>
          <a:stretch>
            <a:fillRect/>
          </a:stretch>
        </p:blipFill>
        <p:spPr>
          <a:xfrm>
            <a:off x="9844484" y="5580027"/>
            <a:ext cx="1386550" cy="249762"/>
          </a:xfrm>
          <a:prstGeom prst="rect">
            <a:avLst/>
          </a:prstGeom>
        </p:spPr>
      </p:pic>
      <p:sp>
        <p:nvSpPr>
          <p:cNvPr id="134" name="Rectangle 133">
            <a:extLst>
              <a:ext uri="{FF2B5EF4-FFF2-40B4-BE49-F238E27FC236}">
                <a16:creationId xmlns:a16="http://schemas.microsoft.com/office/drawing/2014/main" id="{F1F6793A-C600-FBCA-9CF0-1CF863DFA110}"/>
              </a:ext>
            </a:extLst>
          </p:cNvPr>
          <p:cNvSpPr/>
          <p:nvPr/>
        </p:nvSpPr>
        <p:spPr>
          <a:xfrm>
            <a:off x="6854536" y="4881096"/>
            <a:ext cx="2222090" cy="15687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graphicFrame>
        <p:nvGraphicFramePr>
          <p:cNvPr id="136" name="Table 135">
            <a:extLst>
              <a:ext uri="{FF2B5EF4-FFF2-40B4-BE49-F238E27FC236}">
                <a16:creationId xmlns:a16="http://schemas.microsoft.com/office/drawing/2014/main" id="{7FD94074-F1EC-03FD-B734-D57895F25E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751032"/>
              </p:ext>
            </p:extLst>
          </p:nvPr>
        </p:nvGraphicFramePr>
        <p:xfrm>
          <a:off x="7128396" y="5216169"/>
          <a:ext cx="1696475" cy="11353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0084">
                  <a:extLst>
                    <a:ext uri="{9D8B030D-6E8A-4147-A177-3AD203B41FA5}">
                      <a16:colId xmlns:a16="http://schemas.microsoft.com/office/drawing/2014/main" val="3252498324"/>
                    </a:ext>
                  </a:extLst>
                </a:gridCol>
                <a:gridCol w="666391">
                  <a:extLst>
                    <a:ext uri="{9D8B030D-6E8A-4147-A177-3AD203B41FA5}">
                      <a16:colId xmlns:a16="http://schemas.microsoft.com/office/drawing/2014/main" val="3845258045"/>
                    </a:ext>
                  </a:extLst>
                </a:gridCol>
              </a:tblGrid>
              <a:tr h="10513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On/Off Valve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6</a:t>
                      </a:r>
                    </a:p>
                  </a:txBody>
                  <a:tcPr marL="6350" marR="6350" marT="6350" marB="0" anchor="b">
                    <a:solidFill>
                      <a:srgbClr val="CD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93410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S412A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99.8%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143292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S482A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97.8%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4990147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S602A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94.8%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70621707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</a:rPr>
                        <a:t>V71ST2</a:t>
                      </a:r>
                      <a:endParaRPr lang="en-MY" sz="1200" b="0" i="0" u="none" strike="noStrike" dirty="0">
                        <a:solidFill>
                          <a:srgbClr val="000000"/>
                        </a:solidFill>
                        <a:effectLst/>
                        <a:latin typeface="Tw Cen MT" panose="020B0602020104020603" pitchFamily="34" charset="0"/>
                      </a:endParaRPr>
                    </a:p>
                  </a:txBody>
                  <a:tcPr marL="6350" marR="6350" marT="6350" marB="0" anchor="b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93%</a:t>
                      </a:r>
                    </a:p>
                  </a:txBody>
                  <a:tcPr marL="6350" marR="6350" marT="6350" marB="0" anchor="b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42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S922A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92.8%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67514103"/>
                  </a:ext>
                </a:extLst>
              </a:tr>
            </a:tbl>
          </a:graphicData>
        </a:graphic>
      </p:graphicFrame>
      <p:sp>
        <p:nvSpPr>
          <p:cNvPr id="138" name="TextBox 137">
            <a:extLst>
              <a:ext uri="{FF2B5EF4-FFF2-40B4-BE49-F238E27FC236}">
                <a16:creationId xmlns:a16="http://schemas.microsoft.com/office/drawing/2014/main" id="{B7B6E253-E3CB-A067-FD46-5F2787D99BDC}"/>
              </a:ext>
            </a:extLst>
          </p:cNvPr>
          <p:cNvSpPr txBox="1"/>
          <p:nvPr/>
        </p:nvSpPr>
        <p:spPr>
          <a:xfrm>
            <a:off x="7468491" y="4853872"/>
            <a:ext cx="1212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CLUSTER 1</a:t>
            </a:r>
            <a:endParaRPr lang="en-MY" b="1" dirty="0">
              <a:solidFill>
                <a:schemeClr val="bg1"/>
              </a:solidFill>
            </a:endParaRPr>
          </a:p>
        </p:txBody>
      </p:sp>
      <p:graphicFrame>
        <p:nvGraphicFramePr>
          <p:cNvPr id="141" name="Table 140">
            <a:extLst>
              <a:ext uri="{FF2B5EF4-FFF2-40B4-BE49-F238E27FC236}">
                <a16:creationId xmlns:a16="http://schemas.microsoft.com/office/drawing/2014/main" id="{AFE59A95-6CA7-53EF-81E8-89552EFF53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290867"/>
              </p:ext>
            </p:extLst>
          </p:nvPr>
        </p:nvGraphicFramePr>
        <p:xfrm>
          <a:off x="9643496" y="5268682"/>
          <a:ext cx="1696475" cy="18923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30084">
                  <a:extLst>
                    <a:ext uri="{9D8B030D-6E8A-4147-A177-3AD203B41FA5}">
                      <a16:colId xmlns:a16="http://schemas.microsoft.com/office/drawing/2014/main" val="3049865551"/>
                    </a:ext>
                  </a:extLst>
                </a:gridCol>
                <a:gridCol w="666391">
                  <a:extLst>
                    <a:ext uri="{9D8B030D-6E8A-4147-A177-3AD203B41FA5}">
                      <a16:colId xmlns:a16="http://schemas.microsoft.com/office/drawing/2014/main" val="1283761182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S362A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MY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w Cen MT" panose="020B0602020104020603" pitchFamily="34" charset="0"/>
                        </a:rPr>
                        <a:t>91.8%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81913274"/>
                  </a:ext>
                </a:extLst>
              </a:tr>
            </a:tbl>
          </a:graphicData>
        </a:graphic>
      </p:graphicFrame>
      <p:sp>
        <p:nvSpPr>
          <p:cNvPr id="143" name="TextBox 142">
            <a:extLst>
              <a:ext uri="{FF2B5EF4-FFF2-40B4-BE49-F238E27FC236}">
                <a16:creationId xmlns:a16="http://schemas.microsoft.com/office/drawing/2014/main" id="{772351A1-D7FD-AADD-10EE-3976D1EE2D72}"/>
              </a:ext>
            </a:extLst>
          </p:cNvPr>
          <p:cNvSpPr txBox="1"/>
          <p:nvPr/>
        </p:nvSpPr>
        <p:spPr>
          <a:xfrm>
            <a:off x="8215725" y="4369105"/>
            <a:ext cx="21301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2000" dirty="0"/>
              <a:t>Suggestion answer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015AC839-043B-7AE4-5815-6B07BFB84454}"/>
              </a:ext>
            </a:extLst>
          </p:cNvPr>
          <p:cNvSpPr/>
          <p:nvPr/>
        </p:nvSpPr>
        <p:spPr>
          <a:xfrm>
            <a:off x="5842000" y="0"/>
            <a:ext cx="311776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45" name="Arrow: Down 144">
            <a:extLst>
              <a:ext uri="{FF2B5EF4-FFF2-40B4-BE49-F238E27FC236}">
                <a16:creationId xmlns:a16="http://schemas.microsoft.com/office/drawing/2014/main" id="{62AA83CD-7074-43EB-0F75-6E3D4C149FAD}"/>
              </a:ext>
            </a:extLst>
          </p:cNvPr>
          <p:cNvSpPr/>
          <p:nvPr/>
        </p:nvSpPr>
        <p:spPr>
          <a:xfrm>
            <a:off x="8967019" y="3429000"/>
            <a:ext cx="527349" cy="82822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168114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464D26-3048-2900-660A-044CED8649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9A646E-C02D-D53E-0E7A-0C15205F5E90}"/>
              </a:ext>
            </a:extLst>
          </p:cNvPr>
          <p:cNvSpPr txBox="1"/>
          <p:nvPr/>
        </p:nvSpPr>
        <p:spPr>
          <a:xfrm>
            <a:off x="4937670" y="2469930"/>
            <a:ext cx="23166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29747176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A88212-3336-6AB1-0A0B-671FB4B35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85A962-DDB4-7FC3-E4E2-5283D64B266D}"/>
              </a:ext>
            </a:extLst>
          </p:cNvPr>
          <p:cNvSpPr txBox="1"/>
          <p:nvPr/>
        </p:nvSpPr>
        <p:spPr>
          <a:xfrm>
            <a:off x="485413" y="336330"/>
            <a:ext cx="41761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Update script 17/07/2026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4241DC-41C3-F471-8425-4D424F585936}"/>
              </a:ext>
            </a:extLst>
          </p:cNvPr>
          <p:cNvSpPr txBox="1"/>
          <p:nvPr/>
        </p:nvSpPr>
        <p:spPr>
          <a:xfrm>
            <a:off x="931169" y="1398584"/>
            <a:ext cx="105776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Program.cs</a:t>
            </a:r>
            <a:r>
              <a:rPr lang="en-US" dirty="0"/>
              <a:t> workflow :</a:t>
            </a:r>
          </a:p>
          <a:p>
            <a:endParaRPr lang="en-US" dirty="0"/>
          </a:p>
          <a:p>
            <a:r>
              <a:rPr lang="en-US" dirty="0"/>
              <a:t>Console output is not as per requested. Need to restructure the way. = PROBLEM SOLVED ✅</a:t>
            </a:r>
          </a:p>
          <a:p>
            <a:r>
              <a:rPr lang="en-US" dirty="0"/>
              <a:t>PROBLEM AND STOP AND APPROACH 2 </a:t>
            </a:r>
          </a:p>
          <a:p>
            <a:endParaRPr lang="en-US" dirty="0"/>
          </a:p>
          <a:p>
            <a:endParaRPr lang="en-US" dirty="0"/>
          </a:p>
          <a:p>
            <a:r>
              <a:rPr lang="en-MY" dirty="0"/>
              <a:t>So: </a:t>
            </a:r>
            <a:r>
              <a:rPr lang="en-MY" b="1" dirty="0"/>
              <a:t>capture the data → </a:t>
            </a:r>
            <a:r>
              <a:rPr lang="en-MY" b="1" dirty="0" err="1"/>
              <a:t>ClusterQuotaAllocator.cs</a:t>
            </a:r>
            <a:r>
              <a:rPr lang="en-MY" b="1" dirty="0"/>
              <a:t>. Display the data → </a:t>
            </a:r>
            <a:r>
              <a:rPr lang="en-MY" b="1" dirty="0" err="1"/>
              <a:t>Program.cs</a:t>
            </a:r>
            <a:r>
              <a:rPr lang="en-MY" b="1" dirty="0"/>
              <a:t>.</a:t>
            </a:r>
            <a:r>
              <a:rPr lang="en-MY" dirty="0"/>
              <a:t> If you already replaced your Logic project's </a:t>
            </a:r>
            <a:r>
              <a:rPr lang="en-MY" dirty="0" err="1"/>
              <a:t>ClusterQuotaAllocator.cs</a:t>
            </a:r>
            <a:r>
              <a:rPr lang="en-MY" dirty="0"/>
              <a:t> with the full file I gave you last message, that half is done — you just need to update the </a:t>
            </a:r>
            <a:r>
              <a:rPr lang="en-MY" dirty="0" err="1"/>
              <a:t>Program.cs</a:t>
            </a:r>
            <a:r>
              <a:rPr lang="en-MY" dirty="0"/>
              <a:t> printing block now.</a:t>
            </a:r>
          </a:p>
        </p:txBody>
      </p:sp>
    </p:spTree>
    <p:extLst>
      <p:ext uri="{BB962C8B-B14F-4D97-AF65-F5344CB8AC3E}">
        <p14:creationId xmlns:p14="http://schemas.microsoft.com/office/powerpoint/2010/main" val="123987724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19C4C4-2BA0-5248-9538-208A81E7D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B89251-014B-B28D-6075-2EC1D3080C29}"/>
              </a:ext>
            </a:extLst>
          </p:cNvPr>
          <p:cNvSpPr txBox="1"/>
          <p:nvPr/>
        </p:nvSpPr>
        <p:spPr>
          <a:xfrm>
            <a:off x="4800422" y="2285999"/>
            <a:ext cx="279435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OBSOLETE</a:t>
            </a:r>
          </a:p>
        </p:txBody>
      </p:sp>
    </p:spTree>
    <p:extLst>
      <p:ext uri="{BB962C8B-B14F-4D97-AF65-F5344CB8AC3E}">
        <p14:creationId xmlns:p14="http://schemas.microsoft.com/office/powerpoint/2010/main" val="24561064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2C43FC-695C-8E98-FA6D-DD9579CA7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195FA9-4577-2710-99B0-419F95D825CF}"/>
              </a:ext>
            </a:extLst>
          </p:cNvPr>
          <p:cNvSpPr txBox="1"/>
          <p:nvPr/>
        </p:nvSpPr>
        <p:spPr>
          <a:xfrm>
            <a:off x="4169831" y="2135887"/>
            <a:ext cx="385233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/>
              <a:t>REFERENCE</a:t>
            </a:r>
          </a:p>
          <a:p>
            <a:pPr algn="ctr"/>
            <a:r>
              <a:rPr lang="en-US" sz="4800" dirty="0"/>
              <a:t>[10/07/2026]</a:t>
            </a:r>
            <a:endParaRPr lang="en-MY" sz="4800" dirty="0"/>
          </a:p>
        </p:txBody>
      </p:sp>
    </p:spTree>
    <p:extLst>
      <p:ext uri="{BB962C8B-B14F-4D97-AF65-F5344CB8AC3E}">
        <p14:creationId xmlns:p14="http://schemas.microsoft.com/office/powerpoint/2010/main" val="377384124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2B484C-E798-CDFF-4DC6-0347EE730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91D9AC-408F-CACD-2D32-EA6A2044E077}"/>
              </a:ext>
            </a:extLst>
          </p:cNvPr>
          <p:cNvSpPr txBox="1"/>
          <p:nvPr/>
        </p:nvSpPr>
        <p:spPr>
          <a:xfrm>
            <a:off x="681789" y="558266"/>
            <a:ext cx="11012906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sz="2400" b="1" dirty="0"/>
              <a:t>Case when : </a:t>
            </a:r>
          </a:p>
          <a:p>
            <a:endParaRPr lang="en-MY" sz="2400" dirty="0"/>
          </a:p>
          <a:p>
            <a:pPr marL="342900" indent="-342900">
              <a:buAutoNum type="arabicParenR"/>
            </a:pPr>
            <a:r>
              <a:rPr lang="en-MY" sz="2400" dirty="0"/>
              <a:t> Check the top 3 highest percentage</a:t>
            </a:r>
          </a:p>
          <a:p>
            <a:pPr marL="342900" indent="-342900">
              <a:buAutoNum type="arabicParenR"/>
            </a:pPr>
            <a:r>
              <a:rPr lang="en-MY" sz="2400" dirty="0"/>
              <a:t> Load the top 3 cluster obtain from the highest percentage</a:t>
            </a:r>
          </a:p>
          <a:p>
            <a:pPr marL="342900" indent="-342900">
              <a:buAutoNum type="arabicParenR"/>
            </a:pPr>
            <a:r>
              <a:rPr lang="en-MY" sz="2400" dirty="0"/>
              <a:t> Match the pattern algorithm.</a:t>
            </a:r>
          </a:p>
          <a:p>
            <a:pPr marL="342900" indent="-342900">
              <a:buAutoNum type="arabicParenR"/>
            </a:pPr>
            <a:r>
              <a:rPr lang="en-MY" sz="2400" dirty="0"/>
              <a:t> Is the equipment existed in the cluster algorithm reference? Yes/No</a:t>
            </a:r>
          </a:p>
          <a:p>
            <a:pPr marL="342900" indent="-342900">
              <a:buAutoNum type="arabicParenR"/>
            </a:pPr>
            <a:r>
              <a:rPr lang="en-MY" sz="2400" dirty="0"/>
              <a:t> NO = EXCLUDE THE CLUSTER</a:t>
            </a:r>
          </a:p>
          <a:p>
            <a:pPr marL="342900" indent="-342900">
              <a:buAutoNum type="arabicParenR"/>
            </a:pPr>
            <a:r>
              <a:rPr lang="en-MY" sz="2400" dirty="0"/>
              <a:t> YES = Proceed with the selection. </a:t>
            </a:r>
          </a:p>
          <a:p>
            <a:pPr marL="342900" indent="-342900">
              <a:buAutoNum type="arabicParenR"/>
            </a:pPr>
            <a:r>
              <a:rPr lang="en-MY" sz="2400" dirty="0"/>
              <a:t> If there is more than 1 similar device type across cluster, which cluster should choose? = choose the cluster in which no Device Type inside.</a:t>
            </a:r>
          </a:p>
          <a:p>
            <a:pPr marL="342900" indent="-342900">
              <a:buAutoNum type="arabicParenR"/>
            </a:pPr>
            <a:endParaRPr lang="en-MY" sz="2400" dirty="0"/>
          </a:p>
          <a:p>
            <a:pPr marL="342900" indent="-342900">
              <a:buAutoNum type="arabicParenR"/>
            </a:pPr>
            <a:r>
              <a:rPr lang="en-MY" sz="2400" dirty="0"/>
              <a:t>QUESTION! WHEN THE KICK AND REPLACE WILL WORK?</a:t>
            </a:r>
          </a:p>
          <a:p>
            <a:pPr marL="342900" indent="-342900">
              <a:buAutoNum type="arabicParenR"/>
            </a:pPr>
            <a:endParaRPr lang="en-MY" sz="2400" dirty="0"/>
          </a:p>
          <a:p>
            <a:pPr marL="342900" indent="-342900">
              <a:buAutoNum type="arabicParenR"/>
            </a:pPr>
            <a:endParaRPr lang="en-MY" sz="1400" dirty="0"/>
          </a:p>
        </p:txBody>
      </p:sp>
    </p:spTree>
    <p:extLst>
      <p:ext uri="{BB962C8B-B14F-4D97-AF65-F5344CB8AC3E}">
        <p14:creationId xmlns:p14="http://schemas.microsoft.com/office/powerpoint/2010/main" val="38993609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99CB30-9882-388D-E303-8580A3FA2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C3628A4-C1D1-0D33-F043-59EB1D3978EB}"/>
              </a:ext>
            </a:extLst>
          </p:cNvPr>
          <p:cNvSpPr/>
          <p:nvPr/>
        </p:nvSpPr>
        <p:spPr>
          <a:xfrm>
            <a:off x="722376" y="1362456"/>
            <a:ext cx="4489704" cy="2624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u="sng" dirty="0"/>
              <a:t>TRAINING DATASET</a:t>
            </a:r>
          </a:p>
          <a:p>
            <a:pPr algn="ctr"/>
            <a:endParaRPr lang="en-MY" b="1" u="sng" dirty="0"/>
          </a:p>
          <a:p>
            <a:pPr algn="ctr"/>
            <a:r>
              <a:rPr lang="en-MY" u="sng" dirty="0"/>
              <a:t>OILTEK </a:t>
            </a:r>
          </a:p>
          <a:p>
            <a:r>
              <a:rPr lang="en-MY" b="1" dirty="0"/>
              <a:t>A1706 (REFERENCE)</a:t>
            </a:r>
          </a:p>
          <a:p>
            <a:r>
              <a:rPr lang="en-MY" dirty="0"/>
              <a:t>A9991, A9992, A9993, A9994, A9995</a:t>
            </a:r>
          </a:p>
          <a:p>
            <a:endParaRPr lang="en-MY" dirty="0"/>
          </a:p>
          <a:p>
            <a:pPr algn="ctr"/>
            <a:r>
              <a:rPr lang="en-MY" u="sng" dirty="0"/>
              <a:t>UGS</a:t>
            </a:r>
          </a:p>
          <a:p>
            <a:r>
              <a:rPr lang="en-MY" b="1" dirty="0"/>
              <a:t>A2027 (REFERENCE)</a:t>
            </a:r>
          </a:p>
          <a:p>
            <a:r>
              <a:rPr lang="en-MY" dirty="0"/>
              <a:t>A8881, A8882. A8883, A8884, A8885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4D22BD-945A-6B32-63A0-5AC3E2103405}"/>
              </a:ext>
            </a:extLst>
          </p:cNvPr>
          <p:cNvSpPr/>
          <p:nvPr/>
        </p:nvSpPr>
        <p:spPr>
          <a:xfrm>
            <a:off x="6717792" y="1362456"/>
            <a:ext cx="4489704" cy="2487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u="sng" dirty="0"/>
              <a:t>MODEL APPLICATION BY </a:t>
            </a:r>
            <a:r>
              <a:rPr lang="en-MY" b="1" u="sng" dirty="0" err="1"/>
              <a:t>Program.cs</a:t>
            </a:r>
            <a:endParaRPr lang="en-MY" b="1" u="sng" dirty="0"/>
          </a:p>
          <a:p>
            <a:pPr algn="ctr"/>
            <a:endParaRPr lang="en-MY" b="1" u="sng" dirty="0"/>
          </a:p>
          <a:p>
            <a:r>
              <a:rPr lang="en-MY" dirty="0"/>
              <a:t>OILTEK </a:t>
            </a:r>
          </a:p>
          <a:p>
            <a:r>
              <a:rPr lang="en-MY" dirty="0"/>
              <a:t>A1706</a:t>
            </a:r>
          </a:p>
          <a:p>
            <a:endParaRPr lang="en-MY" dirty="0"/>
          </a:p>
          <a:p>
            <a:r>
              <a:rPr lang="en-MY" dirty="0"/>
              <a:t>OUTPUT : </a:t>
            </a:r>
          </a:p>
          <a:p>
            <a:r>
              <a:rPr lang="en-MY" dirty="0"/>
              <a:t>TOTAL DEVICE ID 	= 128 ID</a:t>
            </a:r>
          </a:p>
          <a:p>
            <a:r>
              <a:rPr lang="en-MY" dirty="0"/>
              <a:t>KNOWN 			= 117 ID</a:t>
            </a:r>
          </a:p>
          <a:p>
            <a:r>
              <a:rPr lang="en-MY" dirty="0"/>
              <a:t>UNKNOWN 		= 11 ID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592057-5512-B372-C357-5630E47E227C}"/>
              </a:ext>
            </a:extLst>
          </p:cNvPr>
          <p:cNvSpPr txBox="1"/>
          <p:nvPr/>
        </p:nvSpPr>
        <p:spPr>
          <a:xfrm>
            <a:off x="109728" y="128016"/>
            <a:ext cx="300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GENERATED ON 14/07/2026</a:t>
            </a:r>
          </a:p>
        </p:txBody>
      </p:sp>
    </p:spTree>
    <p:extLst>
      <p:ext uri="{BB962C8B-B14F-4D97-AF65-F5344CB8AC3E}">
        <p14:creationId xmlns:p14="http://schemas.microsoft.com/office/powerpoint/2010/main" val="6881278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CE3B42-F89D-59D8-CAB5-AFBFB1A2D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834E2E-4FA9-D7A4-201C-2294282307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74320"/>
            <a:ext cx="4781839" cy="5074920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2578F1C-E0B3-6039-EB4E-5D9859E939A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0945"/>
          <a:stretch>
            <a:fillRect/>
          </a:stretch>
        </p:blipFill>
        <p:spPr>
          <a:xfrm>
            <a:off x="647423" y="274320"/>
            <a:ext cx="4865272" cy="6066933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8333009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AC6E3C-377F-EB6D-F9A1-27C753673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D6F0AF12-ABB2-C379-2500-22E431477C2D}"/>
              </a:ext>
            </a:extLst>
          </p:cNvPr>
          <p:cNvSpPr/>
          <p:nvPr/>
        </p:nvSpPr>
        <p:spPr>
          <a:xfrm>
            <a:off x="7398792" y="218984"/>
            <a:ext cx="4343401" cy="121921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Restructure and Kick</a:t>
            </a:r>
          </a:p>
          <a:p>
            <a:pPr algn="ctr"/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PROBLEM : Depends on the training dataset. </a:t>
            </a:r>
          </a:p>
          <a:p>
            <a:pPr algn="ctr"/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EXAMPLE : V264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170C8F6-FFE9-427C-E70C-10F02E91EE7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35"/>
          <a:stretch>
            <a:fillRect/>
          </a:stretch>
        </p:blipFill>
        <p:spPr>
          <a:xfrm>
            <a:off x="2195478" y="358366"/>
            <a:ext cx="4856577" cy="123476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A610231B-FECE-EE70-537D-A2E02044F0D1}"/>
              </a:ext>
            </a:extLst>
          </p:cNvPr>
          <p:cNvSpPr txBox="1"/>
          <p:nvPr/>
        </p:nvSpPr>
        <p:spPr>
          <a:xfrm>
            <a:off x="239951" y="1600186"/>
            <a:ext cx="4458656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In the output suggestion, only existed 2 CLUSTER :</a:t>
            </a:r>
            <a:br>
              <a:rPr lang="en-US" sz="1400" dirty="0"/>
            </a:br>
            <a:r>
              <a:rPr lang="en-US" sz="1400" dirty="0"/>
              <a:t>- 	SECTION 3 CLUSTER 1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    SECTION 3 CLUSTER 3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  <a:p>
            <a:r>
              <a:rPr lang="en-US" sz="1200" dirty="0"/>
              <a:t>Q : where is coming SECTION 3 CLUSTER 4 as per suggested? </a:t>
            </a:r>
          </a:p>
          <a:p>
            <a:r>
              <a:rPr lang="en-US" sz="1200" dirty="0"/>
              <a:t>A : From training dataset</a:t>
            </a:r>
          </a:p>
          <a:p>
            <a:endParaRPr lang="en-US" sz="1200" dirty="0"/>
          </a:p>
          <a:p>
            <a:r>
              <a:rPr lang="en-US" sz="1200" dirty="0"/>
              <a:t>Q : Is it come from UGS? Or it belong to others client?</a:t>
            </a:r>
          </a:p>
          <a:p>
            <a:r>
              <a:rPr lang="en-US" sz="1200" dirty="0"/>
              <a:t>A : Training data used UGS &amp; OILTEK</a:t>
            </a:r>
          </a:p>
          <a:p>
            <a:endParaRPr lang="en-US" sz="1200" dirty="0"/>
          </a:p>
          <a:p>
            <a:r>
              <a:rPr lang="en-US" sz="1200" dirty="0"/>
              <a:t>Q : is SECTION 3 CLUSTER 4 existed in UGS training data? </a:t>
            </a:r>
            <a:r>
              <a:rPr lang="en-US" sz="1200" b="1" dirty="0"/>
              <a:t>= YES</a:t>
            </a:r>
          </a:p>
          <a:p>
            <a:endParaRPr lang="en-US" sz="1200" b="1" dirty="0"/>
          </a:p>
          <a:p>
            <a:r>
              <a:rPr lang="en-US" sz="1200" dirty="0"/>
              <a:t>Q: should include together the training dataset from the similar client? </a:t>
            </a:r>
          </a:p>
          <a:p>
            <a:r>
              <a:rPr lang="en-US" sz="1200" dirty="0"/>
              <a:t>A = as for now, EXCLUDED!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FB1391B2-BBD5-8A44-CAFB-6DA9535915C1}"/>
              </a:ext>
            </a:extLst>
          </p:cNvPr>
          <p:cNvGrpSpPr/>
          <p:nvPr/>
        </p:nvGrpSpPr>
        <p:grpSpPr>
          <a:xfrm>
            <a:off x="307685" y="4647174"/>
            <a:ext cx="3913634" cy="1687739"/>
            <a:chOff x="201166" y="4154261"/>
            <a:chExt cx="4319153" cy="2147165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408FDCF1-89F2-144A-20A1-E58523EBB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1166" y="4154261"/>
              <a:ext cx="4319153" cy="2147165"/>
            </a:xfrm>
            <a:prstGeom prst="rect">
              <a:avLst/>
            </a:prstGeom>
          </p:spPr>
        </p:pic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C994C5C-F4D9-F3BE-5223-0D23B2902506}"/>
                </a:ext>
              </a:extLst>
            </p:cNvPr>
            <p:cNvSpPr/>
            <p:nvPr/>
          </p:nvSpPr>
          <p:spPr>
            <a:xfrm>
              <a:off x="3208867" y="5130800"/>
              <a:ext cx="1311452" cy="211667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9354803A-C7AC-1BE6-CC24-1AD52257CC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5171" y="3162994"/>
            <a:ext cx="6987022" cy="2926942"/>
          </a:xfrm>
          <a:prstGeom prst="rect">
            <a:avLst/>
          </a:prstGeom>
          <a:ln w="38100">
            <a:solidFill>
              <a:srgbClr val="C00000"/>
            </a:solidFill>
          </a:ln>
        </p:spPr>
      </p:pic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B7928B9-23C6-7C2C-E849-DF5AAC9B7B91}"/>
              </a:ext>
            </a:extLst>
          </p:cNvPr>
          <p:cNvCxnSpPr/>
          <p:nvPr/>
        </p:nvCxnSpPr>
        <p:spPr>
          <a:xfrm>
            <a:off x="4399390" y="1924700"/>
            <a:ext cx="2777066" cy="113453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BECEC5B-2180-0B56-529B-8C09DCE7D743}"/>
              </a:ext>
            </a:extLst>
          </p:cNvPr>
          <p:cNvSpPr txBox="1"/>
          <p:nvPr/>
        </p:nvSpPr>
        <p:spPr>
          <a:xfrm>
            <a:off x="2645884" y="16286"/>
            <a:ext cx="39557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UNKNOWN CLUSTER = TOP 3 SUGGESTION</a:t>
            </a:r>
            <a:endParaRPr lang="en-MY" sz="1600" b="1" dirty="0"/>
          </a:p>
        </p:txBody>
      </p:sp>
    </p:spTree>
    <p:extLst>
      <p:ext uri="{BB962C8B-B14F-4D97-AF65-F5344CB8AC3E}">
        <p14:creationId xmlns:p14="http://schemas.microsoft.com/office/powerpoint/2010/main" val="23233227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31DBF-52AA-2A1E-C6AA-4423007E6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101FE0EB-2731-C6C7-1AC5-5B9470EE21E9}"/>
              </a:ext>
            </a:extLst>
          </p:cNvPr>
          <p:cNvGrpSpPr/>
          <p:nvPr/>
        </p:nvGrpSpPr>
        <p:grpSpPr>
          <a:xfrm>
            <a:off x="3118618" y="185241"/>
            <a:ext cx="5432715" cy="2490226"/>
            <a:chOff x="201166" y="4154261"/>
            <a:chExt cx="4319153" cy="2147165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D1FC52E1-F317-B4CB-2B72-234669A9B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1166" y="4154261"/>
              <a:ext cx="4319153" cy="2147165"/>
            </a:xfrm>
            <a:prstGeom prst="rect">
              <a:avLst/>
            </a:prstGeom>
          </p:spPr>
        </p:pic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FF705F1-C2AC-2492-E38E-957350406DE9}"/>
                </a:ext>
              </a:extLst>
            </p:cNvPr>
            <p:cNvSpPr/>
            <p:nvPr/>
          </p:nvSpPr>
          <p:spPr>
            <a:xfrm>
              <a:off x="3208867" y="5130800"/>
              <a:ext cx="1311452" cy="211667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45CAC6E-6275-058F-A956-56AF4BF3F1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1852"/>
          <a:stretch>
            <a:fillRect/>
          </a:stretch>
        </p:blipFill>
        <p:spPr>
          <a:xfrm>
            <a:off x="4521138" y="2822855"/>
            <a:ext cx="7399991" cy="3302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C5D1D0-B239-951A-8278-3086111BB1A3}"/>
              </a:ext>
            </a:extLst>
          </p:cNvPr>
          <p:cNvSpPr txBox="1"/>
          <p:nvPr/>
        </p:nvSpPr>
        <p:spPr>
          <a:xfrm>
            <a:off x="186267" y="2982205"/>
            <a:ext cx="40470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training dataset.</a:t>
            </a:r>
          </a:p>
          <a:p>
            <a:r>
              <a:rPr lang="en-US" dirty="0"/>
              <a:t>All SECTION 3 CLUSTER 4 refer to “V”</a:t>
            </a:r>
          </a:p>
          <a:p>
            <a:r>
              <a:rPr lang="en-US" dirty="0"/>
              <a:t>All contain 1 similar devices </a:t>
            </a:r>
          </a:p>
          <a:p>
            <a:r>
              <a:rPr lang="en-US" dirty="0"/>
              <a:t>(refer to On/Off Valve)</a:t>
            </a:r>
            <a:endParaRPr lang="en-MY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EAFCCD-442B-944E-CD3F-02B18061A86C}"/>
              </a:ext>
            </a:extLst>
          </p:cNvPr>
          <p:cNvSpPr/>
          <p:nvPr/>
        </p:nvSpPr>
        <p:spPr>
          <a:xfrm>
            <a:off x="6697133" y="2822856"/>
            <a:ext cx="3412067" cy="33020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3CF4F5F-930D-1D88-6B8A-A2FA2D7EA292}"/>
              </a:ext>
            </a:extLst>
          </p:cNvPr>
          <p:cNvCxnSpPr>
            <a:cxnSpLocks/>
            <a:stCxn id="38" idx="2"/>
            <a:endCxn id="5" idx="0"/>
          </p:cNvCxnSpPr>
          <p:nvPr/>
        </p:nvCxnSpPr>
        <p:spPr>
          <a:xfrm>
            <a:off x="7726548" y="1563291"/>
            <a:ext cx="676619" cy="125956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818619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CB528D-442B-5646-E9A3-8F44EF5F7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B44D9F5-7055-4BAB-2FFC-001FDE7A29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90" r="2911"/>
          <a:stretch>
            <a:fillRect/>
          </a:stretch>
        </p:blipFill>
        <p:spPr>
          <a:xfrm>
            <a:off x="394480" y="1354667"/>
            <a:ext cx="8868053" cy="49953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3B02A57-894A-C6D4-4BBD-964E1578B07C}"/>
              </a:ext>
            </a:extLst>
          </p:cNvPr>
          <p:cNvSpPr txBox="1"/>
          <p:nvPr/>
        </p:nvSpPr>
        <p:spPr>
          <a:xfrm>
            <a:off x="4580467" y="601133"/>
            <a:ext cx="35814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MY" sz="2400" b="1" dirty="0"/>
              <a:t>EXAMPLE 2 : CT141CF1SP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3840D3E-A71D-3D35-9C1F-0140ACA811F5}"/>
              </a:ext>
            </a:extLst>
          </p:cNvPr>
          <p:cNvGrpSpPr/>
          <p:nvPr/>
        </p:nvGrpSpPr>
        <p:grpSpPr>
          <a:xfrm>
            <a:off x="7765353" y="1168400"/>
            <a:ext cx="3913634" cy="1763939"/>
            <a:chOff x="7765353" y="1168400"/>
            <a:chExt cx="3913634" cy="176393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E61672F-0A79-4BEE-1318-E2FCBBA7B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65353" y="1168400"/>
              <a:ext cx="3913634" cy="1763939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68B7142-A4A1-AB8E-4B24-A32D1E0E373C}"/>
                </a:ext>
              </a:extLst>
            </p:cNvPr>
            <p:cNvSpPr/>
            <p:nvPr/>
          </p:nvSpPr>
          <p:spPr>
            <a:xfrm>
              <a:off x="9128008" y="1498601"/>
              <a:ext cx="1412991" cy="5334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</p:spTree>
    <p:extLst>
      <p:ext uri="{BB962C8B-B14F-4D97-AF65-F5344CB8AC3E}">
        <p14:creationId xmlns:p14="http://schemas.microsoft.com/office/powerpoint/2010/main" val="4593428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1B8D61-1EB2-CBAA-B90D-A00131DA6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207D03C-8624-E138-8488-BC9E41D71B55}"/>
              </a:ext>
            </a:extLst>
          </p:cNvPr>
          <p:cNvSpPr txBox="1"/>
          <p:nvPr/>
        </p:nvSpPr>
        <p:spPr>
          <a:xfrm>
            <a:off x="4580467" y="601133"/>
            <a:ext cx="358140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MY" sz="2400" b="1" dirty="0"/>
              <a:t>EXAMPLE 2 : CT141CF1SP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29866C-7BAA-FB03-D8F5-0841776EC2C6}"/>
              </a:ext>
            </a:extLst>
          </p:cNvPr>
          <p:cNvGrpSpPr/>
          <p:nvPr/>
        </p:nvGrpSpPr>
        <p:grpSpPr>
          <a:xfrm>
            <a:off x="319698" y="1405466"/>
            <a:ext cx="4514767" cy="2023534"/>
            <a:chOff x="7765353" y="1168400"/>
            <a:chExt cx="3913634" cy="176393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BB984EF-CD5E-6ADE-CB5A-A0D0533BD2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765353" y="1168400"/>
              <a:ext cx="3913634" cy="1763939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5EC2C8B-92DB-6831-0F1D-3C6DA6FA9866}"/>
                </a:ext>
              </a:extLst>
            </p:cNvPr>
            <p:cNvSpPr/>
            <p:nvPr/>
          </p:nvSpPr>
          <p:spPr>
            <a:xfrm>
              <a:off x="9128008" y="1498601"/>
              <a:ext cx="1412991" cy="53340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BDB7F489-67A6-D15B-311F-3F110F85D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640" y="1474316"/>
            <a:ext cx="6689771" cy="506195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F1F2E65-7B0F-7B67-02B7-DC7A51CB9D4C}"/>
              </a:ext>
            </a:extLst>
          </p:cNvPr>
          <p:cNvSpPr/>
          <p:nvPr/>
        </p:nvSpPr>
        <p:spPr>
          <a:xfrm>
            <a:off x="7137400" y="1474316"/>
            <a:ext cx="2887133" cy="518048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2159515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68F703-F31A-D845-5A85-B63396392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B3083E0-9C0B-8355-4852-225719725077}"/>
              </a:ext>
            </a:extLst>
          </p:cNvPr>
          <p:cNvSpPr txBox="1"/>
          <p:nvPr/>
        </p:nvSpPr>
        <p:spPr>
          <a:xfrm>
            <a:off x="3946821" y="226229"/>
            <a:ext cx="4298358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MY" sz="2400" b="1" dirty="0"/>
              <a:t>DISTRIBUTION OF THE DATASET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14D3FB-086E-B5AA-3EBD-CBF141C07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455" y="916494"/>
            <a:ext cx="6684169" cy="564978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075706C-05A8-BEC2-E91B-8ED729A8DD05}"/>
              </a:ext>
            </a:extLst>
          </p:cNvPr>
          <p:cNvSpPr/>
          <p:nvPr/>
        </p:nvSpPr>
        <p:spPr>
          <a:xfrm>
            <a:off x="2990088" y="916494"/>
            <a:ext cx="1380744" cy="1982154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B414578-00C0-6438-0405-B84D8D418443}"/>
              </a:ext>
            </a:extLst>
          </p:cNvPr>
          <p:cNvCxnSpPr/>
          <p:nvPr/>
        </p:nvCxnSpPr>
        <p:spPr>
          <a:xfrm flipH="1">
            <a:off x="2075688" y="1901952"/>
            <a:ext cx="95097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21D570E-3646-1E95-CA51-DF9D6F59AA51}"/>
              </a:ext>
            </a:extLst>
          </p:cNvPr>
          <p:cNvSpPr txBox="1"/>
          <p:nvPr/>
        </p:nvSpPr>
        <p:spPr>
          <a:xfrm>
            <a:off x="126452" y="1440287"/>
            <a:ext cx="2290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SECTION 2 CLUSTER 1</a:t>
            </a:r>
          </a:p>
          <a:p>
            <a:r>
              <a:rPr lang="en-US" dirty="0"/>
              <a:t>32 ITEM OF V</a:t>
            </a:r>
          </a:p>
          <a:p>
            <a:r>
              <a:rPr lang="en-US" dirty="0"/>
              <a:t> (On/off valve)</a:t>
            </a:r>
            <a:endParaRPr lang="en-MY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9D50C4-1664-EACB-3C90-8ECFBE0F308C}"/>
              </a:ext>
            </a:extLst>
          </p:cNvPr>
          <p:cNvSpPr/>
          <p:nvPr/>
        </p:nvSpPr>
        <p:spPr>
          <a:xfrm>
            <a:off x="5090160" y="1004886"/>
            <a:ext cx="1380744" cy="1982154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C5EE8E-87CC-7D42-1F7C-27EA1264B759}"/>
              </a:ext>
            </a:extLst>
          </p:cNvPr>
          <p:cNvSpPr txBox="1"/>
          <p:nvPr/>
        </p:nvSpPr>
        <p:spPr>
          <a:xfrm>
            <a:off x="336764" y="3571054"/>
            <a:ext cx="22906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SECTION 2 CLUSTER 2</a:t>
            </a:r>
          </a:p>
          <a:p>
            <a:r>
              <a:rPr lang="en-US" dirty="0"/>
              <a:t>5 CV (control valve)</a:t>
            </a:r>
          </a:p>
          <a:p>
            <a:r>
              <a:rPr lang="en-US" dirty="0"/>
              <a:t>41 V (On/off valve)</a:t>
            </a:r>
            <a:endParaRPr lang="en-MY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BDB17CE-529E-05CE-7029-E6A48B525CB6}"/>
              </a:ext>
            </a:extLst>
          </p:cNvPr>
          <p:cNvCxnSpPr>
            <a:stCxn id="15" idx="2"/>
            <a:endCxn id="17" idx="3"/>
          </p:cNvCxnSpPr>
          <p:nvPr/>
        </p:nvCxnSpPr>
        <p:spPr>
          <a:xfrm flipH="1">
            <a:off x="2627376" y="2987040"/>
            <a:ext cx="3153156" cy="1045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47E8D2F-A7F0-B112-5CD2-ACBDB6BC3A3F}"/>
              </a:ext>
            </a:extLst>
          </p:cNvPr>
          <p:cNvSpPr txBox="1"/>
          <p:nvPr/>
        </p:nvSpPr>
        <p:spPr>
          <a:xfrm>
            <a:off x="9774936" y="1672797"/>
            <a:ext cx="2290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SECTION 2 CLUSTER 47 V (On/off valve)</a:t>
            </a:r>
            <a:endParaRPr lang="en-MY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3CC7ED1-6A6E-C1CD-AC40-D667DFFEABAC}"/>
              </a:ext>
            </a:extLst>
          </p:cNvPr>
          <p:cNvCxnSpPr>
            <a:cxnSpLocks/>
            <a:stCxn id="24" idx="3"/>
            <a:endCxn id="21" idx="1"/>
          </p:cNvCxnSpPr>
          <p:nvPr/>
        </p:nvCxnSpPr>
        <p:spPr>
          <a:xfrm>
            <a:off x="8680609" y="1995963"/>
            <a:ext cx="10943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1289926-22EA-B47F-6641-C3F79C7C9AA2}"/>
              </a:ext>
            </a:extLst>
          </p:cNvPr>
          <p:cNvSpPr/>
          <p:nvPr/>
        </p:nvSpPr>
        <p:spPr>
          <a:xfrm>
            <a:off x="7299865" y="1004886"/>
            <a:ext cx="1380744" cy="1982154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7012376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A98965-FC76-99BF-617C-9618C5D35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6522EAD-E7CD-121A-CBD6-04DAC07F607B}"/>
              </a:ext>
            </a:extLst>
          </p:cNvPr>
          <p:cNvSpPr txBox="1"/>
          <p:nvPr/>
        </p:nvSpPr>
        <p:spPr>
          <a:xfrm>
            <a:off x="109728" y="128016"/>
            <a:ext cx="300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GENERATED ON 14/07/2026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5B269C-6F75-757F-5E37-1215914DF7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209" r="10975"/>
          <a:stretch>
            <a:fillRect/>
          </a:stretch>
        </p:blipFill>
        <p:spPr>
          <a:xfrm>
            <a:off x="1613377" y="1002910"/>
            <a:ext cx="9189720" cy="1522387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FE15BC-80C7-795B-4A30-8611D0C76907}"/>
              </a:ext>
            </a:extLst>
          </p:cNvPr>
          <p:cNvSpPr txBox="1"/>
          <p:nvPr/>
        </p:nvSpPr>
        <p:spPr>
          <a:xfrm>
            <a:off x="3988810" y="174182"/>
            <a:ext cx="5803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3600" b="1" dirty="0"/>
              <a:t>V4.13 – </a:t>
            </a:r>
            <a:r>
              <a:rPr lang="en-MY" sz="3600" dirty="0"/>
              <a:t>SECTION4 CLUSTER?</a:t>
            </a:r>
          </a:p>
        </p:txBody>
      </p:sp>
    </p:spTree>
    <p:extLst>
      <p:ext uri="{BB962C8B-B14F-4D97-AF65-F5344CB8AC3E}">
        <p14:creationId xmlns:p14="http://schemas.microsoft.com/office/powerpoint/2010/main" val="1701374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8C4B36-457D-A5A6-17D1-85149A35F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4EE5122-27B9-0FEA-3D0A-50539D415A8D}"/>
              </a:ext>
            </a:extLst>
          </p:cNvPr>
          <p:cNvSpPr txBox="1"/>
          <p:nvPr/>
        </p:nvSpPr>
        <p:spPr>
          <a:xfrm>
            <a:off x="109728" y="128016"/>
            <a:ext cx="300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GENERATED ON 14/07/2026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C9AD07-5F20-B1EF-B282-E118AB1102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40" r="4176"/>
          <a:stretch>
            <a:fillRect/>
          </a:stretch>
        </p:blipFill>
        <p:spPr>
          <a:xfrm>
            <a:off x="1634252" y="817330"/>
            <a:ext cx="9320259" cy="5866488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E907A4-7859-8B05-A46A-1424E9642049}"/>
              </a:ext>
            </a:extLst>
          </p:cNvPr>
          <p:cNvSpPr txBox="1"/>
          <p:nvPr/>
        </p:nvSpPr>
        <p:spPr>
          <a:xfrm>
            <a:off x="3988810" y="174182"/>
            <a:ext cx="58031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3600" b="1" dirty="0"/>
              <a:t>V4.13 – </a:t>
            </a:r>
            <a:r>
              <a:rPr lang="en-MY" sz="3600" dirty="0"/>
              <a:t>SECTION4 CLUSTER?</a:t>
            </a:r>
          </a:p>
        </p:txBody>
      </p:sp>
    </p:spTree>
    <p:extLst>
      <p:ext uri="{BB962C8B-B14F-4D97-AF65-F5344CB8AC3E}">
        <p14:creationId xmlns:p14="http://schemas.microsoft.com/office/powerpoint/2010/main" val="29347996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993EC9-9723-3A5D-09F9-F7B33B92F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AC12DDA-A04A-DBC7-0885-E19AEC37CE85}"/>
              </a:ext>
            </a:extLst>
          </p:cNvPr>
          <p:cNvSpPr txBox="1"/>
          <p:nvPr/>
        </p:nvSpPr>
        <p:spPr>
          <a:xfrm>
            <a:off x="109728" y="128016"/>
            <a:ext cx="300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GENERATED ON 14/07/2026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A32BD8-FFD9-E45B-631C-3CB98359D5EB}"/>
              </a:ext>
            </a:extLst>
          </p:cNvPr>
          <p:cNvSpPr txBox="1"/>
          <p:nvPr/>
        </p:nvSpPr>
        <p:spPr>
          <a:xfrm>
            <a:off x="3394450" y="556784"/>
            <a:ext cx="6287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3600" b="1" dirty="0"/>
              <a:t>TCV111 – SECTION 3 CLUSTER?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56AF7A-CFF0-F929-1DFC-83B6606E5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521" y="1716863"/>
            <a:ext cx="9554908" cy="2029108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55336578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A9F6FF-5FBB-801C-AB59-8B7C24A56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DD1E744-8600-62A3-5D5F-595502F88CC6}"/>
              </a:ext>
            </a:extLst>
          </p:cNvPr>
          <p:cNvSpPr txBox="1"/>
          <p:nvPr/>
        </p:nvSpPr>
        <p:spPr>
          <a:xfrm>
            <a:off x="109728" y="128016"/>
            <a:ext cx="3007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GENERATED ON 14/07/2026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A70D9C-CEB5-93DE-89EB-AC667DA0D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23" y="1067847"/>
            <a:ext cx="10774837" cy="472230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5C185B4-38BA-68EE-1191-931A353838D0}"/>
              </a:ext>
            </a:extLst>
          </p:cNvPr>
          <p:cNvSpPr txBox="1"/>
          <p:nvPr/>
        </p:nvSpPr>
        <p:spPr>
          <a:xfrm>
            <a:off x="3371590" y="312682"/>
            <a:ext cx="62876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sz="3600" b="1" dirty="0"/>
              <a:t>TCV111 – SECTION 3 CLUSTER?</a:t>
            </a:r>
          </a:p>
        </p:txBody>
      </p:sp>
    </p:spTree>
    <p:extLst>
      <p:ext uri="{BB962C8B-B14F-4D97-AF65-F5344CB8AC3E}">
        <p14:creationId xmlns:p14="http://schemas.microsoft.com/office/powerpoint/2010/main" val="349381484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470877-EB8D-2C60-311E-742F4B91B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765" y="336884"/>
            <a:ext cx="6245307" cy="5994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AAF6C1-8874-B134-E790-9B7BD5A53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4479" y="1795842"/>
            <a:ext cx="3334215" cy="2457793"/>
          </a:xfrm>
          <a:prstGeom prst="rect">
            <a:avLst/>
          </a:prstGeom>
          <a:ln w="38100"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70EB07-B3D9-6C26-549F-561736D30995}"/>
              </a:ext>
            </a:extLst>
          </p:cNvPr>
          <p:cNvSpPr txBox="1"/>
          <p:nvPr/>
        </p:nvSpPr>
        <p:spPr>
          <a:xfrm>
            <a:off x="7624479" y="463415"/>
            <a:ext cx="41392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MY" sz="3600" b="1" dirty="0"/>
              <a:t>LLA893 – SECTION5 </a:t>
            </a:r>
          </a:p>
          <a:p>
            <a:r>
              <a:rPr lang="en-MY" sz="3600" b="1" dirty="0"/>
              <a:t>CLUSTER?</a:t>
            </a:r>
          </a:p>
        </p:txBody>
      </p:sp>
    </p:spTree>
    <p:extLst>
      <p:ext uri="{BB962C8B-B14F-4D97-AF65-F5344CB8AC3E}">
        <p14:creationId xmlns:p14="http://schemas.microsoft.com/office/powerpoint/2010/main" val="1184693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E6FE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8D92ED-8851-9F23-A934-C89D45DDA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4FFF399-3887-F28D-B6BB-28748C8A4A04}"/>
              </a:ext>
            </a:extLst>
          </p:cNvPr>
          <p:cNvSpPr txBox="1"/>
          <p:nvPr/>
        </p:nvSpPr>
        <p:spPr>
          <a:xfrm>
            <a:off x="4169832" y="2135887"/>
            <a:ext cx="385233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dirty="0"/>
              <a:t>THE END </a:t>
            </a:r>
          </a:p>
          <a:p>
            <a:pPr algn="ctr"/>
            <a:r>
              <a:rPr lang="en-US" sz="4800" dirty="0"/>
              <a:t>REFERENCE</a:t>
            </a:r>
          </a:p>
          <a:p>
            <a:pPr algn="ctr"/>
            <a:r>
              <a:rPr lang="en-US" sz="4800" dirty="0"/>
              <a:t>[10/07/2026]</a:t>
            </a:r>
            <a:endParaRPr lang="en-MY" sz="4800" dirty="0"/>
          </a:p>
        </p:txBody>
      </p:sp>
    </p:spTree>
    <p:extLst>
      <p:ext uri="{BB962C8B-B14F-4D97-AF65-F5344CB8AC3E}">
        <p14:creationId xmlns:p14="http://schemas.microsoft.com/office/powerpoint/2010/main" val="330917204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DE19C-F5BD-B912-3E54-53724452B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DB410C-EA40-6A78-6A16-2CEC8DDAB8CC}"/>
              </a:ext>
            </a:extLst>
          </p:cNvPr>
          <p:cNvSpPr/>
          <p:nvPr/>
        </p:nvSpPr>
        <p:spPr>
          <a:xfrm>
            <a:off x="5165025" y="247650"/>
            <a:ext cx="1861951" cy="4926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b="1" dirty="0"/>
              <a:t>INPUT</a:t>
            </a:r>
          </a:p>
          <a:p>
            <a:pPr algn="ctr">
              <a:lnSpc>
                <a:spcPts val="1400"/>
              </a:lnSpc>
            </a:pPr>
            <a:r>
              <a:rPr lang="en-MY" sz="1100" dirty="0"/>
              <a:t>(Customer, Project, Device ID</a:t>
            </a:r>
            <a:r>
              <a:rPr lang="en-MY" sz="1400" b="1" dirty="0"/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F783AE-E4BB-7E7F-7041-A46A51505740}"/>
              </a:ext>
            </a:extLst>
          </p:cNvPr>
          <p:cNvSpPr/>
          <p:nvPr/>
        </p:nvSpPr>
        <p:spPr>
          <a:xfrm>
            <a:off x="4741548" y="4728283"/>
            <a:ext cx="3186725" cy="59750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b="1" dirty="0"/>
              <a:t>RESULT OUTPUT</a:t>
            </a:r>
          </a:p>
          <a:p>
            <a:pPr algn="ctr"/>
            <a:r>
              <a:rPr lang="en-MY" sz="1100" dirty="0"/>
              <a:t>(Customer, Project, Device ID, Device Type, Section)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87876A-373C-4675-FD3D-7DB0A7CF37C8}"/>
              </a:ext>
            </a:extLst>
          </p:cNvPr>
          <p:cNvSpPr/>
          <p:nvPr/>
        </p:nvSpPr>
        <p:spPr>
          <a:xfrm>
            <a:off x="3467858" y="2438352"/>
            <a:ext cx="1292938" cy="2360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</a:t>
            </a:r>
            <a:r>
              <a:rPr lang="en-MY" dirty="0"/>
              <a:t>REFIX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7A7917-7751-58A4-D13B-2017E2CC3231}"/>
              </a:ext>
            </a:extLst>
          </p:cNvPr>
          <p:cNvSpPr/>
          <p:nvPr/>
        </p:nvSpPr>
        <p:spPr>
          <a:xfrm>
            <a:off x="-16886" y="493985"/>
            <a:ext cx="3353985" cy="316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CREATE ON (18.03.2026)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4ADA14-556C-C309-8718-D47DA0A7B155}"/>
              </a:ext>
            </a:extLst>
          </p:cNvPr>
          <p:cNvSpPr/>
          <p:nvPr/>
        </p:nvSpPr>
        <p:spPr>
          <a:xfrm>
            <a:off x="1557482" y="4760255"/>
            <a:ext cx="1610264" cy="48259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UNKNOWN</a:t>
            </a:r>
          </a:p>
          <a:p>
            <a:pPr algn="ctr"/>
            <a:r>
              <a:rPr lang="en-MY" sz="1400" dirty="0"/>
              <a:t>= Assign by User</a:t>
            </a:r>
            <a:endParaRPr lang="en-MY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61EBCC-E49B-C93D-F2D2-210F5633FD72}"/>
              </a:ext>
            </a:extLst>
          </p:cNvPr>
          <p:cNvSpPr/>
          <p:nvPr/>
        </p:nvSpPr>
        <p:spPr>
          <a:xfrm>
            <a:off x="294568" y="1463374"/>
            <a:ext cx="1419280" cy="63506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NEW LIST EQUIPMENT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68DD4B-6101-9B54-2013-B930C6F32152}"/>
              </a:ext>
            </a:extLst>
          </p:cNvPr>
          <p:cNvSpPr/>
          <p:nvPr/>
        </p:nvSpPr>
        <p:spPr>
          <a:xfrm>
            <a:off x="9950620" y="1463374"/>
            <a:ext cx="1734622" cy="64324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UPDATE &amp; SAVE MODEL</a:t>
            </a:r>
            <a:endParaRPr lang="en-MY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E3A1BAA-8A37-06A4-CFA7-3DA154A8EA4B}"/>
              </a:ext>
            </a:extLst>
          </p:cNvPr>
          <p:cNvSpPr/>
          <p:nvPr/>
        </p:nvSpPr>
        <p:spPr>
          <a:xfrm>
            <a:off x="6935647" y="2487111"/>
            <a:ext cx="1095037" cy="23602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</a:t>
            </a:r>
            <a:r>
              <a:rPr lang="en-MY" dirty="0"/>
              <a:t>UFFIX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009BAE-D44D-F5B4-9F55-A99E839A952E}"/>
              </a:ext>
            </a:extLst>
          </p:cNvPr>
          <p:cNvSpPr/>
          <p:nvPr/>
        </p:nvSpPr>
        <p:spPr>
          <a:xfrm>
            <a:off x="3490801" y="3928843"/>
            <a:ext cx="1383224" cy="2936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Device Type</a:t>
            </a:r>
            <a:endParaRPr lang="en-MY" sz="16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90989D-EB23-A7D3-7439-DABFD06D0794}"/>
              </a:ext>
            </a:extLst>
          </p:cNvPr>
          <p:cNvSpPr/>
          <p:nvPr/>
        </p:nvSpPr>
        <p:spPr>
          <a:xfrm>
            <a:off x="5865017" y="4014458"/>
            <a:ext cx="920400" cy="2375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Section</a:t>
            </a:r>
            <a:endParaRPr lang="en-MY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9F5D1E-CD6A-7D48-EB4E-8860169D6207}"/>
              </a:ext>
            </a:extLst>
          </p:cNvPr>
          <p:cNvSpPr/>
          <p:nvPr/>
        </p:nvSpPr>
        <p:spPr>
          <a:xfrm>
            <a:off x="2428252" y="3053537"/>
            <a:ext cx="2991706" cy="6865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SGD Classifier Hybrid Model </a:t>
            </a:r>
          </a:p>
          <a:p>
            <a:pPr algn="ctr"/>
            <a:r>
              <a:rPr lang="en-US" sz="1100" dirty="0"/>
              <a:t>- SGD Classifier </a:t>
            </a:r>
          </a:p>
          <a:p>
            <a:pPr algn="ctr"/>
            <a:r>
              <a:rPr lang="en-US" sz="1100" dirty="0"/>
              <a:t>- Composite Similarity</a:t>
            </a:r>
            <a:endParaRPr lang="en-MY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4D3ED68-A5CA-A2A1-EC69-C01276A330DC}"/>
              </a:ext>
            </a:extLst>
          </p:cNvPr>
          <p:cNvSpPr/>
          <p:nvPr/>
        </p:nvSpPr>
        <p:spPr>
          <a:xfrm>
            <a:off x="5726456" y="3011355"/>
            <a:ext cx="1197522" cy="2679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XGBoost</a:t>
            </a:r>
            <a:endParaRPr lang="en-MY" sz="14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5C02FA-690D-C3CB-2191-C15372D0FC28}"/>
              </a:ext>
            </a:extLst>
          </p:cNvPr>
          <p:cNvSpPr/>
          <p:nvPr/>
        </p:nvSpPr>
        <p:spPr>
          <a:xfrm>
            <a:off x="2316480" y="1909006"/>
            <a:ext cx="7195820" cy="2576751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b="1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0B1280C-E353-29EA-5158-E1ACE8A858C7}"/>
              </a:ext>
            </a:extLst>
          </p:cNvPr>
          <p:cNvCxnSpPr>
            <a:cxnSpLocks/>
            <a:stCxn id="48" idx="2"/>
            <a:endCxn id="12" idx="0"/>
          </p:cNvCxnSpPr>
          <p:nvPr/>
        </p:nvCxnSpPr>
        <p:spPr>
          <a:xfrm flipH="1">
            <a:off x="4114327" y="2019592"/>
            <a:ext cx="1995049" cy="41876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D366D70-1510-CF42-1823-4E988A8D80C1}"/>
              </a:ext>
            </a:extLst>
          </p:cNvPr>
          <p:cNvCxnSpPr>
            <a:cxnSpLocks/>
            <a:stCxn id="48" idx="2"/>
            <a:endCxn id="28" idx="0"/>
          </p:cNvCxnSpPr>
          <p:nvPr/>
        </p:nvCxnSpPr>
        <p:spPr>
          <a:xfrm>
            <a:off x="6109376" y="2019592"/>
            <a:ext cx="1373790" cy="46751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28F39D8-A364-A491-5B2C-429E1032BE64}"/>
              </a:ext>
            </a:extLst>
          </p:cNvPr>
          <p:cNvCxnSpPr>
            <a:cxnSpLocks/>
          </p:cNvCxnSpPr>
          <p:nvPr/>
        </p:nvCxnSpPr>
        <p:spPr>
          <a:xfrm>
            <a:off x="4126392" y="2685576"/>
            <a:ext cx="0" cy="36796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B6FEF42E-4656-8981-D383-06817A37F08A}"/>
              </a:ext>
            </a:extLst>
          </p:cNvPr>
          <p:cNvCxnSpPr>
            <a:cxnSpLocks/>
          </p:cNvCxnSpPr>
          <p:nvPr/>
        </p:nvCxnSpPr>
        <p:spPr>
          <a:xfrm>
            <a:off x="4156249" y="3740057"/>
            <a:ext cx="0" cy="17771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9FC763D-AB16-C05E-FCAC-17C951C51634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6334911" y="2723137"/>
            <a:ext cx="1148255" cy="28743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76460963-CA31-955B-1356-B12770A46D12}"/>
              </a:ext>
            </a:extLst>
          </p:cNvPr>
          <p:cNvCxnSpPr>
            <a:cxnSpLocks/>
            <a:stCxn id="32" idx="2"/>
            <a:endCxn id="30" idx="0"/>
          </p:cNvCxnSpPr>
          <p:nvPr/>
        </p:nvCxnSpPr>
        <p:spPr>
          <a:xfrm>
            <a:off x="6325217" y="3279332"/>
            <a:ext cx="0" cy="735126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2DE82C8-536C-FB4F-0DF1-B2B400ED795F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>
            <a:off x="1713848" y="1780905"/>
            <a:ext cx="3719486" cy="856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19ABED89-3B8F-B118-E340-A5A5A1816223}"/>
              </a:ext>
            </a:extLst>
          </p:cNvPr>
          <p:cNvCxnSpPr>
            <a:cxnSpLocks/>
            <a:stCxn id="48" idx="3"/>
            <a:endCxn id="5" idx="1"/>
          </p:cNvCxnSpPr>
          <p:nvPr/>
        </p:nvCxnSpPr>
        <p:spPr>
          <a:xfrm flipV="1">
            <a:off x="6785417" y="1784995"/>
            <a:ext cx="3165203" cy="447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F19441-888D-F983-EB9B-43F03913D145}"/>
              </a:ext>
            </a:extLst>
          </p:cNvPr>
          <p:cNvCxnSpPr>
            <a:cxnSpLocks/>
            <a:stCxn id="4" idx="2"/>
            <a:endCxn id="48" idx="0"/>
          </p:cNvCxnSpPr>
          <p:nvPr/>
        </p:nvCxnSpPr>
        <p:spPr>
          <a:xfrm>
            <a:off x="6096001" y="740321"/>
            <a:ext cx="13375" cy="81903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50DA2D7-5321-C782-AAA8-70008D5D8EB0}"/>
              </a:ext>
            </a:extLst>
          </p:cNvPr>
          <p:cNvSpPr/>
          <p:nvPr/>
        </p:nvSpPr>
        <p:spPr>
          <a:xfrm>
            <a:off x="8078855" y="2992364"/>
            <a:ext cx="1049965" cy="26797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DBScan</a:t>
            </a:r>
            <a:endParaRPr lang="en-MY" sz="1400" dirty="0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256C5957-EB4A-DF08-B3C1-09B043758ADD}"/>
              </a:ext>
            </a:extLst>
          </p:cNvPr>
          <p:cNvCxnSpPr>
            <a:cxnSpLocks/>
            <a:stCxn id="28" idx="2"/>
            <a:endCxn id="104" idx="0"/>
          </p:cNvCxnSpPr>
          <p:nvPr/>
        </p:nvCxnSpPr>
        <p:spPr>
          <a:xfrm>
            <a:off x="7483166" y="2723137"/>
            <a:ext cx="1120672" cy="26922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498A5A2-DD75-04DF-0A80-6D33023126E4}"/>
              </a:ext>
            </a:extLst>
          </p:cNvPr>
          <p:cNvSpPr/>
          <p:nvPr/>
        </p:nvSpPr>
        <p:spPr>
          <a:xfrm>
            <a:off x="8143637" y="4014458"/>
            <a:ext cx="920400" cy="23759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Cluster</a:t>
            </a:r>
            <a:endParaRPr lang="en-MY" dirty="0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900296C-AD16-20AA-03BB-D5F941E72D3A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8603837" y="3260341"/>
            <a:ext cx="1" cy="754117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F26D2039-7C65-8931-F540-0D055AB19AF1}"/>
              </a:ext>
            </a:extLst>
          </p:cNvPr>
          <p:cNvCxnSpPr>
            <a:cxnSpLocks/>
            <a:stCxn id="113" idx="2"/>
            <a:endCxn id="11" idx="0"/>
          </p:cNvCxnSpPr>
          <p:nvPr/>
        </p:nvCxnSpPr>
        <p:spPr>
          <a:xfrm flipH="1">
            <a:off x="6334911" y="4252054"/>
            <a:ext cx="2268926" cy="47622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42A3614-9713-4F95-B94F-13D4FCEF8B52}"/>
              </a:ext>
            </a:extLst>
          </p:cNvPr>
          <p:cNvCxnSpPr>
            <a:cxnSpLocks/>
            <a:stCxn id="30" idx="2"/>
            <a:endCxn id="11" idx="0"/>
          </p:cNvCxnSpPr>
          <p:nvPr/>
        </p:nvCxnSpPr>
        <p:spPr>
          <a:xfrm>
            <a:off x="6325217" y="4252054"/>
            <a:ext cx="9694" cy="476229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BFFE8D3-AC92-50AC-C6B5-A8171747AB17}"/>
              </a:ext>
            </a:extLst>
          </p:cNvPr>
          <p:cNvCxnSpPr>
            <a:cxnSpLocks/>
            <a:stCxn id="29" idx="2"/>
            <a:endCxn id="11" idx="0"/>
          </p:cNvCxnSpPr>
          <p:nvPr/>
        </p:nvCxnSpPr>
        <p:spPr>
          <a:xfrm>
            <a:off x="4182413" y="4222463"/>
            <a:ext cx="2152498" cy="50582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11AFC0C-CF7A-CDF2-EC1E-07215C078581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3167746" y="5001553"/>
            <a:ext cx="1573802" cy="2548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82450F8A-D658-9FDB-7531-BCD001B299A6}"/>
              </a:ext>
            </a:extLst>
          </p:cNvPr>
          <p:cNvSpPr/>
          <p:nvPr/>
        </p:nvSpPr>
        <p:spPr>
          <a:xfrm>
            <a:off x="5063967" y="5786026"/>
            <a:ext cx="2541886" cy="28802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UPDATE &amp; SAVE MODEL</a:t>
            </a:r>
            <a:endParaRPr lang="en-MY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7316FE7-4B6A-51D9-845B-5E9B0697049A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 flipH="1">
            <a:off x="6334910" y="5325789"/>
            <a:ext cx="1" cy="46023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A2EBA51A-B89B-4B76-F652-7D3A5839B008}"/>
              </a:ext>
            </a:extLst>
          </p:cNvPr>
          <p:cNvGrpSpPr/>
          <p:nvPr/>
        </p:nvGrpSpPr>
        <p:grpSpPr>
          <a:xfrm>
            <a:off x="972920" y="2098436"/>
            <a:ext cx="584562" cy="2928602"/>
            <a:chOff x="972920" y="2098436"/>
            <a:chExt cx="584562" cy="2928602"/>
          </a:xfrm>
        </p:grpSpPr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C3DC5C35-9205-120B-F8B2-E5B5DF7F3564}"/>
                </a:ext>
              </a:extLst>
            </p:cNvPr>
            <p:cNvCxnSpPr>
              <a:cxnSpLocks/>
              <a:endCxn id="15" idx="2"/>
            </p:cNvCxnSpPr>
            <p:nvPr/>
          </p:nvCxnSpPr>
          <p:spPr>
            <a:xfrm flipV="1">
              <a:off x="998294" y="2098436"/>
              <a:ext cx="5914" cy="2928602"/>
            </a:xfrm>
            <a:prstGeom prst="straightConnector1">
              <a:avLst/>
            </a:prstGeom>
            <a:ln w="571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A5A4D9E-2892-9ACD-3EA3-E817A29BC06F}"/>
                </a:ext>
              </a:extLst>
            </p:cNvPr>
            <p:cNvCxnSpPr>
              <a:cxnSpLocks/>
              <a:endCxn id="3" idx="1"/>
            </p:cNvCxnSpPr>
            <p:nvPr/>
          </p:nvCxnSpPr>
          <p:spPr>
            <a:xfrm>
              <a:off x="972920" y="5001552"/>
              <a:ext cx="584562" cy="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0" name="Rectangle 99">
            <a:extLst>
              <a:ext uri="{FF2B5EF4-FFF2-40B4-BE49-F238E27FC236}">
                <a16:creationId xmlns:a16="http://schemas.microsoft.com/office/drawing/2014/main" id="{5FB6E3BF-51CF-78EE-4FA8-C9102DF918B9}"/>
              </a:ext>
            </a:extLst>
          </p:cNvPr>
          <p:cNvSpPr/>
          <p:nvPr/>
        </p:nvSpPr>
        <p:spPr>
          <a:xfrm>
            <a:off x="45677" y="163290"/>
            <a:ext cx="3353985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2A37EF-F5AC-7249-4426-A2982CEBE2CF}"/>
              </a:ext>
            </a:extLst>
          </p:cNvPr>
          <p:cNvSpPr/>
          <p:nvPr/>
        </p:nvSpPr>
        <p:spPr>
          <a:xfrm>
            <a:off x="5433334" y="1559355"/>
            <a:ext cx="1352083" cy="4602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ML MODEL</a:t>
            </a:r>
            <a:endParaRPr lang="en-MY" b="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9568AF-D5BB-AD82-2087-B821887A488F}"/>
              </a:ext>
            </a:extLst>
          </p:cNvPr>
          <p:cNvSpPr/>
          <p:nvPr/>
        </p:nvSpPr>
        <p:spPr>
          <a:xfrm>
            <a:off x="-16887" y="730035"/>
            <a:ext cx="3353985" cy="316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(20.0.2026)</a:t>
            </a:r>
          </a:p>
        </p:txBody>
      </p:sp>
    </p:spTree>
    <p:extLst>
      <p:ext uri="{BB962C8B-B14F-4D97-AF65-F5344CB8AC3E}">
        <p14:creationId xmlns:p14="http://schemas.microsoft.com/office/powerpoint/2010/main" val="97107242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CDE19C-F5BD-B912-3E54-53724452B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DB410C-EA40-6A78-6A16-2CEC8DDAB8CC}"/>
              </a:ext>
            </a:extLst>
          </p:cNvPr>
          <p:cNvSpPr/>
          <p:nvPr/>
        </p:nvSpPr>
        <p:spPr>
          <a:xfrm>
            <a:off x="7555894" y="235052"/>
            <a:ext cx="2379453" cy="6230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INPUT</a:t>
            </a:r>
          </a:p>
          <a:p>
            <a:pPr algn="ctr">
              <a:lnSpc>
                <a:spcPts val="1400"/>
              </a:lnSpc>
            </a:pPr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</a:t>
            </a: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F783AE-E4BB-7E7F-7041-A46A51505740}"/>
              </a:ext>
            </a:extLst>
          </p:cNvPr>
          <p:cNvSpPr/>
          <p:nvPr/>
        </p:nvSpPr>
        <p:spPr>
          <a:xfrm>
            <a:off x="7012337" y="4244120"/>
            <a:ext cx="3475552" cy="5975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RESULT OUTPUT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ID,  Section, Cluster)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7A7917-7751-58A4-D13B-2017E2CC3231}"/>
              </a:ext>
            </a:extLst>
          </p:cNvPr>
          <p:cNvSpPr/>
          <p:nvPr/>
        </p:nvSpPr>
        <p:spPr>
          <a:xfrm>
            <a:off x="4365" y="318300"/>
            <a:ext cx="2312411" cy="3683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(16.04.2026)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4ADA14-556C-C309-8718-D47DA0A7B155}"/>
              </a:ext>
            </a:extLst>
          </p:cNvPr>
          <p:cNvSpPr/>
          <p:nvPr/>
        </p:nvSpPr>
        <p:spPr>
          <a:xfrm>
            <a:off x="2627196" y="3465462"/>
            <a:ext cx="2240611" cy="4788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UNKNOWN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= Assign by User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961EBCC-E49B-C93D-F2D2-210F5633FD72}"/>
              </a:ext>
            </a:extLst>
          </p:cNvPr>
          <p:cNvSpPr/>
          <p:nvPr/>
        </p:nvSpPr>
        <p:spPr>
          <a:xfrm>
            <a:off x="2627194" y="2541670"/>
            <a:ext cx="2240613" cy="3385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NEW LIST OF EQUIPMENT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5C02FA-690D-C3CB-2191-C15372D0FC28}"/>
              </a:ext>
            </a:extLst>
          </p:cNvPr>
          <p:cNvSpPr/>
          <p:nvPr/>
        </p:nvSpPr>
        <p:spPr>
          <a:xfrm>
            <a:off x="7214203" y="1909007"/>
            <a:ext cx="3076565" cy="17959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sz="1600" b="1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62DE82C8-536C-FB4F-0DF1-B2B400ED795F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 flipV="1">
            <a:off x="4867807" y="1846624"/>
            <a:ext cx="2352143" cy="86431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6F19441-888D-F983-EB9B-43F03913D145}"/>
              </a:ext>
            </a:extLst>
          </p:cNvPr>
          <p:cNvCxnSpPr>
            <a:cxnSpLocks/>
            <a:stCxn id="33" idx="2"/>
            <a:endCxn id="11" idx="0"/>
          </p:cNvCxnSpPr>
          <p:nvPr/>
        </p:nvCxnSpPr>
        <p:spPr>
          <a:xfrm flipH="1">
            <a:off x="8750113" y="3704911"/>
            <a:ext cx="2373" cy="539209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50DA2D7-5321-C782-AAA8-70008D5D8EB0}"/>
              </a:ext>
            </a:extLst>
          </p:cNvPr>
          <p:cNvSpPr/>
          <p:nvPr/>
        </p:nvSpPr>
        <p:spPr>
          <a:xfrm>
            <a:off x="9021647" y="2315001"/>
            <a:ext cx="1049965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498A5A2-DD75-04DF-0A80-6D33023126E4}"/>
              </a:ext>
            </a:extLst>
          </p:cNvPr>
          <p:cNvSpPr/>
          <p:nvPr/>
        </p:nvSpPr>
        <p:spPr>
          <a:xfrm>
            <a:off x="9086429" y="2858630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900296C-AD16-20AA-03BB-D5F941E72D3A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9546629" y="2582978"/>
            <a:ext cx="1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11AFC0C-CF7A-CDF2-EC1E-07215C078581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4867807" y="3704911"/>
            <a:ext cx="2144530" cy="837962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82450F8A-D658-9FDB-7531-BCD001B299A6}"/>
              </a:ext>
            </a:extLst>
          </p:cNvPr>
          <p:cNvSpPr/>
          <p:nvPr/>
        </p:nvSpPr>
        <p:spPr>
          <a:xfrm>
            <a:off x="7483204" y="5312444"/>
            <a:ext cx="2541886" cy="288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&amp; SAVE MODEL</a:t>
            </a:r>
            <a:endParaRPr lang="en-MY" sz="1600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47316FE7-4B6A-51D9-845B-5E9B0697049A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>
            <a:off x="8750113" y="4841626"/>
            <a:ext cx="4034" cy="4708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3DC5C35-9205-120B-F8B2-E5B5DF7F3564}"/>
              </a:ext>
            </a:extLst>
          </p:cNvPr>
          <p:cNvCxnSpPr>
            <a:cxnSpLocks/>
            <a:stCxn id="3" idx="0"/>
            <a:endCxn id="15" idx="2"/>
          </p:cNvCxnSpPr>
          <p:nvPr/>
        </p:nvCxnSpPr>
        <p:spPr>
          <a:xfrm flipH="1" flipV="1">
            <a:off x="3747501" y="2880197"/>
            <a:ext cx="1" cy="585265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5FB6E3BF-51CF-78EE-4FA8-C9102DF918B9}"/>
              </a:ext>
            </a:extLst>
          </p:cNvPr>
          <p:cNvSpPr/>
          <p:nvPr/>
        </p:nvSpPr>
        <p:spPr>
          <a:xfrm>
            <a:off x="32941" y="100051"/>
            <a:ext cx="2647950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2A37EF-F5AC-7249-4426-A2982CEBE2CF}"/>
              </a:ext>
            </a:extLst>
          </p:cNvPr>
          <p:cNvSpPr/>
          <p:nvPr/>
        </p:nvSpPr>
        <p:spPr>
          <a:xfrm>
            <a:off x="7219950" y="1616505"/>
            <a:ext cx="3076575" cy="4602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ML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2E69D06-D05B-E33C-20DE-DEE14E7B6417}"/>
              </a:ext>
            </a:extLst>
          </p:cNvPr>
          <p:cNvCxnSpPr>
            <a:cxnSpLocks/>
            <a:stCxn id="113" idx="2"/>
            <a:endCxn id="17" idx="0"/>
          </p:cNvCxnSpPr>
          <p:nvPr/>
        </p:nvCxnSpPr>
        <p:spPr>
          <a:xfrm>
            <a:off x="9546629" y="3096226"/>
            <a:ext cx="0" cy="1919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AA6DD49-C5F6-6CF0-EE74-8AE9853DAD96}"/>
              </a:ext>
            </a:extLst>
          </p:cNvPr>
          <p:cNvSpPr/>
          <p:nvPr/>
        </p:nvSpPr>
        <p:spPr>
          <a:xfrm>
            <a:off x="9086429" y="3288206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8AF898B-511A-8BE3-2405-5D4DB8B711CD}"/>
              </a:ext>
            </a:extLst>
          </p:cNvPr>
          <p:cNvCxnSpPr>
            <a:cxnSpLocks/>
            <a:endCxn id="78" idx="3"/>
          </p:cNvCxnSpPr>
          <p:nvPr/>
        </p:nvCxnSpPr>
        <p:spPr>
          <a:xfrm flipH="1">
            <a:off x="10025090" y="5447436"/>
            <a:ext cx="1626201" cy="90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AE22A58-A49F-1575-0792-64B0D9D0AB38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10296525" y="1846623"/>
            <a:ext cx="134156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E09BE44E-278F-D525-1A62-7D7F305002BB}"/>
              </a:ext>
            </a:extLst>
          </p:cNvPr>
          <p:cNvSpPr/>
          <p:nvPr/>
        </p:nvSpPr>
        <p:spPr>
          <a:xfrm>
            <a:off x="4563687" y="1767340"/>
            <a:ext cx="159049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RETRIVE </a:t>
            </a:r>
          </a:p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[new_equipment.pkl]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873EAE23-6086-36ED-261E-56A686A69272}"/>
              </a:ext>
            </a:extLst>
          </p:cNvPr>
          <p:cNvCxnSpPr>
            <a:cxnSpLocks/>
          </p:cNvCxnSpPr>
          <p:nvPr/>
        </p:nvCxnSpPr>
        <p:spPr>
          <a:xfrm>
            <a:off x="11629621" y="1846623"/>
            <a:ext cx="21670" cy="3600813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54D4ED0E-F043-6FB3-A181-423D5E2CB353}"/>
              </a:ext>
            </a:extLst>
          </p:cNvPr>
          <p:cNvSpPr/>
          <p:nvPr/>
        </p:nvSpPr>
        <p:spPr>
          <a:xfrm>
            <a:off x="8927206" y="1003952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B9C4718B-EAAE-1FF5-27BE-67E6A56FDCC6}"/>
              </a:ext>
            </a:extLst>
          </p:cNvPr>
          <p:cNvSpPr/>
          <p:nvPr/>
        </p:nvSpPr>
        <p:spPr>
          <a:xfrm>
            <a:off x="5930200" y="4408771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1B49EEA1-3DC4-FAA7-D7AD-A27D3A2B7FF8}"/>
              </a:ext>
            </a:extLst>
          </p:cNvPr>
          <p:cNvSpPr/>
          <p:nvPr/>
        </p:nvSpPr>
        <p:spPr>
          <a:xfrm>
            <a:off x="2064214" y="2930263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8BA7A56C-0C0C-6716-598D-309AEA4E6F81}"/>
              </a:ext>
            </a:extLst>
          </p:cNvPr>
          <p:cNvCxnSpPr>
            <a:cxnSpLocks/>
          </p:cNvCxnSpPr>
          <p:nvPr/>
        </p:nvCxnSpPr>
        <p:spPr>
          <a:xfrm flipH="1">
            <a:off x="10309727" y="1844183"/>
            <a:ext cx="1341564" cy="1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6B7DD5E5-DE9D-CEE8-4DB7-9518D1987AC7}"/>
              </a:ext>
            </a:extLst>
          </p:cNvPr>
          <p:cNvCxnSpPr>
            <a:cxnSpLocks/>
          </p:cNvCxnSpPr>
          <p:nvPr/>
        </p:nvCxnSpPr>
        <p:spPr>
          <a:xfrm>
            <a:off x="8804949" y="858058"/>
            <a:ext cx="12617" cy="758447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0D4CC24-FC09-A829-CBC8-1E9A9F8CE5B8}"/>
              </a:ext>
            </a:extLst>
          </p:cNvPr>
          <p:cNvSpPr txBox="1"/>
          <p:nvPr/>
        </p:nvSpPr>
        <p:spPr>
          <a:xfrm>
            <a:off x="146431" y="5138704"/>
            <a:ext cx="571057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b="1" u="sng" dirty="0">
                <a:latin typeface="Arial" panose="020B0604020202020204" pitchFamily="34" charset="0"/>
                <a:cs typeface="Arial" panose="020B0604020202020204" pitchFamily="34" charset="0"/>
              </a:rPr>
              <a:t>Process flow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(1) Input - Model – Result Output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(2) Input - Model - Output (UNKNOWN) - Assign by user – New Equipment Data   </a:t>
            </a: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      - Model – Update &amp; Save Model</a:t>
            </a:r>
          </a:p>
          <a:p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(3) New Equipment Data - Model - Update &amp; Save Model</a:t>
            </a:r>
            <a:endParaRPr lang="en-MY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93FB64-D419-E58A-F044-A9F734C4F122}"/>
              </a:ext>
            </a:extLst>
          </p:cNvPr>
          <p:cNvSpPr/>
          <p:nvPr/>
        </p:nvSpPr>
        <p:spPr>
          <a:xfrm>
            <a:off x="7578550" y="2315001"/>
            <a:ext cx="1247056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SGD Classifier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F24791-8CA7-8C60-E9D6-9C21FA1313FF}"/>
              </a:ext>
            </a:extLst>
          </p:cNvPr>
          <p:cNvSpPr/>
          <p:nvPr/>
        </p:nvSpPr>
        <p:spPr>
          <a:xfrm>
            <a:off x="7744932" y="2858630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Data type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3895EBC-EE4A-1C83-51C4-A2C198BC6973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8202078" y="2582978"/>
            <a:ext cx="3054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37594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4F518B-49C6-F9C6-3337-EFCE0F2F2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E84C4A-89FD-49A5-43B2-CB78F59C2357}"/>
              </a:ext>
            </a:extLst>
          </p:cNvPr>
          <p:cNvSpPr/>
          <p:nvPr/>
        </p:nvSpPr>
        <p:spPr>
          <a:xfrm>
            <a:off x="6202582" y="271628"/>
            <a:ext cx="2379453" cy="6230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1400"/>
              </a:lnSpc>
            </a:pP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INPUT from DB</a:t>
            </a:r>
          </a:p>
          <a:p>
            <a:pPr algn="ctr">
              <a:lnSpc>
                <a:spcPts val="1400"/>
              </a:lnSpc>
            </a:pPr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</a:t>
            </a:r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0B3B4F-12A2-8155-43AC-83F9C978ECFD}"/>
              </a:ext>
            </a:extLst>
          </p:cNvPr>
          <p:cNvSpPr/>
          <p:nvPr/>
        </p:nvSpPr>
        <p:spPr>
          <a:xfrm>
            <a:off x="5659025" y="4280696"/>
            <a:ext cx="3475552" cy="5975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latin typeface="Arial" panose="020B0604020202020204" pitchFamily="34" charset="0"/>
                <a:cs typeface="Arial" panose="020B0604020202020204" pitchFamily="34" charset="0"/>
              </a:rPr>
              <a:t>RESULT OUTPUT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(Customer, Project, Device ID,  Section, Cluster)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99D534-946B-243C-39ED-8C44A67091A7}"/>
              </a:ext>
            </a:extLst>
          </p:cNvPr>
          <p:cNvSpPr/>
          <p:nvPr/>
        </p:nvSpPr>
        <p:spPr>
          <a:xfrm>
            <a:off x="4365" y="318300"/>
            <a:ext cx="2312411" cy="3683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dirty="0"/>
              <a:t>UPDATE ON (15.06.2026)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7607B8A-8D96-E00D-D73A-BF6C50AB13BC}"/>
              </a:ext>
            </a:extLst>
          </p:cNvPr>
          <p:cNvSpPr/>
          <p:nvPr/>
        </p:nvSpPr>
        <p:spPr>
          <a:xfrm>
            <a:off x="1273884" y="3502038"/>
            <a:ext cx="2240611" cy="47889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UNKNOWN</a:t>
            </a:r>
          </a:p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= Assign by User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F3F11E6-D2CB-AC79-027E-DF0DE17CEA8C}"/>
              </a:ext>
            </a:extLst>
          </p:cNvPr>
          <p:cNvSpPr/>
          <p:nvPr/>
        </p:nvSpPr>
        <p:spPr>
          <a:xfrm>
            <a:off x="1273882" y="2578246"/>
            <a:ext cx="2240613" cy="33852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200" dirty="0">
                <a:latin typeface="Arial" panose="020B0604020202020204" pitchFamily="34" charset="0"/>
                <a:cs typeface="Arial" panose="020B0604020202020204" pitchFamily="34" charset="0"/>
              </a:rPr>
              <a:t>NEW LIST OF EQUIPMENT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201FE1B-7455-9494-22BF-97A996CF2CDE}"/>
              </a:ext>
            </a:extLst>
          </p:cNvPr>
          <p:cNvSpPr/>
          <p:nvPr/>
        </p:nvSpPr>
        <p:spPr>
          <a:xfrm>
            <a:off x="5860891" y="1945583"/>
            <a:ext cx="3076565" cy="1795904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 sz="1600" b="1" dirty="0"/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E1FD67D6-78E0-EBC7-0ED3-21B26BE3D21C}"/>
              </a:ext>
            </a:extLst>
          </p:cNvPr>
          <p:cNvCxnSpPr>
            <a:cxnSpLocks/>
            <a:stCxn id="15" idx="3"/>
            <a:endCxn id="48" idx="1"/>
          </p:cNvCxnSpPr>
          <p:nvPr/>
        </p:nvCxnSpPr>
        <p:spPr>
          <a:xfrm flipV="1">
            <a:off x="3514495" y="1883200"/>
            <a:ext cx="2352143" cy="864310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6112195-1E3D-543F-F968-72A97F258EA7}"/>
              </a:ext>
            </a:extLst>
          </p:cNvPr>
          <p:cNvCxnSpPr>
            <a:cxnSpLocks/>
            <a:stCxn id="33" idx="2"/>
            <a:endCxn id="11" idx="0"/>
          </p:cNvCxnSpPr>
          <p:nvPr/>
        </p:nvCxnSpPr>
        <p:spPr>
          <a:xfrm flipH="1">
            <a:off x="7396801" y="3741487"/>
            <a:ext cx="2373" cy="539209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>
            <a:extLst>
              <a:ext uri="{FF2B5EF4-FFF2-40B4-BE49-F238E27FC236}">
                <a16:creationId xmlns:a16="http://schemas.microsoft.com/office/drawing/2014/main" id="{75EE75BE-3612-F551-D438-F7DB493841A6}"/>
              </a:ext>
            </a:extLst>
          </p:cNvPr>
          <p:cNvSpPr/>
          <p:nvPr/>
        </p:nvSpPr>
        <p:spPr>
          <a:xfrm>
            <a:off x="7668335" y="2351577"/>
            <a:ext cx="1049965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XGBoost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258DF7AD-871B-3DF9-911E-3B52132E3B48}"/>
              </a:ext>
            </a:extLst>
          </p:cNvPr>
          <p:cNvSpPr/>
          <p:nvPr/>
        </p:nvSpPr>
        <p:spPr>
          <a:xfrm>
            <a:off x="7733117" y="2895206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Cluster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4360D670-94B6-F36D-97D7-090E553DFF32}"/>
              </a:ext>
            </a:extLst>
          </p:cNvPr>
          <p:cNvCxnSpPr>
            <a:cxnSpLocks/>
            <a:stCxn id="104" idx="2"/>
            <a:endCxn id="113" idx="0"/>
          </p:cNvCxnSpPr>
          <p:nvPr/>
        </p:nvCxnSpPr>
        <p:spPr>
          <a:xfrm flipH="1">
            <a:off x="8193317" y="2619554"/>
            <a:ext cx="1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9AA1769A-EBD1-F1AB-D7BA-8CFE6EE9A7EE}"/>
              </a:ext>
            </a:extLst>
          </p:cNvPr>
          <p:cNvCxnSpPr>
            <a:cxnSpLocks/>
            <a:stCxn id="11" idx="1"/>
            <a:endCxn id="3" idx="3"/>
          </p:cNvCxnSpPr>
          <p:nvPr/>
        </p:nvCxnSpPr>
        <p:spPr>
          <a:xfrm flipH="1" flipV="1">
            <a:off x="3514495" y="3741487"/>
            <a:ext cx="2144530" cy="837962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>
            <a:extLst>
              <a:ext uri="{FF2B5EF4-FFF2-40B4-BE49-F238E27FC236}">
                <a16:creationId xmlns:a16="http://schemas.microsoft.com/office/drawing/2014/main" id="{6BD9EFA7-3A93-1EC0-8F25-C4BA8C18C392}"/>
              </a:ext>
            </a:extLst>
          </p:cNvPr>
          <p:cNvSpPr/>
          <p:nvPr/>
        </p:nvSpPr>
        <p:spPr>
          <a:xfrm>
            <a:off x="6129892" y="5349020"/>
            <a:ext cx="2541886" cy="28802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UPDATE &amp; SAVE MODEL</a:t>
            </a:r>
            <a:endParaRPr lang="en-MY" sz="1600" dirty="0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7F948B9D-EA3B-0B8F-331F-DE2090EF22C2}"/>
              </a:ext>
            </a:extLst>
          </p:cNvPr>
          <p:cNvCxnSpPr>
            <a:cxnSpLocks/>
            <a:stCxn id="11" idx="2"/>
            <a:endCxn id="78" idx="0"/>
          </p:cNvCxnSpPr>
          <p:nvPr/>
        </p:nvCxnSpPr>
        <p:spPr>
          <a:xfrm>
            <a:off x="7396801" y="4878202"/>
            <a:ext cx="4034" cy="4708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BE036D93-D98B-C382-E296-F52A73A7B557}"/>
              </a:ext>
            </a:extLst>
          </p:cNvPr>
          <p:cNvCxnSpPr>
            <a:cxnSpLocks/>
            <a:stCxn id="3" idx="0"/>
            <a:endCxn id="15" idx="2"/>
          </p:cNvCxnSpPr>
          <p:nvPr/>
        </p:nvCxnSpPr>
        <p:spPr>
          <a:xfrm flipH="1" flipV="1">
            <a:off x="2394189" y="2916773"/>
            <a:ext cx="1" cy="585265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25CCC409-F1AE-CF70-A85B-6F6D5652E4B1}"/>
              </a:ext>
            </a:extLst>
          </p:cNvPr>
          <p:cNvSpPr/>
          <p:nvPr/>
        </p:nvSpPr>
        <p:spPr>
          <a:xfrm>
            <a:off x="32941" y="100051"/>
            <a:ext cx="2647950" cy="31696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1400" b="1" dirty="0"/>
              <a:t>MACHINE LEARNING PIPELINE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907F865-3B7A-FDD9-000D-9F76F56AD918}"/>
              </a:ext>
            </a:extLst>
          </p:cNvPr>
          <p:cNvSpPr/>
          <p:nvPr/>
        </p:nvSpPr>
        <p:spPr>
          <a:xfrm>
            <a:off x="5866638" y="1653081"/>
            <a:ext cx="3076575" cy="46023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ML 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lang="en-MY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92F43E-03F0-E2B1-0F62-774436E18017}"/>
              </a:ext>
            </a:extLst>
          </p:cNvPr>
          <p:cNvCxnSpPr>
            <a:cxnSpLocks/>
            <a:stCxn id="113" idx="2"/>
            <a:endCxn id="17" idx="0"/>
          </p:cNvCxnSpPr>
          <p:nvPr/>
        </p:nvCxnSpPr>
        <p:spPr>
          <a:xfrm>
            <a:off x="8193317" y="3132802"/>
            <a:ext cx="0" cy="19198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3405ADF-43F7-18B8-FF61-F5B1361CDE36}"/>
              </a:ext>
            </a:extLst>
          </p:cNvPr>
          <p:cNvSpPr/>
          <p:nvPr/>
        </p:nvSpPr>
        <p:spPr>
          <a:xfrm>
            <a:off x="7733117" y="3324782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Section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57B9C79-4FF9-C00B-2017-6A66F5B48B1D}"/>
              </a:ext>
            </a:extLst>
          </p:cNvPr>
          <p:cNvCxnSpPr>
            <a:cxnSpLocks/>
            <a:endCxn id="78" idx="3"/>
          </p:cNvCxnSpPr>
          <p:nvPr/>
        </p:nvCxnSpPr>
        <p:spPr>
          <a:xfrm flipH="1">
            <a:off x="8671778" y="5484012"/>
            <a:ext cx="1626201" cy="9018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BA3F821-0DE9-BA71-5F0E-568D72DD7461}"/>
              </a:ext>
            </a:extLst>
          </p:cNvPr>
          <p:cNvCxnSpPr>
            <a:cxnSpLocks/>
            <a:endCxn id="48" idx="3"/>
          </p:cNvCxnSpPr>
          <p:nvPr/>
        </p:nvCxnSpPr>
        <p:spPr>
          <a:xfrm flipH="1">
            <a:off x="8943213" y="1883199"/>
            <a:ext cx="1341564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CA3494B0-09CE-651B-735D-F376AEFC5A91}"/>
              </a:ext>
            </a:extLst>
          </p:cNvPr>
          <p:cNvSpPr/>
          <p:nvPr/>
        </p:nvSpPr>
        <p:spPr>
          <a:xfrm>
            <a:off x="3210375" y="1803916"/>
            <a:ext cx="159049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RETRIVE </a:t>
            </a:r>
          </a:p>
          <a:p>
            <a:pPr algn="ctr"/>
            <a:r>
              <a:rPr lang="en-US" sz="1200" cap="none" spc="0" noProof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[new_equipment.pkl]</a:t>
            </a:r>
          </a:p>
        </p:txBody>
      </p: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4E914B67-FA78-E37B-3115-9588220D3D12}"/>
              </a:ext>
            </a:extLst>
          </p:cNvPr>
          <p:cNvCxnSpPr>
            <a:cxnSpLocks/>
          </p:cNvCxnSpPr>
          <p:nvPr/>
        </p:nvCxnSpPr>
        <p:spPr>
          <a:xfrm>
            <a:off x="10276309" y="1883199"/>
            <a:ext cx="21670" cy="3600813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Oval 181">
            <a:extLst>
              <a:ext uri="{FF2B5EF4-FFF2-40B4-BE49-F238E27FC236}">
                <a16:creationId xmlns:a16="http://schemas.microsoft.com/office/drawing/2014/main" id="{1F1C4E4E-01ED-0629-31A9-4AC084D82F1D}"/>
              </a:ext>
            </a:extLst>
          </p:cNvPr>
          <p:cNvSpPr/>
          <p:nvPr/>
        </p:nvSpPr>
        <p:spPr>
          <a:xfrm>
            <a:off x="7573894" y="1040528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1</a:t>
            </a: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FCB62BBF-02DD-7CD1-BC5A-1F7ACB214356}"/>
              </a:ext>
            </a:extLst>
          </p:cNvPr>
          <p:cNvSpPr/>
          <p:nvPr/>
        </p:nvSpPr>
        <p:spPr>
          <a:xfrm>
            <a:off x="4576888" y="4445347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2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49EA3528-2301-BB15-D6C2-1FA2F342CD89}"/>
              </a:ext>
            </a:extLst>
          </p:cNvPr>
          <p:cNvSpPr/>
          <p:nvPr/>
        </p:nvSpPr>
        <p:spPr>
          <a:xfrm>
            <a:off x="710902" y="2966839"/>
            <a:ext cx="457200" cy="432855"/>
          </a:xfrm>
          <a:prstGeom prst="ellipse">
            <a:avLst/>
          </a:prstGeom>
          <a:solidFill>
            <a:srgbClr val="FFFFA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b="1" dirty="0">
                <a:solidFill>
                  <a:sysClr val="windowText" lastClr="000000"/>
                </a:solidFill>
              </a:rPr>
              <a:t>3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13382E64-992A-5CDF-DA48-D564A9140A92}"/>
              </a:ext>
            </a:extLst>
          </p:cNvPr>
          <p:cNvCxnSpPr>
            <a:cxnSpLocks/>
          </p:cNvCxnSpPr>
          <p:nvPr/>
        </p:nvCxnSpPr>
        <p:spPr>
          <a:xfrm flipH="1">
            <a:off x="8956415" y="1880759"/>
            <a:ext cx="1341564" cy="1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Arrow Connector 198">
            <a:extLst>
              <a:ext uri="{FF2B5EF4-FFF2-40B4-BE49-F238E27FC236}">
                <a16:creationId xmlns:a16="http://schemas.microsoft.com/office/drawing/2014/main" id="{DF01BB12-1A72-61BA-C004-C1BE808E5888}"/>
              </a:ext>
            </a:extLst>
          </p:cNvPr>
          <p:cNvCxnSpPr>
            <a:cxnSpLocks/>
          </p:cNvCxnSpPr>
          <p:nvPr/>
        </p:nvCxnSpPr>
        <p:spPr>
          <a:xfrm>
            <a:off x="7451637" y="894634"/>
            <a:ext cx="12617" cy="758447"/>
          </a:xfrm>
          <a:prstGeom prst="straightConnector1">
            <a:avLst/>
          </a:prstGeom>
          <a:ln w="571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C9ABE3DD-7F1B-8CD5-4B7C-ACC971DC1871}"/>
              </a:ext>
            </a:extLst>
          </p:cNvPr>
          <p:cNvSpPr/>
          <p:nvPr/>
        </p:nvSpPr>
        <p:spPr>
          <a:xfrm>
            <a:off x="6225238" y="2351577"/>
            <a:ext cx="1247056" cy="267977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noProof="1">
                <a:latin typeface="Arial" panose="020B0604020202020204" pitchFamily="34" charset="0"/>
                <a:cs typeface="Arial" panose="020B0604020202020204" pitchFamily="34" charset="0"/>
              </a:rPr>
              <a:t>SGD Classifier</a:t>
            </a:r>
            <a:endParaRPr lang="en-MY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475E58-7F22-5D3A-1D6E-F3C07B4E01F8}"/>
              </a:ext>
            </a:extLst>
          </p:cNvPr>
          <p:cNvSpPr/>
          <p:nvPr/>
        </p:nvSpPr>
        <p:spPr>
          <a:xfrm>
            <a:off x="6391620" y="2895206"/>
            <a:ext cx="920400" cy="237596"/>
          </a:xfrm>
          <a:prstGeom prst="rec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Data type</a:t>
            </a:r>
            <a:endParaRPr lang="en-MY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2D015BD-B6C2-F283-5F2B-E6FCBB61B90B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6848766" y="2619554"/>
            <a:ext cx="3054" cy="27565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796091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3C77DE-B76F-4F1E-EDD9-CE0CD4B3F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3994906-2372-B4D2-223B-D905720044A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500"/>
          <a:stretch>
            <a:fillRect/>
          </a:stretch>
        </p:blipFill>
        <p:spPr>
          <a:xfrm>
            <a:off x="219309" y="2178819"/>
            <a:ext cx="6172347" cy="35251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524626C-3F36-D1AC-04D4-8AFF240984B3}"/>
              </a:ext>
            </a:extLst>
          </p:cNvPr>
          <p:cNvSpPr/>
          <p:nvPr/>
        </p:nvSpPr>
        <p:spPr>
          <a:xfrm>
            <a:off x="3209250" y="292075"/>
            <a:ext cx="6102683" cy="5674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sz="4000" b="1" dirty="0"/>
              <a:t>SQL : </a:t>
            </a:r>
            <a:r>
              <a:rPr lang="en-MY" sz="4000" dirty="0"/>
              <a:t>From DB to Json</a:t>
            </a:r>
            <a:endParaRPr lang="en-MY" sz="40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F26C49-B91E-5061-F81B-CB6DD35A74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9937"/>
          <a:stretch>
            <a:fillRect/>
          </a:stretch>
        </p:blipFill>
        <p:spPr>
          <a:xfrm>
            <a:off x="8749895" y="1688399"/>
            <a:ext cx="2542945" cy="450595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CC88C422-744D-5DCF-988F-D10AD46473D5}"/>
              </a:ext>
            </a:extLst>
          </p:cNvPr>
          <p:cNvSpPr/>
          <p:nvPr/>
        </p:nvSpPr>
        <p:spPr>
          <a:xfrm>
            <a:off x="6903720" y="3346704"/>
            <a:ext cx="1325880" cy="73152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423884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9C1AEF-691B-A95B-1F83-8D297EB62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B802F5-DEEB-EEB0-FF97-A42EB4EB2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138" y="954783"/>
            <a:ext cx="5868219" cy="2772162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023827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222BB4-E5E8-E925-90A0-2C3082D2E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07C17FA-B6A8-B16D-4963-8E376401C3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25" t="537" r="17350" b="-537"/>
          <a:stretch>
            <a:fillRect/>
          </a:stretch>
        </p:blipFill>
        <p:spPr>
          <a:xfrm>
            <a:off x="5373551" y="817962"/>
            <a:ext cx="6083881" cy="52220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9CD4A6-8A4A-78B4-07C1-7E0686FA18EC}"/>
              </a:ext>
            </a:extLst>
          </p:cNvPr>
          <p:cNvSpPr txBox="1"/>
          <p:nvPr/>
        </p:nvSpPr>
        <p:spPr>
          <a:xfrm>
            <a:off x="734568" y="2282648"/>
            <a:ext cx="423737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manual assign </a:t>
            </a:r>
          </a:p>
          <a:p>
            <a:pPr algn="ctr"/>
            <a:r>
              <a:rPr lang="en-US" sz="4000" dirty="0"/>
              <a:t>type, section, cluster</a:t>
            </a:r>
          </a:p>
          <a:p>
            <a:pPr algn="ctr"/>
            <a:r>
              <a:rPr lang="en-US" sz="4000" dirty="0"/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115775054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F2548E-9A0F-EFA7-4A68-4D96B0D0C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93614A-CAD1-31A5-3EFA-9390AA2C9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979" y="155448"/>
            <a:ext cx="3536954" cy="633189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79596CD-7BBB-CEC9-93CC-478D5B0263B2}"/>
              </a:ext>
            </a:extLst>
          </p:cNvPr>
          <p:cNvSpPr txBox="1"/>
          <p:nvPr/>
        </p:nvSpPr>
        <p:spPr>
          <a:xfrm>
            <a:off x="2645664" y="2246072"/>
            <a:ext cx="423737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dirty="0"/>
              <a:t>manual assign </a:t>
            </a:r>
          </a:p>
          <a:p>
            <a:pPr algn="ctr"/>
            <a:r>
              <a:rPr lang="en-US" sz="4000" dirty="0"/>
              <a:t>type, section, cluster</a:t>
            </a:r>
          </a:p>
          <a:p>
            <a:pPr algn="ctr"/>
            <a:r>
              <a:rPr lang="en-US" sz="4000" dirty="0"/>
              <a:t>workflow</a:t>
            </a:r>
          </a:p>
        </p:txBody>
      </p:sp>
    </p:spTree>
    <p:extLst>
      <p:ext uri="{BB962C8B-B14F-4D97-AF65-F5344CB8AC3E}">
        <p14:creationId xmlns:p14="http://schemas.microsoft.com/office/powerpoint/2010/main" val="382951689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74FC99-A45C-0AF5-3285-F7CDED9B0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6C2B62-5893-281D-5012-E1D6AB364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91" y="462541"/>
            <a:ext cx="11268364" cy="615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97150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63C6A8-F0B0-B9B5-11F3-6549BC2E4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884E8E-DC53-ED07-F5B2-5AB8FD3B78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672"/>
          <a:stretch>
            <a:fillRect/>
          </a:stretch>
        </p:blipFill>
        <p:spPr>
          <a:xfrm>
            <a:off x="4095263" y="194236"/>
            <a:ext cx="3072156" cy="203172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F86239A-4847-9967-4D9B-6E6B46C528B9}"/>
              </a:ext>
            </a:extLst>
          </p:cNvPr>
          <p:cNvSpPr/>
          <p:nvPr/>
        </p:nvSpPr>
        <p:spPr>
          <a:xfrm>
            <a:off x="952408" y="3471711"/>
            <a:ext cx="697346" cy="4525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yes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FFFEAA-7AC2-0DCA-84BF-3710DB62E113}"/>
              </a:ext>
            </a:extLst>
          </p:cNvPr>
          <p:cNvSpPr/>
          <p:nvPr/>
        </p:nvSpPr>
        <p:spPr>
          <a:xfrm>
            <a:off x="2960254" y="3447462"/>
            <a:ext cx="697346" cy="4525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no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72E4AB-9DCB-140D-C7D3-1F318FE28757}"/>
              </a:ext>
            </a:extLst>
          </p:cNvPr>
          <p:cNvSpPr/>
          <p:nvPr/>
        </p:nvSpPr>
        <p:spPr>
          <a:xfrm>
            <a:off x="1498691" y="2733963"/>
            <a:ext cx="1616364" cy="4525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User Assign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2C2733A-C5C1-511B-F181-2440E3418A76}"/>
              </a:ext>
            </a:extLst>
          </p:cNvPr>
          <p:cNvSpPr/>
          <p:nvPr/>
        </p:nvSpPr>
        <p:spPr>
          <a:xfrm>
            <a:off x="2581563" y="4121715"/>
            <a:ext cx="1513700" cy="8266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Remain in JSON dump 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D42ED7B-ABFE-F62E-1F54-9BC25461DE0E}"/>
              </a:ext>
            </a:extLst>
          </p:cNvPr>
          <p:cNvSpPr/>
          <p:nvPr/>
        </p:nvSpPr>
        <p:spPr>
          <a:xfrm>
            <a:off x="662708" y="4121715"/>
            <a:ext cx="1780312" cy="14385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Suggestion similarity </a:t>
            </a:r>
          </a:p>
          <a:p>
            <a:pPr algn="ctr"/>
            <a:r>
              <a:rPr lang="en-MY" dirty="0"/>
              <a:t>(section, cluster)</a:t>
            </a:r>
          </a:p>
          <a:p>
            <a:pPr algn="ctr"/>
            <a:r>
              <a:rPr lang="en-MY" dirty="0"/>
              <a:t>Type – auto save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1EC2860-748A-6AE7-0A6F-620BD0EF8650}"/>
              </a:ext>
            </a:extLst>
          </p:cNvPr>
          <p:cNvSpPr/>
          <p:nvPr/>
        </p:nvSpPr>
        <p:spPr>
          <a:xfrm>
            <a:off x="8070629" y="2477660"/>
            <a:ext cx="2902171" cy="7435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KNOWN</a:t>
            </a:r>
          </a:p>
          <a:p>
            <a:pPr algn="ctr"/>
            <a:r>
              <a:rPr lang="en-MY" dirty="0"/>
              <a:t>CLUSTERED GROUP (Table)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E4C5973-A38A-247F-CD74-112309E3B853}"/>
              </a:ext>
            </a:extLst>
          </p:cNvPr>
          <p:cNvSpPr/>
          <p:nvPr/>
        </p:nvSpPr>
        <p:spPr>
          <a:xfrm>
            <a:off x="900545" y="1702961"/>
            <a:ext cx="2757055" cy="7458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UNKNOWN </a:t>
            </a:r>
          </a:p>
          <a:p>
            <a:pPr algn="ctr"/>
            <a:r>
              <a:rPr lang="en-MY" dirty="0"/>
              <a:t>Pending Table (JSON dump) 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7B8C209-9597-A14F-603B-6BCBBF0C12EE}"/>
              </a:ext>
            </a:extLst>
          </p:cNvPr>
          <p:cNvSpPr/>
          <p:nvPr/>
        </p:nvSpPr>
        <p:spPr>
          <a:xfrm>
            <a:off x="662707" y="5757712"/>
            <a:ext cx="1780311" cy="4525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MY" dirty="0"/>
              <a:t>User Assign</a:t>
            </a:r>
          </a:p>
        </p:txBody>
      </p:sp>
    </p:spTree>
    <p:extLst>
      <p:ext uri="{BB962C8B-B14F-4D97-AF65-F5344CB8AC3E}">
        <p14:creationId xmlns:p14="http://schemas.microsoft.com/office/powerpoint/2010/main" val="308485924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4E7790-0FE5-5850-E719-AAEEC5151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332B888-82CD-248D-FF45-1566626422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9327" y="238991"/>
            <a:ext cx="4253345" cy="638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92242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F2F157-8D29-E788-074F-76AA928DF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2ACD256-33A7-D0D5-C7EF-8E8F35880E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8137" y="761580"/>
            <a:ext cx="9215725" cy="31636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5FF316-854E-20A1-7324-B95140572A91}"/>
              </a:ext>
            </a:extLst>
          </p:cNvPr>
          <p:cNvSpPr txBox="1"/>
          <p:nvPr/>
        </p:nvSpPr>
        <p:spPr>
          <a:xfrm>
            <a:off x="2816352" y="4498848"/>
            <a:ext cx="688701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 Project A1825 -  LIPICO : CR___SPD refer to Control Valve/VSD.</a:t>
            </a:r>
          </a:p>
          <a:p>
            <a:endParaRPr lang="en-US" dirty="0"/>
          </a:p>
          <a:p>
            <a:r>
              <a:rPr lang="en-US" dirty="0"/>
              <a:t>But for CR refer to agitator.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Hence the model unable to captured what is the right device type for this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658307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2B0890-8A74-DADB-7E71-29F6EA68B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7D9A7D9-EE79-6F45-85FB-F8959616D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034" y="942526"/>
            <a:ext cx="9634933" cy="483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84969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CDF6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0F46A2-011D-3546-0B8A-E87BD8F1A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532F23-4670-2ED4-3919-B3B8454E3933}"/>
              </a:ext>
            </a:extLst>
          </p:cNvPr>
          <p:cNvSpPr txBox="1"/>
          <p:nvPr/>
        </p:nvSpPr>
        <p:spPr>
          <a:xfrm>
            <a:off x="1063259" y="2767280"/>
            <a:ext cx="485241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err="1"/>
              <a:t>DeviceIdentifierLibrary</a:t>
            </a:r>
            <a:endParaRPr lang="en-US" sz="4000" dirty="0"/>
          </a:p>
          <a:p>
            <a:pPr algn="ctr"/>
            <a:r>
              <a:rPr lang="en-US" sz="4000" dirty="0"/>
              <a:t>workflow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0A2A64-8894-0919-1FE3-D9F8E44114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284" y="230886"/>
            <a:ext cx="4264152" cy="639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181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27B9EAB-1DE9-6B8F-A341-AC012457782D}"/>
              </a:ext>
            </a:extLst>
          </p:cNvPr>
          <p:cNvSpPr/>
          <p:nvPr/>
        </p:nvSpPr>
        <p:spPr>
          <a:xfrm>
            <a:off x="221446" y="832082"/>
            <a:ext cx="2809621" cy="17690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Training model</a:t>
            </a:r>
          </a:p>
          <a:p>
            <a:pPr algn="ctr"/>
            <a:r>
              <a:rPr lang="en-US" b="1" dirty="0"/>
              <a:t>(N = 1132)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Remove duplication = 1123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Training = 786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Validating =168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Testing = 169</a:t>
            </a:r>
          </a:p>
          <a:p>
            <a:endParaRPr lang="en-MY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DC8152-7222-4F06-2D8C-791E62A76AEC}"/>
              </a:ext>
            </a:extLst>
          </p:cNvPr>
          <p:cNvSpPr/>
          <p:nvPr/>
        </p:nvSpPr>
        <p:spPr>
          <a:xfrm>
            <a:off x="6510868" y="832081"/>
            <a:ext cx="2592663" cy="17690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Model Application</a:t>
            </a:r>
          </a:p>
          <a:p>
            <a:pPr algn="ctr"/>
            <a:r>
              <a:rPr lang="en-US" b="1" dirty="0"/>
              <a:t>(N = 385)</a:t>
            </a:r>
          </a:p>
          <a:p>
            <a:pPr algn="ctr"/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Known = 250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UNKNOWN= 135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131727-3BA4-1520-49BA-008E7ABA0837}"/>
              </a:ext>
            </a:extLst>
          </p:cNvPr>
          <p:cNvSpPr/>
          <p:nvPr/>
        </p:nvSpPr>
        <p:spPr>
          <a:xfrm>
            <a:off x="3701247" y="832082"/>
            <a:ext cx="1912153" cy="17690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 err="1"/>
              <a:t>reference_df</a:t>
            </a:r>
            <a:endParaRPr lang="en-US" sz="1600" b="1" dirty="0"/>
          </a:p>
          <a:p>
            <a:pPr algn="ctr"/>
            <a:r>
              <a:rPr lang="en-US" sz="1600" b="1" dirty="0"/>
              <a:t>(N = 1321)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algn="ctr"/>
            <a:r>
              <a:rPr lang="en-US" sz="1600" b="1" dirty="0" err="1"/>
              <a:t>master_df</a:t>
            </a:r>
            <a:endParaRPr lang="en-US" sz="1600" b="1" dirty="0"/>
          </a:p>
          <a:p>
            <a:pPr algn="ctr"/>
            <a:r>
              <a:rPr lang="en-US" sz="1600" b="1" dirty="0"/>
              <a:t>(N = 1321)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0103C6D-3129-51B2-CA29-9A68872238A8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 flipV="1">
            <a:off x="5613400" y="1716616"/>
            <a:ext cx="897468" cy="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F1397EE-26FB-DFCB-B3B3-2DA1C530F9D7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3031067" y="1716617"/>
            <a:ext cx="67018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02BC164-8691-C2F6-B714-A26EAEE37146}"/>
              </a:ext>
            </a:extLst>
          </p:cNvPr>
          <p:cNvCxnSpPr>
            <a:cxnSpLocks/>
            <a:stCxn id="6" idx="2"/>
            <a:endCxn id="30" idx="0"/>
          </p:cNvCxnSpPr>
          <p:nvPr/>
        </p:nvCxnSpPr>
        <p:spPr>
          <a:xfrm flipH="1">
            <a:off x="7807199" y="2601150"/>
            <a:ext cx="1" cy="61956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28BE4226-53F3-2D4E-4F9F-BFADA6F3E2B0}"/>
              </a:ext>
            </a:extLst>
          </p:cNvPr>
          <p:cNvSpPr/>
          <p:nvPr/>
        </p:nvSpPr>
        <p:spPr>
          <a:xfrm>
            <a:off x="4933369" y="3220719"/>
            <a:ext cx="5747659" cy="225552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UNKNOWN</a:t>
            </a:r>
          </a:p>
          <a:p>
            <a:pPr algn="ctr"/>
            <a:r>
              <a:rPr lang="en-US" b="1" dirty="0"/>
              <a:t>(N = 135)</a:t>
            </a:r>
          </a:p>
          <a:p>
            <a:pPr algn="ctr"/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DeviceType</a:t>
            </a:r>
            <a:r>
              <a:rPr lang="en-US" sz="1600" dirty="0"/>
              <a:t>    = 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DeviceSection</a:t>
            </a:r>
            <a:r>
              <a:rPr lang="en-US" sz="1600" dirty="0"/>
              <a:t> = 6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/>
              <a:t>DeviceCluster</a:t>
            </a:r>
            <a:r>
              <a:rPr lang="en-US" sz="1600" dirty="0"/>
              <a:t> = 106 [PREDICTION % BY THE MODEL]</a:t>
            </a:r>
          </a:p>
          <a:p>
            <a:pPr lvl="3"/>
            <a:r>
              <a:rPr lang="en-US" sz="1600" dirty="0"/>
              <a:t> = suggest % the top 3</a:t>
            </a:r>
          </a:p>
          <a:p>
            <a:pPr lvl="3"/>
            <a:r>
              <a:rPr lang="en-US" sz="1600" dirty="0"/>
              <a:t>Action = remove the LV distance and similarity</a:t>
            </a:r>
          </a:p>
        </p:txBody>
      </p:sp>
    </p:spTree>
    <p:extLst>
      <p:ext uri="{BB962C8B-B14F-4D97-AF65-F5344CB8AC3E}">
        <p14:creationId xmlns:p14="http://schemas.microsoft.com/office/powerpoint/2010/main" val="164390097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2603C7-851A-17BA-F35F-724AB3027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261A98-B7E5-B3FC-5857-515FD7AB3FCC}"/>
              </a:ext>
            </a:extLst>
          </p:cNvPr>
          <p:cNvSpPr/>
          <p:nvPr/>
        </p:nvSpPr>
        <p:spPr>
          <a:xfrm>
            <a:off x="221446" y="832082"/>
            <a:ext cx="2809621" cy="17690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DeviceCluster</a:t>
            </a:r>
            <a:r>
              <a:rPr lang="en-US" b="1" dirty="0"/>
              <a:t> - </a:t>
            </a:r>
            <a:endParaRPr lang="en-US" sz="1600" dirty="0"/>
          </a:p>
          <a:p>
            <a:endParaRPr lang="en-MY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C63FC3-5D18-6A3B-DFA1-0DA14539E494}"/>
              </a:ext>
            </a:extLst>
          </p:cNvPr>
          <p:cNvSpPr/>
          <p:nvPr/>
        </p:nvSpPr>
        <p:spPr>
          <a:xfrm>
            <a:off x="6510868" y="832081"/>
            <a:ext cx="2592663" cy="17690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AppRegistryEditor</a:t>
            </a:r>
            <a:endParaRPr lang="en-US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2AE1FD-CDDD-9139-25FA-F691A2DB120D}"/>
              </a:ext>
            </a:extLst>
          </p:cNvPr>
          <p:cNvSpPr/>
          <p:nvPr/>
        </p:nvSpPr>
        <p:spPr>
          <a:xfrm>
            <a:off x="3701247" y="832082"/>
            <a:ext cx="1912153" cy="176906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Logic.dll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3327C77-A116-EAE0-8DE3-7FB44CC450AF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 flipV="1">
            <a:off x="5613400" y="1716616"/>
            <a:ext cx="897468" cy="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5050325-CDB9-61B5-7A46-CFB649023530}"/>
              </a:ext>
            </a:extLst>
          </p:cNvPr>
          <p:cNvCxnSpPr>
            <a:cxnSpLocks/>
            <a:stCxn id="4" idx="3"/>
            <a:endCxn id="8" idx="1"/>
          </p:cNvCxnSpPr>
          <p:nvPr/>
        </p:nvCxnSpPr>
        <p:spPr>
          <a:xfrm>
            <a:off x="3031067" y="1716617"/>
            <a:ext cx="67018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10AF689-5BE0-25F6-7BA7-F9311277EF6D}"/>
              </a:ext>
            </a:extLst>
          </p:cNvPr>
          <p:cNvCxnSpPr>
            <a:cxnSpLocks/>
            <a:stCxn id="6" idx="2"/>
            <a:endCxn id="30" idx="0"/>
          </p:cNvCxnSpPr>
          <p:nvPr/>
        </p:nvCxnSpPr>
        <p:spPr>
          <a:xfrm flipH="1">
            <a:off x="7807199" y="2601150"/>
            <a:ext cx="1" cy="61956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A602B4D-832F-3642-04C7-69EEBE03FB9E}"/>
              </a:ext>
            </a:extLst>
          </p:cNvPr>
          <p:cNvSpPr/>
          <p:nvPr/>
        </p:nvSpPr>
        <p:spPr>
          <a:xfrm>
            <a:off x="4933369" y="3220719"/>
            <a:ext cx="5747659" cy="22555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DeviceCluster</a:t>
            </a:r>
            <a:r>
              <a:rPr lang="en-US" b="1" dirty="0"/>
              <a:t> </a:t>
            </a:r>
          </a:p>
          <a:p>
            <a:pPr algn="ctr"/>
            <a:r>
              <a:rPr lang="en-US" b="1" dirty="0"/>
              <a:t>[PROJECT CONSOLE]</a:t>
            </a:r>
          </a:p>
          <a:p>
            <a:pPr algn="ctr"/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Test all the function to </a:t>
            </a:r>
            <a:r>
              <a:rPr lang="en-US" sz="1600" dirty="0" err="1"/>
              <a:t>makesure</a:t>
            </a:r>
            <a:r>
              <a:rPr lang="en-US" sz="1600" dirty="0"/>
              <a:t> it works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Show the UI in console apps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5398164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69D213-5E93-13CE-40FA-5766BCC61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9467B688-6E25-D7B6-4B74-FA2F6A1FA53A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9967414" y="4251960"/>
            <a:ext cx="1" cy="1530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F1325E3-C696-2ED7-AC86-F11945E0BCF0}"/>
              </a:ext>
            </a:extLst>
          </p:cNvPr>
          <p:cNvCxnSpPr>
            <a:cxnSpLocks/>
            <a:endCxn id="44" idx="0"/>
          </p:cNvCxnSpPr>
          <p:nvPr/>
        </p:nvCxnSpPr>
        <p:spPr>
          <a:xfrm>
            <a:off x="1924081" y="4251960"/>
            <a:ext cx="0" cy="8712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547347C-0A00-8B08-CFFA-4E91B694F059}"/>
              </a:ext>
            </a:extLst>
          </p:cNvPr>
          <p:cNvCxnSpPr>
            <a:stCxn id="30" idx="2"/>
            <a:endCxn id="48" idx="0"/>
          </p:cNvCxnSpPr>
          <p:nvPr/>
        </p:nvCxnSpPr>
        <p:spPr>
          <a:xfrm flipH="1">
            <a:off x="6049951" y="823576"/>
            <a:ext cx="46049" cy="43015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F78916A9-8901-6E12-6F09-84557DDE6436}"/>
              </a:ext>
            </a:extLst>
          </p:cNvPr>
          <p:cNvSpPr/>
          <p:nvPr/>
        </p:nvSpPr>
        <p:spPr>
          <a:xfrm>
            <a:off x="4767924" y="203199"/>
            <a:ext cx="2656151" cy="6203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/>
              <a:t>DeviceCluster</a:t>
            </a:r>
            <a:r>
              <a:rPr lang="en-US" b="1" dirty="0"/>
              <a:t> </a:t>
            </a:r>
          </a:p>
          <a:p>
            <a:pPr algn="ctr"/>
            <a:r>
              <a:rPr lang="en-US" b="1" dirty="0"/>
              <a:t>[PROJECT CONSOLE]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A1ECE7-7608-0A8C-B63F-619A92A6058A}"/>
              </a:ext>
            </a:extLst>
          </p:cNvPr>
          <p:cNvSpPr/>
          <p:nvPr/>
        </p:nvSpPr>
        <p:spPr>
          <a:xfrm>
            <a:off x="5485936" y="991444"/>
            <a:ext cx="1220126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Load SQL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F3E2FB-5B0F-3D2A-6B78-4535C1BE8311}"/>
              </a:ext>
            </a:extLst>
          </p:cNvPr>
          <p:cNvSpPr/>
          <p:nvPr/>
        </p:nvSpPr>
        <p:spPr>
          <a:xfrm>
            <a:off x="5228233" y="1531869"/>
            <a:ext cx="1735533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Predict Type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6415DD-7167-FA22-B91C-458B15584668}"/>
              </a:ext>
            </a:extLst>
          </p:cNvPr>
          <p:cNvSpPr/>
          <p:nvPr/>
        </p:nvSpPr>
        <p:spPr>
          <a:xfrm>
            <a:off x="5228232" y="2082567"/>
            <a:ext cx="1735533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Predict Section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4EFB4E-3B74-D8D1-4770-D8964E3205A0}"/>
              </a:ext>
            </a:extLst>
          </p:cNvPr>
          <p:cNvSpPr/>
          <p:nvPr/>
        </p:nvSpPr>
        <p:spPr>
          <a:xfrm>
            <a:off x="5228231" y="2620371"/>
            <a:ext cx="1735533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Predict Cluster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3E2D28-56C4-415F-6561-09F1749BCC99}"/>
              </a:ext>
            </a:extLst>
          </p:cNvPr>
          <p:cNvSpPr/>
          <p:nvPr/>
        </p:nvSpPr>
        <p:spPr>
          <a:xfrm>
            <a:off x="4872162" y="3156957"/>
            <a:ext cx="2544171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Logic – Cluster Grouping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997BAF-A9F4-E7A5-2330-42CAD9CD673F}"/>
              </a:ext>
            </a:extLst>
          </p:cNvPr>
          <p:cNvSpPr/>
          <p:nvPr/>
        </p:nvSpPr>
        <p:spPr>
          <a:xfrm>
            <a:off x="4823911" y="3728045"/>
            <a:ext cx="2544171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Logic – UNKNOWN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365E03-5B6A-A7AD-1DAD-46C730F81C29}"/>
              </a:ext>
            </a:extLst>
          </p:cNvPr>
          <p:cNvSpPr/>
          <p:nvPr/>
        </p:nvSpPr>
        <p:spPr>
          <a:xfrm>
            <a:off x="859430" y="4488804"/>
            <a:ext cx="2129303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Assign Device Type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F27DE3-60AE-A242-DCEA-B64DDEECBD56}"/>
              </a:ext>
            </a:extLst>
          </p:cNvPr>
          <p:cNvSpPr/>
          <p:nvPr/>
        </p:nvSpPr>
        <p:spPr>
          <a:xfrm>
            <a:off x="5079595" y="4488804"/>
            <a:ext cx="2129303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Assign Device Section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A7DC863-126C-4B08-2042-D039D8102B2B}"/>
              </a:ext>
            </a:extLst>
          </p:cNvPr>
          <p:cNvSpPr/>
          <p:nvPr/>
        </p:nvSpPr>
        <p:spPr>
          <a:xfrm>
            <a:off x="8902764" y="4488804"/>
            <a:ext cx="2129303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Assign Device Section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94E112E-426D-113C-8DAD-8B1D85E98A36}"/>
              </a:ext>
            </a:extLst>
          </p:cNvPr>
          <p:cNvSpPr/>
          <p:nvPr/>
        </p:nvSpPr>
        <p:spPr>
          <a:xfrm>
            <a:off x="8902763" y="5046136"/>
            <a:ext cx="2129303" cy="5191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Suggestion top 3 from model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03DCD75-2C3E-32C3-97CD-A24025E919D7}"/>
              </a:ext>
            </a:extLst>
          </p:cNvPr>
          <p:cNvSpPr/>
          <p:nvPr/>
        </p:nvSpPr>
        <p:spPr>
          <a:xfrm>
            <a:off x="8902763" y="5782736"/>
            <a:ext cx="2129303" cy="3623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ysClr val="windowText" lastClr="0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Restructure and Kick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E801306-9B7E-8CCE-C2AB-B852E0C455B9}"/>
              </a:ext>
            </a:extLst>
          </p:cNvPr>
          <p:cNvSpPr/>
          <p:nvPr/>
        </p:nvSpPr>
        <p:spPr>
          <a:xfrm>
            <a:off x="1524062" y="5123252"/>
            <a:ext cx="800038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04F337D-B122-B9B2-3F4D-8148BDBEACF3}"/>
              </a:ext>
            </a:extLst>
          </p:cNvPr>
          <p:cNvSpPr/>
          <p:nvPr/>
        </p:nvSpPr>
        <p:spPr>
          <a:xfrm>
            <a:off x="5649932" y="5125087"/>
            <a:ext cx="800038" cy="364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Save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BDD60A5-1AD2-8ECD-1F58-7C2B25D5427B}"/>
              </a:ext>
            </a:extLst>
          </p:cNvPr>
          <p:cNvCxnSpPr>
            <a:cxnSpLocks/>
          </p:cNvCxnSpPr>
          <p:nvPr/>
        </p:nvCxnSpPr>
        <p:spPr>
          <a:xfrm>
            <a:off x="1924081" y="4251960"/>
            <a:ext cx="804333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79400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26707</TotalTime>
  <Words>4093</Words>
  <Application>Microsoft Office PowerPoint</Application>
  <PresentationFormat>Widescreen</PresentationFormat>
  <Paragraphs>1009</Paragraphs>
  <Slides>85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3" baseType="lpstr">
      <vt:lpstr>Aptos</vt:lpstr>
      <vt:lpstr>Aptos Narrow</vt:lpstr>
      <vt:lpstr>Arial</vt:lpstr>
      <vt:lpstr>Calibri</vt:lpstr>
      <vt:lpstr>Courier New</vt:lpstr>
      <vt:lpstr>Tw Cen MT</vt:lpstr>
      <vt:lpstr>Wingdings</vt:lpstr>
      <vt:lpstr>Droplet</vt:lpstr>
      <vt:lpstr>Update Xenxible Project Device Identifier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Siti Syaziyah Binti Samiri</dc:creator>
  <cp:lastModifiedBy>Siti Syaziyah Binti Samiri</cp:lastModifiedBy>
  <cp:revision>130</cp:revision>
  <dcterms:created xsi:type="dcterms:W3CDTF">2025-11-18T06:28:25Z</dcterms:created>
  <dcterms:modified xsi:type="dcterms:W3CDTF">2026-09-04T04:02:12Z</dcterms:modified>
</cp:coreProperties>
</file>